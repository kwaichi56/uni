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47"/>
  </p:notesMasterIdLst>
  <p:handoutMasterIdLst>
    <p:handoutMasterId r:id="rId48"/>
  </p:handout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3" r:id="rId23"/>
    <p:sldId id="314" r:id="rId24"/>
    <p:sldId id="324" r:id="rId25"/>
    <p:sldId id="312" r:id="rId26"/>
    <p:sldId id="315" r:id="rId27"/>
    <p:sldId id="316" r:id="rId28"/>
    <p:sldId id="317" r:id="rId29"/>
    <p:sldId id="268" r:id="rId30"/>
    <p:sldId id="318" r:id="rId31"/>
    <p:sldId id="270" r:id="rId32"/>
    <p:sldId id="319" r:id="rId33"/>
    <p:sldId id="320" r:id="rId34"/>
    <p:sldId id="321" r:id="rId35"/>
    <p:sldId id="322" r:id="rId36"/>
    <p:sldId id="323" r:id="rId37"/>
    <p:sldId id="325" r:id="rId38"/>
    <p:sldId id="326" r:id="rId39"/>
    <p:sldId id="327" r:id="rId40"/>
    <p:sldId id="328" r:id="rId41"/>
    <p:sldId id="279" r:id="rId42"/>
    <p:sldId id="280" r:id="rId43"/>
    <p:sldId id="281" r:id="rId44"/>
    <p:sldId id="329" r:id="rId45"/>
    <p:sldId id="330" r:id="rId46"/>
  </p:sldIdLst>
  <p:sldSz cx="12192000" cy="6858000"/>
  <p:notesSz cx="6858000" cy="9144000"/>
  <p:defaultTextStyle>
    <a:defPPr>
      <a:defRPr lang="be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5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-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60"/>
  </p:normalViewPr>
  <p:slideViewPr>
    <p:cSldViewPr>
      <p:cViewPr varScale="1">
        <p:scale>
          <a:sx n="115" d="100"/>
          <a:sy n="115" d="100"/>
        </p:scale>
        <p:origin x="258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8998C-D685-4069-932C-2A3C0ABD556B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75798A-7648-473B-8C48-3168FC0F1D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1953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28BCB-A890-40CF-9D29-B0B56C3E1D7A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BA9A5-E032-434D-BCD2-0B3224D50A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283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>
            <a:extLst>
              <a:ext uri="{FF2B5EF4-FFF2-40B4-BE49-F238E27FC236}">
                <a16:creationId xmlns:a16="http://schemas.microsoft.com/office/drawing/2014/main" id="{80B2E819-7F0D-4B2A-8544-58515B5FCF0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10DDC2D4-278E-40F8-BAF0-46E9EE17647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>
            <a:extLst>
              <a:ext uri="{FF2B5EF4-FFF2-40B4-BE49-F238E27FC236}">
                <a16:creationId xmlns:a16="http://schemas.microsoft.com/office/drawing/2014/main" id="{7140175E-4C27-447E-8BAB-2EC3D0A7409D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8D07D9E3-0D65-4E9A-9331-269A6279A70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>
            <a:extLst>
              <a:ext uri="{FF2B5EF4-FFF2-40B4-BE49-F238E27FC236}">
                <a16:creationId xmlns:a16="http://schemas.microsoft.com/office/drawing/2014/main" id="{3258A31A-9098-43BB-8100-8128BE886C3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01BECEE8-2276-4A6E-B057-F98E5FC640E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>
            <a:extLst>
              <a:ext uri="{FF2B5EF4-FFF2-40B4-BE49-F238E27FC236}">
                <a16:creationId xmlns:a16="http://schemas.microsoft.com/office/drawing/2014/main" id="{FD57EB3E-3B2A-4506-B432-66CA6D0BC75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CEFAAE2C-8A88-44E3-B055-58F23F14D58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>
            <a:extLst>
              <a:ext uri="{FF2B5EF4-FFF2-40B4-BE49-F238E27FC236}">
                <a16:creationId xmlns:a16="http://schemas.microsoft.com/office/drawing/2014/main" id="{126807CB-8E04-4510-9A55-63E765AD83A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640A0BA8-89B7-4234-A8B4-396ABBFDCC4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>
            <a:extLst>
              <a:ext uri="{FF2B5EF4-FFF2-40B4-BE49-F238E27FC236}">
                <a16:creationId xmlns:a16="http://schemas.microsoft.com/office/drawing/2014/main" id="{94002A7F-618F-49EA-A5D5-887CC7E9BA3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B19640E4-7684-4A98-82D5-30619066888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>
            <a:extLst>
              <a:ext uri="{FF2B5EF4-FFF2-40B4-BE49-F238E27FC236}">
                <a16:creationId xmlns:a16="http://schemas.microsoft.com/office/drawing/2014/main" id="{2D485EDB-3DE7-4DB4-A5EA-16EF99417D3D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48B4246B-944A-47B8-9284-024E9F429A9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>
            <a:extLst>
              <a:ext uri="{FF2B5EF4-FFF2-40B4-BE49-F238E27FC236}">
                <a16:creationId xmlns:a16="http://schemas.microsoft.com/office/drawing/2014/main" id="{D1261500-F4C0-495D-9A3A-D61E80976D9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A1204E8E-4B0F-4802-B992-269197E8DA6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">
            <a:extLst>
              <a:ext uri="{FF2B5EF4-FFF2-40B4-BE49-F238E27FC236}">
                <a16:creationId xmlns:a16="http://schemas.microsoft.com/office/drawing/2014/main" id="{4F7B04E5-1D3C-44C8-911B-AE0751FDF0D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428784CF-EC58-479B-BACD-14493886DFB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>
            <a:extLst>
              <a:ext uri="{FF2B5EF4-FFF2-40B4-BE49-F238E27FC236}">
                <a16:creationId xmlns:a16="http://schemas.microsoft.com/office/drawing/2014/main" id="{615A9984-240B-4AB1-80C1-64D82AC3DC1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F51666B7-8763-4762-9B2F-C0E42B04D79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>
            <a:extLst>
              <a:ext uri="{FF2B5EF4-FFF2-40B4-BE49-F238E27FC236}">
                <a16:creationId xmlns:a16="http://schemas.microsoft.com/office/drawing/2014/main" id="{29E95BD6-0966-4324-AEB8-32327118C45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B645AF9A-B7D2-49F8-A3B5-63487A6EEE4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>
            <a:extLst>
              <a:ext uri="{FF2B5EF4-FFF2-40B4-BE49-F238E27FC236}">
                <a16:creationId xmlns:a16="http://schemas.microsoft.com/office/drawing/2014/main" id="{89F584B3-79BD-4A58-A30C-310693290B6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F0CEAF76-3D34-4C86-AE2B-B7D7014ED4A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>
            <a:extLst>
              <a:ext uri="{FF2B5EF4-FFF2-40B4-BE49-F238E27FC236}">
                <a16:creationId xmlns:a16="http://schemas.microsoft.com/office/drawing/2014/main" id="{E4414361-40CF-42FA-BDA6-DE4C45DBF75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40B3CDC6-FBB0-4B42-8786-C32F7FAD059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">
            <a:extLst>
              <a:ext uri="{FF2B5EF4-FFF2-40B4-BE49-F238E27FC236}">
                <a16:creationId xmlns:a16="http://schemas.microsoft.com/office/drawing/2014/main" id="{9E5B83AE-F9D2-4253-AD2B-C8F7DF78F6D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2C58C2A5-B08E-4607-A07C-C5292560F07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>
            <a:extLst>
              <a:ext uri="{FF2B5EF4-FFF2-40B4-BE49-F238E27FC236}">
                <a16:creationId xmlns:a16="http://schemas.microsoft.com/office/drawing/2014/main" id="{DC96B354-135B-45B7-BB32-CEF61F8D4296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54D58999-AF5E-4A24-86BF-A4791773D77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1">
            <a:extLst>
              <a:ext uri="{FF2B5EF4-FFF2-40B4-BE49-F238E27FC236}">
                <a16:creationId xmlns:a16="http://schemas.microsoft.com/office/drawing/2014/main" id="{9CE72864-3A23-4EB1-AE35-3EEE1F6861B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EDCF65E2-7773-44EE-B0F0-43D83970BDB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">
            <a:extLst>
              <a:ext uri="{FF2B5EF4-FFF2-40B4-BE49-F238E27FC236}">
                <a16:creationId xmlns:a16="http://schemas.microsoft.com/office/drawing/2014/main" id="{09E968AE-3ACB-472F-8C35-1435039B16D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67F4DF4C-0855-4A42-B573-6A30976D29D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1">
            <a:extLst>
              <a:ext uri="{FF2B5EF4-FFF2-40B4-BE49-F238E27FC236}">
                <a16:creationId xmlns:a16="http://schemas.microsoft.com/office/drawing/2014/main" id="{FB45E345-5EBB-4C1F-B449-5D246F07D63D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92129238-2977-42A2-AF1A-D8243F844CC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>
            <a:extLst>
              <a:ext uri="{FF2B5EF4-FFF2-40B4-BE49-F238E27FC236}">
                <a16:creationId xmlns:a16="http://schemas.microsoft.com/office/drawing/2014/main" id="{7CAC5FA0-E63D-434C-9334-BB7547C82DD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53FD7F05-2E6A-4A1B-A634-214BD810CA3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1">
            <a:extLst>
              <a:ext uri="{FF2B5EF4-FFF2-40B4-BE49-F238E27FC236}">
                <a16:creationId xmlns:a16="http://schemas.microsoft.com/office/drawing/2014/main" id="{A64E02C6-4E11-4220-8832-DB464A889AD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62519894-32F7-4191-A26C-A44FCB22E7D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">
            <a:extLst>
              <a:ext uri="{FF2B5EF4-FFF2-40B4-BE49-F238E27FC236}">
                <a16:creationId xmlns:a16="http://schemas.microsoft.com/office/drawing/2014/main" id="{09E968AE-3ACB-472F-8C35-1435039B16D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67F4DF4C-0855-4A42-B573-6A30976D29D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030867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">
            <a:extLst>
              <a:ext uri="{FF2B5EF4-FFF2-40B4-BE49-F238E27FC236}">
                <a16:creationId xmlns:a16="http://schemas.microsoft.com/office/drawing/2014/main" id="{03AB13F6-476C-4447-82AA-DFC49BF949C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8792EF03-F7D6-4C4F-9DD4-8AD36676FA0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1">
            <a:extLst>
              <a:ext uri="{FF2B5EF4-FFF2-40B4-BE49-F238E27FC236}">
                <a16:creationId xmlns:a16="http://schemas.microsoft.com/office/drawing/2014/main" id="{A48D6E0A-6145-43CF-A079-ECAA0A91FEF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2DED305F-B531-47AD-BA4E-E83B24D2807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1">
            <a:extLst>
              <a:ext uri="{FF2B5EF4-FFF2-40B4-BE49-F238E27FC236}">
                <a16:creationId xmlns:a16="http://schemas.microsoft.com/office/drawing/2014/main" id="{55C7D0A4-78FD-4D45-9DBD-D0DB2343CCD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4B49EDEC-FADB-4C93-A3CB-810E4631125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1">
            <a:extLst>
              <a:ext uri="{FF2B5EF4-FFF2-40B4-BE49-F238E27FC236}">
                <a16:creationId xmlns:a16="http://schemas.microsoft.com/office/drawing/2014/main" id="{246C638E-58EC-42CC-9F59-8A530E6C5E0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153DDD6F-D828-4944-9FF1-6151A6B000E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1">
            <a:extLst>
              <a:ext uri="{FF2B5EF4-FFF2-40B4-BE49-F238E27FC236}">
                <a16:creationId xmlns:a16="http://schemas.microsoft.com/office/drawing/2014/main" id="{B25566E7-7270-4608-85D1-6E64D2C176A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AB3F6592-62B9-4B4C-9595-272DDD64E9A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1">
            <a:extLst>
              <a:ext uri="{FF2B5EF4-FFF2-40B4-BE49-F238E27FC236}">
                <a16:creationId xmlns:a16="http://schemas.microsoft.com/office/drawing/2014/main" id="{3E9A9ECD-22E2-404F-A83C-97A5D6343CBD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3C01354B-CFE3-4447-A995-78FAF68489B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1">
            <a:extLst>
              <a:ext uri="{FF2B5EF4-FFF2-40B4-BE49-F238E27FC236}">
                <a16:creationId xmlns:a16="http://schemas.microsoft.com/office/drawing/2014/main" id="{47ABBD5B-2AFB-43F3-B1CC-A1BC743B77E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95325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39156A20-3576-4D13-B17A-CFD94E28F4F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 alt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13.05.26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34448863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13.05.26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007869859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13.05.26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49692841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13.05.26</a:t>
            </a:fld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627835996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13.05.26</a:t>
            </a:fld>
            <a:endParaRPr lang="be-BY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88906088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13.05.26</a:t>
            </a:fld>
            <a:endParaRPr lang="be-BY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980621065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13.05.26</a:t>
            </a:fld>
            <a:endParaRPr lang="be-BY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22363073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13.05.26</a:t>
            </a:fld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86266547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13.05.26</a:t>
            </a:fld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53445031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13.05.26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452463669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13.05.26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3631707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C61C8-9B01-4390-BFEC-BFC4D09FF6CC}" type="datetimeFigureOut">
              <a:rPr lang="be-BY" smtClean="0"/>
              <a:pPr/>
              <a:t>13.05.26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74434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6.png"/><Relationship Id="rId4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png"/><Relationship Id="rId5" Type="http://schemas.openxmlformats.org/officeDocument/2006/relationships/image" Target="../media/image22.emf"/><Relationship Id="rId4" Type="http://schemas.openxmlformats.org/officeDocument/2006/relationships/oleObject" Target="../embeddings/oleObject6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05A32281-E7AF-4C23-8CF6-40D1D6FFB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-370808"/>
            <a:ext cx="8064500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152280" rIns="90000" bIns="76320" anchor="ctr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ru-RU" altLang="ru-RU" sz="2400" b="1" i="1" dirty="0">
                <a:solidFill>
                  <a:srgbClr val="FF0000"/>
                </a:solidFill>
                <a:cs typeface="DejaVu Sans" charset="0"/>
              </a:rPr>
              <a:t>                                       </a:t>
            </a:r>
            <a:r>
              <a:rPr lang="ru-RU" altLang="ru-RU" sz="8000" b="1" i="1" dirty="0">
                <a:solidFill>
                  <a:srgbClr val="FF0000"/>
                </a:solidFill>
                <a:latin typeface="Times New Roman" panose="02020603050405020304" pitchFamily="18" charset="0"/>
                <a:cs typeface="DejaVu Sans" charset="0"/>
              </a:rPr>
              <a:t>Оптимизация сетевых моделей</a:t>
            </a:r>
          </a:p>
          <a:p>
            <a:pPr algn="ctr" eaLnBrk="1" hangingPunct="1">
              <a:buClrTx/>
              <a:buFontTx/>
              <a:buNone/>
            </a:pPr>
            <a:r>
              <a:rPr lang="ru-RU" altLang="ru-RU" sz="2400" b="1" i="1" dirty="0">
                <a:solidFill>
                  <a:srgbClr val="FF0000"/>
                </a:solidFill>
                <a:latin typeface="Monotype Corsiva" panose="03010101010201010101" pitchFamily="66" charset="0"/>
                <a:cs typeface="DejaVu Sans" charset="0"/>
              </a:rPr>
              <a:t> </a:t>
            </a:r>
          </a:p>
          <a:p>
            <a:pPr algn="ctr" eaLnBrk="1" hangingPunct="1">
              <a:buClrTx/>
              <a:buFontTx/>
              <a:buNone/>
            </a:pPr>
            <a:endParaRPr lang="ru-RU" altLang="ru-RU" sz="2400" b="1" i="1" dirty="0">
              <a:solidFill>
                <a:srgbClr val="FF0000"/>
              </a:solidFill>
              <a:latin typeface="Monotype Corsiva" panose="03010101010201010101" pitchFamily="66" charset="0"/>
              <a:cs typeface="DejaVu Sans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64E8974E-32CA-4104-BD55-A0FB324E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75" y="3573016"/>
            <a:ext cx="8858250" cy="192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44450">
              <a:tabLst>
                <a:tab pos="44450" algn="l"/>
                <a:tab pos="958850" algn="l"/>
                <a:tab pos="1873250" algn="l"/>
                <a:tab pos="2787650" algn="l"/>
                <a:tab pos="3702050" algn="l"/>
                <a:tab pos="4616450" algn="l"/>
                <a:tab pos="5530850" algn="l"/>
                <a:tab pos="6445250" algn="l"/>
                <a:tab pos="7359650" algn="l"/>
                <a:tab pos="8274050" algn="l"/>
                <a:tab pos="9188450" algn="l"/>
                <a:tab pos="101028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44450" algn="l"/>
                <a:tab pos="958850" algn="l"/>
                <a:tab pos="1873250" algn="l"/>
                <a:tab pos="2787650" algn="l"/>
                <a:tab pos="3702050" algn="l"/>
                <a:tab pos="4616450" algn="l"/>
                <a:tab pos="5530850" algn="l"/>
                <a:tab pos="6445250" algn="l"/>
                <a:tab pos="7359650" algn="l"/>
                <a:tab pos="8274050" algn="l"/>
                <a:tab pos="9188450" algn="l"/>
                <a:tab pos="101028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44450" algn="l"/>
                <a:tab pos="958850" algn="l"/>
                <a:tab pos="1873250" algn="l"/>
                <a:tab pos="2787650" algn="l"/>
                <a:tab pos="3702050" algn="l"/>
                <a:tab pos="4616450" algn="l"/>
                <a:tab pos="5530850" algn="l"/>
                <a:tab pos="6445250" algn="l"/>
                <a:tab pos="7359650" algn="l"/>
                <a:tab pos="8274050" algn="l"/>
                <a:tab pos="9188450" algn="l"/>
                <a:tab pos="101028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44450" algn="l"/>
                <a:tab pos="958850" algn="l"/>
                <a:tab pos="1873250" algn="l"/>
                <a:tab pos="2787650" algn="l"/>
                <a:tab pos="3702050" algn="l"/>
                <a:tab pos="4616450" algn="l"/>
                <a:tab pos="5530850" algn="l"/>
                <a:tab pos="6445250" algn="l"/>
                <a:tab pos="7359650" algn="l"/>
                <a:tab pos="8274050" algn="l"/>
                <a:tab pos="9188450" algn="l"/>
                <a:tab pos="101028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44450" algn="l"/>
                <a:tab pos="958850" algn="l"/>
                <a:tab pos="1873250" algn="l"/>
                <a:tab pos="2787650" algn="l"/>
                <a:tab pos="3702050" algn="l"/>
                <a:tab pos="4616450" algn="l"/>
                <a:tab pos="5530850" algn="l"/>
                <a:tab pos="6445250" algn="l"/>
                <a:tab pos="7359650" algn="l"/>
                <a:tab pos="8274050" algn="l"/>
                <a:tab pos="9188450" algn="l"/>
                <a:tab pos="101028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450" algn="l"/>
                <a:tab pos="958850" algn="l"/>
                <a:tab pos="1873250" algn="l"/>
                <a:tab pos="2787650" algn="l"/>
                <a:tab pos="3702050" algn="l"/>
                <a:tab pos="4616450" algn="l"/>
                <a:tab pos="5530850" algn="l"/>
                <a:tab pos="6445250" algn="l"/>
                <a:tab pos="7359650" algn="l"/>
                <a:tab pos="8274050" algn="l"/>
                <a:tab pos="9188450" algn="l"/>
                <a:tab pos="101028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450" algn="l"/>
                <a:tab pos="958850" algn="l"/>
                <a:tab pos="1873250" algn="l"/>
                <a:tab pos="2787650" algn="l"/>
                <a:tab pos="3702050" algn="l"/>
                <a:tab pos="4616450" algn="l"/>
                <a:tab pos="5530850" algn="l"/>
                <a:tab pos="6445250" algn="l"/>
                <a:tab pos="7359650" algn="l"/>
                <a:tab pos="8274050" algn="l"/>
                <a:tab pos="9188450" algn="l"/>
                <a:tab pos="101028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450" algn="l"/>
                <a:tab pos="958850" algn="l"/>
                <a:tab pos="1873250" algn="l"/>
                <a:tab pos="2787650" algn="l"/>
                <a:tab pos="3702050" algn="l"/>
                <a:tab pos="4616450" algn="l"/>
                <a:tab pos="5530850" algn="l"/>
                <a:tab pos="6445250" algn="l"/>
                <a:tab pos="7359650" algn="l"/>
                <a:tab pos="8274050" algn="l"/>
                <a:tab pos="9188450" algn="l"/>
                <a:tab pos="101028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450" algn="l"/>
                <a:tab pos="958850" algn="l"/>
                <a:tab pos="1873250" algn="l"/>
                <a:tab pos="2787650" algn="l"/>
                <a:tab pos="3702050" algn="l"/>
                <a:tab pos="4616450" algn="l"/>
                <a:tab pos="5530850" algn="l"/>
                <a:tab pos="6445250" algn="l"/>
                <a:tab pos="7359650" algn="l"/>
                <a:tab pos="8274050" algn="l"/>
                <a:tab pos="9188450" algn="l"/>
                <a:tab pos="101028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725"/>
              </a:spcBef>
              <a:spcAft>
                <a:spcPts val="300"/>
              </a:spcAft>
            </a:pPr>
            <a:r>
              <a:rPr lang="ru-RU" altLang="ru-RU" sz="4000" dirty="0">
                <a:solidFill>
                  <a:srgbClr val="FF0000"/>
                </a:solidFill>
                <a:latin typeface="Trebuchet MS" panose="020B0603020202020204" pitchFamily="34" charset="0"/>
                <a:cs typeface="DejaVu Sans" charset="0"/>
              </a:rPr>
              <a:t>Цель: </a:t>
            </a:r>
            <a:r>
              <a:rPr lang="ru-RU" altLang="ru-RU" sz="4000" dirty="0">
                <a:latin typeface="Trebuchet MS" panose="020B0603020202020204" pitchFamily="34" charset="0"/>
                <a:cs typeface="DejaVu Sans" charset="0"/>
              </a:rPr>
              <a:t>освоение навыков решения</a:t>
            </a:r>
            <a:r>
              <a:rPr lang="en-US" altLang="ru-RU" sz="4000" dirty="0">
                <a:latin typeface="Trebuchet MS" panose="020B0603020202020204" pitchFamily="34" charset="0"/>
                <a:cs typeface="DejaVu Sans" charset="0"/>
              </a:rPr>
              <a:t> </a:t>
            </a:r>
            <a:r>
              <a:rPr lang="ru-RU" altLang="ru-RU" sz="4000" dirty="0">
                <a:latin typeface="Trebuchet MS" panose="020B0603020202020204" pitchFamily="34" charset="0"/>
                <a:cs typeface="DejaVu Sans" charset="0"/>
              </a:rPr>
              <a:t>оптимизационных задач на основе моделей сетевого планирования.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>
            <a:extLst>
              <a:ext uri="{FF2B5EF4-FFF2-40B4-BE49-F238E27FC236}">
                <a16:creationId xmlns:a16="http://schemas.microsoft.com/office/drawing/2014/main" id="{92AE336F-BC66-40AB-A3B5-43CD29CDD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625" y="1988840"/>
            <a:ext cx="9036745" cy="309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557213" indent="-512763">
              <a:tabLst>
                <a:tab pos="557213" algn="l"/>
                <a:tab pos="1471613" algn="l"/>
                <a:tab pos="2386013" algn="l"/>
                <a:tab pos="3300413" algn="l"/>
                <a:tab pos="4214813" algn="l"/>
                <a:tab pos="5129213" algn="l"/>
                <a:tab pos="6043613" algn="l"/>
                <a:tab pos="6958013" algn="l"/>
                <a:tab pos="7872413" algn="l"/>
                <a:tab pos="8786813" algn="l"/>
                <a:tab pos="9701213" algn="l"/>
                <a:tab pos="106156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557213" algn="l"/>
                <a:tab pos="1471613" algn="l"/>
                <a:tab pos="2386013" algn="l"/>
                <a:tab pos="3300413" algn="l"/>
                <a:tab pos="4214813" algn="l"/>
                <a:tab pos="5129213" algn="l"/>
                <a:tab pos="6043613" algn="l"/>
                <a:tab pos="6958013" algn="l"/>
                <a:tab pos="7872413" algn="l"/>
                <a:tab pos="8786813" algn="l"/>
                <a:tab pos="9701213" algn="l"/>
                <a:tab pos="106156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557213" algn="l"/>
                <a:tab pos="1471613" algn="l"/>
                <a:tab pos="2386013" algn="l"/>
                <a:tab pos="3300413" algn="l"/>
                <a:tab pos="4214813" algn="l"/>
                <a:tab pos="5129213" algn="l"/>
                <a:tab pos="6043613" algn="l"/>
                <a:tab pos="6958013" algn="l"/>
                <a:tab pos="7872413" algn="l"/>
                <a:tab pos="8786813" algn="l"/>
                <a:tab pos="9701213" algn="l"/>
                <a:tab pos="106156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557213" algn="l"/>
                <a:tab pos="1471613" algn="l"/>
                <a:tab pos="2386013" algn="l"/>
                <a:tab pos="3300413" algn="l"/>
                <a:tab pos="4214813" algn="l"/>
                <a:tab pos="5129213" algn="l"/>
                <a:tab pos="6043613" algn="l"/>
                <a:tab pos="6958013" algn="l"/>
                <a:tab pos="7872413" algn="l"/>
                <a:tab pos="8786813" algn="l"/>
                <a:tab pos="9701213" algn="l"/>
                <a:tab pos="106156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557213" algn="l"/>
                <a:tab pos="1471613" algn="l"/>
                <a:tab pos="2386013" algn="l"/>
                <a:tab pos="3300413" algn="l"/>
                <a:tab pos="4214813" algn="l"/>
                <a:tab pos="5129213" algn="l"/>
                <a:tab pos="6043613" algn="l"/>
                <a:tab pos="6958013" algn="l"/>
                <a:tab pos="7872413" algn="l"/>
                <a:tab pos="8786813" algn="l"/>
                <a:tab pos="9701213" algn="l"/>
                <a:tab pos="106156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57213" algn="l"/>
                <a:tab pos="1471613" algn="l"/>
                <a:tab pos="2386013" algn="l"/>
                <a:tab pos="3300413" algn="l"/>
                <a:tab pos="4214813" algn="l"/>
                <a:tab pos="5129213" algn="l"/>
                <a:tab pos="6043613" algn="l"/>
                <a:tab pos="6958013" algn="l"/>
                <a:tab pos="7872413" algn="l"/>
                <a:tab pos="8786813" algn="l"/>
                <a:tab pos="9701213" algn="l"/>
                <a:tab pos="106156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57213" algn="l"/>
                <a:tab pos="1471613" algn="l"/>
                <a:tab pos="2386013" algn="l"/>
                <a:tab pos="3300413" algn="l"/>
                <a:tab pos="4214813" algn="l"/>
                <a:tab pos="5129213" algn="l"/>
                <a:tab pos="6043613" algn="l"/>
                <a:tab pos="6958013" algn="l"/>
                <a:tab pos="7872413" algn="l"/>
                <a:tab pos="8786813" algn="l"/>
                <a:tab pos="9701213" algn="l"/>
                <a:tab pos="106156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57213" algn="l"/>
                <a:tab pos="1471613" algn="l"/>
                <a:tab pos="2386013" algn="l"/>
                <a:tab pos="3300413" algn="l"/>
                <a:tab pos="4214813" algn="l"/>
                <a:tab pos="5129213" algn="l"/>
                <a:tab pos="6043613" algn="l"/>
                <a:tab pos="6958013" algn="l"/>
                <a:tab pos="7872413" algn="l"/>
                <a:tab pos="8786813" algn="l"/>
                <a:tab pos="9701213" algn="l"/>
                <a:tab pos="106156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57213" algn="l"/>
                <a:tab pos="1471613" algn="l"/>
                <a:tab pos="2386013" algn="l"/>
                <a:tab pos="3300413" algn="l"/>
                <a:tab pos="4214813" algn="l"/>
                <a:tab pos="5129213" algn="l"/>
                <a:tab pos="6043613" algn="l"/>
                <a:tab pos="6958013" algn="l"/>
                <a:tab pos="7872413" algn="l"/>
                <a:tab pos="8786813" algn="l"/>
                <a:tab pos="9701213" algn="l"/>
                <a:tab pos="106156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spcBef>
                <a:spcPts val="563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imes New Roman" panose="02020603050405020304" pitchFamily="18" charset="0"/>
              <a:buAutoNum type="arabicPeriod"/>
            </a:pPr>
            <a:r>
              <a:rPr lang="ru-RU" altLang="ru-RU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DejaVu Sans" charset="0"/>
              </a:rPr>
              <a:t>Минимизация количества событий и фиктивных операций в сетевом графике;</a:t>
            </a:r>
          </a:p>
          <a:p>
            <a:pPr>
              <a:spcBef>
                <a:spcPts val="563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imes New Roman" panose="02020603050405020304" pitchFamily="18" charset="0"/>
              <a:buAutoNum type="arabicPeriod"/>
            </a:pPr>
            <a:r>
              <a:rPr lang="ru-RU" altLang="ru-RU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DejaVu Sans" charset="0"/>
              </a:rPr>
              <a:t>Критический путь сетевого графика;</a:t>
            </a:r>
          </a:p>
          <a:p>
            <a:pPr>
              <a:spcBef>
                <a:spcPts val="563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imes New Roman" panose="02020603050405020304" pitchFamily="18" charset="0"/>
              <a:buAutoNum type="arabicPeriod"/>
            </a:pPr>
            <a:r>
              <a:rPr lang="ru-RU" altLang="ru-RU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DejaVu Sans" charset="0"/>
              </a:rPr>
              <a:t>Оптимизация комплекса операций по времени; </a:t>
            </a:r>
          </a:p>
          <a:p>
            <a:pPr>
              <a:spcBef>
                <a:spcPts val="563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imes New Roman" panose="02020603050405020304" pitchFamily="18" charset="0"/>
              <a:buAutoNum type="arabicPeriod"/>
            </a:pPr>
            <a:r>
              <a:rPr lang="ru-RU" altLang="ru-RU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DejaVu Sans" charset="0"/>
              </a:rPr>
              <a:t>Оптимизация комплекса операций по стоимости при фиксированном сроке выполнения проекта;</a:t>
            </a:r>
          </a:p>
          <a:p>
            <a:pPr>
              <a:spcBef>
                <a:spcPts val="563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imes New Roman" panose="02020603050405020304" pitchFamily="18" charset="0"/>
              <a:buAutoNum type="arabicPeriod"/>
            </a:pPr>
            <a:r>
              <a:rPr lang="ru-RU" altLang="ru-RU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DejaVu Sans" charset="0"/>
              </a:rPr>
              <a:t>Оптимизация комплекса операций по </a:t>
            </a:r>
            <a:r>
              <a:rPr lang="ru-RU" altLang="ru-RU" sz="2800" b="1" i="1" dirty="0">
                <a:latin typeface="Times New Roman" panose="02020603050405020304" pitchFamily="18" charset="0"/>
                <a:cs typeface="DejaVu Sans" charset="0"/>
              </a:rPr>
              <a:t>ресурсам.</a:t>
            </a:r>
          </a:p>
          <a:p>
            <a:pPr>
              <a:spcBef>
                <a:spcPts val="563"/>
              </a:spcBef>
              <a:spcAft>
                <a:spcPts val="300"/>
              </a:spcAft>
              <a:buClr>
                <a:srgbClr val="C3260C"/>
              </a:buClr>
              <a:buSzPct val="130000"/>
              <a:buFont typeface="Times New Roman" panose="02020603050405020304" pitchFamily="18" charset="0"/>
              <a:buAutoNum type="arabicPeriod"/>
            </a:pPr>
            <a:endParaRPr lang="ru-RU" altLang="ru-RU" sz="2800" b="1" i="1" dirty="0">
              <a:latin typeface="Times New Roman" panose="02020603050405020304" pitchFamily="18" charset="0"/>
              <a:cs typeface="DejaVu Sans" charset="0"/>
            </a:endParaRPr>
          </a:p>
          <a:p>
            <a:pPr marL="558800" indent="-511175">
              <a:spcBef>
                <a:spcPts val="725"/>
              </a:spcBef>
              <a:spcAft>
                <a:spcPts val="300"/>
              </a:spcAft>
            </a:pPr>
            <a:endParaRPr lang="ru-RU" altLang="ru-RU" sz="2800" dirty="0">
              <a:cs typeface="DejaVu Sans" charset="0"/>
            </a:endParaRPr>
          </a:p>
          <a:p>
            <a:pPr marL="558800" indent="-511175">
              <a:spcBef>
                <a:spcPts val="725"/>
              </a:spcBef>
              <a:spcAft>
                <a:spcPts val="300"/>
              </a:spcAft>
            </a:pPr>
            <a:endParaRPr lang="ru-RU" altLang="ru-RU" sz="2800" dirty="0">
              <a:cs typeface="DejaVu Sans" charset="0"/>
            </a:endParaRPr>
          </a:p>
          <a:p>
            <a:pPr marL="558800" indent="-511175">
              <a:spcBef>
                <a:spcPts val="725"/>
              </a:spcBef>
              <a:spcAft>
                <a:spcPts val="300"/>
              </a:spcAft>
            </a:pPr>
            <a:endParaRPr lang="ru-RU" altLang="ru-RU" sz="2800" dirty="0">
              <a:cs typeface="DejaVu Sans" charset="0"/>
            </a:endParaRPr>
          </a:p>
          <a:p>
            <a:pPr marL="558800" indent="-511175">
              <a:spcBef>
                <a:spcPts val="725"/>
              </a:spcBef>
              <a:spcAft>
                <a:spcPts val="300"/>
              </a:spcAft>
            </a:pPr>
            <a:endParaRPr lang="ru-RU" altLang="ru-RU" sz="2800" dirty="0">
              <a:cs typeface="DejaVu Sans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ABB624C2-19C5-4D8B-9DE0-AF133326C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036" y="394361"/>
            <a:ext cx="65119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5400" b="1" dirty="0">
                <a:solidFill>
                  <a:srgbClr val="FF0000"/>
                </a:solidFill>
                <a:latin typeface="Trebuchet MS" panose="020B0603020202020204" pitchFamily="34" charset="0"/>
                <a:cs typeface="DejaVu Sans" charset="0"/>
              </a:rPr>
              <a:t>План лекции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3" descr="ПервыйСГ_new">
            <a:extLst>
              <a:ext uri="{FF2B5EF4-FFF2-40B4-BE49-F238E27FC236}">
                <a16:creationId xmlns:a16="http://schemas.microsoft.com/office/drawing/2014/main" id="{13FB20D6-D928-4B49-9AA6-CB7146E999F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524000" y="0"/>
            <a:ext cx="9143640" cy="68576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255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ADB0C9-9E30-4059-854B-8B886C288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116632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rgbClr val="FF0000"/>
                </a:solidFill>
                <a:latin typeface="Trebuchet MS" panose="020B0603020202020204" pitchFamily="34" charset="0"/>
                <a:cs typeface="DejaVu Sans" charset="0"/>
              </a:rPr>
              <a:t>Минимизация количества событий и фиктивных операций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AF3A3-0C84-4F31-ADB2-2CA16CFEEAE2}"/>
              </a:ext>
            </a:extLst>
          </p:cNvPr>
          <p:cNvSpPr txBox="1"/>
          <p:nvPr/>
        </p:nvSpPr>
        <p:spPr>
          <a:xfrm>
            <a:off x="299356" y="836712"/>
            <a:ext cx="11593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	Рассмотрим фрагмент сетевого графика проекта </a:t>
            </a:r>
            <a:r>
              <a:rPr lang="en-US" dirty="0"/>
              <a:t>WSP.</a:t>
            </a:r>
            <a:r>
              <a:rPr lang="ru-RU" dirty="0"/>
              <a:t> Он содержит 3 операции (</a:t>
            </a:r>
            <a:r>
              <a:rPr lang="en-US" dirty="0"/>
              <a:t>Z3, Z7 </a:t>
            </a:r>
            <a:r>
              <a:rPr lang="ru-RU" dirty="0"/>
              <a:t>и </a:t>
            </a:r>
            <a:r>
              <a:rPr lang="en-US" dirty="0"/>
              <a:t>Z17</a:t>
            </a:r>
            <a:r>
              <a:rPr lang="ru-RU" dirty="0"/>
              <a:t>), инцидентные им события и все фиктивные операции, связывающие их.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1EFEA5BC-9671-49C1-BDBF-83A578DABA0E}"/>
              </a:ext>
            </a:extLst>
          </p:cNvPr>
          <p:cNvSpPr/>
          <p:nvPr/>
        </p:nvSpPr>
        <p:spPr>
          <a:xfrm>
            <a:off x="663350" y="3078902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21BAE81-F0E4-49C6-932B-A34846880D78}"/>
              </a:ext>
            </a:extLst>
          </p:cNvPr>
          <p:cNvSpPr/>
          <p:nvPr/>
        </p:nvSpPr>
        <p:spPr>
          <a:xfrm>
            <a:off x="2103510" y="3078902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33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CD1592A4-2D4B-4E29-8224-5186C4D6C3A9}"/>
              </a:ext>
            </a:extLst>
          </p:cNvPr>
          <p:cNvSpPr/>
          <p:nvPr/>
        </p:nvSpPr>
        <p:spPr>
          <a:xfrm>
            <a:off x="4763852" y="3581232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4457867-0368-4679-B2E1-39B26EE562D4}"/>
              </a:ext>
            </a:extLst>
          </p:cNvPr>
          <p:cNvSpPr/>
          <p:nvPr/>
        </p:nvSpPr>
        <p:spPr>
          <a:xfrm>
            <a:off x="3327646" y="3581232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7CA2F289-0777-48B0-AF66-E20877FC0F37}"/>
              </a:ext>
            </a:extLst>
          </p:cNvPr>
          <p:cNvSpPr/>
          <p:nvPr/>
        </p:nvSpPr>
        <p:spPr>
          <a:xfrm>
            <a:off x="4765829" y="2464237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32450EE1-50F5-4F54-B663-D8C55A06BEB5}"/>
              </a:ext>
            </a:extLst>
          </p:cNvPr>
          <p:cNvSpPr/>
          <p:nvPr/>
        </p:nvSpPr>
        <p:spPr>
          <a:xfrm>
            <a:off x="3327646" y="2464237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37F7294A-526A-4EC7-B02F-356E9424B59B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311422" y="3222918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EC723804-5DC7-4E03-A292-8402B1CCC28B}"/>
              </a:ext>
            </a:extLst>
          </p:cNvPr>
          <p:cNvCxnSpPr/>
          <p:nvPr/>
        </p:nvCxnSpPr>
        <p:spPr>
          <a:xfrm>
            <a:off x="3973741" y="3725248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E35BB914-2EA1-4912-94F8-F9B2D0286EA7}"/>
              </a:ext>
            </a:extLst>
          </p:cNvPr>
          <p:cNvCxnSpPr/>
          <p:nvPr/>
        </p:nvCxnSpPr>
        <p:spPr>
          <a:xfrm>
            <a:off x="3975718" y="2608253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45D46895-92D2-433C-8B35-9D5BBB92EBD1}"/>
              </a:ext>
            </a:extLst>
          </p:cNvPr>
          <p:cNvCxnSpPr/>
          <p:nvPr/>
        </p:nvCxnSpPr>
        <p:spPr>
          <a:xfrm>
            <a:off x="5415878" y="2608253"/>
            <a:ext cx="792088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2014B54-FCE3-448D-A44C-58C8ADB74123}"/>
              </a:ext>
            </a:extLst>
          </p:cNvPr>
          <p:cNvCxnSpPr>
            <a:cxnSpLocks/>
          </p:cNvCxnSpPr>
          <p:nvPr/>
        </p:nvCxnSpPr>
        <p:spPr>
          <a:xfrm flipV="1">
            <a:off x="2427546" y="2409796"/>
            <a:ext cx="0" cy="6849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5EFDC57-55ED-4262-B350-335B71F73FCE}"/>
              </a:ext>
            </a:extLst>
          </p:cNvPr>
          <p:cNvCxnSpPr>
            <a:cxnSpLocks/>
          </p:cNvCxnSpPr>
          <p:nvPr/>
        </p:nvCxnSpPr>
        <p:spPr>
          <a:xfrm flipV="1">
            <a:off x="3642792" y="3869264"/>
            <a:ext cx="0" cy="72008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1340BFB7-B38E-4F4A-9351-EAF2269A1734}"/>
              </a:ext>
            </a:extLst>
          </p:cNvPr>
          <p:cNvCxnSpPr>
            <a:cxnSpLocks/>
          </p:cNvCxnSpPr>
          <p:nvPr/>
        </p:nvCxnSpPr>
        <p:spPr>
          <a:xfrm>
            <a:off x="987386" y="2409796"/>
            <a:ext cx="0" cy="6849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54F5C532-732C-4ED5-A112-1894E1C3D34B}"/>
              </a:ext>
            </a:extLst>
          </p:cNvPr>
          <p:cNvCxnSpPr>
            <a:cxnSpLocks/>
          </p:cNvCxnSpPr>
          <p:nvPr/>
        </p:nvCxnSpPr>
        <p:spPr>
          <a:xfrm flipH="1" flipV="1">
            <a:off x="1707466" y="2464237"/>
            <a:ext cx="540060" cy="63050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D8AB3D4A-5244-4E23-90B1-D6FE7652D584}"/>
              </a:ext>
            </a:extLst>
          </p:cNvPr>
          <p:cNvCxnSpPr>
            <a:cxnSpLocks/>
          </p:cNvCxnSpPr>
          <p:nvPr/>
        </p:nvCxnSpPr>
        <p:spPr>
          <a:xfrm flipH="1">
            <a:off x="1722270" y="3366934"/>
            <a:ext cx="495650" cy="61466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AF3A3B13-254D-4A62-94A2-CBF82A7AF8EC}"/>
              </a:ext>
            </a:extLst>
          </p:cNvPr>
          <p:cNvCxnSpPr>
            <a:cxnSpLocks/>
          </p:cNvCxnSpPr>
          <p:nvPr/>
        </p:nvCxnSpPr>
        <p:spPr>
          <a:xfrm>
            <a:off x="2427546" y="3366934"/>
            <a:ext cx="0" cy="6849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664ECD74-941D-44E2-B2A1-AB161C23D91E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751582" y="2608253"/>
            <a:ext cx="576064" cy="61466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4F7A696C-8544-46D8-9EA7-B5C4EBACDDF9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2679574" y="3319342"/>
            <a:ext cx="648072" cy="40590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85016B0B-EFD0-424A-A0CA-A45270077B69}"/>
              </a:ext>
            </a:extLst>
          </p:cNvPr>
          <p:cNvCxnSpPr>
            <a:cxnSpLocks/>
          </p:cNvCxnSpPr>
          <p:nvPr/>
        </p:nvCxnSpPr>
        <p:spPr>
          <a:xfrm>
            <a:off x="3642792" y="1779291"/>
            <a:ext cx="0" cy="6849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5F5C2AC9-2DDC-4965-9DCB-63B8B2B35FCA}"/>
              </a:ext>
            </a:extLst>
          </p:cNvPr>
          <p:cNvCxnSpPr>
            <a:cxnSpLocks/>
          </p:cNvCxnSpPr>
          <p:nvPr/>
        </p:nvCxnSpPr>
        <p:spPr>
          <a:xfrm>
            <a:off x="2895598" y="1925048"/>
            <a:ext cx="504056" cy="57606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3956A35A-1D6D-48F2-8E28-909AF6FEF743}"/>
              </a:ext>
            </a:extLst>
          </p:cNvPr>
          <p:cNvCxnSpPr>
            <a:cxnSpLocks/>
          </p:cNvCxnSpPr>
          <p:nvPr/>
        </p:nvCxnSpPr>
        <p:spPr>
          <a:xfrm flipV="1">
            <a:off x="2798443" y="3821671"/>
            <a:ext cx="634722" cy="64807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2A9DE411-FF5E-4E71-9962-3141F2345A11}"/>
              </a:ext>
            </a:extLst>
          </p:cNvPr>
          <p:cNvCxnSpPr>
            <a:cxnSpLocks/>
          </p:cNvCxnSpPr>
          <p:nvPr/>
        </p:nvCxnSpPr>
        <p:spPr>
          <a:xfrm>
            <a:off x="5087888" y="3886831"/>
            <a:ext cx="0" cy="6849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7410C962-0A81-402B-9943-0A6D789D85CD}"/>
              </a:ext>
            </a:extLst>
          </p:cNvPr>
          <p:cNvCxnSpPr>
            <a:cxnSpLocks/>
          </p:cNvCxnSpPr>
          <p:nvPr/>
        </p:nvCxnSpPr>
        <p:spPr>
          <a:xfrm flipH="1">
            <a:off x="4263750" y="3848119"/>
            <a:ext cx="648072" cy="81323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CA4B6215-C763-44A6-B916-3C5AD828F0E1}"/>
              </a:ext>
            </a:extLst>
          </p:cNvPr>
          <p:cNvCxnSpPr>
            <a:cxnSpLocks/>
          </p:cNvCxnSpPr>
          <p:nvPr/>
        </p:nvCxnSpPr>
        <p:spPr>
          <a:xfrm flipH="1">
            <a:off x="4047726" y="3803233"/>
            <a:ext cx="792088" cy="45150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BE76421B-BC4E-4359-AC18-07D46A9E6FD3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3651682" y="2767999"/>
            <a:ext cx="1436206" cy="81323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B45B4B15-FE0D-4B9F-BA59-494927DDBB44}"/>
              </a:ext>
            </a:extLst>
          </p:cNvPr>
          <p:cNvSpPr/>
          <p:nvPr/>
        </p:nvSpPr>
        <p:spPr>
          <a:xfrm>
            <a:off x="1453448" y="2894839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Z17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894D3154-1B62-4835-8312-4B6F6DC408F8}"/>
              </a:ext>
            </a:extLst>
          </p:cNvPr>
          <p:cNvSpPr/>
          <p:nvPr/>
        </p:nvSpPr>
        <p:spPr>
          <a:xfrm>
            <a:off x="4150797" y="2287176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Z3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C9762F04-43FA-4078-866F-9D777757436D}"/>
              </a:ext>
            </a:extLst>
          </p:cNvPr>
          <p:cNvSpPr/>
          <p:nvPr/>
        </p:nvSpPr>
        <p:spPr>
          <a:xfrm>
            <a:off x="4093826" y="3408251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Z7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75254B-C7BC-4EE0-95FC-0C459C616416}"/>
              </a:ext>
            </a:extLst>
          </p:cNvPr>
          <p:cNvSpPr txBox="1"/>
          <p:nvPr/>
        </p:nvSpPr>
        <p:spPr>
          <a:xfrm>
            <a:off x="6456040" y="1721285"/>
            <a:ext cx="53645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	Следует обратить внимание на два маршрута сетевого графика: 33 – 12 и                33 – 4 – 5 – 12. </a:t>
            </a:r>
          </a:p>
          <a:p>
            <a:pPr algn="just"/>
            <a:r>
              <a:rPr lang="ru-RU" dirty="0"/>
              <a:t>	Фиктивная операция </a:t>
            </a:r>
            <a:r>
              <a:rPr lang="en-US" dirty="0"/>
              <a:t>&lt;</a:t>
            </a:r>
            <a:r>
              <a:rPr lang="ru-RU" dirty="0"/>
              <a:t>33,12</a:t>
            </a:r>
            <a:r>
              <a:rPr lang="en-US" dirty="0"/>
              <a:t>&gt;</a:t>
            </a:r>
            <a:r>
              <a:rPr lang="ru-RU" dirty="0"/>
              <a:t> обозначает, что операция </a:t>
            </a:r>
            <a:r>
              <a:rPr lang="en-US" dirty="0"/>
              <a:t>Z7</a:t>
            </a:r>
            <a:r>
              <a:rPr lang="ru-RU" dirty="0"/>
              <a:t> не будет начата до тех пор, пока не завершится операция </a:t>
            </a:r>
            <a:r>
              <a:rPr lang="en-US" dirty="0"/>
              <a:t>Z17</a:t>
            </a:r>
            <a:r>
              <a:rPr lang="ru-RU" dirty="0"/>
              <a:t>. Фиктивная операция </a:t>
            </a:r>
            <a:r>
              <a:rPr lang="en-US" dirty="0"/>
              <a:t>&lt;</a:t>
            </a:r>
            <a:r>
              <a:rPr lang="ru-RU" dirty="0"/>
              <a:t>5,12</a:t>
            </a:r>
            <a:r>
              <a:rPr lang="en-US" dirty="0"/>
              <a:t>&gt;</a:t>
            </a:r>
            <a:r>
              <a:rPr lang="ru-RU" dirty="0"/>
              <a:t> обозначает, что операция </a:t>
            </a:r>
            <a:r>
              <a:rPr lang="en-US" dirty="0"/>
              <a:t>Z7</a:t>
            </a:r>
            <a:r>
              <a:rPr lang="ru-RU" dirty="0"/>
              <a:t> не будет начата до тех пор, пока не завершится операция </a:t>
            </a:r>
            <a:r>
              <a:rPr lang="en-US" dirty="0"/>
              <a:t>Z</a:t>
            </a:r>
            <a:r>
              <a:rPr lang="ru-RU" dirty="0"/>
              <a:t>3, которая в свою очередь не может быть начата до завершения </a:t>
            </a:r>
            <a:r>
              <a:rPr lang="en-US" dirty="0"/>
              <a:t>Z17</a:t>
            </a:r>
            <a:r>
              <a:rPr lang="ru-RU" dirty="0"/>
              <a:t>, что обеспечивается фиктивной операцией </a:t>
            </a:r>
            <a:r>
              <a:rPr lang="en-US" dirty="0"/>
              <a:t>&lt;</a:t>
            </a:r>
            <a:r>
              <a:rPr lang="ru-RU" dirty="0"/>
              <a:t>33,4</a:t>
            </a:r>
            <a:r>
              <a:rPr lang="en-US" dirty="0"/>
              <a:t>&gt;</a:t>
            </a:r>
            <a:r>
              <a:rPr lang="ru-RU" dirty="0"/>
              <a:t>. </a:t>
            </a:r>
          </a:p>
          <a:p>
            <a:pPr algn="just"/>
            <a:r>
              <a:rPr lang="ru-RU" dirty="0"/>
              <a:t>	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A9E999-BFC1-45E2-B7A0-A6C6EBD822A8}"/>
              </a:ext>
            </a:extLst>
          </p:cNvPr>
          <p:cNvSpPr txBox="1"/>
          <p:nvPr/>
        </p:nvSpPr>
        <p:spPr>
          <a:xfrm>
            <a:off x="299353" y="5367605"/>
            <a:ext cx="11593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	 Очевидно, что если удалить фиктивную операцию </a:t>
            </a:r>
            <a:r>
              <a:rPr lang="en-US" dirty="0"/>
              <a:t>&lt;</a:t>
            </a:r>
            <a:r>
              <a:rPr lang="ru-RU" dirty="0"/>
              <a:t>33,12</a:t>
            </a:r>
            <a:r>
              <a:rPr lang="en-US" dirty="0"/>
              <a:t>&gt;</a:t>
            </a:r>
            <a:r>
              <a:rPr lang="ru-RU" dirty="0"/>
              <a:t>, то последовательность выполнения операций сетевого графика не изменится. Сформулируем </a:t>
            </a:r>
            <a:r>
              <a:rPr lang="ru-RU" b="1" dirty="0"/>
              <a:t>правило</a:t>
            </a:r>
            <a:r>
              <a:rPr lang="ru-RU" dirty="0"/>
              <a:t>, позволяющее определять избыточные фиктивные операции:</a:t>
            </a:r>
          </a:p>
        </p:txBody>
      </p:sp>
    </p:spTree>
    <p:extLst>
      <p:ext uri="{BB962C8B-B14F-4D97-AF65-F5344CB8AC3E}">
        <p14:creationId xmlns:p14="http://schemas.microsoft.com/office/powerpoint/2010/main" val="272650376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ADB0C9-9E30-4059-854B-8B886C288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476672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rgbClr val="FF0000"/>
                </a:solidFill>
                <a:latin typeface="Trebuchet MS" panose="020B0603020202020204" pitchFamily="34" charset="0"/>
                <a:cs typeface="DejaVu Sans" charset="0"/>
              </a:rPr>
              <a:t>Минимизация количества событий и фиктивных операций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AF3A3-0C84-4F31-ADB2-2CA16CFEEAE2}"/>
              </a:ext>
            </a:extLst>
          </p:cNvPr>
          <p:cNvSpPr txBox="1"/>
          <p:nvPr/>
        </p:nvSpPr>
        <p:spPr>
          <a:xfrm>
            <a:off x="857418" y="1844824"/>
            <a:ext cx="104771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в сетевом графике действительная операция </a:t>
            </a:r>
            <a:r>
              <a:rPr lang="ru-RU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предшествует действительной операции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есть маршруты, соединяющие конечные события операций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начальным событием операции </a:t>
            </a:r>
            <a:r>
              <a:rPr lang="ru-RU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тогда маршрут, состоящий из единственной дуги и соответствующий фиктивной операции, обозначает избыточную фиктивную операцию, которая может быть удалена без ущерба для логических связей операций в том сетевом графике.</a:t>
            </a:r>
            <a:endParaRPr lang="ru-RU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67893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ADB0C9-9E30-4059-854B-8B886C288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116632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rgbClr val="FF0000"/>
                </a:solidFill>
                <a:latin typeface="Trebuchet MS" panose="020B0603020202020204" pitchFamily="34" charset="0"/>
                <a:cs typeface="DejaVu Sans" charset="0"/>
              </a:rPr>
              <a:t>Минимизация количества событий и фиктивных операций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AF3A3-0C84-4F31-ADB2-2CA16CFEEAE2}"/>
              </a:ext>
            </a:extLst>
          </p:cNvPr>
          <p:cNvSpPr txBox="1"/>
          <p:nvPr/>
        </p:nvSpPr>
        <p:spPr>
          <a:xfrm>
            <a:off x="299356" y="1278779"/>
            <a:ext cx="11593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	</a:t>
            </a:r>
            <a:r>
              <a:rPr lang="ru-RU" sz="2400" dirty="0"/>
              <a:t>На рисунке изображен тот же фрагмент сетевого графика, что и ранее, но здесь уже удалена дуга, соответствующая избыточной фиктивной операции.</a:t>
            </a:r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1EFEA5BC-9671-49C1-BDBF-83A578DABA0E}"/>
              </a:ext>
            </a:extLst>
          </p:cNvPr>
          <p:cNvSpPr/>
          <p:nvPr/>
        </p:nvSpPr>
        <p:spPr>
          <a:xfrm>
            <a:off x="2801634" y="3606616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21BAE81-F0E4-49C6-932B-A34846880D78}"/>
              </a:ext>
            </a:extLst>
          </p:cNvPr>
          <p:cNvSpPr/>
          <p:nvPr/>
        </p:nvSpPr>
        <p:spPr>
          <a:xfrm>
            <a:off x="4241794" y="3606616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33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CD1592A4-2D4B-4E29-8224-5186C4D6C3A9}"/>
              </a:ext>
            </a:extLst>
          </p:cNvPr>
          <p:cNvSpPr/>
          <p:nvPr/>
        </p:nvSpPr>
        <p:spPr>
          <a:xfrm>
            <a:off x="7460198" y="4707881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4457867-0368-4679-B2E1-39B26EE562D4}"/>
              </a:ext>
            </a:extLst>
          </p:cNvPr>
          <p:cNvSpPr/>
          <p:nvPr/>
        </p:nvSpPr>
        <p:spPr>
          <a:xfrm>
            <a:off x="6023992" y="4707881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7CA2F289-0777-48B0-AF66-E20877FC0F37}"/>
              </a:ext>
            </a:extLst>
          </p:cNvPr>
          <p:cNvSpPr/>
          <p:nvPr/>
        </p:nvSpPr>
        <p:spPr>
          <a:xfrm>
            <a:off x="7462175" y="3590886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32450EE1-50F5-4F54-B663-D8C55A06BEB5}"/>
              </a:ext>
            </a:extLst>
          </p:cNvPr>
          <p:cNvSpPr/>
          <p:nvPr/>
        </p:nvSpPr>
        <p:spPr>
          <a:xfrm>
            <a:off x="6023992" y="3590886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37F7294A-526A-4EC7-B02F-356E9424B59B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3449706" y="3750632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EC723804-5DC7-4E03-A292-8402B1CCC28B}"/>
              </a:ext>
            </a:extLst>
          </p:cNvPr>
          <p:cNvCxnSpPr/>
          <p:nvPr/>
        </p:nvCxnSpPr>
        <p:spPr>
          <a:xfrm>
            <a:off x="6670087" y="4851897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E35BB914-2EA1-4912-94F8-F9B2D0286EA7}"/>
              </a:ext>
            </a:extLst>
          </p:cNvPr>
          <p:cNvCxnSpPr/>
          <p:nvPr/>
        </p:nvCxnSpPr>
        <p:spPr>
          <a:xfrm>
            <a:off x="6672064" y="3734902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45D46895-92D2-433C-8B35-9D5BBB92EBD1}"/>
              </a:ext>
            </a:extLst>
          </p:cNvPr>
          <p:cNvCxnSpPr/>
          <p:nvPr/>
        </p:nvCxnSpPr>
        <p:spPr>
          <a:xfrm>
            <a:off x="8112224" y="3734902"/>
            <a:ext cx="792088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2014B54-FCE3-448D-A44C-58C8ADB74123}"/>
              </a:ext>
            </a:extLst>
          </p:cNvPr>
          <p:cNvCxnSpPr>
            <a:cxnSpLocks/>
          </p:cNvCxnSpPr>
          <p:nvPr/>
        </p:nvCxnSpPr>
        <p:spPr>
          <a:xfrm flipV="1">
            <a:off x="4565830" y="2937510"/>
            <a:ext cx="0" cy="6849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5EFDC57-55ED-4262-B350-335B71F73FCE}"/>
              </a:ext>
            </a:extLst>
          </p:cNvPr>
          <p:cNvCxnSpPr>
            <a:cxnSpLocks/>
          </p:cNvCxnSpPr>
          <p:nvPr/>
        </p:nvCxnSpPr>
        <p:spPr>
          <a:xfrm flipV="1">
            <a:off x="6339138" y="4995913"/>
            <a:ext cx="0" cy="72008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1340BFB7-B38E-4F4A-9351-EAF2269A1734}"/>
              </a:ext>
            </a:extLst>
          </p:cNvPr>
          <p:cNvCxnSpPr>
            <a:cxnSpLocks/>
          </p:cNvCxnSpPr>
          <p:nvPr/>
        </p:nvCxnSpPr>
        <p:spPr>
          <a:xfrm>
            <a:off x="3125670" y="2937510"/>
            <a:ext cx="0" cy="6849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54F5C532-732C-4ED5-A112-1894E1C3D34B}"/>
              </a:ext>
            </a:extLst>
          </p:cNvPr>
          <p:cNvCxnSpPr>
            <a:cxnSpLocks/>
          </p:cNvCxnSpPr>
          <p:nvPr/>
        </p:nvCxnSpPr>
        <p:spPr>
          <a:xfrm flipH="1" flipV="1">
            <a:off x="3845750" y="2991951"/>
            <a:ext cx="540060" cy="63050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D8AB3D4A-5244-4E23-90B1-D6FE7652D584}"/>
              </a:ext>
            </a:extLst>
          </p:cNvPr>
          <p:cNvCxnSpPr>
            <a:cxnSpLocks/>
          </p:cNvCxnSpPr>
          <p:nvPr/>
        </p:nvCxnSpPr>
        <p:spPr>
          <a:xfrm flipH="1">
            <a:off x="3860554" y="3894648"/>
            <a:ext cx="495650" cy="61466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AF3A3B13-254D-4A62-94A2-CBF82A7AF8EC}"/>
              </a:ext>
            </a:extLst>
          </p:cNvPr>
          <p:cNvCxnSpPr>
            <a:cxnSpLocks/>
          </p:cNvCxnSpPr>
          <p:nvPr/>
        </p:nvCxnSpPr>
        <p:spPr>
          <a:xfrm>
            <a:off x="4565830" y="3894648"/>
            <a:ext cx="0" cy="6849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664ECD74-941D-44E2-B2A1-AB161C23D91E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 flipV="1">
            <a:off x="4889866" y="3734902"/>
            <a:ext cx="1134126" cy="1573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85016B0B-EFD0-424A-A0CA-A45270077B69}"/>
              </a:ext>
            </a:extLst>
          </p:cNvPr>
          <p:cNvCxnSpPr>
            <a:cxnSpLocks/>
          </p:cNvCxnSpPr>
          <p:nvPr/>
        </p:nvCxnSpPr>
        <p:spPr>
          <a:xfrm>
            <a:off x="6339138" y="2905940"/>
            <a:ext cx="0" cy="6849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5F5C2AC9-2DDC-4965-9DCB-63B8B2B35FCA}"/>
              </a:ext>
            </a:extLst>
          </p:cNvPr>
          <p:cNvCxnSpPr>
            <a:cxnSpLocks/>
          </p:cNvCxnSpPr>
          <p:nvPr/>
        </p:nvCxnSpPr>
        <p:spPr>
          <a:xfrm>
            <a:off x="5591944" y="3051697"/>
            <a:ext cx="504056" cy="57606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3956A35A-1D6D-48F2-8E28-909AF6FEF743}"/>
              </a:ext>
            </a:extLst>
          </p:cNvPr>
          <p:cNvCxnSpPr>
            <a:cxnSpLocks/>
          </p:cNvCxnSpPr>
          <p:nvPr/>
        </p:nvCxnSpPr>
        <p:spPr>
          <a:xfrm flipV="1">
            <a:off x="5494789" y="4948320"/>
            <a:ext cx="634722" cy="64807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2A9DE411-FF5E-4E71-9962-3141F2345A11}"/>
              </a:ext>
            </a:extLst>
          </p:cNvPr>
          <p:cNvCxnSpPr>
            <a:cxnSpLocks/>
          </p:cNvCxnSpPr>
          <p:nvPr/>
        </p:nvCxnSpPr>
        <p:spPr>
          <a:xfrm>
            <a:off x="7784234" y="5013480"/>
            <a:ext cx="0" cy="6849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7410C962-0A81-402B-9943-0A6D789D85CD}"/>
              </a:ext>
            </a:extLst>
          </p:cNvPr>
          <p:cNvCxnSpPr>
            <a:cxnSpLocks/>
          </p:cNvCxnSpPr>
          <p:nvPr/>
        </p:nvCxnSpPr>
        <p:spPr>
          <a:xfrm flipH="1">
            <a:off x="6960096" y="4974768"/>
            <a:ext cx="648072" cy="81323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CA4B6215-C763-44A6-B916-3C5AD828F0E1}"/>
              </a:ext>
            </a:extLst>
          </p:cNvPr>
          <p:cNvCxnSpPr>
            <a:cxnSpLocks/>
          </p:cNvCxnSpPr>
          <p:nvPr/>
        </p:nvCxnSpPr>
        <p:spPr>
          <a:xfrm flipH="1">
            <a:off x="6744072" y="4929882"/>
            <a:ext cx="792088" cy="45150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BE76421B-BC4E-4359-AC18-07D46A9E6FD3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6348028" y="3894648"/>
            <a:ext cx="1436206" cy="81323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B45B4B15-FE0D-4B9F-BA59-494927DDBB44}"/>
              </a:ext>
            </a:extLst>
          </p:cNvPr>
          <p:cNvSpPr/>
          <p:nvPr/>
        </p:nvSpPr>
        <p:spPr>
          <a:xfrm>
            <a:off x="3592599" y="3413825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Z17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894D3154-1B62-4835-8312-4B6F6DC408F8}"/>
              </a:ext>
            </a:extLst>
          </p:cNvPr>
          <p:cNvSpPr/>
          <p:nvPr/>
        </p:nvSpPr>
        <p:spPr>
          <a:xfrm>
            <a:off x="6847143" y="3413825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Z3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C9762F04-43FA-4078-866F-9D777757436D}"/>
              </a:ext>
            </a:extLst>
          </p:cNvPr>
          <p:cNvSpPr/>
          <p:nvPr/>
        </p:nvSpPr>
        <p:spPr>
          <a:xfrm>
            <a:off x="6790172" y="4534900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Z7</a:t>
            </a:r>
            <a:endParaRPr 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51575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ADB0C9-9E30-4059-854B-8B886C288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116632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rgbClr val="FF0000"/>
                </a:solidFill>
                <a:latin typeface="Trebuchet MS" panose="020B0603020202020204" pitchFamily="34" charset="0"/>
                <a:cs typeface="DejaVu Sans" charset="0"/>
              </a:rPr>
              <a:t>Минимизация количества событий и фиктивных операций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AF3A3-0C84-4F31-ADB2-2CA16CFEEAE2}"/>
              </a:ext>
            </a:extLst>
          </p:cNvPr>
          <p:cNvSpPr txBox="1"/>
          <p:nvPr/>
        </p:nvSpPr>
        <p:spPr>
          <a:xfrm>
            <a:off x="299356" y="888935"/>
            <a:ext cx="11593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	</a:t>
            </a:r>
            <a:r>
              <a:rPr lang="ru-RU" sz="2400" dirty="0"/>
              <a:t>Рассмотрим еще один фрагмент сетевого графика. Он содержит четыре первые операции, а также инцидентные им события и все фиктивные операции, связывающие их.</a:t>
            </a:r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1EFEA5BC-9671-49C1-BDBF-83A578DABA0E}"/>
              </a:ext>
            </a:extLst>
          </p:cNvPr>
          <p:cNvSpPr/>
          <p:nvPr/>
        </p:nvSpPr>
        <p:spPr>
          <a:xfrm>
            <a:off x="785410" y="3957286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21BAE81-F0E4-49C6-932B-A34846880D78}"/>
              </a:ext>
            </a:extLst>
          </p:cNvPr>
          <p:cNvSpPr/>
          <p:nvPr/>
        </p:nvSpPr>
        <p:spPr>
          <a:xfrm>
            <a:off x="2225570" y="3957286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CD1592A4-2D4B-4E29-8224-5186C4D6C3A9}"/>
              </a:ext>
            </a:extLst>
          </p:cNvPr>
          <p:cNvSpPr/>
          <p:nvPr/>
        </p:nvSpPr>
        <p:spPr>
          <a:xfrm>
            <a:off x="5445951" y="4903989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4457867-0368-4679-B2E1-39B26EE562D4}"/>
              </a:ext>
            </a:extLst>
          </p:cNvPr>
          <p:cNvSpPr/>
          <p:nvPr/>
        </p:nvSpPr>
        <p:spPr>
          <a:xfrm>
            <a:off x="4009745" y="4903989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7CA2F289-0777-48B0-AF66-E20877FC0F37}"/>
              </a:ext>
            </a:extLst>
          </p:cNvPr>
          <p:cNvSpPr/>
          <p:nvPr/>
        </p:nvSpPr>
        <p:spPr>
          <a:xfrm>
            <a:off x="5445951" y="3941556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32450EE1-50F5-4F54-B663-D8C55A06BEB5}"/>
              </a:ext>
            </a:extLst>
          </p:cNvPr>
          <p:cNvSpPr/>
          <p:nvPr/>
        </p:nvSpPr>
        <p:spPr>
          <a:xfrm>
            <a:off x="4007768" y="3941556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37F7294A-526A-4EC7-B02F-356E9424B59B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433482" y="4101302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EC723804-5DC7-4E03-A292-8402B1CCC28B}"/>
              </a:ext>
            </a:extLst>
          </p:cNvPr>
          <p:cNvCxnSpPr/>
          <p:nvPr/>
        </p:nvCxnSpPr>
        <p:spPr>
          <a:xfrm>
            <a:off x="4655840" y="5048005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E35BB914-2EA1-4912-94F8-F9B2D0286EA7}"/>
              </a:ext>
            </a:extLst>
          </p:cNvPr>
          <p:cNvCxnSpPr/>
          <p:nvPr/>
        </p:nvCxnSpPr>
        <p:spPr>
          <a:xfrm>
            <a:off x="4655840" y="4085572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45D46895-92D2-433C-8B35-9D5BBB92EBD1}"/>
              </a:ext>
            </a:extLst>
          </p:cNvPr>
          <p:cNvCxnSpPr>
            <a:cxnSpLocks/>
          </p:cNvCxnSpPr>
          <p:nvPr/>
        </p:nvCxnSpPr>
        <p:spPr>
          <a:xfrm>
            <a:off x="6096000" y="4085572"/>
            <a:ext cx="576064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5EFDC57-55ED-4262-B350-335B71F73FCE}"/>
              </a:ext>
            </a:extLst>
          </p:cNvPr>
          <p:cNvCxnSpPr>
            <a:cxnSpLocks/>
          </p:cNvCxnSpPr>
          <p:nvPr/>
        </p:nvCxnSpPr>
        <p:spPr>
          <a:xfrm flipV="1">
            <a:off x="4324891" y="5192021"/>
            <a:ext cx="0" cy="72008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AF3A3B13-254D-4A62-94A2-CBF82A7AF8EC}"/>
              </a:ext>
            </a:extLst>
          </p:cNvPr>
          <p:cNvCxnSpPr>
            <a:cxnSpLocks/>
            <a:stCxn id="6" idx="5"/>
            <a:endCxn id="8" idx="2"/>
          </p:cNvCxnSpPr>
          <p:nvPr/>
        </p:nvCxnSpPr>
        <p:spPr>
          <a:xfrm>
            <a:off x="2778734" y="4203137"/>
            <a:ext cx="1231011" cy="844868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664ECD74-941D-44E2-B2A1-AB161C23D91E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 flipV="1">
            <a:off x="2873642" y="4085572"/>
            <a:ext cx="1134126" cy="1573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85016B0B-EFD0-424A-A0CA-A45270077B69}"/>
              </a:ext>
            </a:extLst>
          </p:cNvPr>
          <p:cNvCxnSpPr>
            <a:cxnSpLocks/>
          </p:cNvCxnSpPr>
          <p:nvPr/>
        </p:nvCxnSpPr>
        <p:spPr>
          <a:xfrm>
            <a:off x="4322914" y="3256610"/>
            <a:ext cx="0" cy="6849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5F5C2AC9-2DDC-4965-9DCB-63B8B2B35FCA}"/>
              </a:ext>
            </a:extLst>
          </p:cNvPr>
          <p:cNvCxnSpPr>
            <a:cxnSpLocks/>
          </p:cNvCxnSpPr>
          <p:nvPr/>
        </p:nvCxnSpPr>
        <p:spPr>
          <a:xfrm flipH="1">
            <a:off x="4549547" y="3324189"/>
            <a:ext cx="482358" cy="64814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2A9DE411-FF5E-4E71-9962-3141F2345A11}"/>
              </a:ext>
            </a:extLst>
          </p:cNvPr>
          <p:cNvCxnSpPr>
            <a:cxnSpLocks/>
          </p:cNvCxnSpPr>
          <p:nvPr/>
        </p:nvCxnSpPr>
        <p:spPr>
          <a:xfrm>
            <a:off x="5769987" y="5209588"/>
            <a:ext cx="0" cy="6849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7410C962-0A81-402B-9943-0A6D789D85CD}"/>
              </a:ext>
            </a:extLst>
          </p:cNvPr>
          <p:cNvCxnSpPr>
            <a:cxnSpLocks/>
          </p:cNvCxnSpPr>
          <p:nvPr/>
        </p:nvCxnSpPr>
        <p:spPr>
          <a:xfrm>
            <a:off x="5926846" y="5170875"/>
            <a:ext cx="673210" cy="48460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B45B4B15-FE0D-4B9F-BA59-494927DDBB44}"/>
              </a:ext>
            </a:extLst>
          </p:cNvPr>
          <p:cNvSpPr/>
          <p:nvPr/>
        </p:nvSpPr>
        <p:spPr>
          <a:xfrm>
            <a:off x="1574893" y="3764495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Z</a:t>
            </a:r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894D3154-1B62-4835-8312-4B6F6DC408F8}"/>
              </a:ext>
            </a:extLst>
          </p:cNvPr>
          <p:cNvSpPr/>
          <p:nvPr/>
        </p:nvSpPr>
        <p:spPr>
          <a:xfrm>
            <a:off x="4830919" y="3764495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Z3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C9762F04-43FA-4078-866F-9D777757436D}"/>
              </a:ext>
            </a:extLst>
          </p:cNvPr>
          <p:cNvSpPr/>
          <p:nvPr/>
        </p:nvSpPr>
        <p:spPr>
          <a:xfrm>
            <a:off x="4775925" y="4731008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Z</a:t>
            </a:r>
            <a:r>
              <a:rPr lang="ru-RU" sz="14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46F98790-E4C1-44C1-B394-A6A6E8B841B5}"/>
              </a:ext>
            </a:extLst>
          </p:cNvPr>
          <p:cNvCxnSpPr>
            <a:cxnSpLocks/>
          </p:cNvCxnSpPr>
          <p:nvPr/>
        </p:nvCxnSpPr>
        <p:spPr>
          <a:xfrm flipH="1">
            <a:off x="1076766" y="3133452"/>
            <a:ext cx="1436206" cy="81323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>
            <a:extLst>
              <a:ext uri="{FF2B5EF4-FFF2-40B4-BE49-F238E27FC236}">
                <a16:creationId xmlns:a16="http://schemas.microsoft.com/office/drawing/2014/main" id="{68CE5BCA-78DC-41E5-BDA5-7AED3229FE1A}"/>
              </a:ext>
            </a:extLst>
          </p:cNvPr>
          <p:cNvSpPr/>
          <p:nvPr/>
        </p:nvSpPr>
        <p:spPr>
          <a:xfrm>
            <a:off x="2208554" y="2824294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C20E0672-666B-4DFE-8CD4-F8257EFBF7C0}"/>
              </a:ext>
            </a:extLst>
          </p:cNvPr>
          <p:cNvSpPr/>
          <p:nvPr/>
        </p:nvSpPr>
        <p:spPr>
          <a:xfrm>
            <a:off x="770371" y="2824294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39979AE6-F200-47D0-8A8C-78F8250311C5}"/>
              </a:ext>
            </a:extLst>
          </p:cNvPr>
          <p:cNvCxnSpPr/>
          <p:nvPr/>
        </p:nvCxnSpPr>
        <p:spPr>
          <a:xfrm>
            <a:off x="1418443" y="2968310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E2CF1C9C-3E46-4B89-9D32-20F7D24C31E2}"/>
              </a:ext>
            </a:extLst>
          </p:cNvPr>
          <p:cNvSpPr/>
          <p:nvPr/>
        </p:nvSpPr>
        <p:spPr>
          <a:xfrm>
            <a:off x="1573890" y="2647519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Z1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6125AB66-5479-437C-8473-C8B0F847BF48}"/>
              </a:ext>
            </a:extLst>
          </p:cNvPr>
          <p:cNvCxnSpPr>
            <a:cxnSpLocks/>
          </p:cNvCxnSpPr>
          <p:nvPr/>
        </p:nvCxnSpPr>
        <p:spPr>
          <a:xfrm flipV="1">
            <a:off x="2549606" y="2276872"/>
            <a:ext cx="0" cy="53247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03A60067-8D7B-4CBC-9DB9-115920342DC5}"/>
              </a:ext>
            </a:extLst>
          </p:cNvPr>
          <p:cNvCxnSpPr>
            <a:cxnSpLocks/>
          </p:cNvCxnSpPr>
          <p:nvPr/>
        </p:nvCxnSpPr>
        <p:spPr>
          <a:xfrm flipV="1">
            <a:off x="2733977" y="2348901"/>
            <a:ext cx="351394" cy="48687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A3511810-B431-4B2D-A7A5-C752D95C0BC0}"/>
              </a:ext>
            </a:extLst>
          </p:cNvPr>
          <p:cNvCxnSpPr>
            <a:cxnSpLocks/>
          </p:cNvCxnSpPr>
          <p:nvPr/>
        </p:nvCxnSpPr>
        <p:spPr>
          <a:xfrm>
            <a:off x="2873642" y="2968310"/>
            <a:ext cx="60690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DD26B2F1-ACD4-41A2-8A4D-AF84BD92DAE0}"/>
              </a:ext>
            </a:extLst>
          </p:cNvPr>
          <p:cNvCxnSpPr>
            <a:cxnSpLocks/>
          </p:cNvCxnSpPr>
          <p:nvPr/>
        </p:nvCxnSpPr>
        <p:spPr>
          <a:xfrm>
            <a:off x="2733977" y="3079549"/>
            <a:ext cx="443115" cy="46051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A164684E-D2BD-4572-9230-CBB6B7E3F450}"/>
              </a:ext>
            </a:extLst>
          </p:cNvPr>
          <p:cNvCxnSpPr>
            <a:cxnSpLocks/>
          </p:cNvCxnSpPr>
          <p:nvPr/>
        </p:nvCxnSpPr>
        <p:spPr>
          <a:xfrm>
            <a:off x="6094023" y="5025562"/>
            <a:ext cx="576064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3F9BF75A-D4D5-4F2C-A4CB-1E261A1465C0}"/>
              </a:ext>
            </a:extLst>
          </p:cNvPr>
          <p:cNvCxnSpPr>
            <a:cxnSpLocks/>
          </p:cNvCxnSpPr>
          <p:nvPr/>
        </p:nvCxnSpPr>
        <p:spPr>
          <a:xfrm flipV="1">
            <a:off x="5769987" y="3221476"/>
            <a:ext cx="0" cy="72008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3AB7D44-AF98-420E-BFF2-FB28DAD78865}"/>
              </a:ext>
            </a:extLst>
          </p:cNvPr>
          <p:cNvSpPr txBox="1"/>
          <p:nvPr/>
        </p:nvSpPr>
        <p:spPr>
          <a:xfrm>
            <a:off x="7080951" y="2165455"/>
            <a:ext cx="48792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	</a:t>
            </a:r>
            <a:r>
              <a:rPr lang="ru-RU" sz="2400" dirty="0"/>
              <a:t>События 1 и 2 можно объединить, и это не приводит к изменению очередности выполнения операций сетевого графика.</a:t>
            </a:r>
          </a:p>
          <a:p>
            <a:pPr algn="just"/>
            <a:r>
              <a:rPr lang="ru-RU" sz="2400" dirty="0"/>
              <a:t>	Объединение событий позволит уменьшить количество событий и фиктивных операций.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874785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ADB0C9-9E30-4059-854B-8B886C288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116632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rgbClr val="FF0000"/>
                </a:solidFill>
                <a:latin typeface="Trebuchet MS" panose="020B0603020202020204" pitchFamily="34" charset="0"/>
                <a:cs typeface="DejaVu Sans" charset="0"/>
              </a:rPr>
              <a:t>Минимизация количества событий и фиктивных операций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AF3A3-0C84-4F31-ADB2-2CA16CFEEAE2}"/>
              </a:ext>
            </a:extLst>
          </p:cNvPr>
          <p:cNvSpPr txBox="1"/>
          <p:nvPr/>
        </p:nvSpPr>
        <p:spPr>
          <a:xfrm>
            <a:off x="7464889" y="1080736"/>
            <a:ext cx="42844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	</a:t>
            </a:r>
            <a:r>
              <a:rPr lang="ru-RU" sz="2400" dirty="0"/>
              <a:t>Все инцидентные операции для прежних событий 1 и 2 стали инцидентными новому объединенному событию 1.</a:t>
            </a:r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1EFEA5BC-9671-49C1-BDBF-83A578DABA0E}"/>
              </a:ext>
            </a:extLst>
          </p:cNvPr>
          <p:cNvSpPr/>
          <p:nvPr/>
        </p:nvSpPr>
        <p:spPr>
          <a:xfrm>
            <a:off x="1044352" y="1790467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21BAE81-F0E4-49C6-932B-A34846880D78}"/>
              </a:ext>
            </a:extLst>
          </p:cNvPr>
          <p:cNvSpPr/>
          <p:nvPr/>
        </p:nvSpPr>
        <p:spPr>
          <a:xfrm>
            <a:off x="2484512" y="1790467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CD1592A4-2D4B-4E29-8224-5186C4D6C3A9}"/>
              </a:ext>
            </a:extLst>
          </p:cNvPr>
          <p:cNvSpPr/>
          <p:nvPr/>
        </p:nvSpPr>
        <p:spPr>
          <a:xfrm>
            <a:off x="5704893" y="2737170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4457867-0368-4679-B2E1-39B26EE562D4}"/>
              </a:ext>
            </a:extLst>
          </p:cNvPr>
          <p:cNvSpPr/>
          <p:nvPr/>
        </p:nvSpPr>
        <p:spPr>
          <a:xfrm>
            <a:off x="4268687" y="2737170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7CA2F289-0777-48B0-AF66-E20877FC0F37}"/>
              </a:ext>
            </a:extLst>
          </p:cNvPr>
          <p:cNvSpPr/>
          <p:nvPr/>
        </p:nvSpPr>
        <p:spPr>
          <a:xfrm>
            <a:off x="5704893" y="1774737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32450EE1-50F5-4F54-B663-D8C55A06BEB5}"/>
              </a:ext>
            </a:extLst>
          </p:cNvPr>
          <p:cNvSpPr/>
          <p:nvPr/>
        </p:nvSpPr>
        <p:spPr>
          <a:xfrm>
            <a:off x="4266710" y="1774737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37F7294A-526A-4EC7-B02F-356E9424B59B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692424" y="1934483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EC723804-5DC7-4E03-A292-8402B1CCC28B}"/>
              </a:ext>
            </a:extLst>
          </p:cNvPr>
          <p:cNvCxnSpPr/>
          <p:nvPr/>
        </p:nvCxnSpPr>
        <p:spPr>
          <a:xfrm>
            <a:off x="4914782" y="2881186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E35BB914-2EA1-4912-94F8-F9B2D0286EA7}"/>
              </a:ext>
            </a:extLst>
          </p:cNvPr>
          <p:cNvCxnSpPr/>
          <p:nvPr/>
        </p:nvCxnSpPr>
        <p:spPr>
          <a:xfrm>
            <a:off x="4914782" y="1918753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45D46895-92D2-433C-8B35-9D5BBB92EBD1}"/>
              </a:ext>
            </a:extLst>
          </p:cNvPr>
          <p:cNvCxnSpPr>
            <a:cxnSpLocks/>
          </p:cNvCxnSpPr>
          <p:nvPr/>
        </p:nvCxnSpPr>
        <p:spPr>
          <a:xfrm>
            <a:off x="6354942" y="1918753"/>
            <a:ext cx="576064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5EFDC57-55ED-4262-B350-335B71F73FCE}"/>
              </a:ext>
            </a:extLst>
          </p:cNvPr>
          <p:cNvCxnSpPr>
            <a:cxnSpLocks/>
          </p:cNvCxnSpPr>
          <p:nvPr/>
        </p:nvCxnSpPr>
        <p:spPr>
          <a:xfrm flipV="1">
            <a:off x="4581856" y="3025202"/>
            <a:ext cx="1977" cy="46345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AF3A3B13-254D-4A62-94A2-CBF82A7AF8EC}"/>
              </a:ext>
            </a:extLst>
          </p:cNvPr>
          <p:cNvCxnSpPr>
            <a:cxnSpLocks/>
            <a:stCxn id="6" idx="5"/>
            <a:endCxn id="8" idx="2"/>
          </p:cNvCxnSpPr>
          <p:nvPr/>
        </p:nvCxnSpPr>
        <p:spPr>
          <a:xfrm>
            <a:off x="3037676" y="2036318"/>
            <a:ext cx="1231011" cy="844868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664ECD74-941D-44E2-B2A1-AB161C23D91E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 flipV="1">
            <a:off x="3132584" y="1918753"/>
            <a:ext cx="1134126" cy="1573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85016B0B-EFD0-424A-A0CA-A45270077B69}"/>
              </a:ext>
            </a:extLst>
          </p:cNvPr>
          <p:cNvCxnSpPr>
            <a:cxnSpLocks/>
          </p:cNvCxnSpPr>
          <p:nvPr/>
        </p:nvCxnSpPr>
        <p:spPr>
          <a:xfrm>
            <a:off x="4581856" y="1089791"/>
            <a:ext cx="0" cy="6849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5F5C2AC9-2DDC-4965-9DCB-63B8B2B35FCA}"/>
              </a:ext>
            </a:extLst>
          </p:cNvPr>
          <p:cNvCxnSpPr>
            <a:cxnSpLocks/>
          </p:cNvCxnSpPr>
          <p:nvPr/>
        </p:nvCxnSpPr>
        <p:spPr>
          <a:xfrm flipH="1">
            <a:off x="4808489" y="1157370"/>
            <a:ext cx="482358" cy="64814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2A9DE411-FF5E-4E71-9962-3141F2345A11}"/>
              </a:ext>
            </a:extLst>
          </p:cNvPr>
          <p:cNvCxnSpPr>
            <a:cxnSpLocks/>
          </p:cNvCxnSpPr>
          <p:nvPr/>
        </p:nvCxnSpPr>
        <p:spPr>
          <a:xfrm>
            <a:off x="6028929" y="3042769"/>
            <a:ext cx="0" cy="445888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7410C962-0A81-402B-9943-0A6D789D85CD}"/>
              </a:ext>
            </a:extLst>
          </p:cNvPr>
          <p:cNvCxnSpPr>
            <a:cxnSpLocks/>
          </p:cNvCxnSpPr>
          <p:nvPr/>
        </p:nvCxnSpPr>
        <p:spPr>
          <a:xfrm>
            <a:off x="6185788" y="3004056"/>
            <a:ext cx="458173" cy="42494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B45B4B15-FE0D-4B9F-BA59-494927DDBB44}"/>
              </a:ext>
            </a:extLst>
          </p:cNvPr>
          <p:cNvSpPr/>
          <p:nvPr/>
        </p:nvSpPr>
        <p:spPr>
          <a:xfrm>
            <a:off x="1833835" y="1597676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Z</a:t>
            </a:r>
            <a:r>
              <a:rPr lang="ru-RU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894D3154-1B62-4835-8312-4B6F6DC408F8}"/>
              </a:ext>
            </a:extLst>
          </p:cNvPr>
          <p:cNvSpPr/>
          <p:nvPr/>
        </p:nvSpPr>
        <p:spPr>
          <a:xfrm>
            <a:off x="5089861" y="1597676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Z3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C9762F04-43FA-4078-866F-9D777757436D}"/>
              </a:ext>
            </a:extLst>
          </p:cNvPr>
          <p:cNvSpPr/>
          <p:nvPr/>
        </p:nvSpPr>
        <p:spPr>
          <a:xfrm>
            <a:off x="5034867" y="2564189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Z</a:t>
            </a:r>
            <a:r>
              <a:rPr lang="ru-RU" sz="1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C20E0672-666B-4DFE-8CD4-F8257EFBF7C0}"/>
              </a:ext>
            </a:extLst>
          </p:cNvPr>
          <p:cNvSpPr/>
          <p:nvPr/>
        </p:nvSpPr>
        <p:spPr>
          <a:xfrm>
            <a:off x="1044352" y="875372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39979AE6-F200-47D0-8A8C-78F8250311C5}"/>
              </a:ext>
            </a:extLst>
          </p:cNvPr>
          <p:cNvCxnSpPr>
            <a:cxnSpLocks/>
            <a:stCxn id="34" idx="4"/>
            <a:endCxn id="5" idx="0"/>
          </p:cNvCxnSpPr>
          <p:nvPr/>
        </p:nvCxnSpPr>
        <p:spPr>
          <a:xfrm>
            <a:off x="1368388" y="1163404"/>
            <a:ext cx="0" cy="6270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E2CF1C9C-3E46-4B89-9D32-20F7D24C31E2}"/>
              </a:ext>
            </a:extLst>
          </p:cNvPr>
          <p:cNvSpPr/>
          <p:nvPr/>
        </p:nvSpPr>
        <p:spPr>
          <a:xfrm>
            <a:off x="970854" y="1233334"/>
            <a:ext cx="356673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Z1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6125AB66-5479-437C-8473-C8B0F847BF48}"/>
              </a:ext>
            </a:extLst>
          </p:cNvPr>
          <p:cNvCxnSpPr>
            <a:cxnSpLocks/>
          </p:cNvCxnSpPr>
          <p:nvPr/>
        </p:nvCxnSpPr>
        <p:spPr>
          <a:xfrm flipH="1" flipV="1">
            <a:off x="752735" y="1309071"/>
            <a:ext cx="348160" cy="53416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03A60067-8D7B-4CBC-9DB9-115920342DC5}"/>
              </a:ext>
            </a:extLst>
          </p:cNvPr>
          <p:cNvCxnSpPr>
            <a:cxnSpLocks/>
          </p:cNvCxnSpPr>
          <p:nvPr/>
        </p:nvCxnSpPr>
        <p:spPr>
          <a:xfrm flipV="1">
            <a:off x="1546187" y="1309071"/>
            <a:ext cx="351394" cy="48687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A3511810-B431-4B2D-A7A5-C752D95C0BC0}"/>
              </a:ext>
            </a:extLst>
          </p:cNvPr>
          <p:cNvCxnSpPr>
            <a:cxnSpLocks/>
          </p:cNvCxnSpPr>
          <p:nvPr/>
        </p:nvCxnSpPr>
        <p:spPr>
          <a:xfrm flipH="1">
            <a:off x="714490" y="2035416"/>
            <a:ext cx="403967" cy="50918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DD26B2F1-ACD4-41A2-8A4D-AF84BD92DAE0}"/>
              </a:ext>
            </a:extLst>
          </p:cNvPr>
          <p:cNvCxnSpPr>
            <a:cxnSpLocks/>
          </p:cNvCxnSpPr>
          <p:nvPr/>
        </p:nvCxnSpPr>
        <p:spPr>
          <a:xfrm>
            <a:off x="1579927" y="2037740"/>
            <a:ext cx="443115" cy="46051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A164684E-D2BD-4572-9230-CBB6B7E3F450}"/>
              </a:ext>
            </a:extLst>
          </p:cNvPr>
          <p:cNvCxnSpPr>
            <a:cxnSpLocks/>
          </p:cNvCxnSpPr>
          <p:nvPr/>
        </p:nvCxnSpPr>
        <p:spPr>
          <a:xfrm>
            <a:off x="6352965" y="2858743"/>
            <a:ext cx="576064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3F9BF75A-D4D5-4F2C-A4CB-1E261A1465C0}"/>
              </a:ext>
            </a:extLst>
          </p:cNvPr>
          <p:cNvCxnSpPr>
            <a:cxnSpLocks/>
          </p:cNvCxnSpPr>
          <p:nvPr/>
        </p:nvCxnSpPr>
        <p:spPr>
          <a:xfrm flipV="1">
            <a:off x="6028929" y="1054657"/>
            <a:ext cx="0" cy="72008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FDE51FA-A4BD-4FCA-8B50-8772A91F5919}"/>
              </a:ext>
            </a:extLst>
          </p:cNvPr>
          <p:cNvSpPr txBox="1"/>
          <p:nvPr/>
        </p:nvSpPr>
        <p:spPr>
          <a:xfrm>
            <a:off x="442634" y="3706659"/>
            <a:ext cx="1130673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	</a:t>
            </a:r>
            <a:r>
              <a:rPr lang="ru-RU" sz="2400" dirty="0"/>
              <a:t>Рассмотрим возможность объединения событий 3 и 4. Обратим внимание, что помимо фиктивной операции </a:t>
            </a:r>
            <a:r>
              <a:rPr lang="en-US" sz="2400" dirty="0"/>
              <a:t>&lt;</a:t>
            </a:r>
            <a:r>
              <a:rPr lang="ru-RU" sz="2400" dirty="0"/>
              <a:t>3,4</a:t>
            </a:r>
            <a:r>
              <a:rPr lang="en-US" sz="2400" dirty="0"/>
              <a:t>&gt;</a:t>
            </a:r>
            <a:r>
              <a:rPr lang="ru-RU" sz="2400" dirty="0"/>
              <a:t> событие 3 имеет еще одну выходящую операцию &lt;3,6&gt;, а событие 4 имеет две входящие операции &lt;29,4&gt; и &lt;33,4&gt; (они отображены на рисунке в виде «висящих» дуг, а    целиком – в полном сетевом графике).</a:t>
            </a:r>
          </a:p>
          <a:p>
            <a:pPr algn="just"/>
            <a:r>
              <a:rPr lang="ru-RU" sz="2400" dirty="0"/>
              <a:t>	Слияние событий 3 и 4 приведет к тому, что операция </a:t>
            </a:r>
            <a:r>
              <a:rPr lang="en-US" sz="2400" dirty="0"/>
              <a:t>Z4</a:t>
            </a:r>
            <a:r>
              <a:rPr lang="ru-RU" sz="2400" dirty="0"/>
              <a:t> будет предшествовать операциям </a:t>
            </a:r>
            <a:r>
              <a:rPr lang="en-US" sz="2400" dirty="0"/>
              <a:t>Z15 </a:t>
            </a:r>
            <a:r>
              <a:rPr lang="ru-RU" sz="2400" dirty="0"/>
              <a:t>и </a:t>
            </a:r>
            <a:r>
              <a:rPr lang="en-US" sz="2400" dirty="0"/>
              <a:t>Z17</a:t>
            </a:r>
            <a:r>
              <a:rPr lang="ru-RU" sz="2400" dirty="0"/>
              <a:t>, что не соответствует начальным условиям.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667029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ADB0C9-9E30-4059-854B-8B886C288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116632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rgbClr val="FF0000"/>
                </a:solidFill>
                <a:latin typeface="Trebuchet MS" panose="020B0603020202020204" pitchFamily="34" charset="0"/>
                <a:cs typeface="DejaVu Sans" charset="0"/>
              </a:rPr>
              <a:t>Минимизация количества событий и фиктивных операций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AF3A3-0C84-4F31-ADB2-2CA16CFEEAE2}"/>
              </a:ext>
            </a:extLst>
          </p:cNvPr>
          <p:cNvSpPr txBox="1"/>
          <p:nvPr/>
        </p:nvSpPr>
        <p:spPr>
          <a:xfrm>
            <a:off x="598712" y="983562"/>
            <a:ext cx="1159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Рассмотрим еще два случая, в которых объединение событий невозможно.</a:t>
            </a:r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1EFEA5BC-9671-49C1-BDBF-83A578DABA0E}"/>
              </a:ext>
            </a:extLst>
          </p:cNvPr>
          <p:cNvSpPr/>
          <p:nvPr/>
        </p:nvSpPr>
        <p:spPr>
          <a:xfrm>
            <a:off x="792325" y="3056889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21BAE81-F0E4-49C6-932B-A34846880D78}"/>
              </a:ext>
            </a:extLst>
          </p:cNvPr>
          <p:cNvSpPr/>
          <p:nvPr/>
        </p:nvSpPr>
        <p:spPr>
          <a:xfrm>
            <a:off x="2232485" y="3056889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4457867-0368-4679-B2E1-39B26EE562D4}"/>
              </a:ext>
            </a:extLst>
          </p:cNvPr>
          <p:cNvSpPr/>
          <p:nvPr/>
        </p:nvSpPr>
        <p:spPr>
          <a:xfrm>
            <a:off x="3123584" y="1997761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7CA2F289-0777-48B0-AF66-E20877FC0F37}"/>
              </a:ext>
            </a:extLst>
          </p:cNvPr>
          <p:cNvSpPr/>
          <p:nvPr/>
        </p:nvSpPr>
        <p:spPr>
          <a:xfrm>
            <a:off x="5452866" y="3041159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32450EE1-50F5-4F54-B663-D8C55A06BEB5}"/>
              </a:ext>
            </a:extLst>
          </p:cNvPr>
          <p:cNvSpPr/>
          <p:nvPr/>
        </p:nvSpPr>
        <p:spPr>
          <a:xfrm>
            <a:off x="4014683" y="3041159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37F7294A-526A-4EC7-B02F-356E9424B59B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440397" y="3200905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EC723804-5DC7-4E03-A292-8402B1CCC28B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556521" y="2286173"/>
            <a:ext cx="801090" cy="7707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E35BB914-2EA1-4912-94F8-F9B2D0286EA7}"/>
              </a:ext>
            </a:extLst>
          </p:cNvPr>
          <p:cNvCxnSpPr/>
          <p:nvPr/>
        </p:nvCxnSpPr>
        <p:spPr>
          <a:xfrm>
            <a:off x="4662755" y="3185175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664ECD74-941D-44E2-B2A1-AB161C23D91E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 flipV="1">
            <a:off x="2880557" y="3185175"/>
            <a:ext cx="1134126" cy="1573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B45B4B15-FE0D-4B9F-BA59-494927DDBB44}"/>
              </a:ext>
            </a:extLst>
          </p:cNvPr>
          <p:cNvSpPr/>
          <p:nvPr/>
        </p:nvSpPr>
        <p:spPr>
          <a:xfrm>
            <a:off x="1583290" y="2864098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894D3154-1B62-4835-8312-4B6F6DC408F8}"/>
              </a:ext>
            </a:extLst>
          </p:cNvPr>
          <p:cNvSpPr/>
          <p:nvPr/>
        </p:nvSpPr>
        <p:spPr>
          <a:xfrm>
            <a:off x="4837834" y="2864098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C9762F04-43FA-4078-866F-9D777757436D}"/>
              </a:ext>
            </a:extLst>
          </p:cNvPr>
          <p:cNvSpPr/>
          <p:nvPr/>
        </p:nvSpPr>
        <p:spPr>
          <a:xfrm rot="18621703">
            <a:off x="2579572" y="2367936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E9526BA7-D692-452C-B15F-0B659BCB2138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546631" y="2285793"/>
            <a:ext cx="792088" cy="7553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1AA680CB-3222-451F-9B7D-2ED5F3AD7BDF}"/>
              </a:ext>
            </a:extLst>
          </p:cNvPr>
          <p:cNvSpPr/>
          <p:nvPr/>
        </p:nvSpPr>
        <p:spPr>
          <a:xfrm rot="2823530">
            <a:off x="3826088" y="2326840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757B1E19-3361-4D16-97D7-31DA3D614BA9}"/>
              </a:ext>
            </a:extLst>
          </p:cNvPr>
          <p:cNvSpPr/>
          <p:nvPr/>
        </p:nvSpPr>
        <p:spPr>
          <a:xfrm>
            <a:off x="777528" y="5244930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4BD3C332-CDA4-4E54-90E2-D74FB46B23D5}"/>
              </a:ext>
            </a:extLst>
          </p:cNvPr>
          <p:cNvSpPr/>
          <p:nvPr/>
        </p:nvSpPr>
        <p:spPr>
          <a:xfrm>
            <a:off x="2217688" y="5244930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863F6DAC-F195-4C82-AE99-E36C68C15D2D}"/>
              </a:ext>
            </a:extLst>
          </p:cNvPr>
          <p:cNvSpPr/>
          <p:nvPr/>
        </p:nvSpPr>
        <p:spPr>
          <a:xfrm>
            <a:off x="3108787" y="4185802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C124AC00-2566-4E79-9FC9-341596987177}"/>
              </a:ext>
            </a:extLst>
          </p:cNvPr>
          <p:cNvSpPr/>
          <p:nvPr/>
        </p:nvSpPr>
        <p:spPr>
          <a:xfrm>
            <a:off x="5438069" y="5229200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C2FEBA2E-3400-44F1-A1B3-E8C7E45E25AE}"/>
              </a:ext>
            </a:extLst>
          </p:cNvPr>
          <p:cNvSpPr/>
          <p:nvPr/>
        </p:nvSpPr>
        <p:spPr>
          <a:xfrm>
            <a:off x="3999886" y="5229200"/>
            <a:ext cx="648072" cy="28803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14815EE8-2823-4C58-8337-745213F8F5B5}"/>
              </a:ext>
            </a:extLst>
          </p:cNvPr>
          <p:cNvCxnSpPr>
            <a:stCxn id="39" idx="6"/>
            <a:endCxn id="40" idx="2"/>
          </p:cNvCxnSpPr>
          <p:nvPr/>
        </p:nvCxnSpPr>
        <p:spPr>
          <a:xfrm>
            <a:off x="1425600" y="5388946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32A3B722-FF3C-4E10-A462-C6028C36C195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2541724" y="4473836"/>
            <a:ext cx="791455" cy="7710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89DB040D-6CC7-4FB3-9E5B-D8AD1D2D1617}"/>
              </a:ext>
            </a:extLst>
          </p:cNvPr>
          <p:cNvCxnSpPr/>
          <p:nvPr/>
        </p:nvCxnSpPr>
        <p:spPr>
          <a:xfrm>
            <a:off x="4647958" y="5373216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7F95A8F2-724A-496B-A017-E1CD928C951E}"/>
              </a:ext>
            </a:extLst>
          </p:cNvPr>
          <p:cNvCxnSpPr>
            <a:cxnSpLocks/>
            <a:stCxn id="40" idx="6"/>
            <a:endCxn id="47" idx="2"/>
          </p:cNvCxnSpPr>
          <p:nvPr/>
        </p:nvCxnSpPr>
        <p:spPr>
          <a:xfrm flipV="1">
            <a:off x="2865760" y="5373216"/>
            <a:ext cx="1134126" cy="1573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377F09E0-55D3-4D4F-B2CD-DDB533F07339}"/>
              </a:ext>
            </a:extLst>
          </p:cNvPr>
          <p:cNvSpPr/>
          <p:nvPr/>
        </p:nvSpPr>
        <p:spPr>
          <a:xfrm>
            <a:off x="1568493" y="5052139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E6913D7C-C075-4DEE-93A3-EF255F896DD2}"/>
              </a:ext>
            </a:extLst>
          </p:cNvPr>
          <p:cNvSpPr/>
          <p:nvPr/>
        </p:nvSpPr>
        <p:spPr>
          <a:xfrm>
            <a:off x="4823037" y="5052139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3E11C6AA-2502-4967-84F6-E585DB41F2A0}"/>
              </a:ext>
            </a:extLst>
          </p:cNvPr>
          <p:cNvSpPr/>
          <p:nvPr/>
        </p:nvSpPr>
        <p:spPr>
          <a:xfrm rot="18621703">
            <a:off x="2564775" y="4555977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</a:t>
            </a:r>
            <a:endParaRPr lang="ru-RU" sz="1400" dirty="0">
              <a:solidFill>
                <a:schemeClr val="tx1"/>
              </a:solidFill>
            </a:endParaRPr>
          </a:p>
        </p:txBody>
      </p: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3B6EB514-034D-481B-9D23-9E1492D7C501}"/>
              </a:ext>
            </a:extLst>
          </p:cNvPr>
          <p:cNvCxnSpPr>
            <a:cxnSpLocks/>
            <a:stCxn id="47" idx="0"/>
          </p:cNvCxnSpPr>
          <p:nvPr/>
        </p:nvCxnSpPr>
        <p:spPr>
          <a:xfrm flipH="1" flipV="1">
            <a:off x="3513210" y="4460638"/>
            <a:ext cx="810712" cy="7685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242095CC-C04D-42FD-B026-65AD656735FB}"/>
              </a:ext>
            </a:extLst>
          </p:cNvPr>
          <p:cNvSpPr/>
          <p:nvPr/>
        </p:nvSpPr>
        <p:spPr>
          <a:xfrm rot="2823530">
            <a:off x="3811291" y="4514881"/>
            <a:ext cx="439952" cy="29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C79B358-C618-4149-B7D1-438570C9BCE2}"/>
              </a:ext>
            </a:extLst>
          </p:cNvPr>
          <p:cNvSpPr txBox="1"/>
          <p:nvPr/>
        </p:nvSpPr>
        <p:spPr>
          <a:xfrm>
            <a:off x="6683151" y="1844824"/>
            <a:ext cx="52565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	В обоих случаях операции образуют треугольники. Слияние событий 2 и 3 на первом рисунке или событий 7 и 8 на втором приводит к двум дугам </a:t>
            </a:r>
            <a:r>
              <a:rPr lang="en-US" sz="2400" dirty="0"/>
              <a:t>(C </a:t>
            </a:r>
            <a:r>
              <a:rPr lang="ru-RU" sz="2400" dirty="0"/>
              <a:t>и </a:t>
            </a:r>
            <a:r>
              <a:rPr lang="en-US" sz="2400" dirty="0"/>
              <a:t>D</a:t>
            </a:r>
            <a:r>
              <a:rPr lang="ru-RU" sz="2400" dirty="0"/>
              <a:t>) между двумя вершинами (событиями), что не возможно по определению сетевого графика.</a:t>
            </a:r>
          </a:p>
          <a:p>
            <a:pPr algn="just"/>
            <a:r>
              <a:rPr lang="ru-RU" sz="2400" dirty="0"/>
              <a:t>	Если бы одна из операций </a:t>
            </a:r>
            <a:r>
              <a:rPr lang="en-US" sz="2400" dirty="0"/>
              <a:t>C </a:t>
            </a:r>
            <a:r>
              <a:rPr lang="ru-RU" sz="2400" dirty="0"/>
              <a:t>или </a:t>
            </a:r>
            <a:r>
              <a:rPr lang="en-US" sz="2400" dirty="0"/>
              <a:t>D </a:t>
            </a:r>
            <a:r>
              <a:rPr lang="ru-RU" sz="2400" dirty="0"/>
              <a:t>была фиктивной, то такое объединение было бы возможным.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813934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ADB0C9-9E30-4059-854B-8B886C288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361104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rgbClr val="FF0000"/>
                </a:solidFill>
                <a:latin typeface="Trebuchet MS" panose="020B0603020202020204" pitchFamily="34" charset="0"/>
                <a:cs typeface="DejaVu Sans" charset="0"/>
              </a:rPr>
              <a:t>Минимизация количества событий и фиктивных операций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AF3A3-0C84-4F31-ADB2-2CA16CFEEAE2}"/>
              </a:ext>
            </a:extLst>
          </p:cNvPr>
          <p:cNvSpPr txBox="1"/>
          <p:nvPr/>
        </p:nvSpPr>
        <p:spPr>
          <a:xfrm>
            <a:off x="857418" y="1340768"/>
            <a:ext cx="1047716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Сформулируем общее правило, позволяющее объединять события в сетевом графике.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ru-RU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Пусть имеются две действительные операции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 им в сетевом графике соответствуют дуги (пары событий)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,e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,e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Кроме того, операции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связаны фиктивной операцией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Тогда события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могут быть объединены, если: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единственная входящая дуга для вершины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единственная выходящая дуга для вершины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при этом нет дуг, образующих треугольники первого и второго типа с основанием на дуге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15752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ADB0C9-9E30-4059-854B-8B886C288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260648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rgbClr val="00B050"/>
                </a:solidFill>
                <a:latin typeface="Trebuchet MS" panose="020B0603020202020204" pitchFamily="34" charset="0"/>
                <a:cs typeface="DejaVu Sans" charset="0"/>
              </a:rPr>
              <a:t>Расчет временных характеристик сетевого графика.</a:t>
            </a:r>
          </a:p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rgbClr val="00B050"/>
                </a:solidFill>
                <a:latin typeface="Trebuchet MS" panose="020B0603020202020204" pitchFamily="34" charset="0"/>
                <a:cs typeface="DejaVu Sans" charset="0"/>
              </a:rPr>
              <a:t>Основные определения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AF3A3-0C84-4F31-ADB2-2CA16CFEEAE2}"/>
              </a:ext>
            </a:extLst>
          </p:cNvPr>
          <p:cNvSpPr txBox="1"/>
          <p:nvPr/>
        </p:nvSpPr>
        <p:spPr>
          <a:xfrm>
            <a:off x="857418" y="1556792"/>
            <a:ext cx="10477164" cy="6019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управления ходом выполнения комплекса операций, представленного в виде сетевого графика, необходимо располагать количественными временными характеристиками комплекса. Важнейшими из них являются </a:t>
            </a: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продолжительность выполнения всего комплекса операций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сроки выполнения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отдельных </a:t>
            </a: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операций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резервы времени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вычислении временных характеристик сетевого графика используются понятия: полный путь, предшествующий событию путь, следующий за событием путь.</a:t>
            </a: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Полным путем комплекса операций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называется путь, у которого начальная вершина совпадает с исходным событием комплекса операций, а конечная – с завершающим.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476690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ADB0C9-9E30-4059-854B-8B886C288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260648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rgbClr val="00B050"/>
                </a:solidFill>
                <a:latin typeface="Trebuchet MS" panose="020B0603020202020204" pitchFamily="34" charset="0"/>
                <a:cs typeface="DejaVu Sans" charset="0"/>
              </a:rPr>
              <a:t>Расчет временных характеристик сетевого графика.</a:t>
            </a:r>
          </a:p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rgbClr val="00B050"/>
                </a:solidFill>
                <a:latin typeface="Trebuchet MS" panose="020B0603020202020204" pitchFamily="34" charset="0"/>
                <a:cs typeface="DejaVu Sans" charset="0"/>
              </a:rPr>
              <a:t>Основные определения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8AF3A3-0C84-4F31-ADB2-2CA16CFEEAE2}"/>
                  </a:ext>
                </a:extLst>
              </p:cNvPr>
              <p:cNvSpPr txBox="1"/>
              <p:nvPr/>
            </p:nvSpPr>
            <p:spPr>
              <a:xfrm>
                <a:off x="857418" y="1671526"/>
                <a:ext cx="10477164" cy="5162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0215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b="1" i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Предшествующий событию путь</a:t>
                </a:r>
                <a:r>
                  <a:rPr lang="ru-RU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это путь от исходного события комплекса до данного события.</a:t>
                </a:r>
                <a:endParaRPr lang="ru-RU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b="1" i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Следующий за событием путь</a:t>
                </a:r>
                <a:r>
                  <a:rPr lang="ru-RU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это путь от данного события до завершающего события комплекса операций.</a:t>
                </a:r>
                <a:endParaRPr lang="ru-RU" sz="1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b="1" i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Критическим путем</a:t>
                </a:r>
                <a:r>
                  <a:rPr lang="ru-RU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называется полный путь, имеющий наибольшую продолжительность по времени. Операции и события, принадлежащие критическому пути, называются соответственно </a:t>
                </a:r>
                <a:r>
                  <a:rPr lang="ru-RU" sz="2400" b="1" i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критическими операциями</a:t>
                </a:r>
                <a:r>
                  <a:rPr lang="ru-RU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:r>
                  <a:rPr lang="ru-RU" sz="2400" b="1" i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критическими событиями</a:t>
                </a:r>
                <a:r>
                  <a:rPr lang="ru-RU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 Суммарная продолжительность операций критического пути называется </a:t>
                </a:r>
                <a:r>
                  <a:rPr lang="ru-RU" sz="2400" b="1" i="1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критическим временем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b>
                        <m:r>
                          <a:rPr lang="ru-RU" sz="24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кр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выполнения комплекса операций. </a:t>
                </a:r>
                <a:endParaRPr lang="ru-RU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8AF3A3-0C84-4F31-ADB2-2CA16CFEE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18" y="1671526"/>
                <a:ext cx="10477164" cy="5162054"/>
              </a:xfrm>
              <a:prstGeom prst="rect">
                <a:avLst/>
              </a:prstGeom>
              <a:blipFill>
                <a:blip r:embed="rId2"/>
                <a:stretch>
                  <a:fillRect l="-931" t="-945" r="-9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733990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>
            <a:extLst>
              <a:ext uri="{FF2B5EF4-FFF2-40B4-BE49-F238E27FC236}">
                <a16:creationId xmlns:a16="http://schemas.microsoft.com/office/drawing/2014/main" id="{E1558AEE-0B19-4860-8B2C-082D6BAC7D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1351" y="120650"/>
          <a:ext cx="8512175" cy="657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19458" name="Object 2">
                        <a:extLst>
                          <a:ext uri="{FF2B5EF4-FFF2-40B4-BE49-F238E27FC236}">
                            <a16:creationId xmlns:a16="http://schemas.microsoft.com/office/drawing/2014/main" id="{E1558AEE-0B19-4860-8B2C-082D6BAC7D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1" y="120650"/>
                        <a:ext cx="8512175" cy="65722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Text Box 3">
            <a:extLst>
              <a:ext uri="{FF2B5EF4-FFF2-40B4-BE49-F238E27FC236}">
                <a16:creationId xmlns:a16="http://schemas.microsoft.com/office/drawing/2014/main" id="{0E8DD70D-8FCE-432A-8ADA-323C8F37D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6" y="63501"/>
            <a:ext cx="6303963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ru-RU" altLang="ru-RU" sz="2800" b="1" i="1">
                <a:solidFill>
                  <a:srgbClr val="404040"/>
                </a:solidFill>
                <a:latin typeface="Times New Roman" panose="02020603050405020304" pitchFamily="18" charset="0"/>
                <a:cs typeface="DejaVu Sans" charset="0"/>
              </a:rPr>
              <a:t>Критический путь  сетевого графика;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>
            <a:extLst>
              <a:ext uri="{FF2B5EF4-FFF2-40B4-BE49-F238E27FC236}">
                <a16:creationId xmlns:a16="http://schemas.microsoft.com/office/drawing/2014/main" id="{E758EB0A-F5C4-445E-872E-FF21BDC64B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8" y="188914"/>
          <a:ext cx="8964612" cy="651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r:id="rId4" imgW="7114286" imgH="5172797" progId="">
                  <p:embed/>
                </p:oleObj>
              </mc:Choice>
              <mc:Fallback>
                <p:oleObj r:id="rId4" imgW="7114286" imgH="5172797" progId="">
                  <p:embed/>
                  <p:pic>
                    <p:nvPicPr>
                      <p:cNvPr id="20482" name="Object 2">
                        <a:extLst>
                          <a:ext uri="{FF2B5EF4-FFF2-40B4-BE49-F238E27FC236}">
                            <a16:creationId xmlns:a16="http://schemas.microsoft.com/office/drawing/2014/main" id="{E758EB0A-F5C4-445E-872E-FF21BDC64B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188914"/>
                        <a:ext cx="8964612" cy="65182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>
            <a:extLst>
              <a:ext uri="{FF2B5EF4-FFF2-40B4-BE49-F238E27FC236}">
                <a16:creationId xmlns:a16="http://schemas.microsoft.com/office/drawing/2014/main" id="{E1ED70F4-39D1-46BC-8913-E1964AEB9E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365635"/>
              </p:ext>
            </p:extLst>
          </p:nvPr>
        </p:nvGraphicFramePr>
        <p:xfrm>
          <a:off x="1271464" y="404664"/>
          <a:ext cx="9581493" cy="5904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r:id="rId4" imgW="7095238" imgH="4371429" progId="">
                  <p:embed/>
                </p:oleObj>
              </mc:Choice>
              <mc:Fallback>
                <p:oleObj r:id="rId4" imgW="7095238" imgH="4371429" progId="">
                  <p:embed/>
                  <p:pic>
                    <p:nvPicPr>
                      <p:cNvPr id="21506" name="Object 2">
                        <a:extLst>
                          <a:ext uri="{FF2B5EF4-FFF2-40B4-BE49-F238E27FC236}">
                            <a16:creationId xmlns:a16="http://schemas.microsoft.com/office/drawing/2014/main" id="{E1ED70F4-39D1-46BC-8913-E1964AEB9E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404664"/>
                        <a:ext cx="9581493" cy="5904656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>
            <a:extLst>
              <a:ext uri="{FF2B5EF4-FFF2-40B4-BE49-F238E27FC236}">
                <a16:creationId xmlns:a16="http://schemas.microsoft.com/office/drawing/2014/main" id="{8225327F-739C-4BEB-998F-D568FC6064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994153"/>
              </p:ext>
            </p:extLst>
          </p:nvPr>
        </p:nvGraphicFramePr>
        <p:xfrm>
          <a:off x="1149619" y="0"/>
          <a:ext cx="9892762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22530" name="Object 2">
                        <a:extLst>
                          <a:ext uri="{FF2B5EF4-FFF2-40B4-BE49-F238E27FC236}">
                            <a16:creationId xmlns:a16="http://schemas.microsoft.com/office/drawing/2014/main" id="{8225327F-739C-4BEB-998F-D568FC6064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619" y="0"/>
                        <a:ext cx="9892762" cy="6858000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>
            <a:extLst>
              <a:ext uri="{FF2B5EF4-FFF2-40B4-BE49-F238E27FC236}">
                <a16:creationId xmlns:a16="http://schemas.microsoft.com/office/drawing/2014/main" id="{A4B42F86-C92C-4915-9152-6FAC4873B6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3525" y="120651"/>
          <a:ext cx="9251950" cy="656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r:id="rId4" imgW="0" imgH="0" progId="">
                  <p:embed/>
                </p:oleObj>
              </mc:Choice>
              <mc:Fallback>
                <p:oleObj r:id="rId4" imgW="0" imgH="0" progId="">
                  <p:embed/>
                  <p:pic>
                    <p:nvPicPr>
                      <p:cNvPr id="23554" name="Object 2">
                        <a:extLst>
                          <a:ext uri="{FF2B5EF4-FFF2-40B4-BE49-F238E27FC236}">
                            <a16:creationId xmlns:a16="http://schemas.microsoft.com/office/drawing/2014/main" id="{A4B42F86-C92C-4915-9152-6FAC4873B6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3525" y="120651"/>
                        <a:ext cx="9251950" cy="65690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AF3A3-0C84-4F31-ADB2-2CA16CFEEAE2}"/>
              </a:ext>
            </a:extLst>
          </p:cNvPr>
          <p:cNvSpPr txBox="1"/>
          <p:nvPr/>
        </p:nvSpPr>
        <p:spPr>
          <a:xfrm>
            <a:off x="857418" y="1196752"/>
            <a:ext cx="10477164" cy="5916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Увеличение времени выполнения или задержка операций, не принадлежащих критическому пути, может не отразиться на сроках свершения завершающего события.</a:t>
            </a: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Например, время выполнения операции 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&lt;4</a:t>
            </a: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,5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 может быть увеличено, если начало ее выполнения может быть отсрочено на 1 единицу времени, и это не отразится на сроке выполнения события 5, а, следовательно, и всего комплекса операций. Начало выполнения операции 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4,7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 может быть отсрочено на 3 единицы времени.</a:t>
            </a: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Некритические события имеют </a:t>
            </a:r>
            <a:r>
              <a:rPr lang="ru-RU" sz="24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резервы времени</a:t>
            </a: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, которые показывают, на какой предельно допустимый срок может задержаться свершение события без изменения срока свершения завершающего события.</a:t>
            </a: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563FDE2-464D-4D5F-86BE-B388EE8FB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260648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rgbClr val="00B050"/>
                </a:solidFill>
                <a:latin typeface="Trebuchet MS" panose="020B0603020202020204" pitchFamily="34" charset="0"/>
                <a:cs typeface="DejaVu Sans" charset="0"/>
              </a:rPr>
              <a:t>Резерв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251442365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AF3A3-0C84-4F31-ADB2-2CA16CFEEAE2}"/>
              </a:ext>
            </a:extLst>
          </p:cNvPr>
          <p:cNvSpPr txBox="1"/>
          <p:nvPr/>
        </p:nvSpPr>
        <p:spPr>
          <a:xfrm>
            <a:off x="857418" y="1340768"/>
            <a:ext cx="10477164" cy="5624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Различают несколько разновидностей резервов времени операций:</a:t>
            </a: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endParaRPr lang="ru-RU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	1. полный резерв времени операции</a:t>
            </a: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 (наиболее важная разновидность) представляет максимальный запас времени, на которое можно задержать начало работы или увеличить ее продолжительность при условии, что операция завершится не позднее своего предельного (критического) срока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	2. свободный резерв времени операции </a:t>
            </a: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указывает, на сколько можно сдвинуть начало выполнения операции или увеличить ее продолжительность при условии, что начальное и конечное ее события свершатся в ранние сроки</a:t>
            </a: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80F784-9DDE-4032-B6E9-EC33C5C8B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260648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rgbClr val="00B050"/>
                </a:solidFill>
                <a:latin typeface="Trebuchet MS" panose="020B0603020202020204" pitchFamily="34" charset="0"/>
                <a:cs typeface="DejaVu Sans" charset="0"/>
              </a:rPr>
              <a:t>Резерв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394573906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AF3A3-0C84-4F31-ADB2-2CA16CFEEAE2}"/>
              </a:ext>
            </a:extLst>
          </p:cNvPr>
          <p:cNvSpPr txBox="1"/>
          <p:nvPr/>
        </p:nvSpPr>
        <p:spPr>
          <a:xfrm>
            <a:off x="857418" y="1196752"/>
            <a:ext cx="10477164" cy="6019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	3. частный резерв времени операции первого вида </a:t>
            </a: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– это резерв времени, которым можно располагать при выполнении операции в предположении, что начальное и конечное ее события свершатся в предельные сроки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4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	4. частный резерв времени операции второго вида </a:t>
            </a: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– это запас времени, которым можно располагать при выполнении операции в предположении, что начальное событие свершится в позднее, а конечное – в раннее время</a:t>
            </a: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AutoNum type="arabicPeriod"/>
            </a:pPr>
            <a:endParaRPr lang="ru-RU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	Как правило оптимизация сетевых моделей вызывается необходимостью снижения времени или уменьшения затрат на выполнение проекта.</a:t>
            </a: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80F784-9DDE-4032-B6E9-EC33C5C8B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260648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rgbClr val="00B050"/>
                </a:solidFill>
                <a:latin typeface="Trebuchet MS" panose="020B0603020202020204" pitchFamily="34" charset="0"/>
                <a:cs typeface="DejaVu Sans" charset="0"/>
              </a:rPr>
              <a:t>Резерв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1180672932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>
            <a:extLst>
              <a:ext uri="{FF2B5EF4-FFF2-40B4-BE49-F238E27FC236}">
                <a16:creationId xmlns:a16="http://schemas.microsoft.com/office/drawing/2014/main" id="{406F4E7A-FD41-420A-ADB2-93B4F659F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891" y="1816664"/>
            <a:ext cx="7452319" cy="4133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579" name="Text Box 3">
            <a:extLst>
              <a:ext uri="{FF2B5EF4-FFF2-40B4-BE49-F238E27FC236}">
                <a16:creationId xmlns:a16="http://schemas.microsoft.com/office/drawing/2014/main" id="{E2402667-50B4-46FE-A54B-90DEAA459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368" y="787351"/>
            <a:ext cx="11377264" cy="956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ts val="1750"/>
              </a:spcBef>
            </a:pPr>
            <a:r>
              <a:rPr lang="ru-RU" altLang="ru-RU" sz="28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Продолжительность критического пути зависит от объемов дополнительно вкладываемых средств </a:t>
            </a:r>
            <a:r>
              <a:rPr lang="en-US" altLang="ru-RU" sz="2800" b="1" i="1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ru-RU" sz="2800" b="1" i="1" baseline="-250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endParaRPr lang="en-US" altLang="ru-RU" sz="2800" b="1" i="1" baseline="-25000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CF5BF004-D71F-4360-B885-7A5BB4C38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5949951"/>
            <a:ext cx="8785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75936FD5-05AB-4ACF-A0C5-BCD7C82B9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5876926"/>
            <a:ext cx="7991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4582" name="Text Box 6">
            <a:extLst>
              <a:ext uri="{FF2B5EF4-FFF2-40B4-BE49-F238E27FC236}">
                <a16:creationId xmlns:a16="http://schemas.microsoft.com/office/drawing/2014/main" id="{7D4AF3E9-9C1C-4B5C-9312-54BA55976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5949950"/>
            <a:ext cx="11305256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ts val="1500"/>
              </a:spcBef>
            </a:pPr>
            <a:r>
              <a:rPr lang="ru-RU" altLang="ru-RU" sz="24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Приведены продолжительности планируемых и минимально допустимых времен выполнения отдельных работ (операций)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E4B2DF2-CF9A-43EF-BDEB-55F0FB21D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151351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Trebuchet MS" panose="020B0603020202020204" pitchFamily="34" charset="0"/>
                <a:cs typeface="DejaVu Sans" charset="0"/>
              </a:rPr>
              <a:t>Оптимизация комплекса операций по времени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AF3A3-0C84-4F31-ADB2-2CA16CFEEAE2}"/>
              </a:ext>
            </a:extLst>
          </p:cNvPr>
          <p:cNvSpPr txBox="1"/>
          <p:nvPr/>
        </p:nvSpPr>
        <p:spPr>
          <a:xfrm>
            <a:off x="857418" y="1340768"/>
            <a:ext cx="10477164" cy="4883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Оптимизация комплекса операций по времени сводится к </a:t>
            </a:r>
            <a:r>
              <a:rPr lang="ru-RU" sz="28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сокращению продолжительности критического пути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Необходимость проведения оптимизации сетевого графика по времени возникает тогда, когда критическое время выполнения комплекса операций превосходит срок, на котором настаивает лицо, принимающее решения.</a:t>
            </a:r>
          </a:p>
          <a:p>
            <a:pPr indent="450215" algn="just"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Такая задача требует проведения определенных мероприятий или </a:t>
            </a:r>
            <a:r>
              <a:rPr lang="ru-RU" sz="28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вложения дополнительных средств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Иногда оптимизация достигается за счет </a:t>
            </a:r>
            <a:r>
              <a:rPr lang="ru-RU" sz="28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перепланировки сетевого проекта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8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изменения топологии сети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подобных операций. 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E791C9-A8AF-479F-8308-F76CFE1EF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151351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Trebuchet MS" panose="020B0603020202020204" pitchFamily="34" charset="0"/>
                <a:cs typeface="DejaVu Sans" charset="0"/>
              </a:rPr>
              <a:t>Оптимизация комплекса операций по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1017042019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AF3A3-0C84-4F31-ADB2-2CA16CFEEAE2}"/>
              </a:ext>
            </a:extLst>
          </p:cNvPr>
          <p:cNvSpPr txBox="1"/>
          <p:nvPr/>
        </p:nvSpPr>
        <p:spPr>
          <a:xfrm>
            <a:off x="857418" y="1222904"/>
            <a:ext cx="10477164" cy="5483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Например, одновременно выполняемые операции, </a:t>
            </a:r>
            <a:r>
              <a:rPr lang="ru-RU" sz="28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имеющие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резервы времени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ru-RU" sz="28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лежащие на критическом пути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могут выполняться последовательно, если это допускается технологией. Освободившиеся при этом ресурсы можно использовать на критических операциях, что ускорит их выполнение.</a:t>
            </a:r>
          </a:p>
          <a:p>
            <a:pPr indent="450215" algn="just">
              <a:spcAft>
                <a:spcPts val="800"/>
              </a:spcAft>
            </a:pPr>
            <a:r>
              <a:rPr lang="ru-RU" sz="28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Сокращение времени выполнения операции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возможно за счет автоматизации производственных процессов, улучшения организации работ, использования передовых технологий и т. д. </a:t>
            </a:r>
          </a:p>
          <a:p>
            <a:pPr indent="450215" algn="just">
              <a:spcAft>
                <a:spcPts val="800"/>
              </a:spcAft>
            </a:pPr>
            <a:r>
              <a:rPr lang="ru-RU" sz="28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Оптимизация по времени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может происходить с привлечением дополнительных средств и с использованием внутренних резервов.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E791C9-A8AF-479F-8308-F76CFE1EF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151351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Trebuchet MS" panose="020B0603020202020204" pitchFamily="34" charset="0"/>
                <a:cs typeface="DejaVu Sans" charset="0"/>
              </a:rPr>
              <a:t>Оптимизация комплекса операций по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3588135621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AF3A3-0C84-4F31-ADB2-2CA16CFEEAE2}"/>
              </a:ext>
            </a:extLst>
          </p:cNvPr>
          <p:cNvSpPr txBox="1"/>
          <p:nvPr/>
        </p:nvSpPr>
        <p:spPr>
          <a:xfrm>
            <a:off x="857418" y="1222904"/>
            <a:ext cx="10477164" cy="5483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тех случаях, когда продолжительность критических операций можно уменьшить за счет перераспределения ресурсов, говорят об </a:t>
            </a:r>
            <a:r>
              <a:rPr lang="ru-RU" sz="28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оптимизации за счет внутренних резервов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а такие ресурсы называют </a:t>
            </a:r>
            <a:r>
              <a:rPr lang="ru-RU" sz="28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подвижными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Если выполнение некоторых критических операций (или их частей) можно распараллелить, то говорят об </a:t>
            </a:r>
            <a:r>
              <a:rPr lang="ru-RU" sz="28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оптимизации за счет реструктуризации сетевого графика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наконец, если для уменьшения сроков выполнения комплекса операций требуются дополнительные средства, то говорят об </a:t>
            </a:r>
            <a:r>
              <a:rPr lang="ru-RU" sz="28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оптимизации с использованием дополнительных средств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E791C9-A8AF-479F-8308-F76CFE1EF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151351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Trebuchet MS" panose="020B0603020202020204" pitchFamily="34" charset="0"/>
                <a:cs typeface="DejaVu Sans" charset="0"/>
              </a:rPr>
              <a:t>Оптимизация комплекса операций по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4131240563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>
            <a:extLst>
              <a:ext uri="{FF2B5EF4-FFF2-40B4-BE49-F238E27FC236}">
                <a16:creationId xmlns:a16="http://schemas.microsoft.com/office/drawing/2014/main" id="{F1761685-3690-4647-B55C-786CD68C2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338" y="151141"/>
            <a:ext cx="8493324" cy="6555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24C5D0A9-0384-48A3-B5C1-1C291587B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9700"/>
            <a:ext cx="9144000" cy="641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>
            <a:extLst>
              <a:ext uri="{FF2B5EF4-FFF2-40B4-BE49-F238E27FC236}">
                <a16:creationId xmlns:a16="http://schemas.microsoft.com/office/drawing/2014/main" id="{2710095B-39C2-44CC-9CF9-9BD83E16D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620713"/>
            <a:ext cx="8712200" cy="539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7651" name="Text Box 3">
            <a:extLst>
              <a:ext uri="{FF2B5EF4-FFF2-40B4-BE49-F238E27FC236}">
                <a16:creationId xmlns:a16="http://schemas.microsoft.com/office/drawing/2014/main" id="{F4137E03-1551-4E62-A6BF-A0D95486D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1"/>
            <a:ext cx="7993062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ts val="2000"/>
              </a:spcBef>
            </a:pPr>
            <a:r>
              <a:rPr lang="ru-RU" altLang="ru-RU" sz="3200" b="1" i="1">
                <a:solidFill>
                  <a:srgbClr val="6600FF"/>
                </a:solidFill>
                <a:latin typeface="Times New Roman" panose="02020603050405020304" pitchFamily="18" charset="0"/>
              </a:rPr>
              <a:t>Пример оптимизации проекта по времени</a:t>
            </a:r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937C0550-ECB0-4ECB-AECA-1C4CBB89F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4088" y="5972175"/>
            <a:ext cx="799306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ts val="1500"/>
              </a:spcBef>
            </a:pPr>
            <a:r>
              <a:rPr lang="ru-RU" altLang="ru-RU" sz="2400">
                <a:latin typeface="Times New Roman" panose="02020603050405020304" pitchFamily="18" charset="0"/>
              </a:rPr>
              <a:t>Приведены продолжительности и минимально возможные времена выполнения работ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849BE4-4C04-45F3-AC8D-34F37EA04038}"/>
              </a:ext>
            </a:extLst>
          </p:cNvPr>
          <p:cNvSpPr txBox="1"/>
          <p:nvPr/>
        </p:nvSpPr>
        <p:spPr>
          <a:xfrm>
            <a:off x="857418" y="260648"/>
            <a:ext cx="10477164" cy="1831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Предполагается, что время выполнения операций </a:t>
            </a:r>
            <a:r>
              <a:rPr lang="ru-RU" sz="28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линейно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зависит от вложенных средств: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381886F-DF31-4CE6-AF1B-9779CB309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811" y="1519356"/>
            <a:ext cx="3080368" cy="74793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4CEA71E-5B9C-4421-A237-34B65A4F8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920" y="1550680"/>
            <a:ext cx="5699269" cy="10828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F9486F-CA80-49EC-8D7C-86B55A448437}"/>
              </a:ext>
            </a:extLst>
          </p:cNvPr>
          <p:cNvSpPr txBox="1"/>
          <p:nvPr/>
        </p:nvSpPr>
        <p:spPr>
          <a:xfrm>
            <a:off x="887005" y="2852936"/>
            <a:ext cx="10477164" cy="419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spcAft>
                <a:spcPts val="800"/>
              </a:spcAft>
            </a:pPr>
            <a:r>
              <a:rPr lang="en-US" sz="2800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ij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понижающий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коэффициент.</a:t>
            </a:r>
          </a:p>
          <a:p>
            <a:pPr indent="450215" algn="just">
              <a:spcAft>
                <a:spcPts val="800"/>
              </a:spcAft>
            </a:pPr>
            <a:endParaRPr lang="ru-RU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Требуется оптимизировать сетевой график по времени, то есть определить время выполнения каждой операции сетевого графика таким образом, чтобы время выполнения комплекса операций было минимальным, а сумма вложенных средств </a:t>
            </a:r>
            <a:r>
              <a:rPr lang="ru-RU" sz="28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не превышала 15 денежных единиц. </a:t>
            </a:r>
            <a:endParaRPr lang="ru-RU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>
            <a:extLst>
              <a:ext uri="{FF2B5EF4-FFF2-40B4-BE49-F238E27FC236}">
                <a16:creationId xmlns:a16="http://schemas.microsoft.com/office/drawing/2014/main" id="{80AD8B07-A27D-4D3D-B8D1-0A5C9412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1"/>
            <a:ext cx="8604250" cy="680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>
            <a:extLst>
              <a:ext uri="{FF2B5EF4-FFF2-40B4-BE49-F238E27FC236}">
                <a16:creationId xmlns:a16="http://schemas.microsoft.com/office/drawing/2014/main" id="{84890861-3D72-4B54-8FA7-7786A1B67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36712"/>
            <a:ext cx="9144000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E21C0DC-5060-459A-A98F-A7067EF92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289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3A7DCA3-EDA6-4CB4-B65F-22D4540E2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5E16C427-0672-4163-BDCA-01BC3E3E6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14689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0B33A5C0-4BA3-4C6C-9505-AAEA19A5E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992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7D07B44B-F716-4D07-B8C9-0A778135D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385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pic>
        <p:nvPicPr>
          <p:cNvPr id="31751" name="Picture 7">
            <a:extLst>
              <a:ext uri="{FF2B5EF4-FFF2-40B4-BE49-F238E27FC236}">
                <a16:creationId xmlns:a16="http://schemas.microsoft.com/office/drawing/2014/main" id="{59519198-B306-4FE2-B83C-E41CC74FB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68326"/>
            <a:ext cx="9144000" cy="588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5DDF6D89-A023-4878-9E56-9FCFD4E00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289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504E5EB-1948-4635-952E-A30C5C034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F204F005-FD6F-463C-A91F-EE5D5094A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14689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85B4BD66-1BCA-496D-9172-FC7D69056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992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840729AE-16E6-4400-87EA-EED815375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385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pic>
        <p:nvPicPr>
          <p:cNvPr id="32775" name="Picture 7">
            <a:extLst>
              <a:ext uri="{FF2B5EF4-FFF2-40B4-BE49-F238E27FC236}">
                <a16:creationId xmlns:a16="http://schemas.microsoft.com/office/drawing/2014/main" id="{648083B7-5200-4E8C-AE53-D10C51FBF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61950"/>
            <a:ext cx="9131300" cy="567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D0C8E59-36AB-42E5-949D-EBAF231D6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289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D43C0DE-5620-41B5-BE82-B9115444F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44EC1598-8232-4076-BEFA-481462447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14689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D4F8D556-7EB9-4B87-BCD4-7226D2985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992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916A50B9-9137-4FE6-8862-4A363DF01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385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pic>
        <p:nvPicPr>
          <p:cNvPr id="33799" name="Picture 7">
            <a:extLst>
              <a:ext uri="{FF2B5EF4-FFF2-40B4-BE49-F238E27FC236}">
                <a16:creationId xmlns:a16="http://schemas.microsoft.com/office/drawing/2014/main" id="{7578FD78-288A-4532-B2CF-491566BAB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790" y="548680"/>
            <a:ext cx="6066420" cy="3822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897C97-B3BE-450F-85BC-84FA626EA96C}"/>
              </a:ext>
            </a:extLst>
          </p:cNvPr>
          <p:cNvSpPr txBox="1"/>
          <p:nvPr/>
        </p:nvSpPr>
        <p:spPr>
          <a:xfrm>
            <a:off x="857418" y="4688206"/>
            <a:ext cx="10477164" cy="2447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spcAft>
                <a:spcPts val="80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Сформулированная задача является типичной задачей линейного программирования и легко может быть решена, например, симплекс-методом.</a:t>
            </a:r>
            <a:endParaRPr lang="ru-RU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974E428-5116-4ACE-AAA3-F5B83BC3B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289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8378CA1-6CDC-43B9-AAC4-ACC56C650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63AEBE01-87CD-4F98-8449-A3D6868CE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14689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CFED1D33-4D9D-4075-A80B-86C042E36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992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270D13CF-ED5D-418E-8AF3-C1868CDE8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385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pic>
        <p:nvPicPr>
          <p:cNvPr id="34823" name="Picture 7">
            <a:extLst>
              <a:ext uri="{FF2B5EF4-FFF2-40B4-BE49-F238E27FC236}">
                <a16:creationId xmlns:a16="http://schemas.microsoft.com/office/drawing/2014/main" id="{1E48162C-1C9D-41EA-B841-75FDE7666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080" y="108910"/>
            <a:ext cx="8573839" cy="667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B566362-7370-4F3A-9C13-19E500D45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289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EECF292-4EE2-4836-A270-BEC1DB625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231342E4-B843-42C9-80F8-351D0049D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14689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88891884-7BE1-40DA-A610-0C89B8D3F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992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5846" name="Rectangle 6">
            <a:extLst>
              <a:ext uri="{FF2B5EF4-FFF2-40B4-BE49-F238E27FC236}">
                <a16:creationId xmlns:a16="http://schemas.microsoft.com/office/drawing/2014/main" id="{3838F18C-BD42-4E4E-9D1A-CDFFBEC78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385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pic>
        <p:nvPicPr>
          <p:cNvPr id="35847" name="Picture 7">
            <a:extLst>
              <a:ext uri="{FF2B5EF4-FFF2-40B4-BE49-F238E27FC236}">
                <a16:creationId xmlns:a16="http://schemas.microsoft.com/office/drawing/2014/main" id="{62D69D8A-6F27-48F0-ABC9-1FF8AFD84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463" y="236538"/>
            <a:ext cx="8964612" cy="643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6064437-E950-4F66-A944-CB8575719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289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507588FC-AD33-48AC-8B48-8E30722C7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1FFF3CB4-424B-4763-ABC6-64E5981E9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14689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534229C4-1D24-48E8-A703-DC26EE6B0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992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CD13635A-AE8A-499A-A708-137B3C0A6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385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pic>
        <p:nvPicPr>
          <p:cNvPr id="36871" name="Picture 7">
            <a:extLst>
              <a:ext uri="{FF2B5EF4-FFF2-40B4-BE49-F238E27FC236}">
                <a16:creationId xmlns:a16="http://schemas.microsoft.com/office/drawing/2014/main" id="{8BAAE9C6-D09E-4ADA-99F9-7571133CF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440" y="1268760"/>
            <a:ext cx="6941120" cy="5282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6B061842-8EC1-4139-9D13-B935E7589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116632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Trebuchet MS" panose="020B0603020202020204" pitchFamily="34" charset="0"/>
                <a:cs typeface="DejaVu Sans" charset="0"/>
              </a:rPr>
              <a:t>Оптимизация комплекса операций по стоимости при фиксированном сроке выполнения проекта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D0C8E59-36AB-42E5-949D-EBAF231D6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2897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D43C0DE-5620-41B5-BE82-B9115444F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44EC1598-8232-4076-BEFA-481462447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14689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D4F8D556-7EB9-4B87-BCD4-7226D2985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0992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916A50B9-9137-4FE6-8862-4A363DF01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385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897C97-B3BE-450F-85BC-84FA626EA96C}"/>
              </a:ext>
            </a:extLst>
          </p:cNvPr>
          <p:cNvSpPr txBox="1"/>
          <p:nvPr/>
        </p:nvSpPr>
        <p:spPr>
          <a:xfrm>
            <a:off x="857418" y="476672"/>
            <a:ext cx="10477164" cy="6052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spcAft>
                <a:spcPts val="800"/>
              </a:spcAft>
            </a:pPr>
            <a:r>
              <a:rPr lang="ru-RU" sz="2800" b="1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Коэффициент дополнительных затрат</a:t>
            </a: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показывает, насколько увеличится стоимость операции при уменьшении ее продолжительности на единицу времени.</a:t>
            </a:r>
          </a:p>
          <a:p>
            <a:pPr indent="450215" algn="just">
              <a:spcAft>
                <a:spcPts val="800"/>
              </a:spcAft>
            </a:pPr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Сформулируем задачу:</a:t>
            </a:r>
          </a:p>
          <a:p>
            <a:pPr indent="450215" algn="just">
              <a:spcAft>
                <a:spcPts val="80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заданного сетевого графика известны продолжительности выполнения работ и их скорость в срочном режиме. Для срочного режима определены критическое время и стоимость выполнения проекта </a:t>
            </a:r>
            <a:r>
              <a:rPr lang="ru-RU" sz="28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</a:t>
            </a:r>
            <a:r>
              <a:rPr lang="ru-RU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Стоимость при этом является максимальной.</a:t>
            </a:r>
          </a:p>
          <a:p>
            <a:pPr indent="450215" algn="just">
              <a:spcAft>
                <a:spcPts val="800"/>
              </a:spcAft>
            </a:pPr>
            <a:r>
              <a:rPr lang="ru-RU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Предполагается, что КДЗ для каждой работы известны.</a:t>
            </a:r>
          </a:p>
          <a:p>
            <a:pPr indent="450215" algn="just">
              <a:spcAft>
                <a:spcPts val="800"/>
              </a:spcAft>
            </a:pPr>
            <a:r>
              <a:rPr lang="ru-RU" sz="2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Ставится задача минимизации стоимости проекта при фиксированном сроке его выполнения за счет увеличения времени выполнения отдельных работ.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69636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89" name="Object 1">
            <a:extLst>
              <a:ext uri="{FF2B5EF4-FFF2-40B4-BE49-F238E27FC236}">
                <a16:creationId xmlns:a16="http://schemas.microsoft.com/office/drawing/2014/main" id="{A9F01121-A88D-4745-A701-EF3D5547EC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r:id="rId4" imgW="9100080" imgH="6448320" progId="">
                  <p:embed/>
                </p:oleObj>
              </mc:Choice>
              <mc:Fallback>
                <p:oleObj r:id="rId4" imgW="9100080" imgH="6448320" progId="">
                  <p:embed/>
                  <p:pic>
                    <p:nvPicPr>
                      <p:cNvPr id="37889" name="Object 1">
                        <a:extLst>
                          <a:ext uri="{FF2B5EF4-FFF2-40B4-BE49-F238E27FC236}">
                            <a16:creationId xmlns:a16="http://schemas.microsoft.com/office/drawing/2014/main" id="{A9F01121-A88D-4745-A701-EF3D5547EC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0" cy="68580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890" name="Picture 2">
            <a:extLst>
              <a:ext uri="{FF2B5EF4-FFF2-40B4-BE49-F238E27FC236}">
                <a16:creationId xmlns:a16="http://schemas.microsoft.com/office/drawing/2014/main" id="{92EC581F-6EAE-4B0E-A835-5229AF587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6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>
            <a:extLst>
              <a:ext uri="{FF2B5EF4-FFF2-40B4-BE49-F238E27FC236}">
                <a16:creationId xmlns:a16="http://schemas.microsoft.com/office/drawing/2014/main" id="{6CBA86FA-4BCB-4697-808F-A4369C0BD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6201"/>
            <a:ext cx="9144000" cy="664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>
            <a:extLst>
              <a:ext uri="{FF2B5EF4-FFF2-40B4-BE49-F238E27FC236}">
                <a16:creationId xmlns:a16="http://schemas.microsoft.com/office/drawing/2014/main" id="{5260E100-0B3B-413A-9209-04EB1BB5A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"/>
            <a:ext cx="9144000" cy="566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9939" name="Text Box 3">
            <a:extLst>
              <a:ext uri="{FF2B5EF4-FFF2-40B4-BE49-F238E27FC236}">
                <a16:creationId xmlns:a16="http://schemas.microsoft.com/office/drawing/2014/main" id="{8B869DAB-5B21-40B2-9CA1-A8E2788C5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5734050"/>
            <a:ext cx="7993062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ts val="1500"/>
              </a:spcBef>
            </a:pPr>
            <a:r>
              <a:rPr lang="ru-RU" altLang="ru-RU" sz="2400" b="1" i="1">
                <a:solidFill>
                  <a:srgbClr val="6600FF"/>
                </a:solidFill>
                <a:latin typeface="Times New Roman" panose="02020603050405020304" pitchFamily="18" charset="0"/>
              </a:rPr>
              <a:t>Задача</a:t>
            </a:r>
            <a:r>
              <a:rPr lang="en-US" altLang="ru-RU" sz="2400">
                <a:latin typeface="Times New Roman" panose="02020603050405020304" pitchFamily="18" charset="0"/>
              </a:rPr>
              <a:t>: </a:t>
            </a:r>
            <a:r>
              <a:rPr lang="ru-RU" altLang="ru-RU" sz="2400">
                <a:latin typeface="Times New Roman" panose="02020603050405020304" pitchFamily="18" charset="0"/>
              </a:rPr>
              <a:t>оптимизировать проект по стоимости при директивном сроке </a:t>
            </a:r>
            <a:r>
              <a:rPr lang="en-US" altLang="ru-RU" sz="2400">
                <a:latin typeface="Times New Roman" panose="02020603050405020304" pitchFamily="18" charset="0"/>
              </a:rPr>
              <a:t>T</a:t>
            </a:r>
            <a:r>
              <a:rPr lang="en-US" altLang="ru-RU" sz="1400">
                <a:latin typeface="Times New Roman" panose="02020603050405020304" pitchFamily="18" charset="0"/>
              </a:rPr>
              <a:t>0 </a:t>
            </a:r>
            <a:r>
              <a:rPr lang="en-US" altLang="ru-RU" sz="2400">
                <a:latin typeface="Times New Roman" panose="02020603050405020304" pitchFamily="18" charset="0"/>
              </a:rPr>
              <a:t>= 17 </a:t>
            </a:r>
            <a:r>
              <a:rPr lang="ru-RU" altLang="ru-RU" sz="2400">
                <a:latin typeface="Times New Roman" panose="02020603050405020304" pitchFamily="18" charset="0"/>
              </a:rPr>
              <a:t>недель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>
            <a:extLst>
              <a:ext uri="{FF2B5EF4-FFF2-40B4-BE49-F238E27FC236}">
                <a16:creationId xmlns:a16="http://schemas.microsoft.com/office/drawing/2014/main" id="{4AC15E0E-337B-4E96-9EE8-705E97DE0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20713"/>
            <a:ext cx="9144000" cy="4919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>
            <a:extLst>
              <a:ext uri="{FF2B5EF4-FFF2-40B4-BE49-F238E27FC236}">
                <a16:creationId xmlns:a16="http://schemas.microsoft.com/office/drawing/2014/main" id="{D3D1FA67-1763-46A5-A67B-713548417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81014"/>
            <a:ext cx="9144000" cy="520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>
            <a:extLst>
              <a:ext uri="{FF2B5EF4-FFF2-40B4-BE49-F238E27FC236}">
                <a16:creationId xmlns:a16="http://schemas.microsoft.com/office/drawing/2014/main" id="{15462F3D-3C20-49D3-BCD8-5D10A76E3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7164"/>
            <a:ext cx="9144000" cy="654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>
            <a:extLst>
              <a:ext uri="{FF2B5EF4-FFF2-40B4-BE49-F238E27FC236}">
                <a16:creationId xmlns:a16="http://schemas.microsoft.com/office/drawing/2014/main" id="{9BC14836-C94E-49D2-A159-678E32400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3501"/>
            <a:ext cx="9144000" cy="674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AF3A3-0C84-4F31-ADB2-2CA16CFEEAE2}"/>
              </a:ext>
            </a:extLst>
          </p:cNvPr>
          <p:cNvSpPr txBox="1"/>
          <p:nvPr/>
        </p:nvSpPr>
        <p:spPr>
          <a:xfrm>
            <a:off x="857418" y="1484784"/>
            <a:ext cx="10477164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Пусть комплекс операций представлен сетевым графиком </a:t>
            </a:r>
            <a:r>
              <a:rPr lang="en-US" sz="24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G(V,E)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Каждая операция комплекса характеризуется </a:t>
            </a: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продолжительностью выполнения</a:t>
            </a:r>
            <a:r>
              <a:rPr lang="en-US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интенсивностью применения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некоторого ресурса. Под интенсивностью понимается требуемое количество ресурсов для исполнения операции.</a:t>
            </a:r>
          </a:p>
          <a:p>
            <a:pPr indent="450215" algn="just"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 определить нужное количество ресурсов по календарным срокам и сравнить его с имеющимися в распоряжении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ресурсами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Если окажется, что невозможно отдельные операции полностью обеспечить необходимыми ресурсами, то необходимо найти такие календарные сроки начала и окончания операций сетевого графика, при которых на всем протяжении выполнения комплекса операций было бы достаточно ресурсов при его минимальной продолжительности.</a:t>
            </a:r>
            <a:endParaRPr lang="ru-RU" sz="1600" dirty="0"/>
          </a:p>
          <a:p>
            <a:pPr indent="450215" algn="just">
              <a:spcAft>
                <a:spcPts val="800"/>
              </a:spcAft>
            </a:pPr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E791C9-A8AF-479F-8308-F76CFE1EF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309421"/>
            <a:ext cx="11953328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Trebuchet MS" panose="020B0603020202020204" pitchFamily="34" charset="0"/>
                <a:cs typeface="DejaVu Sans" charset="0"/>
              </a:rPr>
              <a:t>Оптимизация комплекса операций по ресурсам</a:t>
            </a:r>
          </a:p>
        </p:txBody>
      </p:sp>
    </p:spTree>
    <p:extLst>
      <p:ext uri="{BB962C8B-B14F-4D97-AF65-F5344CB8AC3E}">
        <p14:creationId xmlns:p14="http://schemas.microsoft.com/office/powerpoint/2010/main" val="416246643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МП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1043</TotalTime>
  <Words>1006</Words>
  <Application>Microsoft Office PowerPoint</Application>
  <PresentationFormat>Широкоэкранный</PresentationFormat>
  <Paragraphs>154</Paragraphs>
  <Slides>45</Slides>
  <Notes>28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0</vt:i4>
      </vt:variant>
      <vt:variant>
        <vt:lpstr>Заголовки слайдов</vt:lpstr>
      </vt:variant>
      <vt:variant>
        <vt:i4>45</vt:i4>
      </vt:variant>
    </vt:vector>
  </HeadingPairs>
  <TitlesOfParts>
    <vt:vector size="55" baseType="lpstr">
      <vt:lpstr>Microsoft YaHei</vt:lpstr>
      <vt:lpstr>Arial</vt:lpstr>
      <vt:lpstr>Bahnschrift</vt:lpstr>
      <vt:lpstr>Calibri</vt:lpstr>
      <vt:lpstr>Cambria Math</vt:lpstr>
      <vt:lpstr>DejaVu Sans</vt:lpstr>
      <vt:lpstr>Monotype Corsiva</vt:lpstr>
      <vt:lpstr>Times New Roman</vt:lpstr>
      <vt:lpstr>Trebuchet MS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МАТЕМАТИЧЕСКОЕ ПРОГРАММИРОВАНИЕ</dc:title>
  <dc:creator>Brakovich</dc:creator>
  <cp:lastModifiedBy>User</cp:lastModifiedBy>
  <cp:revision>105</cp:revision>
  <cp:lastPrinted>2023-04-26T12:41:38Z</cp:lastPrinted>
  <dcterms:created xsi:type="dcterms:W3CDTF">2010-12-02T13:55:43Z</dcterms:created>
  <dcterms:modified xsi:type="dcterms:W3CDTF">2026-05-13T16:33:43Z</dcterms:modified>
</cp:coreProperties>
</file>