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48" r:id="rId2"/>
    <p:sldId id="305" r:id="rId3"/>
    <p:sldId id="258" r:id="rId4"/>
    <p:sldId id="330" r:id="rId5"/>
    <p:sldId id="309" r:id="rId6"/>
    <p:sldId id="318" r:id="rId7"/>
    <p:sldId id="310" r:id="rId8"/>
    <p:sldId id="359" r:id="rId9"/>
    <p:sldId id="336" r:id="rId10"/>
    <p:sldId id="332" r:id="rId11"/>
    <p:sldId id="333" r:id="rId12"/>
    <p:sldId id="313" r:id="rId13"/>
    <p:sldId id="337" r:id="rId14"/>
    <p:sldId id="335" r:id="rId15"/>
    <p:sldId id="264" r:id="rId16"/>
    <p:sldId id="265" r:id="rId17"/>
    <p:sldId id="266" r:id="rId18"/>
    <p:sldId id="267" r:id="rId19"/>
    <p:sldId id="308" r:id="rId20"/>
    <p:sldId id="270" r:id="rId21"/>
    <p:sldId id="314" r:id="rId22"/>
    <p:sldId id="319" r:id="rId23"/>
    <p:sldId id="338" r:id="rId24"/>
    <p:sldId id="315" r:id="rId25"/>
    <p:sldId id="360" r:id="rId26"/>
    <p:sldId id="316" r:id="rId27"/>
    <p:sldId id="349" r:id="rId28"/>
    <p:sldId id="350" r:id="rId29"/>
    <p:sldId id="351" r:id="rId30"/>
    <p:sldId id="352" r:id="rId31"/>
    <p:sldId id="353" r:id="rId32"/>
    <p:sldId id="339" r:id="rId33"/>
    <p:sldId id="274" r:id="rId34"/>
    <p:sldId id="275" r:id="rId35"/>
    <p:sldId id="276" r:id="rId36"/>
    <p:sldId id="320" r:id="rId37"/>
    <p:sldId id="279" r:id="rId38"/>
    <p:sldId id="280" r:id="rId39"/>
    <p:sldId id="281" r:id="rId40"/>
    <p:sldId id="321" r:id="rId41"/>
    <p:sldId id="283" r:id="rId42"/>
    <p:sldId id="284" r:id="rId43"/>
    <p:sldId id="322" r:id="rId44"/>
    <p:sldId id="361" r:id="rId45"/>
    <p:sldId id="323" r:id="rId46"/>
    <p:sldId id="362" r:id="rId47"/>
    <p:sldId id="340" r:id="rId48"/>
    <p:sldId id="324" r:id="rId49"/>
    <p:sldId id="343" r:id="rId50"/>
    <p:sldId id="342" r:id="rId51"/>
    <p:sldId id="289" r:id="rId52"/>
    <p:sldId id="290" r:id="rId53"/>
    <p:sldId id="291" r:id="rId54"/>
    <p:sldId id="292" r:id="rId55"/>
    <p:sldId id="317" r:id="rId56"/>
    <p:sldId id="344" r:id="rId57"/>
    <p:sldId id="345" r:id="rId58"/>
    <p:sldId id="325" r:id="rId59"/>
    <p:sldId id="293" r:id="rId60"/>
    <p:sldId id="326" r:id="rId61"/>
    <p:sldId id="354" r:id="rId62"/>
    <p:sldId id="327" r:id="rId63"/>
    <p:sldId id="346" r:id="rId64"/>
    <p:sldId id="355" r:id="rId65"/>
    <p:sldId id="356" r:id="rId66"/>
    <p:sldId id="328" r:id="rId67"/>
    <p:sldId id="357" r:id="rId68"/>
    <p:sldId id="347" r:id="rId69"/>
    <p:sldId id="358" r:id="rId70"/>
    <p:sldId id="299" r:id="rId71"/>
    <p:sldId id="329" r:id="rId72"/>
    <p:sldId id="300" r:id="rId73"/>
    <p:sldId id="301" r:id="rId74"/>
    <p:sldId id="302" r:id="rId75"/>
    <p:sldId id="303" r:id="rId76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DEEBF7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40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9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5" Type="http://schemas.openxmlformats.org/officeDocument/2006/relationships/image" Target="../media/image4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Relationship Id="rId14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62519123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99192837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8686288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78933199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5536102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34483301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02946125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2002527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3630803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75260195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05363169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t>18.02.26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09132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1.wmf"/><Relationship Id="rId3" Type="http://schemas.openxmlformats.org/officeDocument/2006/relationships/image" Target="../media/image12.e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6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5.wmf"/><Relationship Id="rId26" Type="http://schemas.openxmlformats.org/officeDocument/2006/relationships/image" Target="../media/image39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29" Type="http://schemas.openxmlformats.org/officeDocument/2006/relationships/oleObject" Target="../embeddings/oleObject2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38.wmf"/><Relationship Id="rId32" Type="http://schemas.openxmlformats.org/officeDocument/2006/relationships/image" Target="../media/image42.w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40.wmf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22.bin"/><Relationship Id="rId31" Type="http://schemas.openxmlformats.org/officeDocument/2006/relationships/oleObject" Target="../embeddings/oleObject28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41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8.wmf"/><Relationship Id="rId3" Type="http://schemas.openxmlformats.org/officeDocument/2006/relationships/image" Target="../media/image50.e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34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1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1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1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1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6BEE21-C27F-43BF-A80F-55DA7CE2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97190"/>
            <a:ext cx="9144000" cy="226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3608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5400" y="404664"/>
            <a:ext cx="10873208" cy="347472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3200" dirty="0">
                <a:solidFill>
                  <a:srgbClr val="7030A0"/>
                </a:solidFill>
                <a:latin typeface="Bahnschrift" panose="020B0502040204020203" pitchFamily="34" charset="0"/>
              </a:rPr>
              <a:t>Цель: </a:t>
            </a:r>
            <a:r>
              <a:rPr lang="ru-RU" sz="3200" dirty="0">
                <a:latin typeface="Bahnschrift" panose="020B0502040204020203" pitchFamily="34" charset="0"/>
              </a:rPr>
              <a:t>освоение навыков решения оптимизационных задач комбинаторными методами.</a:t>
            </a:r>
          </a:p>
          <a:p>
            <a:pPr marL="45720" indent="0">
              <a:buNone/>
            </a:pPr>
            <a:endParaRPr lang="ru-RU" sz="3200" dirty="0">
              <a:latin typeface="Bahnschrift" panose="020B0502040204020203" pitchFamily="34" charset="0"/>
            </a:endParaRPr>
          </a:p>
          <a:p>
            <a:pPr marL="45720" indent="0">
              <a:buNone/>
            </a:pPr>
            <a:r>
              <a:rPr lang="ru-RU" sz="3200" dirty="0">
                <a:solidFill>
                  <a:srgbClr val="7030A0"/>
                </a:solidFill>
                <a:latin typeface="Bahnschrift" panose="020B0502040204020203" pitchFamily="34" charset="0"/>
              </a:rPr>
              <a:t>Задачи: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" panose="020B0502040204020203" pitchFamily="34" charset="0"/>
              </a:rPr>
              <a:t>изучение особенностей применения комбинаторных алгоритмов решения оптимизационных задач;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" panose="020B0502040204020203" pitchFamily="34" charset="0"/>
              </a:rPr>
              <a:t>изучение теоретических основ комбинаторных алгоритмов;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" panose="020B0502040204020203" pitchFamily="34" charset="0"/>
              </a:rPr>
              <a:t>практическое применение алгоритмов для решения известных оптимизационных задач на языке программирования С++.</a:t>
            </a:r>
          </a:p>
          <a:p>
            <a:pPr marL="45720" indent="0">
              <a:buNone/>
            </a:pP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386516870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512" y="106491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3" name="Прямоугольник 12"/>
          <p:cNvSpPr/>
          <p:nvPr/>
        </p:nvSpPr>
        <p:spPr>
          <a:xfrm>
            <a:off x="695400" y="1150133"/>
            <a:ext cx="597666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Этот алгоритм является наиболее известным методом построения множества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P</a:t>
            </a:r>
            <a:r>
              <a:rPr lang="en-US" sz="24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всех перестановок конечного множества 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Х.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Алгоритм подразумевает, что все элементы множества 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Х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можно единственным способом перечислить в порядке возрастания. </a:t>
            </a:r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Отметим, что для конечного множества такой порядок всегда можно установить.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Каждый элемент исходного множества </a:t>
            </a:r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Х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помечается специальным символом – стрелкой, которая может быть направлена влево или вправо.</a:t>
            </a:r>
          </a:p>
          <a:p>
            <a:pPr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200" dirty="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 flipV="1">
            <a:off x="4583832" y="4733675"/>
            <a:ext cx="180333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868" b="45401"/>
          <a:stretch/>
        </p:blipFill>
        <p:spPr>
          <a:xfrm>
            <a:off x="8184232" y="158398"/>
            <a:ext cx="3096344" cy="6192688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 flipV="1">
            <a:off x="6888088" y="692696"/>
            <a:ext cx="2304256" cy="482453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6888088" y="2564904"/>
            <a:ext cx="2304256" cy="300423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417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352656" y="229456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123289"/>
              </p:ext>
            </p:extLst>
          </p:nvPr>
        </p:nvGraphicFramePr>
        <p:xfrm>
          <a:off x="1961808" y="2683218"/>
          <a:ext cx="1649915" cy="520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Формула" r:id="rId3" imgW="876300" imgH="279400" progId="Equation.3">
                  <p:embed/>
                </p:oleObj>
              </mc:Choice>
              <mc:Fallback>
                <p:oleObj name="Формула" r:id="rId3" imgW="876300" imgH="2794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08" y="2683218"/>
                        <a:ext cx="1649915" cy="520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335360" y="898114"/>
            <a:ext cx="490281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Первая перестановка в алгоритме Джонсона – Троттера выглядит следующим образом:</a:t>
            </a:r>
          </a:p>
          <a:p>
            <a:pPr algn="just"/>
            <a:endParaRPr lang="ru-RU" sz="22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35360" y="3427002"/>
            <a:ext cx="475252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алгоритме используется понятие мобильного элемента. Элемент  последовательности элементов множества </a:t>
            </a:r>
            <a:r>
              <a:rPr lang="ru-RU" sz="22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мобильным, если соответствующая ему стрелка указывает на меньший соседний элемент. </a:t>
            </a: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 flipV="1">
            <a:off x="4583832" y="4733675"/>
            <a:ext cx="180333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287688" y="5971928"/>
            <a:ext cx="66967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первой перестановке все элементы кроме самого левого являются мобильными.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868" b="62168"/>
          <a:stretch/>
        </p:blipFill>
        <p:spPr>
          <a:xfrm>
            <a:off x="7002919" y="188114"/>
            <a:ext cx="4124196" cy="571537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8112224" y="764704"/>
            <a:ext cx="2420136" cy="695814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3791744" y="1268760"/>
            <a:ext cx="4104456" cy="1584176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9811231" y="764704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9234642" y="1370473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8704452" y="1995766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9811230" y="2596824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8132585" y="3173926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8704451" y="3796888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257257" y="4357199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8704450" y="4925042"/>
            <a:ext cx="721129" cy="714860"/>
          </a:xfrm>
          <a:prstGeom prst="rect">
            <a:avLst/>
          </a:prstGeom>
          <a:solidFill>
            <a:srgbClr val="C5E0B4">
              <a:alpha val="30196"/>
            </a:srgbClr>
          </a:solidFill>
          <a:ln w="5715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651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263352" y="166132"/>
            <a:ext cx="691276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Построение множества всех перестановок с помощью алгоритма Джонсона – Троттера сводится к следующей процедуре:</a:t>
            </a:r>
          </a:p>
          <a:p>
            <a:pPr marL="342900" indent="-342900" algn="just">
              <a:buFont typeface="+mj-lt"/>
              <a:buAutoNum type="arabicPeriod"/>
              <a:tabLst>
                <a:tab pos="540385" algn="l"/>
              </a:tabLst>
            </a:pP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Построить первую перестановку. Первая перестановка – это последовательность всех элементов множества </a:t>
            </a:r>
            <a:r>
              <a:rPr lang="en-US" sz="21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перечисленных в порядке возрастания. Стрелки всех элементов последовательности направлены влево. </a:t>
            </a:r>
          </a:p>
          <a:p>
            <a:pPr marL="342900" indent="-342900" algn="just">
              <a:buFont typeface="+mj-lt"/>
              <a:buAutoNum type="arabicPeriod"/>
              <a:tabLst>
                <a:tab pos="540385" algn="l"/>
              </a:tabLst>
            </a:pP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Найти наибольший мобильный элемент в текущей перестановке. Если в последовательности нет мобильного элемента, то построены все перестановки элементов множества </a:t>
            </a:r>
            <a:r>
              <a:rPr lang="en-US" sz="21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– алгоритм закончил свою работу. </a:t>
            </a:r>
          </a:p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3. Поменять местами наибольший мобильный элемент и элемент, на который указывает стрелка наибольшего мобильного элемента. </a:t>
            </a:r>
          </a:p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4. Найти все элементы, большие, чем наибольший мобильный элемент (если они есть) и изменить их стрелки на противоположное направление. </a:t>
            </a:r>
          </a:p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5. Перейти к пункту 2.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447928" y="19566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868" b="62168"/>
          <a:stretch/>
        </p:blipFill>
        <p:spPr>
          <a:xfrm>
            <a:off x="7536160" y="586265"/>
            <a:ext cx="4124196" cy="571537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8688288" y="1196752"/>
            <a:ext cx="2304256" cy="648072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7176120" y="1628800"/>
            <a:ext cx="1368152" cy="36004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0272464" y="1052736"/>
            <a:ext cx="864096" cy="93610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V="1">
            <a:off x="7176120" y="1988840"/>
            <a:ext cx="2952328" cy="158417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10128448" y="1484784"/>
            <a:ext cx="576064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8688288" y="1844824"/>
            <a:ext cx="2304256" cy="57606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V="1">
            <a:off x="7176120" y="2636912"/>
            <a:ext cx="2232248" cy="194421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104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1" grpId="0" animBg="1"/>
      <p:bldP spid="11" grpId="1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407368" y="1162197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Количество массивов составляет: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122033" y="2015618"/>
                <a:ext cx="337915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ru-RU" sz="3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360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33" y="2015618"/>
                <a:ext cx="3379156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591945" y="4203298"/>
            <a:ext cx="135249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81331"/>
              </p:ext>
            </p:extLst>
          </p:nvPr>
        </p:nvGraphicFramePr>
        <p:xfrm>
          <a:off x="1616366" y="2854564"/>
          <a:ext cx="2442234" cy="682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7" name="Уравнение" r:id="rId4" imgW="761760" imgH="215640" progId="Equation.3">
                  <p:embed/>
                </p:oleObj>
              </mc:Choice>
              <mc:Fallback>
                <p:oleObj name="Уравнение" r:id="rId4" imgW="76176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366" y="2854564"/>
                        <a:ext cx="2442234" cy="6823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443373" y="4203298"/>
            <a:ext cx="54726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Самый правый столбец (обозначен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P</a:t>
            </a:r>
            <a:r>
              <a:rPr lang="en-US" sz="24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 – множество всех перестановок элементов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={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b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}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Перестановки формируются как результат индексации массива </a:t>
            </a:r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X.</a:t>
            </a:r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-1176808" y="194905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574178"/>
              </p:ext>
            </p:extLst>
          </p:nvPr>
        </p:nvGraphicFramePr>
        <p:xfrm>
          <a:off x="6240016" y="0"/>
          <a:ext cx="5184576" cy="6741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8" name="Visio" r:id="rId6" imgW="7453890" imgH="9864306" progId="Visio.Drawing.11">
                  <p:embed/>
                </p:oleObj>
              </mc:Choice>
              <mc:Fallback>
                <p:oleObj name="Visio" r:id="rId6" imgW="7453890" imgH="9864306" progId="Visio.Drawing.11">
                  <p:embed/>
                  <p:pic>
                    <p:nvPicPr>
                      <p:cNvPr id="7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0"/>
                        <a:ext cx="5184576" cy="6741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V="1">
            <a:off x="5735960" y="4365104"/>
            <a:ext cx="4392488" cy="165618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10272464" y="0"/>
            <a:ext cx="1296144" cy="6808722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2236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623392" y="1340768"/>
            <a:ext cx="109452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Генератор реализован в виде структуры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permutation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Структура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имеет один конструктор. С помощью параметра конструктору передается размерность исходного множества.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9336" y="184666"/>
            <a:ext cx="11953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F326B8-55CC-4BCE-B33E-087536134CA9}"/>
              </a:ext>
            </a:extLst>
          </p:cNvPr>
          <p:cNvSpPr/>
          <p:nvPr/>
        </p:nvSpPr>
        <p:spPr>
          <a:xfrm>
            <a:off x="623392" y="3212976"/>
            <a:ext cx="109452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Состояние генератора определяется значениями четырех переменных: </a:t>
            </a:r>
          </a:p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(количество элементов в исходном множестве), </a:t>
            </a:r>
          </a:p>
          <a:p>
            <a:pPr algn="just"/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(указатель на массив индексов), 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dart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(указатель на массив стрелок), </a:t>
            </a:r>
          </a:p>
          <a:p>
            <a:pPr algn="just"/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np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(номер текущей перестановки).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400" b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400" b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804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119336" y="184666"/>
            <a:ext cx="118093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08732" y="1556792"/>
            <a:ext cx="892377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</a:rPr>
              <a:t>struct</a:t>
            </a:r>
            <a:r>
              <a:rPr lang="en-US" sz="2000" dirty="0">
                <a:solidFill>
                  <a:prstClr val="black"/>
                </a:solidFill>
              </a:rPr>
              <a:t>  permutation</a:t>
            </a:r>
            <a:endParaRPr lang="be-BY" sz="2000" dirty="0">
              <a:solidFill>
                <a:srgbClr val="008000"/>
              </a:solidFill>
            </a:endParaRPr>
          </a:p>
          <a:p>
            <a:r>
              <a:rPr lang="be-BY" sz="20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  </a:t>
            </a:r>
            <a:r>
              <a:rPr lang="en-US" sz="2000" dirty="0" err="1">
                <a:solidFill>
                  <a:srgbClr val="0000FF"/>
                </a:solidFill>
              </a:rPr>
              <a:t>const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0000FF"/>
                </a:solidFill>
              </a:rPr>
              <a:t>static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0000FF"/>
                </a:solidFill>
              </a:rPr>
              <a:t>bool</a:t>
            </a:r>
            <a:r>
              <a:rPr lang="en-US" sz="2000" dirty="0">
                <a:solidFill>
                  <a:prstClr val="black"/>
                </a:solidFill>
              </a:rPr>
              <a:t> L = </a:t>
            </a:r>
            <a:r>
              <a:rPr lang="en-US" sz="2000" dirty="0">
                <a:solidFill>
                  <a:srgbClr val="0000FF"/>
                </a:solidFill>
              </a:rPr>
              <a:t>true</a:t>
            </a:r>
            <a:r>
              <a:rPr lang="en-US" sz="2000" dirty="0">
                <a:solidFill>
                  <a:prstClr val="black"/>
                </a:solidFill>
              </a:rPr>
              <a:t>;  </a:t>
            </a:r>
            <a:r>
              <a:rPr lang="en-US" sz="2000" dirty="0">
                <a:solidFill>
                  <a:srgbClr val="008000"/>
                </a:solidFill>
              </a:rPr>
              <a:t>// </a:t>
            </a:r>
            <a:r>
              <a:rPr lang="en-US" sz="2000" dirty="0" err="1">
                <a:solidFill>
                  <a:srgbClr val="008000"/>
                </a:solidFill>
              </a:rPr>
              <a:t>левая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 err="1">
                <a:solidFill>
                  <a:srgbClr val="008000"/>
                </a:solidFill>
              </a:rPr>
              <a:t>стрелка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  </a:t>
            </a:r>
            <a:r>
              <a:rPr lang="en-US" sz="2000" dirty="0" err="1">
                <a:solidFill>
                  <a:srgbClr val="0000FF"/>
                </a:solidFill>
              </a:rPr>
              <a:t>const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0000FF"/>
                </a:solidFill>
              </a:rPr>
              <a:t>static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0000FF"/>
                </a:solidFill>
              </a:rPr>
              <a:t>bool</a:t>
            </a:r>
            <a:r>
              <a:rPr lang="en-US" sz="2000" dirty="0">
                <a:solidFill>
                  <a:prstClr val="black"/>
                </a:solidFill>
              </a:rPr>
              <a:t> R = </a:t>
            </a:r>
            <a:r>
              <a:rPr lang="en-US" sz="2000" dirty="0">
                <a:solidFill>
                  <a:srgbClr val="0000FF"/>
                </a:solidFill>
              </a:rPr>
              <a:t>false</a:t>
            </a:r>
            <a:r>
              <a:rPr lang="en-US" sz="2000" dirty="0">
                <a:solidFill>
                  <a:prstClr val="black"/>
                </a:solidFill>
              </a:rPr>
              <a:t>; </a:t>
            </a:r>
            <a:r>
              <a:rPr lang="en-US" sz="2000" dirty="0">
                <a:solidFill>
                  <a:srgbClr val="008000"/>
                </a:solidFill>
              </a:rPr>
              <a:t>// </a:t>
            </a:r>
            <a:r>
              <a:rPr lang="en-US" sz="2000" dirty="0" err="1">
                <a:solidFill>
                  <a:srgbClr val="008000"/>
                </a:solidFill>
              </a:rPr>
              <a:t>правая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 err="1">
                <a:solidFill>
                  <a:srgbClr val="008000"/>
                </a:solidFill>
              </a:rPr>
              <a:t>стрелка</a:t>
            </a:r>
            <a:r>
              <a:rPr lang="en-US" sz="2000" dirty="0">
                <a:solidFill>
                  <a:srgbClr val="008000"/>
                </a:solidFill>
              </a:rPr>
              <a:t>   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</a:t>
            </a:r>
            <a:r>
              <a:rPr lang="ru-RU" sz="2000" dirty="0" err="1">
                <a:solidFill>
                  <a:srgbClr val="0000FF"/>
                </a:solidFill>
              </a:rPr>
              <a:t>short</a:t>
            </a:r>
            <a:r>
              <a:rPr lang="ru-RU" sz="2000" dirty="0">
                <a:solidFill>
                  <a:prstClr val="black"/>
                </a:solidFill>
              </a:rPr>
              <a:t>  n,              </a:t>
            </a:r>
            <a:r>
              <a:rPr lang="ru-RU" sz="2000" dirty="0">
                <a:solidFill>
                  <a:srgbClr val="008000"/>
                </a:solidFill>
              </a:rPr>
              <a:t>// количество элементов исходного множества 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      *</a:t>
            </a:r>
            <a:r>
              <a:rPr lang="ru-RU" sz="2000" dirty="0" err="1">
                <a:solidFill>
                  <a:prstClr val="black"/>
                </a:solidFill>
              </a:rPr>
              <a:t>sset</a:t>
            </a:r>
            <a:r>
              <a:rPr lang="ru-RU" sz="2000" dirty="0">
                <a:solidFill>
                  <a:prstClr val="black"/>
                </a:solidFill>
              </a:rPr>
              <a:t>;           </a:t>
            </a:r>
            <a:r>
              <a:rPr lang="ru-RU" sz="2000" dirty="0">
                <a:solidFill>
                  <a:srgbClr val="008000"/>
                </a:solidFill>
              </a:rPr>
              <a:t>// массив индексов текущей перестановки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</a:t>
            </a:r>
            <a:r>
              <a:rPr lang="ru-RU" sz="2000" dirty="0" err="1">
                <a:solidFill>
                  <a:srgbClr val="0000FF"/>
                </a:solidFill>
              </a:rPr>
              <a:t>bool</a:t>
            </a:r>
            <a:r>
              <a:rPr lang="ru-RU" sz="2000" dirty="0">
                <a:solidFill>
                  <a:prstClr val="black"/>
                </a:solidFill>
              </a:rPr>
              <a:t>  *</a:t>
            </a:r>
            <a:r>
              <a:rPr lang="ru-RU" sz="2000" dirty="0" err="1">
                <a:solidFill>
                  <a:prstClr val="black"/>
                </a:solidFill>
              </a:rPr>
              <a:t>dart</a:t>
            </a:r>
            <a:r>
              <a:rPr lang="ru-RU" sz="2000" dirty="0">
                <a:solidFill>
                  <a:prstClr val="black"/>
                </a:solidFill>
              </a:rPr>
              <a:t>;           </a:t>
            </a:r>
            <a:r>
              <a:rPr lang="ru-RU" sz="2000" dirty="0">
                <a:solidFill>
                  <a:srgbClr val="008000"/>
                </a:solidFill>
              </a:rPr>
              <a:t>// массив  стрелок (левых-L и правых-R) 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</a:t>
            </a:r>
            <a:r>
              <a:rPr lang="ru-RU" sz="2000" dirty="0" err="1">
                <a:solidFill>
                  <a:prstClr val="black"/>
                </a:solidFill>
              </a:rPr>
              <a:t>permutation</a:t>
            </a:r>
            <a:r>
              <a:rPr lang="ru-RU" sz="2000" dirty="0">
                <a:solidFill>
                  <a:prstClr val="black"/>
                </a:solidFill>
              </a:rPr>
              <a:t> (</a:t>
            </a:r>
            <a:r>
              <a:rPr lang="ru-RU" sz="2000" dirty="0" err="1">
                <a:solidFill>
                  <a:srgbClr val="0000FF"/>
                </a:solidFill>
              </a:rPr>
              <a:t>short</a:t>
            </a:r>
            <a:r>
              <a:rPr lang="ru-RU" sz="2000" dirty="0">
                <a:solidFill>
                  <a:prstClr val="black"/>
                </a:solidFill>
              </a:rPr>
              <a:t> n = 1); </a:t>
            </a:r>
          </a:p>
          <a:p>
            <a:r>
              <a:rPr lang="ru-RU" sz="2000" dirty="0" err="1">
                <a:solidFill>
                  <a:srgbClr val="0000FF"/>
                </a:solidFill>
              </a:rPr>
              <a:t>void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reset</a:t>
            </a:r>
            <a:r>
              <a:rPr lang="ru-RU" sz="2000" dirty="0">
                <a:solidFill>
                  <a:prstClr val="black"/>
                </a:solidFill>
              </a:rPr>
              <a:t>();                </a:t>
            </a:r>
            <a:r>
              <a:rPr lang="ru-RU" sz="2000" dirty="0">
                <a:solidFill>
                  <a:srgbClr val="008000"/>
                </a:solidFill>
              </a:rPr>
              <a:t>// сбросить генератор, начать сначала </a:t>
            </a:r>
          </a:p>
          <a:p>
            <a:r>
              <a:rPr lang="ru-RU" sz="2000" dirty="0">
                <a:solidFill>
                  <a:srgbClr val="0000FF"/>
                </a:solidFill>
              </a:rPr>
              <a:t>__int64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getfirst</a:t>
            </a:r>
            <a:r>
              <a:rPr lang="ru-RU" sz="2000" dirty="0">
                <a:solidFill>
                  <a:prstClr val="black"/>
                </a:solidFill>
              </a:rPr>
              <a:t>();          </a:t>
            </a:r>
            <a:r>
              <a:rPr lang="ru-RU" sz="2000" dirty="0">
                <a:solidFill>
                  <a:srgbClr val="008000"/>
                </a:solidFill>
              </a:rPr>
              <a:t>// сформировать первый массив индексов    </a:t>
            </a:r>
          </a:p>
          <a:p>
            <a:r>
              <a:rPr lang="ru-RU" sz="2000" dirty="0">
                <a:solidFill>
                  <a:srgbClr val="0000FF"/>
                </a:solidFill>
              </a:rPr>
              <a:t>__int64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getnext</a:t>
            </a:r>
            <a:r>
              <a:rPr lang="ru-RU" sz="2000" dirty="0">
                <a:solidFill>
                  <a:prstClr val="black"/>
                </a:solidFill>
              </a:rPr>
              <a:t>();           </a:t>
            </a:r>
            <a:r>
              <a:rPr lang="ru-RU" sz="2000" dirty="0">
                <a:solidFill>
                  <a:srgbClr val="008000"/>
                </a:solidFill>
              </a:rPr>
              <a:t>// сформировать случайный массив индексов  </a:t>
            </a:r>
          </a:p>
          <a:p>
            <a:r>
              <a:rPr lang="ru-RU" sz="2000" dirty="0" err="1">
                <a:solidFill>
                  <a:srgbClr val="0000FF"/>
                </a:solidFill>
              </a:rPr>
              <a:t>short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ntx</a:t>
            </a:r>
            <a:r>
              <a:rPr lang="ru-RU" sz="2000" dirty="0">
                <a:solidFill>
                  <a:prstClr val="black"/>
                </a:solidFill>
              </a:rPr>
              <a:t>(</a:t>
            </a:r>
            <a:r>
              <a:rPr lang="ru-RU" sz="2000" dirty="0" err="1">
                <a:solidFill>
                  <a:srgbClr val="0000FF"/>
                </a:solidFill>
              </a:rPr>
              <a:t>short</a:t>
            </a:r>
            <a:r>
              <a:rPr lang="ru-RU" sz="2000" dirty="0">
                <a:solidFill>
                  <a:prstClr val="black"/>
                </a:solidFill>
              </a:rPr>
              <a:t> i);          </a:t>
            </a:r>
            <a:r>
              <a:rPr lang="ru-RU" sz="2000" dirty="0">
                <a:solidFill>
                  <a:srgbClr val="008000"/>
                </a:solidFill>
              </a:rPr>
              <a:t>// получить i-й элемент </a:t>
            </a:r>
            <a:r>
              <a:rPr lang="ru-RU" sz="2000" dirty="0" err="1">
                <a:solidFill>
                  <a:srgbClr val="008000"/>
                </a:solidFill>
              </a:rPr>
              <a:t>масива</a:t>
            </a:r>
            <a:r>
              <a:rPr lang="ru-RU" sz="2000" dirty="0">
                <a:solidFill>
                  <a:srgbClr val="008000"/>
                </a:solidFill>
              </a:rPr>
              <a:t> индексов </a:t>
            </a:r>
          </a:p>
          <a:p>
            <a:r>
              <a:rPr lang="en-US" sz="2000" dirty="0">
                <a:solidFill>
                  <a:srgbClr val="0000FF"/>
                </a:solidFill>
              </a:rPr>
              <a:t>unsigned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0000FF"/>
                </a:solidFill>
              </a:rPr>
              <a:t>__int64</a:t>
            </a:r>
            <a:r>
              <a:rPr lang="en-US" sz="2000" dirty="0">
                <a:solidFill>
                  <a:prstClr val="black"/>
                </a:solidFill>
              </a:rPr>
              <a:t> np;         </a:t>
            </a:r>
            <a:r>
              <a:rPr lang="en-US" sz="2000" dirty="0">
                <a:solidFill>
                  <a:srgbClr val="008000"/>
                </a:solidFill>
              </a:rPr>
              <a:t>// </a:t>
            </a:r>
            <a:r>
              <a:rPr lang="be-BY" sz="2000" dirty="0">
                <a:solidFill>
                  <a:srgbClr val="008000"/>
                </a:solidFill>
              </a:rPr>
              <a:t>номер перествновки 0,... </a:t>
            </a:r>
            <a:r>
              <a:rPr lang="en-US" sz="2000" dirty="0">
                <a:solidFill>
                  <a:srgbClr val="008000"/>
                </a:solidFill>
              </a:rPr>
              <a:t>count()-1 </a:t>
            </a:r>
          </a:p>
          <a:p>
            <a:r>
              <a:rPr lang="ru-RU" sz="2000" dirty="0" err="1">
                <a:solidFill>
                  <a:srgbClr val="0000FF"/>
                </a:solidFill>
              </a:rPr>
              <a:t>unsigned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__int64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count</a:t>
            </a:r>
            <a:r>
              <a:rPr lang="ru-RU" sz="2000" dirty="0">
                <a:solidFill>
                  <a:prstClr val="black"/>
                </a:solidFill>
              </a:rPr>
              <a:t>() </a:t>
            </a:r>
            <a:r>
              <a:rPr lang="ru-RU" sz="2000" dirty="0" err="1">
                <a:solidFill>
                  <a:srgbClr val="0000FF"/>
                </a:solidFill>
              </a:rPr>
              <a:t>const</a:t>
            </a:r>
            <a:r>
              <a:rPr lang="ru-RU" sz="2000" dirty="0">
                <a:solidFill>
                  <a:prstClr val="black"/>
                </a:solidFill>
              </a:rPr>
              <a:t>;  </a:t>
            </a:r>
            <a:r>
              <a:rPr lang="ru-RU" sz="2000" dirty="0">
                <a:solidFill>
                  <a:srgbClr val="008000"/>
                </a:solidFill>
              </a:rPr>
              <a:t>// вычислить общее кол. перестановок    </a:t>
            </a:r>
          </a:p>
          <a:p>
            <a:r>
              <a:rPr lang="be-BY" dirty="0">
                <a:solidFill>
                  <a:prstClr val="black"/>
                </a:solidFill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87951790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695400" y="973585"/>
            <a:ext cx="107084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b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Все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переменные инициализируются в конструкторе. Значение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np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увеличивается на единицу после генерации очередной перестановки, значение остальных переменных остается неизменным.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429248" y="218489"/>
            <a:ext cx="52407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737272" y="2882842"/>
            <a:ext cx="6624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 permutation::permutation(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n)          </a:t>
            </a:r>
          </a:p>
          <a:p>
            <a:r>
              <a:rPr lang="be-BY" sz="3200" dirty="0">
                <a:solidFill>
                  <a:prstClr val="black"/>
                </a:solidFill>
              </a:rPr>
              <a:t>  {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 = n;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sset</a:t>
            </a:r>
            <a:r>
              <a:rPr lang="en-US" sz="3200" dirty="0">
                <a:solidFill>
                  <a:prstClr val="black"/>
                </a:solidFill>
              </a:rPr>
              <a:t> = </a:t>
            </a:r>
            <a:r>
              <a:rPr lang="en-US" sz="3200" dirty="0">
                <a:solidFill>
                  <a:srgbClr val="0000FF"/>
                </a:solidFill>
              </a:rPr>
              <a:t>new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[n];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-&gt;dart = </a:t>
            </a:r>
            <a:r>
              <a:rPr lang="en-US" sz="3200" dirty="0">
                <a:solidFill>
                  <a:srgbClr val="0000FF"/>
                </a:solidFill>
              </a:rPr>
              <a:t>new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bool</a:t>
            </a:r>
            <a:r>
              <a:rPr lang="en-US" sz="3200" dirty="0">
                <a:solidFill>
                  <a:prstClr val="black"/>
                </a:solidFill>
              </a:rPr>
              <a:t>[n];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-&gt;reset();  </a:t>
            </a:r>
          </a:p>
          <a:p>
            <a:r>
              <a:rPr lang="be-BY" sz="3200" dirty="0">
                <a:solidFill>
                  <a:prstClr val="black"/>
                </a:solidFill>
              </a:rPr>
              <a:t>  }; </a:t>
            </a:r>
          </a:p>
        </p:txBody>
      </p:sp>
    </p:spTree>
    <p:extLst>
      <p:ext uri="{BB962C8B-B14F-4D97-AF65-F5344CB8AC3E}">
        <p14:creationId xmlns:p14="http://schemas.microsoft.com/office/powerpoint/2010/main" val="42498909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407368" y="1196752"/>
            <a:ext cx="4824536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Элементы массивов 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и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dart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меняются при каждом цикле работы генератора в соответствии с алгоритмом Джонсона –Троттера. </a:t>
            </a: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 имеет параметров и предназначена для формирования первой перестановки, которая представляет собой упорядоченную последовательность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неотрицательных целых чисел.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en-US" sz="23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951984" y="1225689"/>
            <a:ext cx="60239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>
              <a:solidFill>
                <a:prstClr val="black"/>
              </a:solidFill>
            </a:endParaRPr>
          </a:p>
          <a:p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__int64</a:t>
            </a:r>
            <a:r>
              <a:rPr lang="en-US" sz="3200" dirty="0">
                <a:solidFill>
                  <a:prstClr val="black"/>
                </a:solidFill>
              </a:rPr>
              <a:t>  permutation::</a:t>
            </a:r>
            <a:r>
              <a:rPr lang="en-US" sz="3200" dirty="0" err="1">
                <a:solidFill>
                  <a:prstClr val="black"/>
                </a:solidFill>
              </a:rPr>
              <a:t>getfirst</a:t>
            </a:r>
            <a:r>
              <a:rPr lang="en-US" sz="3200" dirty="0">
                <a:solidFill>
                  <a:prstClr val="black"/>
                </a:solidFill>
              </a:rPr>
              <a:t>()    </a:t>
            </a:r>
          </a:p>
          <a:p>
            <a:r>
              <a:rPr lang="be-BY" sz="3200" dirty="0">
                <a:solidFill>
                  <a:prstClr val="black"/>
                </a:solidFill>
              </a:rPr>
              <a:t>  {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-&gt;np = 0;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//#p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</a:t>
            </a:r>
            <a:r>
              <a:rPr lang="en-US" sz="3200" dirty="0">
                <a:solidFill>
                  <a:srgbClr val="0000FF"/>
                </a:solidFill>
              </a:rPr>
              <a:t>for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= 0;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&lt;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++)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      {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sset</a:t>
            </a:r>
            <a:r>
              <a:rPr lang="en-US" sz="3200" dirty="0">
                <a:solidFill>
                  <a:prstClr val="black"/>
                </a:solidFill>
              </a:rPr>
              <a:t>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 =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; </a:t>
            </a:r>
            <a:r>
              <a:rPr lang="en-US" sz="3200" dirty="0">
                <a:solidFill>
                  <a:srgbClr val="00B050"/>
                </a:solidFill>
              </a:rPr>
              <a:t>//</a:t>
            </a:r>
            <a:r>
              <a:rPr lang="ru-RU" sz="3200" dirty="0">
                <a:solidFill>
                  <a:srgbClr val="00B050"/>
                </a:solidFill>
              </a:rPr>
              <a:t>индексы</a:t>
            </a:r>
            <a:endParaRPr lang="en-US" sz="3200" dirty="0">
              <a:solidFill>
                <a:prstClr val="black"/>
              </a:solidFill>
            </a:endParaRPr>
          </a:p>
          <a:p>
            <a:r>
              <a:rPr lang="en-US" sz="3200" dirty="0">
                <a:solidFill>
                  <a:srgbClr val="0000FF"/>
                </a:solidFill>
              </a:rPr>
              <a:t>	this</a:t>
            </a:r>
            <a:r>
              <a:rPr lang="en-US" sz="3200" dirty="0">
                <a:solidFill>
                  <a:prstClr val="black"/>
                </a:solidFill>
              </a:rPr>
              <a:t>-&gt;dart[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 = L;};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//</a:t>
            </a:r>
            <a:r>
              <a:rPr lang="ru-RU" sz="3200" dirty="0">
                <a:solidFill>
                  <a:srgbClr val="00B050"/>
                </a:solidFill>
              </a:rPr>
              <a:t>стрелки</a:t>
            </a:r>
            <a:endParaRPr lang="en-US" sz="3200" dirty="0">
              <a:solidFill>
                <a:prstClr val="black"/>
              </a:solidFill>
            </a:endParaRPr>
          </a:p>
          <a:p>
            <a:r>
              <a:rPr lang="en-US" sz="3200" dirty="0">
                <a:solidFill>
                  <a:prstClr val="black"/>
                </a:solidFill>
              </a:rPr>
              <a:t>    </a:t>
            </a:r>
            <a:r>
              <a:rPr lang="en-US" sz="3200" dirty="0">
                <a:solidFill>
                  <a:srgbClr val="0000FF"/>
                </a:solidFill>
              </a:rPr>
              <a:t>return</a:t>
            </a:r>
            <a:r>
              <a:rPr lang="en-US" sz="3200" dirty="0">
                <a:solidFill>
                  <a:prstClr val="black"/>
                </a:solidFill>
              </a:rPr>
              <a:t>  (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 &gt; 0)?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-&gt;np:-1;</a:t>
            </a:r>
            <a:r>
              <a:rPr lang="be-BY" sz="3200" dirty="0">
                <a:solidFill>
                  <a:prstClr val="black"/>
                </a:solidFill>
              </a:rPr>
              <a:t>  };</a:t>
            </a:r>
            <a:endParaRPr lang="be-BY" sz="3200" dirty="0"/>
          </a:p>
        </p:txBody>
      </p:sp>
    </p:spTree>
    <p:extLst>
      <p:ext uri="{BB962C8B-B14F-4D97-AF65-F5344CB8AC3E}">
        <p14:creationId xmlns:p14="http://schemas.microsoft.com/office/powerpoint/2010/main" val="38427889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497124" y="1034159"/>
            <a:ext cx="11161240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3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reset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позволяет сбросить текущее состояние генератора для того, чтобы начать его работу сначала. Работа функции сводится к вызову функции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Функция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reset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реализована главным образом для унификации интерфейсов всех генераторов.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861556" y="4089470"/>
            <a:ext cx="64323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</a:rPr>
              <a:t> </a:t>
            </a:r>
            <a:r>
              <a:rPr lang="en-US" sz="4400" dirty="0">
                <a:solidFill>
                  <a:srgbClr val="0000FF"/>
                </a:solidFill>
              </a:rPr>
              <a:t>void</a:t>
            </a:r>
            <a:r>
              <a:rPr lang="en-US" sz="4400" dirty="0">
                <a:solidFill>
                  <a:prstClr val="black"/>
                </a:solidFill>
              </a:rPr>
              <a:t>  permutation::reset()   </a:t>
            </a:r>
          </a:p>
          <a:p>
            <a:r>
              <a:rPr lang="en-US" sz="4400" dirty="0">
                <a:solidFill>
                  <a:prstClr val="black"/>
                </a:solidFill>
              </a:rPr>
              <a:t>  {  </a:t>
            </a:r>
            <a:r>
              <a:rPr lang="en-US" sz="4400" dirty="0">
                <a:solidFill>
                  <a:srgbClr val="0000FF"/>
                </a:solidFill>
              </a:rPr>
              <a:t>this</a:t>
            </a:r>
            <a:r>
              <a:rPr lang="en-US" sz="4400" dirty="0">
                <a:solidFill>
                  <a:prstClr val="black"/>
                </a:solidFill>
              </a:rPr>
              <a:t>-&gt;</a:t>
            </a:r>
            <a:r>
              <a:rPr lang="en-US" sz="4400" dirty="0" err="1">
                <a:solidFill>
                  <a:prstClr val="black"/>
                </a:solidFill>
              </a:rPr>
              <a:t>getfirst</a:t>
            </a:r>
            <a:r>
              <a:rPr lang="en-US" sz="4400" dirty="0">
                <a:solidFill>
                  <a:prstClr val="black"/>
                </a:solidFill>
              </a:rPr>
              <a:t>(); }; </a:t>
            </a:r>
            <a:endParaRPr lang="ru-RU" sz="4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92386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Прямоугольник 7"/>
          <p:cNvSpPr/>
          <p:nvPr/>
        </p:nvSpPr>
        <p:spPr>
          <a:xfrm>
            <a:off x="479376" y="1615810"/>
            <a:ext cx="49685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getnext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формирует массив индексов следующей перестановки и увеличивает значение переменной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np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на единицу. При каждом вызове функции в массиве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отыскивается максимальный мобильный элемент и элемент, на который указывает его стрелка, эти элементы меняются местами.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-1248816" y="184666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663952" y="764704"/>
            <a:ext cx="64087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 permutation::</a:t>
            </a:r>
            <a:r>
              <a:rPr lang="en-US" sz="2400" dirty="0" err="1">
                <a:solidFill>
                  <a:prstClr val="black"/>
                </a:solidFill>
              </a:rPr>
              <a:t>getnext</a:t>
            </a:r>
            <a:r>
              <a:rPr lang="en-US" sz="2400" dirty="0">
                <a:solidFill>
                  <a:prstClr val="black"/>
                </a:solidFill>
              </a:rPr>
              <a:t>() 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- 1;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maxm</a:t>
            </a:r>
            <a:r>
              <a:rPr lang="en-US" sz="2400" dirty="0">
                <a:solidFill>
                  <a:prstClr val="black"/>
                </a:solidFill>
              </a:rPr>
              <a:t> = NINF, </a:t>
            </a:r>
            <a:r>
              <a:rPr lang="en-US" sz="2400" dirty="0" err="1">
                <a:solidFill>
                  <a:prstClr val="black"/>
                </a:solidFill>
              </a:rPr>
              <a:t>idx</a:t>
            </a:r>
            <a:r>
              <a:rPr lang="en-US" sz="2400" dirty="0">
                <a:solidFill>
                  <a:prstClr val="black"/>
                </a:solidFill>
              </a:rPr>
              <a:t> = -1;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>
                <a:solidFill>
                  <a:srgbClr val="0000FF"/>
                </a:solidFill>
              </a:rPr>
              <a:t>for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0;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&lt;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-&gt;n;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++)</a:t>
            </a:r>
            <a:r>
              <a:rPr lang="be-BY" sz="2400" dirty="0">
                <a:solidFill>
                  <a:prstClr val="black"/>
                </a:solidFill>
              </a:rPr>
              <a:t>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&gt; 0 &amp;&amp;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-&gt;dart[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 == L &amp;&amp;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 &gt;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[i-1] &amp;&amp;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 err="1">
                <a:solidFill>
                  <a:prstClr val="black"/>
                </a:solidFill>
              </a:rPr>
              <a:t>maxm</a:t>
            </a:r>
            <a:r>
              <a:rPr lang="en-US" sz="2400" dirty="0">
                <a:solidFill>
                  <a:prstClr val="black"/>
                </a:solidFill>
              </a:rPr>
              <a:t> &lt;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])  </a:t>
            </a:r>
            <a:endParaRPr lang="ru-RU" sz="2400" dirty="0">
              <a:solidFill>
                <a:prstClr val="black"/>
              </a:solidFill>
            </a:endParaRPr>
          </a:p>
          <a:p>
            <a:r>
              <a:rPr lang="en-US" sz="2400" dirty="0" err="1">
                <a:solidFill>
                  <a:prstClr val="black"/>
                </a:solidFill>
              </a:rPr>
              <a:t>maxm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idx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];</a:t>
            </a:r>
            <a:endParaRPr lang="ru-RU" sz="2400" dirty="0">
              <a:solidFill>
                <a:prstClr val="black"/>
              </a:solidFill>
            </a:endParaRP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   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&lt; (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-&gt;n-1)&amp;&amp;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-&gt;dart[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 == R &amp;&amp;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 &gt;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[i+1]&amp;&amp;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        </a:t>
            </a:r>
            <a:r>
              <a:rPr lang="en-US" sz="2400" dirty="0" err="1">
                <a:solidFill>
                  <a:prstClr val="black"/>
                </a:solidFill>
              </a:rPr>
              <a:t>maxm</a:t>
            </a:r>
            <a:r>
              <a:rPr lang="en-US" sz="2400" dirty="0">
                <a:solidFill>
                  <a:prstClr val="black"/>
                </a:solidFill>
              </a:rPr>
              <a:t> &lt;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])  </a:t>
            </a:r>
            <a:r>
              <a:rPr lang="en-US" sz="2400" dirty="0" err="1">
                <a:solidFill>
                  <a:prstClr val="black"/>
                </a:solidFill>
              </a:rPr>
              <a:t>maxm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idx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]; 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89165866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Прямоугольник 7"/>
          <p:cNvSpPr/>
          <p:nvPr/>
        </p:nvSpPr>
        <p:spPr>
          <a:xfrm>
            <a:off x="973448" y="1196752"/>
            <a:ext cx="10153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Если существуют элементы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большие, чем найденный мобильный, то соответствующие им стрелки инвертируются.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23592" y="2214254"/>
            <a:ext cx="859497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prstClr val="black"/>
                </a:solidFill>
              </a:rPr>
              <a:t> (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  &gt;= 0)</a:t>
            </a:r>
          </a:p>
          <a:p>
            <a:r>
              <a:rPr lang="be-BY" sz="2800" dirty="0">
                <a:solidFill>
                  <a:prstClr val="black"/>
                </a:solidFill>
              </a:rPr>
              <a:t>{ 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std</a:t>
            </a:r>
            <a:r>
              <a:rPr lang="en-US" sz="2800" dirty="0">
                <a:solidFill>
                  <a:prstClr val="black"/>
                </a:solidFill>
              </a:rPr>
              <a:t>::swap(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sset</a:t>
            </a:r>
            <a:r>
              <a:rPr lang="en-US" sz="2800" dirty="0">
                <a:solidFill>
                  <a:prstClr val="black"/>
                </a:solidFill>
              </a:rPr>
              <a:t>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],</a:t>
            </a:r>
          </a:p>
          <a:p>
            <a:r>
              <a:rPr lang="ru-RU" sz="2800" dirty="0">
                <a:solidFill>
                  <a:srgbClr val="0000FF"/>
                </a:solidFill>
              </a:rPr>
              <a:t>   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sset</a:t>
            </a:r>
            <a:r>
              <a:rPr lang="en-US" sz="2800" dirty="0">
                <a:solidFill>
                  <a:prstClr val="black"/>
                </a:solidFill>
              </a:rPr>
              <a:t>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+(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]== L?-1:1)]); </a:t>
            </a:r>
          </a:p>
          <a:p>
            <a:pPr lvl="2"/>
            <a:r>
              <a:rPr lang="en-US" sz="2800" dirty="0" err="1">
                <a:solidFill>
                  <a:prstClr val="black"/>
                </a:solidFill>
              </a:rPr>
              <a:t>std</a:t>
            </a:r>
            <a:r>
              <a:rPr lang="en-US" sz="2800" dirty="0">
                <a:solidFill>
                  <a:prstClr val="black"/>
                </a:solidFill>
              </a:rPr>
              <a:t>::swap(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],</a:t>
            </a:r>
          </a:p>
          <a:p>
            <a:r>
              <a:rPr lang="ru-RU" sz="2800" dirty="0">
                <a:solidFill>
                  <a:srgbClr val="0000FF"/>
                </a:solidFill>
              </a:rPr>
              <a:t>	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+(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idx</a:t>
            </a:r>
            <a:r>
              <a:rPr lang="en-US" sz="2800" dirty="0">
                <a:solidFill>
                  <a:prstClr val="black"/>
                </a:solidFill>
              </a:rPr>
              <a:t>]== L?-1:1)]); </a:t>
            </a:r>
            <a:endParaRPr lang="ru-RU" sz="2800" dirty="0">
              <a:solidFill>
                <a:prstClr val="black"/>
              </a:solidFill>
            </a:endParaRPr>
          </a:p>
          <a:p>
            <a:endParaRPr lang="en-US" sz="2800" dirty="0">
              <a:solidFill>
                <a:prstClr val="black"/>
              </a:solidFill>
            </a:endParaRPr>
          </a:p>
          <a:p>
            <a:r>
              <a:rPr lang="en-US" sz="2800" dirty="0">
                <a:solidFill>
                  <a:srgbClr val="0000FF"/>
                </a:solidFill>
              </a:rPr>
              <a:t>for</a:t>
            </a:r>
            <a:r>
              <a:rPr lang="en-US" sz="2800" dirty="0">
                <a:solidFill>
                  <a:prstClr val="black"/>
                </a:solidFill>
              </a:rPr>
              <a:t> (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 = 0; 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 &lt;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-&gt;n; 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++)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  </a:t>
            </a:r>
            <a:r>
              <a:rPr lang="en-US" sz="2800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prstClr val="black"/>
                </a:solidFill>
              </a:rPr>
              <a:t> 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sset</a:t>
            </a:r>
            <a:r>
              <a:rPr lang="en-US" sz="2800" dirty="0">
                <a:solidFill>
                  <a:prstClr val="black"/>
                </a:solidFill>
              </a:rPr>
              <a:t>[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] &gt; </a:t>
            </a:r>
            <a:r>
              <a:rPr lang="en-US" sz="2800" dirty="0" err="1">
                <a:solidFill>
                  <a:prstClr val="black"/>
                </a:solidFill>
              </a:rPr>
              <a:t>maxm</a:t>
            </a:r>
            <a:r>
              <a:rPr lang="en-US" sz="2800" dirty="0">
                <a:solidFill>
                  <a:prstClr val="black"/>
                </a:solidFill>
              </a:rPr>
              <a:t>)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] = !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-&gt;dart[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];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++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-&gt;np;</a:t>
            </a:r>
            <a:r>
              <a:rPr lang="be-BY" sz="2800" dirty="0">
                <a:solidFill>
                  <a:prstClr val="black"/>
                </a:solidFill>
              </a:rPr>
              <a:t>}     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 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  <a:r>
              <a:rPr lang="be-BY" sz="2800" dirty="0">
                <a:solidFill>
                  <a:prstClr val="black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3485343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695400" y="1340768"/>
            <a:ext cx="1080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ntx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возвращает значение элемента массива индексов по индексу этого элемента и служит для сокращения записи при переборе элементов массива.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B050"/>
                </a:solidFill>
                <a:latin typeface="Bahnschrift" panose="020B0502040204020203" pitchFamily="34" charset="0"/>
              </a:rPr>
              <a:t>Генерация перестановок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A</a:t>
            </a:r>
            <a:r>
              <a:rPr lang="be-BY" sz="2400" b="1" dirty="0">
                <a:solidFill>
                  <a:srgbClr val="00B050"/>
                </a:solidFill>
                <a:latin typeface="Bahnschrift" panose="020B0502040204020203" pitchFamily="34" charset="0"/>
              </a:rPr>
              <a:t>лгоритм Джонсона – Троттера</a:t>
            </a:r>
            <a:r>
              <a:rPr lang="ru-RU" sz="2400" b="1" dirty="0"/>
              <a:t> </a:t>
            </a:r>
            <a:endParaRPr lang="be-BY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811618" y="2832321"/>
            <a:ext cx="9070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permutation::</a:t>
            </a:r>
            <a:r>
              <a:rPr lang="en-US" sz="3200" dirty="0" err="1">
                <a:solidFill>
                  <a:prstClr val="black"/>
                </a:solidFill>
              </a:rPr>
              <a:t>ntx</a:t>
            </a:r>
            <a:r>
              <a:rPr lang="en-US" sz="3200" dirty="0">
                <a:solidFill>
                  <a:prstClr val="black"/>
                </a:solidFill>
              </a:rPr>
              <a:t>(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){</a:t>
            </a:r>
            <a:r>
              <a:rPr lang="en-US" sz="3200" dirty="0">
                <a:solidFill>
                  <a:srgbClr val="0000FF"/>
                </a:solidFill>
              </a:rPr>
              <a:t>return</a:t>
            </a:r>
            <a:r>
              <a:rPr lang="en-US" sz="3200" dirty="0">
                <a:solidFill>
                  <a:prstClr val="black"/>
                </a:solidFill>
              </a:rPr>
              <a:t>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sset</a:t>
            </a:r>
            <a:r>
              <a:rPr lang="en-US" sz="3200" dirty="0">
                <a:solidFill>
                  <a:prstClr val="black"/>
                </a:solidFill>
              </a:rPr>
              <a:t>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];};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24001" y="5229200"/>
            <a:ext cx="93578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unsigned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__int64</a:t>
            </a:r>
            <a:r>
              <a:rPr lang="en-US" sz="3200" dirty="0">
                <a:solidFill>
                  <a:prstClr val="black"/>
                </a:solidFill>
              </a:rPr>
              <a:t> permutation::count() </a:t>
            </a:r>
            <a:r>
              <a:rPr lang="en-US" sz="3200" dirty="0" err="1">
                <a:solidFill>
                  <a:srgbClr val="0000FF"/>
                </a:solidFill>
              </a:rPr>
              <a:t>const</a:t>
            </a:r>
            <a:r>
              <a:rPr lang="en-US" sz="3200" dirty="0">
                <a:solidFill>
                  <a:prstClr val="black"/>
                </a:solidFill>
              </a:rPr>
              <a:t>  {</a:t>
            </a:r>
            <a:r>
              <a:rPr lang="en-US" sz="3200" dirty="0">
                <a:solidFill>
                  <a:srgbClr val="0000FF"/>
                </a:solidFill>
              </a:rPr>
              <a:t>return</a:t>
            </a:r>
            <a:r>
              <a:rPr lang="en-US" sz="3200" dirty="0">
                <a:solidFill>
                  <a:prstClr val="black"/>
                </a:solidFill>
              </a:rPr>
              <a:t> fact(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-&gt;n); };</a:t>
            </a:r>
            <a:endParaRPr lang="be-BY" sz="32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73944" y="3974190"/>
            <a:ext cx="106571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count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вычисляет и возвращает общее количество перестановок  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элементов множества. </a:t>
            </a:r>
          </a:p>
        </p:txBody>
      </p:sp>
    </p:spTree>
    <p:extLst>
      <p:ext uri="{BB962C8B-B14F-4D97-AF65-F5344CB8AC3E}">
        <p14:creationId xmlns:p14="http://schemas.microsoft.com/office/powerpoint/2010/main" val="23595424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77244" y="188641"/>
            <a:ext cx="878497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</a:rPr>
              <a:t>// --- Main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stdafx.h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&lt;</a:t>
            </a:r>
            <a:r>
              <a:rPr lang="en-US" sz="2400" dirty="0" err="1">
                <a:solidFill>
                  <a:srgbClr val="A31515"/>
                </a:solidFill>
              </a:rPr>
              <a:t>iostream</a:t>
            </a:r>
            <a:r>
              <a:rPr lang="en-US" sz="2400" dirty="0">
                <a:solidFill>
                  <a:srgbClr val="A31515"/>
                </a:solidFill>
              </a:rPr>
              <a:t>&gt;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Combi.h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&lt;</a:t>
            </a:r>
            <a:r>
              <a:rPr lang="en-US" sz="2400" dirty="0" err="1">
                <a:solidFill>
                  <a:srgbClr val="A31515"/>
                </a:solidFill>
              </a:rPr>
              <a:t>iomanip</a:t>
            </a:r>
            <a:r>
              <a:rPr lang="en-US" sz="2400" dirty="0">
                <a:solidFill>
                  <a:srgbClr val="A31515"/>
                </a:solidFill>
              </a:rPr>
              <a:t>&gt;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_</a:t>
            </a:r>
            <a:r>
              <a:rPr lang="en-US" sz="2400" dirty="0" err="1">
                <a:solidFill>
                  <a:prstClr val="black"/>
                </a:solidFill>
              </a:rPr>
              <a:t>tmain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argc</a:t>
            </a:r>
            <a:r>
              <a:rPr lang="en-US" sz="2400" dirty="0">
                <a:solidFill>
                  <a:prstClr val="black"/>
                </a:solidFill>
              </a:rPr>
              <a:t>, _TCHAR* </a:t>
            </a:r>
            <a:r>
              <a:rPr lang="en-US" sz="2400" dirty="0" err="1">
                <a:solidFill>
                  <a:prstClr val="black"/>
                </a:solidFill>
              </a:rPr>
              <a:t>argv</a:t>
            </a:r>
            <a:r>
              <a:rPr lang="en-US" sz="24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400" dirty="0">
                <a:solidFill>
                  <a:prstClr val="black"/>
                </a:solidFill>
              </a:rPr>
              <a:t>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setlocale</a:t>
            </a:r>
            <a:r>
              <a:rPr lang="en-US" sz="2400" dirty="0">
                <a:solidFill>
                  <a:prstClr val="black"/>
                </a:solidFill>
              </a:rPr>
              <a:t>(LC_ALL,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rus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pt-BR" sz="2400" dirty="0">
                <a:solidFill>
                  <a:prstClr val="black"/>
                </a:solidFill>
              </a:rPr>
              <a:t> </a:t>
            </a:r>
            <a:r>
              <a:rPr lang="pt-BR" sz="2400" dirty="0">
                <a:solidFill>
                  <a:srgbClr val="0000FF"/>
                </a:solidFill>
              </a:rPr>
              <a:t>char</a:t>
            </a:r>
            <a:r>
              <a:rPr lang="pt-BR" sz="2400" dirty="0">
                <a:solidFill>
                  <a:prstClr val="black"/>
                </a:solidFill>
              </a:rPr>
              <a:t>  AA[][2]= {</a:t>
            </a:r>
            <a:r>
              <a:rPr lang="pt-BR" sz="2400" dirty="0">
                <a:solidFill>
                  <a:srgbClr val="A31515"/>
                </a:solidFill>
              </a:rPr>
              <a:t>"A"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"B"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"C"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"D"</a:t>
            </a:r>
            <a:r>
              <a:rPr lang="pt-BR" sz="2400" dirty="0">
                <a:solidFill>
                  <a:prstClr val="black"/>
                </a:solidFill>
              </a:rPr>
              <a:t>}; </a:t>
            </a:r>
          </a:p>
          <a:p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cout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endl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>
                <a:solidFill>
                  <a:srgbClr val="A31515"/>
                </a:solidFill>
              </a:rPr>
              <a:t>" --- Генератор перестановок ---"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cout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endl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>
                <a:solidFill>
                  <a:srgbClr val="A31515"/>
                </a:solidFill>
              </a:rPr>
              <a:t>"Исходное множество: 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"{ 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 </a:t>
            </a:r>
            <a:r>
              <a:rPr lang="nn-NO" sz="2400" dirty="0">
                <a:solidFill>
                  <a:srgbClr val="0000FF"/>
                </a:solidFill>
              </a:rPr>
              <a:t>sizeof</a:t>
            </a:r>
            <a:r>
              <a:rPr lang="nn-NO" sz="2400" dirty="0">
                <a:solidFill>
                  <a:prstClr val="black"/>
                </a:solidFill>
              </a:rPr>
              <a:t>(AA)/2; i++) </a:t>
            </a:r>
          </a:p>
          <a:p>
            <a:endParaRPr lang="be-BY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      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&lt;&lt;AA[i]&lt;&lt;((i&lt; </a:t>
            </a:r>
            <a:r>
              <a:rPr lang="en-US" sz="2400" dirty="0" err="1">
                <a:solidFill>
                  <a:srgbClr val="0000FF"/>
                </a:solidFill>
              </a:rPr>
              <a:t>sizeof</a:t>
            </a:r>
            <a:r>
              <a:rPr lang="en-US" sz="2400" dirty="0">
                <a:solidFill>
                  <a:prstClr val="black"/>
                </a:solidFill>
              </a:rPr>
              <a:t>(AA)/2-1)?</a:t>
            </a:r>
            <a:r>
              <a:rPr lang="en-US" sz="2400" dirty="0">
                <a:solidFill>
                  <a:srgbClr val="A31515"/>
                </a:solidFill>
              </a:rPr>
              <a:t>", "</a:t>
            </a:r>
            <a:r>
              <a:rPr lang="en-US" sz="2400" dirty="0">
                <a:solidFill>
                  <a:prstClr val="black"/>
                </a:solidFill>
              </a:rPr>
              <a:t>:</a:t>
            </a:r>
            <a:r>
              <a:rPr lang="en-US" sz="2400" dirty="0">
                <a:solidFill>
                  <a:srgbClr val="A31515"/>
                </a:solidFill>
              </a:rPr>
              <a:t>" "</a:t>
            </a:r>
            <a:r>
              <a:rPr lang="en-US" sz="2400" dirty="0">
                <a:solidFill>
                  <a:prstClr val="black"/>
                </a:solidFill>
              </a:rPr>
              <a:t>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"}"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22271459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75520" y="476673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cout</a:t>
            </a:r>
            <a:r>
              <a:rPr lang="ru-RU" sz="2400" dirty="0"/>
              <a:t>&lt;&lt;</a:t>
            </a:r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endl</a:t>
            </a:r>
            <a:r>
              <a:rPr lang="ru-RU" sz="2400" dirty="0"/>
              <a:t>&lt;&lt;</a:t>
            </a:r>
            <a:r>
              <a:rPr lang="ru-RU" sz="2400" dirty="0">
                <a:solidFill>
                  <a:srgbClr val="A31515"/>
                </a:solidFill>
              </a:rPr>
              <a:t>"Генерация перестановок 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::permutation p(</a:t>
            </a:r>
            <a:r>
              <a:rPr lang="en-US" sz="2400" dirty="0" err="1">
                <a:solidFill>
                  <a:srgbClr val="0000FF"/>
                </a:solidFill>
              </a:rPr>
              <a:t>sizeof</a:t>
            </a:r>
            <a:r>
              <a:rPr lang="en-US" sz="2400" dirty="0">
                <a:solidFill>
                  <a:prstClr val="black"/>
                </a:solidFill>
              </a:rPr>
              <a:t>(AA)/2);            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 n  = </a:t>
            </a:r>
            <a:r>
              <a:rPr lang="en-US" sz="2400" dirty="0" err="1">
                <a:solidFill>
                  <a:prstClr val="black"/>
                </a:solidFill>
              </a:rPr>
              <a:t>p.getfirst</a:t>
            </a:r>
            <a:r>
              <a:rPr lang="en-US" sz="2400" dirty="0">
                <a:solidFill>
                  <a:prstClr val="black"/>
                </a:solidFill>
              </a:rPr>
              <a:t>();                    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while</a:t>
            </a:r>
            <a:r>
              <a:rPr lang="en-US" sz="2400" dirty="0">
                <a:solidFill>
                  <a:prstClr val="black"/>
                </a:solidFill>
              </a:rPr>
              <a:t> (n &gt;= 0)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(4)&lt;&lt; p.np &lt;&lt;</a:t>
            </a:r>
            <a:r>
              <a:rPr lang="en-US" sz="2400" dirty="0">
                <a:solidFill>
                  <a:srgbClr val="A31515"/>
                </a:solidFill>
              </a:rPr>
              <a:t>": { 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 p.n; i++)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&lt;&lt;AA[</a:t>
            </a:r>
            <a:r>
              <a:rPr lang="en-US" sz="2400" dirty="0" err="1">
                <a:solidFill>
                  <a:prstClr val="black"/>
                </a:solidFill>
              </a:rPr>
              <a:t>p.ntx</a:t>
            </a:r>
            <a:r>
              <a:rPr lang="en-US" sz="2400" dirty="0">
                <a:solidFill>
                  <a:prstClr val="black"/>
                </a:solidFill>
              </a:rPr>
              <a:t>(i)]&lt;&lt;((i&lt; p.n-1)?</a:t>
            </a:r>
            <a:r>
              <a:rPr lang="en-US" sz="2400" dirty="0">
                <a:solidFill>
                  <a:srgbClr val="A31515"/>
                </a:solidFill>
              </a:rPr>
              <a:t>", "</a:t>
            </a:r>
            <a:r>
              <a:rPr lang="en-US" sz="2400" dirty="0">
                <a:solidFill>
                  <a:prstClr val="black"/>
                </a:solidFill>
              </a:rPr>
              <a:t>:</a:t>
            </a:r>
            <a:r>
              <a:rPr lang="en-US" sz="2400" dirty="0">
                <a:solidFill>
                  <a:srgbClr val="A31515"/>
                </a:solidFill>
              </a:rPr>
              <a:t>" "</a:t>
            </a:r>
            <a:r>
              <a:rPr lang="en-US" sz="2400" dirty="0">
                <a:solidFill>
                  <a:prstClr val="black"/>
                </a:solidFill>
              </a:rPr>
              <a:t>);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"}"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n = </a:t>
            </a:r>
            <a:r>
              <a:rPr lang="en-US" sz="2400" dirty="0" err="1">
                <a:solidFill>
                  <a:prstClr val="black"/>
                </a:solidFill>
              </a:rPr>
              <a:t>p.getnext</a:t>
            </a:r>
            <a:r>
              <a:rPr lang="en-US" sz="2400" dirty="0">
                <a:solidFill>
                  <a:prstClr val="black"/>
                </a:solidFill>
              </a:rPr>
              <a:t>();                    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};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be-BY" sz="2400" dirty="0">
                <a:solidFill>
                  <a:srgbClr val="A31515"/>
                </a:solidFill>
              </a:rPr>
              <a:t>всего: "</a:t>
            </a:r>
            <a:r>
              <a:rPr lang="be-BY" sz="2400" dirty="0">
                <a:solidFill>
                  <a:prstClr val="black"/>
                </a:solidFill>
              </a:rPr>
              <a:t> &lt;&lt; </a:t>
            </a:r>
            <a:r>
              <a:rPr lang="en-US" sz="2400" dirty="0" err="1">
                <a:solidFill>
                  <a:prstClr val="black"/>
                </a:solidFill>
              </a:rPr>
              <a:t>p.count</a:t>
            </a:r>
            <a:r>
              <a:rPr lang="en-US" sz="2400" dirty="0">
                <a:solidFill>
                  <a:prstClr val="black"/>
                </a:solidFill>
              </a:rPr>
              <a:t>()&lt;&lt;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system(</a:t>
            </a:r>
            <a:r>
              <a:rPr lang="en-US" sz="2400" dirty="0">
                <a:solidFill>
                  <a:srgbClr val="A31515"/>
                </a:solidFill>
              </a:rPr>
              <a:t>"pause"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0;</a:t>
            </a:r>
          </a:p>
          <a:p>
            <a:r>
              <a:rPr lang="be-BY" sz="2400" dirty="0">
                <a:solidFill>
                  <a:prstClr val="black"/>
                </a:solidFill>
              </a:rPr>
              <a:t>} 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261484883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6-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835366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8641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8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15" y="1410789"/>
            <a:ext cx="988257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571573" y="3064439"/>
            <a:ext cx="7120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3600" dirty="0">
                <a:solidFill>
                  <a:srgbClr val="7030A0"/>
                </a:solidFill>
                <a:latin typeface="Bahnschrift" panose="020B0502040204020203" pitchFamily="34" charset="0"/>
              </a:rPr>
              <a:t>Математическая модель задачи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875398"/>
              </p:ext>
            </p:extLst>
          </p:nvPr>
        </p:nvGraphicFramePr>
        <p:xfrm>
          <a:off x="3586185" y="3797660"/>
          <a:ext cx="4958087" cy="120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5" name="Формула" r:id="rId4" imgW="2286000" imgH="495300" progId="Equation.3">
                  <p:embed/>
                </p:oleObj>
              </mc:Choice>
              <mc:Fallback>
                <p:oleObj name="Формула" r:id="rId4" imgW="2286000" imgH="495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85" y="3797660"/>
                        <a:ext cx="4958087" cy="12006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607795"/>
              </p:ext>
            </p:extLst>
          </p:nvPr>
        </p:nvGraphicFramePr>
        <p:xfrm>
          <a:off x="1702203" y="5229200"/>
          <a:ext cx="3318129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6" name="Формула" r:id="rId6" imgW="1371600" imgH="241300" progId="Equation.3">
                  <p:embed/>
                </p:oleObj>
              </mc:Choice>
              <mc:Fallback>
                <p:oleObj name="Формула" r:id="rId6" imgW="1371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203" y="5229200"/>
                        <a:ext cx="3318129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383532"/>
              </p:ext>
            </p:extLst>
          </p:nvPr>
        </p:nvGraphicFramePr>
        <p:xfrm>
          <a:off x="5015880" y="5229200"/>
          <a:ext cx="1656184" cy="62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7" name="Формула" r:id="rId8" imgW="609600" imgH="228600" progId="Equation.3">
                  <p:embed/>
                </p:oleObj>
              </mc:Choice>
              <mc:Fallback>
                <p:oleObj name="Формула" r:id="rId8" imgW="6096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5229200"/>
                        <a:ext cx="1656184" cy="6210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37651"/>
              </p:ext>
            </p:extLst>
          </p:nvPr>
        </p:nvGraphicFramePr>
        <p:xfrm>
          <a:off x="6877622" y="5157193"/>
          <a:ext cx="1543032" cy="720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8" name="Формула" r:id="rId10" imgW="571252" imgH="266584" progId="Equation.3">
                  <p:embed/>
                </p:oleObj>
              </mc:Choice>
              <mc:Fallback>
                <p:oleObj name="Формула" r:id="rId10" imgW="571252" imgH="26658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622" y="5157193"/>
                        <a:ext cx="1543032" cy="7200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620251"/>
              </p:ext>
            </p:extLst>
          </p:nvPr>
        </p:nvGraphicFramePr>
        <p:xfrm>
          <a:off x="8544272" y="5157192"/>
          <a:ext cx="1872208" cy="62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9" name="Формула" r:id="rId12" imgW="799753" imgH="266584" progId="Equation.3">
                  <p:embed/>
                </p:oleObj>
              </mc:Choice>
              <mc:Fallback>
                <p:oleObj name="Формула" r:id="rId12" imgW="799753" imgH="26658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5157192"/>
                        <a:ext cx="1872208" cy="6240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485616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8641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124744"/>
            <a:ext cx="10187601" cy="512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5685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044310"/>
              </p:ext>
            </p:extLst>
          </p:nvPr>
        </p:nvGraphicFramePr>
        <p:xfrm>
          <a:off x="911424" y="54785"/>
          <a:ext cx="5186371" cy="6741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Visio" r:id="rId3" imgW="7302960" imgH="9472073" progId="Visio.Drawing.11">
                  <p:embed/>
                </p:oleObj>
              </mc:Choice>
              <mc:Fallback>
                <p:oleObj name="Visio" r:id="rId3" imgW="7302960" imgH="947207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54785"/>
                        <a:ext cx="5186371" cy="6741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436600"/>
              </p:ext>
            </p:extLst>
          </p:nvPr>
        </p:nvGraphicFramePr>
        <p:xfrm>
          <a:off x="6960097" y="2564904"/>
          <a:ext cx="3690925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Формула" r:id="rId5" imgW="2844800" imgH="1333500" progId="Equation.3">
                  <p:embed/>
                </p:oleObj>
              </mc:Choice>
              <mc:Fallback>
                <p:oleObj name="Формула" r:id="rId5" imgW="2844800" imgH="1333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7" y="2564904"/>
                        <a:ext cx="3690925" cy="17281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7320136" y="54785"/>
            <a:ext cx="3813297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Расстояние между городами задается  матрицей </a:t>
            </a:r>
            <a:r>
              <a:rPr lang="ru-RU" sz="23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sz="23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300" b="1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ij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матрицы </a:t>
            </a:r>
            <a:r>
              <a:rPr lang="ru-RU" sz="23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определяет  расстояние между городами </a:t>
            </a:r>
            <a:r>
              <a:rPr lang="en-US" sz="23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3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где </a:t>
            </a:r>
            <a:endParaRPr lang="ru-RU" sz="2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28"/>
          <p:cNvSpPr>
            <a:spLocks noChangeArrowheads="1"/>
          </p:cNvSpPr>
          <p:nvPr/>
        </p:nvSpPr>
        <p:spPr bwMode="auto">
          <a:xfrm>
            <a:off x="8256240" y="1885287"/>
            <a:ext cx="12481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751898"/>
              </p:ext>
            </p:extLst>
          </p:nvPr>
        </p:nvGraphicFramePr>
        <p:xfrm>
          <a:off x="8256240" y="1916833"/>
          <a:ext cx="1146351" cy="445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Уравнение" r:id="rId7" imgW="698197" imgH="266584" progId="Equation.3">
                  <p:embed/>
                </p:oleObj>
              </mc:Choice>
              <mc:Fallback>
                <p:oleObj name="Уравнение" r:id="rId7" imgW="698197" imgH="26658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0" y="1916833"/>
                        <a:ext cx="1146351" cy="4458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7550190" y="4603381"/>
            <a:ext cx="3353187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Факт отсутствия пути из города </a:t>
            </a:r>
            <a:r>
              <a:rPr lang="en-US" sz="23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в город </a:t>
            </a:r>
            <a:r>
              <a:rPr lang="en-US" sz="23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обозначается значением ∞  (бесконечность) соответствующего элемента. </a:t>
            </a:r>
            <a:endParaRPr lang="ru-RU" sz="2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4600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8641"/>
            <a:ext cx="8856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8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8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3" name="Прямоугольник 2"/>
          <p:cNvSpPr/>
          <p:nvPr/>
        </p:nvSpPr>
        <p:spPr>
          <a:xfrm>
            <a:off x="1091444" y="1556792"/>
            <a:ext cx="100811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Замечания: </a:t>
            </a:r>
          </a:p>
          <a:p>
            <a:pPr marL="514350" indent="-514350" algn="just">
              <a:buSzPts val="1400"/>
              <a:buFont typeface="Wingdings" panose="05000000000000000000" pitchFamily="2" charset="2"/>
              <a:buChar char="Ø"/>
              <a:tabLst>
                <a:tab pos="540385" algn="l"/>
              </a:tabLst>
            </a:pPr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 При построении оптимального маршрута коммивояжера выбор  стартового (он же является и конечным, так как маршрут кольцевой) города никак  не влияет на конечный результат.</a:t>
            </a:r>
          </a:p>
          <a:p>
            <a:pPr marL="514350" indent="-514350" algn="just">
              <a:buSzPts val="1400"/>
              <a:buFont typeface="Wingdings" panose="05000000000000000000" pitchFamily="2" charset="2"/>
              <a:buChar char="Ø"/>
              <a:tabLst>
                <a:tab pos="540385" algn="l"/>
              </a:tabLst>
            </a:pPr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Если задано </a:t>
            </a:r>
            <a:r>
              <a:rPr lang="en-US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 городов, то перебор следует осуществлять только для </a:t>
            </a:r>
            <a:r>
              <a:rPr lang="en-US" sz="32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3200" dirty="0">
                <a:latin typeface="Bahnschrift" panose="020B0502040204020203" pitchFamily="34" charset="0"/>
                <a:ea typeface="Times New Roman" panose="02020603050405020304" pitchFamily="18" charset="0"/>
              </a:rPr>
              <a:t>-1 городов, поскольку стартовый  город можно зафиксировать.</a:t>
            </a:r>
          </a:p>
        </p:txBody>
      </p:sp>
    </p:spTree>
    <p:extLst>
      <p:ext uri="{BB962C8B-B14F-4D97-AF65-F5344CB8AC3E}">
        <p14:creationId xmlns:p14="http://schemas.microsoft.com/office/powerpoint/2010/main" val="400467505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51384" y="110111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9" name="Прямоугольник 8"/>
          <p:cNvSpPr/>
          <p:nvPr/>
        </p:nvSpPr>
        <p:spPr>
          <a:xfrm>
            <a:off x="839416" y="1760268"/>
            <a:ext cx="58326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Левая часть схемы практически идентична левой части схемы на генератора перестановок. Главное отличие заключается в том, что в качестве исходного массива выбран {0, 1, 2, 3, 4, 0} Причем перестановкам подлежит только внутренняя, заключенная между нулями, часть исходного массива. </a:t>
            </a:r>
          </a:p>
          <a:p>
            <a:pPr algn="just"/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34" b="31653"/>
          <a:stretch/>
        </p:blipFill>
        <p:spPr>
          <a:xfrm>
            <a:off x="7176120" y="184666"/>
            <a:ext cx="3203847" cy="640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8994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9" name="Прямоугольник 8"/>
          <p:cNvSpPr/>
          <p:nvPr/>
        </p:nvSpPr>
        <p:spPr>
          <a:xfrm>
            <a:off x="263352" y="1484784"/>
            <a:ext cx="640871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 правой части схемы изображены все возможные кольцевые маршруты, которые образованы из исходного массива путем перестановок всех, кроме обрамляющих нулей, элементов. Количество маршрутов </a:t>
            </a:r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4!</a:t>
            </a:r>
            <a:r>
              <a:rPr lang="en-US" sz="2400" dirty="0">
                <a:solidFill>
                  <a:srgbClr val="0070C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=24</a:t>
            </a:r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равно количеству перестановок из четырех городов. Для каждого маршрута в округлой рамке указана длина. Длина кольцевых маршрутов, для которых не могут быть построены в силу отсутствия пути хотя бы между одной парой городов, на схеме обозначена символом ∞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51384" y="110111"/>
            <a:ext cx="51845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0" t="24536" r="-23924" b="7117"/>
          <a:stretch/>
        </p:blipFill>
        <p:spPr>
          <a:xfrm>
            <a:off x="6888088" y="214382"/>
            <a:ext cx="6552728" cy="640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180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1163452" y="1340768"/>
            <a:ext cx="9865096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Пример реализации на </a:t>
            </a:r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++ функции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вычисляющей оптимальный кольцевой маршрут коммивояжера.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имеет два входных параметра: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(количество городов) и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(двумерный массив размерностью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на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содержащий элементы матрицы расстояний), а также один возвращаемый параметр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(массив размерностью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содержащий оптимальный маршрут).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функции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применяется генератор перестановок  (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combi</a:t>
            </a:r>
            <a:r>
              <a:rPr lang="ru-RU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permutation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). </a:t>
            </a:r>
            <a:endParaRPr lang="en-US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endParaRPr lang="ru-RU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739516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76854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9" name="Прямоугольник 8"/>
          <p:cNvSpPr/>
          <p:nvPr/>
        </p:nvSpPr>
        <p:spPr>
          <a:xfrm>
            <a:off x="1739516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44451" y="2305615"/>
            <a:ext cx="72728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err="1">
                <a:solidFill>
                  <a:prstClr val="black"/>
                </a:solidFill>
              </a:rPr>
              <a:t>salesman</a:t>
            </a:r>
            <a:r>
              <a:rPr lang="ru-RU" sz="2800" dirty="0">
                <a:solidFill>
                  <a:prstClr val="black"/>
                </a:solidFill>
              </a:rPr>
              <a:t> (     </a:t>
            </a:r>
            <a:endParaRPr lang="be-BY" sz="2800" dirty="0">
              <a:solidFill>
                <a:srgbClr val="008000"/>
              </a:solidFill>
            </a:endParaRPr>
          </a:p>
          <a:p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n,         </a:t>
            </a:r>
            <a:r>
              <a:rPr lang="ru-RU" sz="2800" dirty="0">
                <a:solidFill>
                  <a:srgbClr val="008000"/>
                </a:solidFill>
              </a:rPr>
              <a:t>// [</a:t>
            </a:r>
            <a:r>
              <a:rPr lang="ru-RU" sz="2800" dirty="0" err="1">
                <a:solidFill>
                  <a:srgbClr val="008000"/>
                </a:solidFill>
              </a:rPr>
              <a:t>in</a:t>
            </a:r>
            <a:r>
              <a:rPr lang="ru-RU" sz="2800" dirty="0">
                <a:solidFill>
                  <a:srgbClr val="008000"/>
                </a:solidFill>
              </a:rPr>
              <a:t>]  количество городов </a:t>
            </a:r>
            <a:endParaRPr lang="be-BY" sz="2800" dirty="0">
              <a:solidFill>
                <a:srgbClr val="008000"/>
              </a:solidFill>
            </a:endParaRPr>
          </a:p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const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*d,  </a:t>
            </a:r>
            <a:r>
              <a:rPr lang="en-US" sz="2800" dirty="0">
                <a:solidFill>
                  <a:srgbClr val="008000"/>
                </a:solidFill>
              </a:rPr>
              <a:t>// [in]  </a:t>
            </a:r>
            <a:r>
              <a:rPr lang="be-BY" sz="2800" dirty="0">
                <a:solidFill>
                  <a:srgbClr val="008000"/>
                </a:solidFill>
              </a:rPr>
              <a:t>массив [</a:t>
            </a:r>
            <a:r>
              <a:rPr lang="en-US" sz="2800" dirty="0">
                <a:solidFill>
                  <a:srgbClr val="008000"/>
                </a:solidFill>
              </a:rPr>
              <a:t>n*n] </a:t>
            </a:r>
            <a:r>
              <a:rPr lang="be-BY" sz="2800" dirty="0">
                <a:solidFill>
                  <a:srgbClr val="008000"/>
                </a:solidFill>
              </a:rPr>
              <a:t>расстояний </a:t>
            </a:r>
          </a:p>
          <a:p>
            <a:r>
              <a:rPr lang="pt-BR" sz="2800" dirty="0">
                <a:solidFill>
                  <a:prstClr val="black"/>
                </a:solidFill>
              </a:rPr>
              <a:t> </a:t>
            </a:r>
            <a:r>
              <a:rPr lang="pt-BR" sz="2800" dirty="0">
                <a:solidFill>
                  <a:srgbClr val="0000FF"/>
                </a:solidFill>
              </a:rPr>
              <a:t>int</a:t>
            </a:r>
            <a:r>
              <a:rPr lang="pt-BR" sz="2800" dirty="0">
                <a:solidFill>
                  <a:prstClr val="black"/>
                </a:solidFill>
              </a:rPr>
              <a:t> *r         </a:t>
            </a:r>
            <a:r>
              <a:rPr lang="pt-BR" sz="2800" dirty="0">
                <a:solidFill>
                  <a:srgbClr val="008000"/>
                </a:solidFill>
              </a:rPr>
              <a:t>// [out] массив [n] маршрут 0 x x x x </a:t>
            </a:r>
            <a:endParaRPr lang="be-BY" sz="2800" dirty="0">
              <a:solidFill>
                <a:srgbClr val="008000"/>
              </a:solidFill>
            </a:endParaRPr>
          </a:p>
          <a:p>
            <a:r>
              <a:rPr lang="be-BY" sz="2800" dirty="0">
                <a:solidFill>
                  <a:prstClr val="black"/>
                </a:solidFill>
              </a:rPr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236894641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4005064"/>
            <a:ext cx="87129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void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indx</a:t>
            </a:r>
            <a:r>
              <a:rPr lang="en-US" sz="3200" dirty="0">
                <a:solidFill>
                  <a:prstClr val="black"/>
                </a:solidFill>
              </a:rPr>
              <a:t>(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n, 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*r, </a:t>
            </a:r>
            <a:r>
              <a:rPr lang="en-US" sz="3200" dirty="0" err="1">
                <a:solidFill>
                  <a:srgbClr val="0000FF"/>
                </a:solidFill>
              </a:rPr>
              <a:t>const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*s, </a:t>
            </a:r>
            <a:r>
              <a:rPr lang="en-US" sz="3200" dirty="0" err="1">
                <a:solidFill>
                  <a:srgbClr val="0000FF"/>
                </a:solidFill>
              </a:rPr>
              <a:t>const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*</a:t>
            </a:r>
            <a:r>
              <a:rPr lang="en-US" sz="3200" dirty="0" err="1">
                <a:solidFill>
                  <a:prstClr val="black"/>
                </a:solidFill>
              </a:rPr>
              <a:t>ntx</a:t>
            </a:r>
            <a:r>
              <a:rPr lang="en-US" sz="3200" dirty="0">
                <a:solidFill>
                  <a:prstClr val="black"/>
                </a:solidFill>
              </a:rPr>
              <a:t>) </a:t>
            </a:r>
          </a:p>
          <a:p>
            <a:r>
              <a:rPr lang="en-US" sz="3200" dirty="0">
                <a:solidFill>
                  <a:prstClr val="black"/>
                </a:solidFill>
              </a:rPr>
              <a:t> { </a:t>
            </a:r>
            <a:r>
              <a:rPr lang="en-US" sz="3200" dirty="0">
                <a:solidFill>
                  <a:srgbClr val="0000FF"/>
                </a:solidFill>
              </a:rPr>
              <a:t>for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= 1;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&lt; n;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++)  r[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 = s[</a:t>
            </a:r>
            <a:r>
              <a:rPr lang="en-US" sz="3200" dirty="0" err="1">
                <a:solidFill>
                  <a:prstClr val="black"/>
                </a:solidFill>
              </a:rPr>
              <a:t>ntx</a:t>
            </a:r>
            <a:r>
              <a:rPr lang="en-US" sz="3200" dirty="0">
                <a:solidFill>
                  <a:prstClr val="black"/>
                </a:solidFill>
              </a:rPr>
              <a:t>[i-1]];}</a:t>
            </a:r>
          </a:p>
        </p:txBody>
      </p:sp>
    </p:spTree>
    <p:extLst>
      <p:ext uri="{BB962C8B-B14F-4D97-AF65-F5344CB8AC3E}">
        <p14:creationId xmlns:p14="http://schemas.microsoft.com/office/powerpoint/2010/main" val="204937461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81708" y="3789040"/>
            <a:ext cx="990059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distance(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n,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*r, </a:t>
            </a:r>
            <a:r>
              <a:rPr lang="en-US" sz="2800" dirty="0" err="1">
                <a:solidFill>
                  <a:srgbClr val="0000FF"/>
                </a:solidFill>
              </a:rPr>
              <a:t>const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*d)       </a:t>
            </a:r>
            <a:r>
              <a:rPr lang="en-US" sz="2800" dirty="0">
                <a:solidFill>
                  <a:srgbClr val="008000"/>
                </a:solidFill>
              </a:rPr>
              <a:t>// </a:t>
            </a:r>
            <a:r>
              <a:rPr lang="be-BY" sz="2800" dirty="0">
                <a:solidFill>
                  <a:srgbClr val="008000"/>
                </a:solidFill>
              </a:rPr>
              <a:t>длина маршрута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0;  </a:t>
            </a:r>
          </a:p>
          <a:p>
            <a:r>
              <a:rPr lang="pt-BR" sz="2800" dirty="0">
                <a:solidFill>
                  <a:prstClr val="black"/>
                </a:solidFill>
              </a:rPr>
              <a:t>    </a:t>
            </a:r>
            <a:r>
              <a:rPr lang="pt-BR" sz="2800" dirty="0">
                <a:solidFill>
                  <a:srgbClr val="0000FF"/>
                </a:solidFill>
              </a:rPr>
              <a:t>for</a:t>
            </a:r>
            <a:r>
              <a:rPr lang="pt-BR" sz="2800" dirty="0">
                <a:solidFill>
                  <a:prstClr val="black"/>
                </a:solidFill>
              </a:rPr>
              <a:t> (</a:t>
            </a:r>
            <a:r>
              <a:rPr lang="pt-BR" sz="2800" dirty="0">
                <a:solidFill>
                  <a:srgbClr val="0000FF"/>
                </a:solidFill>
              </a:rPr>
              <a:t>int</a:t>
            </a:r>
            <a:r>
              <a:rPr lang="pt-BR" sz="2800" dirty="0">
                <a:solidFill>
                  <a:prstClr val="black"/>
                </a:solidFill>
              </a:rPr>
              <a:t> i = 0; i &lt; n-1; i++) rc = sum(rc, d[r[i]*n+r[i+1]]);  </a:t>
            </a:r>
          </a:p>
          <a:p>
            <a:r>
              <a:rPr lang="pt-BR" sz="2800" dirty="0">
                <a:solidFill>
                  <a:prstClr val="black"/>
                </a:solidFill>
              </a:rPr>
              <a:t>    </a:t>
            </a:r>
            <a:r>
              <a:rPr lang="pt-BR" sz="2800" dirty="0">
                <a:solidFill>
                  <a:srgbClr val="0000FF"/>
                </a:solidFill>
              </a:rPr>
              <a:t>return</a:t>
            </a:r>
            <a:r>
              <a:rPr lang="pt-BR" sz="2800" dirty="0">
                <a:solidFill>
                  <a:prstClr val="black"/>
                </a:solidFill>
              </a:rPr>
              <a:t>  sum (rc, d[r[n-1]*n + 0]);    </a:t>
            </a:r>
            <a:r>
              <a:rPr lang="pt-BR" sz="2800" dirty="0">
                <a:solidFill>
                  <a:srgbClr val="008000"/>
                </a:solidFill>
              </a:rPr>
              <a:t>//+ последняя дуга (n-1,0) </a:t>
            </a:r>
            <a:r>
              <a:rPr lang="be-BY" sz="2800" dirty="0">
                <a:solidFill>
                  <a:prstClr val="black"/>
                </a:solidFill>
              </a:rPr>
              <a:t>};</a:t>
            </a: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390558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559496" y="3861048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void</a:t>
            </a:r>
            <a:r>
              <a:rPr lang="en-US" sz="3200" dirty="0">
                <a:solidFill>
                  <a:prstClr val="black"/>
                </a:solidFill>
              </a:rPr>
              <a:t>  </a:t>
            </a:r>
            <a:r>
              <a:rPr lang="en-US" sz="3200" dirty="0" err="1">
                <a:solidFill>
                  <a:prstClr val="black"/>
                </a:solidFill>
              </a:rPr>
              <a:t>copypath</a:t>
            </a:r>
            <a:r>
              <a:rPr lang="en-US" sz="3200" dirty="0">
                <a:solidFill>
                  <a:prstClr val="black"/>
                </a:solidFill>
              </a:rPr>
              <a:t>(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n, 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*r1, </a:t>
            </a:r>
            <a:r>
              <a:rPr lang="en-US" sz="3200" dirty="0" err="1">
                <a:solidFill>
                  <a:srgbClr val="0000FF"/>
                </a:solidFill>
              </a:rPr>
              <a:t>const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*r2)  </a:t>
            </a:r>
            <a:r>
              <a:rPr lang="en-US" sz="3200" dirty="0">
                <a:solidFill>
                  <a:srgbClr val="008000"/>
                </a:solidFill>
              </a:rPr>
              <a:t>// </a:t>
            </a:r>
            <a:r>
              <a:rPr lang="be-BY" sz="3200" dirty="0">
                <a:solidFill>
                  <a:srgbClr val="008000"/>
                </a:solidFill>
              </a:rPr>
              <a:t>копировать маршрут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{  </a:t>
            </a:r>
            <a:r>
              <a:rPr lang="en-US" sz="3200" dirty="0">
                <a:solidFill>
                  <a:srgbClr val="0000FF"/>
                </a:solidFill>
              </a:rPr>
              <a:t>for</a:t>
            </a:r>
            <a:r>
              <a:rPr lang="en-US" sz="3200" dirty="0">
                <a:solidFill>
                  <a:prstClr val="black"/>
                </a:solidFill>
              </a:rPr>
              <a:t> (</a:t>
            </a:r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= 0;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 &lt;  n; 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++)  r1[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 = r2[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]; };</a:t>
            </a:r>
          </a:p>
        </p:txBody>
      </p:sp>
    </p:spTree>
    <p:extLst>
      <p:ext uri="{BB962C8B-B14F-4D97-AF65-F5344CB8AC3E}">
        <p14:creationId xmlns:p14="http://schemas.microsoft.com/office/powerpoint/2010/main" val="234112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3450298"/>
            <a:ext cx="85689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*  </a:t>
            </a:r>
            <a:r>
              <a:rPr lang="ru-RU" sz="2800" dirty="0" err="1">
                <a:solidFill>
                  <a:prstClr val="black"/>
                </a:solidFill>
              </a:rPr>
              <a:t>source</a:t>
            </a:r>
            <a:r>
              <a:rPr lang="ru-RU" sz="2800" dirty="0">
                <a:solidFill>
                  <a:prstClr val="black"/>
                </a:solidFill>
              </a:rPr>
              <a:t>(</a:t>
            </a:r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n)   </a:t>
            </a:r>
            <a:r>
              <a:rPr lang="ru-RU" sz="2800" dirty="0">
                <a:solidFill>
                  <a:srgbClr val="008000"/>
                </a:solidFill>
              </a:rPr>
              <a:t>// формирование исходного массива 1,2,..., n-1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{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*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</a:t>
            </a:r>
            <a:r>
              <a:rPr lang="en-US" sz="2800" dirty="0">
                <a:solidFill>
                  <a:srgbClr val="0000FF"/>
                </a:solidFill>
              </a:rPr>
              <a:t>new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[n-1]; </a:t>
            </a:r>
          </a:p>
          <a:p>
            <a:r>
              <a:rPr lang="nn-NO" sz="2800" dirty="0">
                <a:solidFill>
                  <a:prstClr val="black"/>
                </a:solidFill>
              </a:rPr>
              <a:t>    </a:t>
            </a:r>
            <a:r>
              <a:rPr lang="nn-NO" sz="2800" dirty="0">
                <a:solidFill>
                  <a:srgbClr val="0000FF"/>
                </a:solidFill>
              </a:rPr>
              <a:t>for</a:t>
            </a:r>
            <a:r>
              <a:rPr lang="nn-NO" sz="2800" dirty="0">
                <a:solidFill>
                  <a:prstClr val="black"/>
                </a:solidFill>
              </a:rPr>
              <a:t> (</a:t>
            </a:r>
            <a:r>
              <a:rPr lang="nn-NO" sz="2800" dirty="0">
                <a:solidFill>
                  <a:srgbClr val="0000FF"/>
                </a:solidFill>
              </a:rPr>
              <a:t>int</a:t>
            </a:r>
            <a:r>
              <a:rPr lang="nn-NO" sz="2800" dirty="0">
                <a:solidFill>
                  <a:prstClr val="black"/>
                </a:solidFill>
              </a:rPr>
              <a:t> i = 1; i &lt; n; i++) rc[i-1] = i;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  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179321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091444" y="3645024"/>
            <a:ext cx="100091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* </a:t>
            </a:r>
            <a:r>
              <a:rPr lang="ru-RU" sz="2800" dirty="0" err="1">
                <a:solidFill>
                  <a:prstClr val="black"/>
                </a:solidFill>
              </a:rPr>
              <a:t>firstpath</a:t>
            </a:r>
            <a:r>
              <a:rPr lang="ru-RU" sz="2800" dirty="0">
                <a:solidFill>
                  <a:prstClr val="black"/>
                </a:solidFill>
              </a:rPr>
              <a:t>(</a:t>
            </a:r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n) </a:t>
            </a:r>
            <a:r>
              <a:rPr lang="ru-RU" sz="2800" dirty="0">
                <a:solidFill>
                  <a:srgbClr val="008000"/>
                </a:solidFill>
              </a:rPr>
              <a:t>// формирование 1го маршрута 0,1,2,..., n-1, 0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{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*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</a:t>
            </a:r>
            <a:r>
              <a:rPr lang="en-US" sz="2800" dirty="0">
                <a:solidFill>
                  <a:srgbClr val="0000FF"/>
                </a:solidFill>
              </a:rPr>
              <a:t>new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[n+1];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[n] = 0;</a:t>
            </a:r>
          </a:p>
          <a:p>
            <a:r>
              <a:rPr lang="nn-NO" sz="2800" dirty="0">
                <a:solidFill>
                  <a:prstClr val="black"/>
                </a:solidFill>
              </a:rPr>
              <a:t>    </a:t>
            </a:r>
            <a:r>
              <a:rPr lang="nn-NO" sz="2800" dirty="0">
                <a:solidFill>
                  <a:srgbClr val="0000FF"/>
                </a:solidFill>
              </a:rPr>
              <a:t>for</a:t>
            </a:r>
            <a:r>
              <a:rPr lang="nn-NO" sz="2800" dirty="0">
                <a:solidFill>
                  <a:prstClr val="black"/>
                </a:solidFill>
              </a:rPr>
              <a:t> (</a:t>
            </a:r>
            <a:r>
              <a:rPr lang="nn-NO" sz="2800" dirty="0">
                <a:solidFill>
                  <a:srgbClr val="0000FF"/>
                </a:solidFill>
              </a:rPr>
              <a:t>int</a:t>
            </a:r>
            <a:r>
              <a:rPr lang="nn-NO" sz="2800" dirty="0">
                <a:solidFill>
                  <a:prstClr val="black"/>
                </a:solidFill>
              </a:rPr>
              <a:t> i = 0; i &lt; n; i++) rc[i] = i;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13883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3512" y="184666"/>
            <a:ext cx="8856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479376" y="1019638"/>
            <a:ext cx="11305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того 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вызывает шесть вспомогательных функций: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indx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перестановки городов на основе массива </a:t>
            </a:r>
            <a:r>
              <a:rPr lang="ru-RU" sz="24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идексов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(вычисление длины кольцевого маршрута),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(копирование маршрута),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source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(формирование исходного массива),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firstpath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(формирование первого маршрута) и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sum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(суммирование двух чисел с учетом того, что одно из них может быть равно бесконечности). 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667508" y="3933056"/>
            <a:ext cx="88569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err="1">
                <a:solidFill>
                  <a:prstClr val="black"/>
                </a:solidFill>
              </a:rPr>
              <a:t>sum</a:t>
            </a:r>
            <a:r>
              <a:rPr lang="ru-RU" sz="2800" dirty="0">
                <a:solidFill>
                  <a:prstClr val="black"/>
                </a:solidFill>
              </a:rPr>
              <a:t> (</a:t>
            </a:r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x1, </a:t>
            </a:r>
            <a:r>
              <a:rPr lang="ru-RU" sz="2800" dirty="0" err="1">
                <a:solidFill>
                  <a:srgbClr val="0000FF"/>
                </a:solidFill>
              </a:rPr>
              <a:t>int</a:t>
            </a:r>
            <a:r>
              <a:rPr lang="ru-RU" sz="2800" dirty="0">
                <a:solidFill>
                  <a:prstClr val="black"/>
                </a:solidFill>
              </a:rPr>
              <a:t> x2) </a:t>
            </a:r>
            <a:r>
              <a:rPr lang="ru-RU" sz="2800" dirty="0">
                <a:solidFill>
                  <a:srgbClr val="008000"/>
                </a:solidFill>
              </a:rPr>
              <a:t>// суммирование с учетом бесконечности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{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(x1 == INF || x2 == INF)? INF: (x1 + x2); };</a:t>
            </a:r>
          </a:p>
        </p:txBody>
      </p:sp>
    </p:spTree>
    <p:extLst>
      <p:ext uri="{BB962C8B-B14F-4D97-AF65-F5344CB8AC3E}">
        <p14:creationId xmlns:p14="http://schemas.microsoft.com/office/powerpoint/2010/main" val="330501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3" name="Прямоугольник 2"/>
          <p:cNvSpPr/>
          <p:nvPr/>
        </p:nvSpPr>
        <p:spPr>
          <a:xfrm>
            <a:off x="551384" y="1494075"/>
            <a:ext cx="41764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salesman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в цикле генерирует все возможные кольцевые маршруты, вычисляет для каждого маршрута длину (функция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distance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), фиксирует оптимальный маршрут (функция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copypath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)  и возвращает длину оптимального пути или значение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INF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, что обозначает отсутствие кольцевых маршрутов.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087888" y="749855"/>
            <a:ext cx="71041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salesman (     </a:t>
            </a:r>
          </a:p>
          <a:p>
            <a:r>
              <a:rPr lang="ru-RU" sz="2400" dirty="0">
                <a:solidFill>
                  <a:prstClr val="black"/>
                </a:solidFill>
              </a:rPr>
              <a:t> 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n,         </a:t>
            </a:r>
            <a:r>
              <a:rPr lang="ru-RU" sz="2400" dirty="0">
                <a:solidFill>
                  <a:srgbClr val="008000"/>
                </a:solidFill>
              </a:rPr>
              <a:t>// [</a:t>
            </a:r>
            <a:r>
              <a:rPr lang="ru-RU" sz="2400" dirty="0" err="1">
                <a:solidFill>
                  <a:srgbClr val="008000"/>
                </a:solidFill>
              </a:rPr>
              <a:t>in</a:t>
            </a:r>
            <a:r>
              <a:rPr lang="ru-RU" sz="2400" dirty="0">
                <a:solidFill>
                  <a:srgbClr val="008000"/>
                </a:solidFill>
              </a:rPr>
              <a:t>]  количество городов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*d,  </a:t>
            </a:r>
            <a:r>
              <a:rPr lang="en-US" sz="2400" dirty="0">
                <a:solidFill>
                  <a:srgbClr val="008000"/>
                </a:solidFill>
              </a:rPr>
              <a:t>// [in]  </a:t>
            </a:r>
            <a:r>
              <a:rPr lang="be-BY" sz="2400" dirty="0">
                <a:solidFill>
                  <a:srgbClr val="008000"/>
                </a:solidFill>
              </a:rPr>
              <a:t>массив [</a:t>
            </a:r>
            <a:r>
              <a:rPr lang="en-US" sz="2400" dirty="0">
                <a:solidFill>
                  <a:srgbClr val="008000"/>
                </a:solidFill>
              </a:rPr>
              <a:t>n*n] </a:t>
            </a:r>
            <a:r>
              <a:rPr lang="be-BY" sz="2400" dirty="0">
                <a:solidFill>
                  <a:srgbClr val="008000"/>
                </a:solidFill>
              </a:rPr>
              <a:t>расстояний </a:t>
            </a:r>
          </a:p>
          <a:p>
            <a:r>
              <a:rPr lang="pt-BR" sz="2400" dirty="0">
                <a:solidFill>
                  <a:prstClr val="black"/>
                </a:solidFill>
              </a:rPr>
              <a:t>  </a:t>
            </a:r>
            <a:r>
              <a:rPr lang="pt-BR" sz="2400" dirty="0">
                <a:solidFill>
                  <a:srgbClr val="0000FF"/>
                </a:solidFill>
              </a:rPr>
              <a:t>int</a:t>
            </a:r>
            <a:r>
              <a:rPr lang="pt-BR" sz="2400" dirty="0">
                <a:solidFill>
                  <a:prstClr val="black"/>
                </a:solidFill>
              </a:rPr>
              <a:t> *r         </a:t>
            </a:r>
            <a:r>
              <a:rPr lang="pt-BR" sz="2400" dirty="0">
                <a:solidFill>
                  <a:srgbClr val="008000"/>
                </a:solidFill>
              </a:rPr>
              <a:t>// [out] массив [n] маршрут 0 x x x x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*s = source(n),  *b = </a:t>
            </a:r>
            <a:r>
              <a:rPr lang="en-US" sz="2400" dirty="0" err="1">
                <a:solidFill>
                  <a:prstClr val="black"/>
                </a:solidFill>
              </a:rPr>
              <a:t>firstpath</a:t>
            </a:r>
            <a:r>
              <a:rPr lang="en-US" sz="2400" dirty="0">
                <a:solidFill>
                  <a:prstClr val="black"/>
                </a:solidFill>
              </a:rPr>
              <a:t>(n),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INF, </a:t>
            </a:r>
            <a:r>
              <a:rPr lang="en-US" sz="2400" dirty="0" err="1">
                <a:solidFill>
                  <a:prstClr val="black"/>
                </a:solidFill>
              </a:rPr>
              <a:t>dist</a:t>
            </a:r>
            <a:r>
              <a:rPr lang="en-US" sz="2400" dirty="0">
                <a:solidFill>
                  <a:prstClr val="black"/>
                </a:solidFill>
              </a:rPr>
              <a:t> = 0;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::permutation p(n-1);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k = </a:t>
            </a:r>
            <a:r>
              <a:rPr lang="en-US" sz="2400" dirty="0" err="1">
                <a:solidFill>
                  <a:prstClr val="black"/>
                </a:solidFill>
              </a:rPr>
              <a:t>p.getfirst</a:t>
            </a:r>
            <a:r>
              <a:rPr lang="en-US" sz="2400" dirty="0">
                <a:solidFill>
                  <a:prstClr val="black"/>
                </a:solidFill>
              </a:rPr>
              <a:t>();</a:t>
            </a:r>
          </a:p>
          <a:p>
            <a:r>
              <a:rPr lang="ru-RU" sz="2400" dirty="0">
                <a:solidFill>
                  <a:prstClr val="black"/>
                </a:solidFill>
              </a:rPr>
              <a:t>  </a:t>
            </a:r>
            <a:r>
              <a:rPr lang="ru-RU" sz="2400" dirty="0" err="1">
                <a:solidFill>
                  <a:srgbClr val="0000FF"/>
                </a:solidFill>
              </a:rPr>
              <a:t>while</a:t>
            </a:r>
            <a:r>
              <a:rPr lang="ru-RU" sz="2400" dirty="0">
                <a:solidFill>
                  <a:prstClr val="black"/>
                </a:solidFill>
              </a:rPr>
              <a:t> (k &gt;= 0)  </a:t>
            </a:r>
            <a:r>
              <a:rPr lang="ru-RU" sz="2400" dirty="0">
                <a:solidFill>
                  <a:srgbClr val="008000"/>
                </a:solidFill>
              </a:rPr>
              <a:t>// цикл генерации перестановок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 {                              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</a:t>
            </a:r>
            <a:r>
              <a:rPr lang="en-US" sz="2400" dirty="0" err="1">
                <a:solidFill>
                  <a:prstClr val="black"/>
                </a:solidFill>
              </a:rPr>
              <a:t>indx</a:t>
            </a:r>
            <a:r>
              <a:rPr lang="en-US" sz="2400" dirty="0">
                <a:solidFill>
                  <a:prstClr val="black"/>
                </a:solidFill>
              </a:rPr>
              <a:t>(n, b, s, </a:t>
            </a:r>
            <a:r>
              <a:rPr lang="en-US" sz="2400" dirty="0" err="1">
                <a:solidFill>
                  <a:prstClr val="black"/>
                </a:solidFill>
              </a:rPr>
              <a:t>p.sset</a:t>
            </a:r>
            <a:r>
              <a:rPr lang="en-US" sz="2400" dirty="0">
                <a:solidFill>
                  <a:prstClr val="black"/>
                </a:solidFill>
              </a:rPr>
              <a:t>);        </a:t>
            </a:r>
            <a:r>
              <a:rPr lang="en-US" sz="2400" dirty="0">
                <a:solidFill>
                  <a:srgbClr val="008000"/>
                </a:solidFill>
              </a:rPr>
              <a:t>// </a:t>
            </a:r>
            <a:r>
              <a:rPr lang="be-BY" sz="2400" dirty="0">
                <a:solidFill>
                  <a:srgbClr val="008000"/>
                </a:solidFill>
              </a:rPr>
              <a:t>новый маршрут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((</a:t>
            </a:r>
            <a:r>
              <a:rPr lang="en-US" sz="2400" dirty="0" err="1">
                <a:solidFill>
                  <a:prstClr val="black"/>
                </a:solidFill>
              </a:rPr>
              <a:t>dist</a:t>
            </a:r>
            <a:r>
              <a:rPr lang="en-US" sz="2400" dirty="0">
                <a:solidFill>
                  <a:prstClr val="black"/>
                </a:solidFill>
              </a:rPr>
              <a:t> = distance(</a:t>
            </a:r>
            <a:r>
              <a:rPr lang="en-US" sz="2400" dirty="0" err="1">
                <a:solidFill>
                  <a:prstClr val="black"/>
                </a:solidFill>
              </a:rPr>
              <a:t>n,b,d</a:t>
            </a:r>
            <a:r>
              <a:rPr lang="en-US" sz="2400" dirty="0">
                <a:solidFill>
                  <a:prstClr val="black"/>
                </a:solidFill>
              </a:rPr>
              <a:t>)) &lt;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)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{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dist</a:t>
            </a:r>
            <a:r>
              <a:rPr lang="en-US" sz="2400" dirty="0">
                <a:solidFill>
                  <a:prstClr val="black"/>
                </a:solidFill>
              </a:rPr>
              <a:t>; </a:t>
            </a:r>
            <a:r>
              <a:rPr lang="en-US" sz="2400" dirty="0" err="1">
                <a:solidFill>
                  <a:prstClr val="black"/>
                </a:solidFill>
              </a:rPr>
              <a:t>copypath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n,r,b</a:t>
            </a:r>
            <a:r>
              <a:rPr lang="en-US" sz="2400" dirty="0">
                <a:solidFill>
                  <a:prstClr val="black"/>
                </a:solidFill>
              </a:rPr>
              <a:t>); }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k = </a:t>
            </a:r>
            <a:r>
              <a:rPr lang="en-US" sz="2400" dirty="0" err="1">
                <a:solidFill>
                  <a:prstClr val="black"/>
                </a:solidFill>
              </a:rPr>
              <a:t>p.getnext</a:t>
            </a:r>
            <a:r>
              <a:rPr lang="en-US" sz="2400" dirty="0">
                <a:solidFill>
                  <a:prstClr val="black"/>
                </a:solidFill>
              </a:rPr>
              <a:t>();  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;  </a:t>
            </a:r>
            <a:r>
              <a:rPr lang="be-BY" sz="2400" dirty="0">
                <a:solidFill>
                  <a:prstClr val="black"/>
                </a:solidFill>
              </a:rPr>
              <a:t> }</a:t>
            </a:r>
            <a:endParaRPr lang="be-BY" sz="2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-168696" y="181950"/>
            <a:ext cx="5832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60993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55032" y="1"/>
            <a:ext cx="871296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</a:rPr>
              <a:t>/// --- main </a:t>
            </a:r>
          </a:p>
          <a:p>
            <a:r>
              <a:rPr lang="en-US" sz="2000" dirty="0">
                <a:solidFill>
                  <a:srgbClr val="0000FF"/>
                </a:solidFill>
              </a:rPr>
              <a:t>#include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  <a:r>
              <a:rPr lang="en-US" sz="2000" dirty="0" err="1">
                <a:solidFill>
                  <a:srgbClr val="A31515"/>
                </a:solidFill>
              </a:rPr>
              <a:t>stdafx.h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</a:p>
          <a:p>
            <a:r>
              <a:rPr lang="en-US" sz="2000" dirty="0">
                <a:solidFill>
                  <a:srgbClr val="0000FF"/>
                </a:solidFill>
              </a:rPr>
              <a:t>#include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A31515"/>
                </a:solidFill>
              </a:rPr>
              <a:t>&lt;</a:t>
            </a:r>
            <a:r>
              <a:rPr lang="en-US" sz="2000" dirty="0" err="1">
                <a:solidFill>
                  <a:srgbClr val="A31515"/>
                </a:solidFill>
              </a:rPr>
              <a:t>iostream</a:t>
            </a:r>
            <a:r>
              <a:rPr lang="en-US" sz="2000" dirty="0">
                <a:solidFill>
                  <a:srgbClr val="A31515"/>
                </a:solidFill>
              </a:rPr>
              <a:t>&gt;</a:t>
            </a:r>
          </a:p>
          <a:p>
            <a:r>
              <a:rPr lang="en-US" sz="2000" dirty="0">
                <a:solidFill>
                  <a:srgbClr val="0000FF"/>
                </a:solidFill>
              </a:rPr>
              <a:t>#include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A31515"/>
                </a:solidFill>
              </a:rPr>
              <a:t>&lt;</a:t>
            </a:r>
            <a:r>
              <a:rPr lang="en-US" sz="2000" dirty="0" err="1">
                <a:solidFill>
                  <a:srgbClr val="A31515"/>
                </a:solidFill>
              </a:rPr>
              <a:t>iomanip</a:t>
            </a:r>
            <a:r>
              <a:rPr lang="en-US" sz="2000" dirty="0">
                <a:solidFill>
                  <a:srgbClr val="A31515"/>
                </a:solidFill>
              </a:rPr>
              <a:t>&gt;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</a:rPr>
              <a:t>#include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  <a:r>
              <a:rPr lang="en-US" sz="2000" dirty="0" err="1">
                <a:solidFill>
                  <a:srgbClr val="A31515"/>
                </a:solidFill>
              </a:rPr>
              <a:t>Salesman.h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</a:p>
          <a:p>
            <a:r>
              <a:rPr lang="en-US" sz="2000" dirty="0">
                <a:solidFill>
                  <a:srgbClr val="0000FF"/>
                </a:solidFill>
              </a:rPr>
              <a:t>#define</a:t>
            </a:r>
            <a:r>
              <a:rPr lang="en-US" sz="2000" dirty="0">
                <a:solidFill>
                  <a:prstClr val="black"/>
                </a:solidFill>
              </a:rPr>
              <a:t> N 5</a:t>
            </a:r>
          </a:p>
          <a:p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_</a:t>
            </a:r>
            <a:r>
              <a:rPr lang="en-US" sz="2000" dirty="0" err="1">
                <a:solidFill>
                  <a:prstClr val="black"/>
                </a:solidFill>
              </a:rPr>
              <a:t>tmain</a:t>
            </a:r>
            <a:r>
              <a:rPr lang="en-US" sz="2000" dirty="0">
                <a:solidFill>
                  <a:prstClr val="black"/>
                </a:solidFill>
              </a:rPr>
              <a:t>(</a:t>
            </a:r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argc</a:t>
            </a:r>
            <a:r>
              <a:rPr lang="en-US" sz="2000" dirty="0">
                <a:solidFill>
                  <a:prstClr val="black"/>
                </a:solidFill>
              </a:rPr>
              <a:t>, _TCHAR* </a:t>
            </a:r>
            <a:r>
              <a:rPr lang="en-US" sz="2000" dirty="0" err="1">
                <a:solidFill>
                  <a:prstClr val="black"/>
                </a:solidFill>
              </a:rPr>
              <a:t>argv</a:t>
            </a:r>
            <a:r>
              <a:rPr lang="en-US" sz="20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000" dirty="0">
                <a:solidFill>
                  <a:prstClr val="black"/>
                </a:solidFill>
              </a:rPr>
              <a:t>{</a:t>
            </a:r>
          </a:p>
          <a:p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setlocale</a:t>
            </a:r>
            <a:r>
              <a:rPr lang="en-US" sz="2000" dirty="0">
                <a:solidFill>
                  <a:prstClr val="black"/>
                </a:solidFill>
              </a:rPr>
              <a:t>(LC_ALL, 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  <a:r>
              <a:rPr lang="en-US" sz="2000" dirty="0" err="1">
                <a:solidFill>
                  <a:srgbClr val="A31515"/>
                </a:solidFill>
              </a:rPr>
              <a:t>rus</a:t>
            </a:r>
            <a:r>
              <a:rPr lang="en-US" sz="2000" dirty="0">
                <a:solidFill>
                  <a:srgbClr val="A31515"/>
                </a:solidFill>
              </a:rPr>
              <a:t>"</a:t>
            </a:r>
            <a:r>
              <a:rPr lang="en-US" sz="2000" dirty="0">
                <a:solidFill>
                  <a:prstClr val="black"/>
                </a:solidFill>
              </a:rPr>
              <a:t>);</a:t>
            </a:r>
          </a:p>
          <a:p>
            <a:r>
              <a:rPr lang="pt-BR" sz="2000" dirty="0">
                <a:solidFill>
                  <a:prstClr val="black"/>
                </a:solidFill>
              </a:rPr>
              <a:t> </a:t>
            </a:r>
            <a:r>
              <a:rPr lang="pt-BR" sz="2000" dirty="0">
                <a:solidFill>
                  <a:srgbClr val="0000FF"/>
                </a:solidFill>
              </a:rPr>
              <a:t>int</a:t>
            </a:r>
            <a:r>
              <a:rPr lang="pt-BR" sz="2000" dirty="0">
                <a:solidFill>
                  <a:prstClr val="black"/>
                </a:solidFill>
              </a:rPr>
              <a:t> d[N][N] = { </a:t>
            </a:r>
            <a:r>
              <a:rPr lang="pt-BR" sz="2000" dirty="0">
                <a:solidFill>
                  <a:srgbClr val="008000"/>
                </a:solidFill>
              </a:rPr>
              <a:t>//0   1    2    3     4        </a:t>
            </a:r>
          </a:p>
          <a:p>
            <a:r>
              <a:rPr lang="de-DE" sz="2000" dirty="0">
                <a:solidFill>
                  <a:prstClr val="black"/>
                </a:solidFill>
              </a:rPr>
              <a:t>               {  0,  45, INF,  25,   50},    </a:t>
            </a:r>
            <a:r>
              <a:rPr lang="de-DE" sz="2000" dirty="0">
                <a:solidFill>
                  <a:srgbClr val="008000"/>
                </a:solidFill>
              </a:rPr>
              <a:t>//  0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             { 45,   0,  55,  20,  100},    </a:t>
            </a:r>
            <a:r>
              <a:rPr lang="be-BY" sz="2000" dirty="0">
                <a:solidFill>
                  <a:srgbClr val="008000"/>
                </a:solidFill>
              </a:rPr>
              <a:t>//  1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             { 70,  20,   0,  10,   30},    </a:t>
            </a:r>
            <a:r>
              <a:rPr lang="be-BY" sz="2000" dirty="0">
                <a:solidFill>
                  <a:srgbClr val="008000"/>
                </a:solidFill>
              </a:rPr>
              <a:t>//  2 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             { 80,  10,  40,   0,   10},    </a:t>
            </a:r>
            <a:r>
              <a:rPr lang="be-BY" sz="2000" dirty="0">
                <a:solidFill>
                  <a:srgbClr val="008000"/>
                </a:solidFill>
              </a:rPr>
              <a:t>//  3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             { 30,  50,  20,  10,    0}};   </a:t>
            </a:r>
            <a:r>
              <a:rPr lang="be-BY" sz="2000" dirty="0">
                <a:solidFill>
                  <a:srgbClr val="008000"/>
                </a:solidFill>
              </a:rPr>
              <a:t>//  4  </a:t>
            </a:r>
          </a:p>
          <a:p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r[N];                     </a:t>
            </a:r>
            <a:r>
              <a:rPr lang="en-US" sz="2000" dirty="0">
                <a:solidFill>
                  <a:srgbClr val="008000"/>
                </a:solidFill>
              </a:rPr>
              <a:t>// </a:t>
            </a:r>
            <a:r>
              <a:rPr lang="be-BY" sz="2000" dirty="0">
                <a:solidFill>
                  <a:srgbClr val="008000"/>
                </a:solidFill>
              </a:rPr>
              <a:t>результат </a:t>
            </a:r>
          </a:p>
          <a:p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s = salesman (            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        N,          </a:t>
            </a:r>
            <a:r>
              <a:rPr lang="en-US" sz="2000" dirty="0">
                <a:solidFill>
                  <a:srgbClr val="008000"/>
                </a:solidFill>
              </a:rPr>
              <a:t>// [in]  </a:t>
            </a:r>
            <a:r>
              <a:rPr lang="be-BY" sz="2000" dirty="0">
                <a:solidFill>
                  <a:srgbClr val="008000"/>
                </a:solidFill>
              </a:rPr>
              <a:t>количество городов </a:t>
            </a:r>
          </a:p>
          <a:p>
            <a:r>
              <a:rPr lang="ru-RU" sz="2000" dirty="0">
                <a:solidFill>
                  <a:prstClr val="black"/>
                </a:solidFill>
              </a:rPr>
              <a:t>      (</a:t>
            </a:r>
            <a:r>
              <a:rPr lang="ru-RU" sz="2000" dirty="0" err="1">
                <a:solidFill>
                  <a:srgbClr val="0000FF"/>
                </a:solidFill>
              </a:rPr>
              <a:t>int</a:t>
            </a:r>
            <a:r>
              <a:rPr lang="ru-RU" sz="2000" dirty="0">
                <a:solidFill>
                  <a:prstClr val="black"/>
                </a:solidFill>
              </a:rPr>
              <a:t>*)d,          </a:t>
            </a:r>
            <a:r>
              <a:rPr lang="ru-RU" sz="2000" dirty="0">
                <a:solidFill>
                  <a:srgbClr val="008000"/>
                </a:solidFill>
              </a:rPr>
              <a:t>// [</a:t>
            </a:r>
            <a:r>
              <a:rPr lang="ru-RU" sz="2000" dirty="0" err="1">
                <a:solidFill>
                  <a:srgbClr val="008000"/>
                </a:solidFill>
              </a:rPr>
              <a:t>in</a:t>
            </a:r>
            <a:r>
              <a:rPr lang="ru-RU" sz="2000" dirty="0">
                <a:solidFill>
                  <a:srgbClr val="008000"/>
                </a:solidFill>
              </a:rPr>
              <a:t>]  массив [n*n] расстояний 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        r           </a:t>
            </a:r>
            <a:r>
              <a:rPr lang="en-US" sz="2000" dirty="0">
                <a:solidFill>
                  <a:srgbClr val="008000"/>
                </a:solidFill>
              </a:rPr>
              <a:t>// [out] </a:t>
            </a:r>
            <a:r>
              <a:rPr lang="be-BY" sz="2000" dirty="0">
                <a:solidFill>
                  <a:srgbClr val="008000"/>
                </a:solidFill>
              </a:rPr>
              <a:t>массив [</a:t>
            </a:r>
            <a:r>
              <a:rPr lang="en-US" sz="2000" dirty="0">
                <a:solidFill>
                  <a:srgbClr val="008000"/>
                </a:solidFill>
              </a:rPr>
              <a:t>n] </a:t>
            </a:r>
            <a:r>
              <a:rPr lang="be-BY" sz="2000" dirty="0">
                <a:solidFill>
                  <a:srgbClr val="008000"/>
                </a:solidFill>
              </a:rPr>
              <a:t>маршрут 0 </a:t>
            </a:r>
            <a:r>
              <a:rPr lang="en-US" sz="2000" dirty="0">
                <a:solidFill>
                  <a:srgbClr val="008000"/>
                </a:solidFill>
              </a:rPr>
              <a:t>x </a:t>
            </a:r>
            <a:r>
              <a:rPr lang="en-US" sz="2000" dirty="0" err="1">
                <a:solidFill>
                  <a:srgbClr val="008000"/>
                </a:solidFill>
              </a:rPr>
              <a:t>x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 err="1">
                <a:solidFill>
                  <a:srgbClr val="008000"/>
                </a:solidFill>
              </a:rPr>
              <a:t>x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 err="1">
                <a:solidFill>
                  <a:srgbClr val="008000"/>
                </a:solidFill>
              </a:rPr>
              <a:t>x</a:t>
            </a:r>
            <a:r>
              <a:rPr lang="en-US" sz="2000" dirty="0">
                <a:solidFill>
                  <a:srgbClr val="008000"/>
                </a:solidFill>
              </a:rPr>
              <a:t>  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    </a:t>
            </a:r>
            <a:r>
              <a:rPr lang="en-US" sz="2000" dirty="0">
                <a:solidFill>
                  <a:prstClr val="black"/>
                </a:solidFill>
              </a:rPr>
              <a:t>		</a:t>
            </a:r>
            <a:r>
              <a:rPr lang="be-BY" sz="2000" dirty="0">
                <a:solidFill>
                  <a:prstClr val="black"/>
                </a:solidFill>
              </a:rPr>
              <a:t> ); </a:t>
            </a:r>
            <a:endParaRPr lang="be-BY" sz="2000" dirty="0"/>
          </a:p>
        </p:txBody>
      </p:sp>
    </p:spTree>
    <p:extLst>
      <p:ext uri="{BB962C8B-B14F-4D97-AF65-F5344CB8AC3E}">
        <p14:creationId xmlns:p14="http://schemas.microsoft.com/office/powerpoint/2010/main" val="322155647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74477" y="260648"/>
            <a:ext cx="878497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std</a:t>
            </a:r>
            <a:r>
              <a:rPr lang="en-US" sz="2000" dirty="0"/>
              <a:t>::</a:t>
            </a:r>
            <a:r>
              <a:rPr lang="en-US" sz="2000" dirty="0" err="1"/>
              <a:t>cout</a:t>
            </a:r>
            <a:r>
              <a:rPr lang="en-US" sz="2000" dirty="0"/>
              <a:t>&lt;&lt;</a:t>
            </a:r>
            <a:r>
              <a:rPr lang="en-US" sz="2000" dirty="0" err="1"/>
              <a:t>std</a:t>
            </a:r>
            <a:r>
              <a:rPr lang="en-US" sz="2000" dirty="0"/>
              <a:t>::</a:t>
            </a:r>
            <a:r>
              <a:rPr lang="en-US" sz="2000" dirty="0" err="1"/>
              <a:t>endl</a:t>
            </a:r>
            <a:r>
              <a:rPr lang="en-US" sz="2000" dirty="0"/>
              <a:t>&lt;&lt;</a:t>
            </a:r>
            <a:r>
              <a:rPr lang="en-US" sz="2000" dirty="0">
                <a:solidFill>
                  <a:srgbClr val="A31515"/>
                </a:solidFill>
              </a:rPr>
              <a:t>"-- </a:t>
            </a:r>
            <a:r>
              <a:rPr lang="be-BY" sz="2000" dirty="0">
                <a:solidFill>
                  <a:srgbClr val="A31515"/>
                </a:solidFill>
              </a:rPr>
              <a:t>Задача коммивояжера -- "</a:t>
            </a:r>
            <a:r>
              <a:rPr lang="be-BY" sz="2000" dirty="0">
                <a:solidFill>
                  <a:prstClr val="black"/>
                </a:solidFill>
              </a:rPr>
              <a:t>;</a:t>
            </a:r>
          </a:p>
          <a:p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err="1">
                <a:solidFill>
                  <a:prstClr val="black"/>
                </a:solidFill>
              </a:rPr>
              <a:t>std</a:t>
            </a:r>
            <a:r>
              <a:rPr lang="ru-RU" sz="2000" dirty="0">
                <a:solidFill>
                  <a:prstClr val="black"/>
                </a:solidFill>
              </a:rPr>
              <a:t>::</a:t>
            </a:r>
            <a:r>
              <a:rPr lang="ru-RU" sz="2000" dirty="0" err="1">
                <a:solidFill>
                  <a:prstClr val="black"/>
                </a:solidFill>
              </a:rPr>
              <a:t>cout</a:t>
            </a:r>
            <a:r>
              <a:rPr lang="ru-RU" sz="2000" dirty="0">
                <a:solidFill>
                  <a:prstClr val="black"/>
                </a:solidFill>
              </a:rPr>
              <a:t>&lt;&lt;</a:t>
            </a:r>
            <a:r>
              <a:rPr lang="ru-RU" sz="2000" dirty="0" err="1">
                <a:solidFill>
                  <a:prstClr val="black"/>
                </a:solidFill>
              </a:rPr>
              <a:t>std</a:t>
            </a:r>
            <a:r>
              <a:rPr lang="ru-RU" sz="2000" dirty="0">
                <a:solidFill>
                  <a:prstClr val="black"/>
                </a:solidFill>
              </a:rPr>
              <a:t>::</a:t>
            </a:r>
            <a:r>
              <a:rPr lang="ru-RU" sz="2000" dirty="0" err="1">
                <a:solidFill>
                  <a:prstClr val="black"/>
                </a:solidFill>
              </a:rPr>
              <a:t>endl</a:t>
            </a:r>
            <a:r>
              <a:rPr lang="ru-RU" sz="2000" dirty="0">
                <a:solidFill>
                  <a:prstClr val="black"/>
                </a:solidFill>
              </a:rPr>
              <a:t>&lt;&lt;</a:t>
            </a:r>
            <a:r>
              <a:rPr lang="ru-RU" sz="2000" dirty="0">
                <a:solidFill>
                  <a:srgbClr val="A31515"/>
                </a:solidFill>
              </a:rPr>
              <a:t>"-- количество  городов: "</a:t>
            </a:r>
            <a:r>
              <a:rPr lang="ru-RU" sz="2000" dirty="0">
                <a:solidFill>
                  <a:prstClr val="black"/>
                </a:solidFill>
              </a:rPr>
              <a:t>&lt;&lt;N;</a:t>
            </a:r>
          </a:p>
          <a:p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endl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>
                <a:solidFill>
                  <a:srgbClr val="A31515"/>
                </a:solidFill>
              </a:rPr>
              <a:t>"-- </a:t>
            </a:r>
            <a:r>
              <a:rPr lang="be-BY" sz="2000" dirty="0">
                <a:solidFill>
                  <a:srgbClr val="A31515"/>
                </a:solidFill>
              </a:rPr>
              <a:t>матрица расстояний : "</a:t>
            </a:r>
            <a:r>
              <a:rPr lang="be-BY" sz="2000" dirty="0">
                <a:solidFill>
                  <a:prstClr val="black"/>
                </a:solidFill>
              </a:rPr>
              <a:t>;</a:t>
            </a:r>
          </a:p>
          <a:p>
            <a:r>
              <a:rPr lang="nn-NO" sz="2000" dirty="0">
                <a:solidFill>
                  <a:prstClr val="black"/>
                </a:solidFill>
              </a:rPr>
              <a:t> </a:t>
            </a:r>
            <a:r>
              <a:rPr lang="nn-NO" sz="2000" dirty="0">
                <a:solidFill>
                  <a:srgbClr val="0000FF"/>
                </a:solidFill>
              </a:rPr>
              <a:t>for</a:t>
            </a:r>
            <a:r>
              <a:rPr lang="nn-NO" sz="2000" dirty="0">
                <a:solidFill>
                  <a:prstClr val="black"/>
                </a:solidFill>
              </a:rPr>
              <a:t>(</a:t>
            </a:r>
            <a:r>
              <a:rPr lang="nn-NO" sz="2000" dirty="0">
                <a:solidFill>
                  <a:srgbClr val="0000FF"/>
                </a:solidFill>
              </a:rPr>
              <a:t>int</a:t>
            </a:r>
            <a:r>
              <a:rPr lang="nn-NO" sz="2000" dirty="0">
                <a:solidFill>
                  <a:prstClr val="black"/>
                </a:solidFill>
              </a:rPr>
              <a:t> i = 0; i &lt; N; i++)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{ 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endl</a:t>
            </a:r>
            <a:r>
              <a:rPr lang="en-US" sz="2000" dirty="0">
                <a:solidFill>
                  <a:prstClr val="black"/>
                </a:solidFill>
              </a:rPr>
              <a:t>;</a:t>
            </a:r>
          </a:p>
          <a:p>
            <a:r>
              <a:rPr lang="en-US" sz="2000" dirty="0">
                <a:solidFill>
                  <a:prstClr val="black"/>
                </a:solidFill>
              </a:rPr>
              <a:t>    </a:t>
            </a:r>
            <a:r>
              <a:rPr lang="en-US" sz="2000" dirty="0">
                <a:solidFill>
                  <a:srgbClr val="0000FF"/>
                </a:solidFill>
              </a:rPr>
              <a:t>for</a:t>
            </a:r>
            <a:r>
              <a:rPr lang="en-US" sz="2000" dirty="0">
                <a:solidFill>
                  <a:prstClr val="black"/>
                </a:solidFill>
              </a:rPr>
              <a:t> (</a:t>
            </a:r>
            <a:r>
              <a:rPr lang="en-US" sz="2000" dirty="0" err="1">
                <a:solidFill>
                  <a:srgbClr val="0000FF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j = 0; j &lt; N; j++)</a:t>
            </a:r>
          </a:p>
          <a:p>
            <a:endParaRPr lang="be-BY" sz="2000" dirty="0">
              <a:solidFill>
                <a:prstClr val="black"/>
              </a:solidFill>
            </a:endParaRPr>
          </a:p>
          <a:p>
            <a:r>
              <a:rPr lang="en-US" sz="2000" dirty="0">
                <a:solidFill>
                  <a:srgbClr val="0000FF"/>
                </a:solidFill>
              </a:rPr>
              <a:t>if</a:t>
            </a:r>
            <a:r>
              <a:rPr lang="en-US" sz="2000" dirty="0">
                <a:solidFill>
                  <a:prstClr val="black"/>
                </a:solidFill>
              </a:rPr>
              <a:t> (d[i][j]!= INF)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setw</a:t>
            </a:r>
            <a:r>
              <a:rPr lang="en-US" sz="2000" dirty="0">
                <a:solidFill>
                  <a:prstClr val="black"/>
                </a:solidFill>
              </a:rPr>
              <a:t>(3)&lt;&lt;d[i][j]&lt;&lt; </a:t>
            </a:r>
            <a:r>
              <a:rPr lang="en-US" sz="2000" dirty="0">
                <a:solidFill>
                  <a:srgbClr val="A31515"/>
                </a:solidFill>
              </a:rPr>
              <a:t>" "</a:t>
            </a:r>
            <a:r>
              <a:rPr lang="en-US" sz="2000" dirty="0">
                <a:solidFill>
                  <a:prstClr val="black"/>
                </a:solidFill>
              </a:rPr>
              <a:t>;</a:t>
            </a:r>
          </a:p>
          <a:p>
            <a:endParaRPr lang="be-BY" sz="2000" dirty="0">
              <a:solidFill>
                <a:prstClr val="black"/>
              </a:solidFill>
            </a:endParaRPr>
          </a:p>
          <a:p>
            <a:r>
              <a:rPr lang="en-US" sz="2000" dirty="0">
                <a:solidFill>
                  <a:srgbClr val="0000FF"/>
                </a:solidFill>
              </a:rPr>
              <a:t>else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setw</a:t>
            </a:r>
            <a:r>
              <a:rPr lang="en-US" sz="2000" dirty="0">
                <a:solidFill>
                  <a:prstClr val="black"/>
                </a:solidFill>
              </a:rPr>
              <a:t>(3)&lt;&lt;</a:t>
            </a:r>
            <a:r>
              <a:rPr lang="en-US" sz="2000" dirty="0">
                <a:solidFill>
                  <a:srgbClr val="A31515"/>
                </a:solidFill>
              </a:rPr>
              <a:t>"INF"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>
                <a:solidFill>
                  <a:srgbClr val="A31515"/>
                </a:solidFill>
              </a:rPr>
              <a:t>" "</a:t>
            </a:r>
            <a:r>
              <a:rPr lang="en-US" sz="2000" dirty="0">
                <a:solidFill>
                  <a:prstClr val="black"/>
                </a:solidFill>
              </a:rPr>
              <a:t>;</a:t>
            </a:r>
          </a:p>
          <a:p>
            <a:r>
              <a:rPr lang="be-BY" sz="2000" dirty="0">
                <a:solidFill>
                  <a:prstClr val="black"/>
                </a:solidFill>
              </a:rPr>
              <a:t>  }</a:t>
            </a:r>
          </a:p>
          <a:p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endl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>
                <a:solidFill>
                  <a:srgbClr val="A31515"/>
                </a:solidFill>
              </a:rPr>
              <a:t>"-- </a:t>
            </a:r>
            <a:r>
              <a:rPr lang="be-BY" sz="2000" dirty="0">
                <a:solidFill>
                  <a:srgbClr val="A31515"/>
                </a:solidFill>
              </a:rPr>
              <a:t>оптимальный маршрут: "</a:t>
            </a:r>
            <a:r>
              <a:rPr lang="be-BY" sz="2000" dirty="0">
                <a:solidFill>
                  <a:prstClr val="black"/>
                </a:solidFill>
              </a:rPr>
              <a:t>; </a:t>
            </a:r>
          </a:p>
          <a:p>
            <a:r>
              <a:rPr lang="nn-NO" sz="2000" dirty="0">
                <a:solidFill>
                  <a:prstClr val="black"/>
                </a:solidFill>
              </a:rPr>
              <a:t> </a:t>
            </a:r>
            <a:r>
              <a:rPr lang="nn-NO" sz="2000" dirty="0">
                <a:solidFill>
                  <a:srgbClr val="0000FF"/>
                </a:solidFill>
              </a:rPr>
              <a:t>for</a:t>
            </a:r>
            <a:r>
              <a:rPr lang="nn-NO" sz="2000" dirty="0">
                <a:solidFill>
                  <a:prstClr val="black"/>
                </a:solidFill>
              </a:rPr>
              <a:t>(</a:t>
            </a:r>
            <a:r>
              <a:rPr lang="nn-NO" sz="2000" dirty="0">
                <a:solidFill>
                  <a:srgbClr val="0000FF"/>
                </a:solidFill>
              </a:rPr>
              <a:t>int</a:t>
            </a:r>
            <a:r>
              <a:rPr lang="nn-NO" sz="2000" dirty="0">
                <a:solidFill>
                  <a:prstClr val="black"/>
                </a:solidFill>
              </a:rPr>
              <a:t> i = 0; i &lt; N; i++) std::cout&lt;&lt;r[i]&lt;&lt;</a:t>
            </a:r>
            <a:r>
              <a:rPr lang="nn-NO" sz="2000" dirty="0">
                <a:solidFill>
                  <a:srgbClr val="A31515"/>
                </a:solidFill>
              </a:rPr>
              <a:t>"--&gt;"</a:t>
            </a:r>
            <a:r>
              <a:rPr lang="nn-NO" sz="2000" dirty="0">
                <a:solidFill>
                  <a:prstClr val="black"/>
                </a:solidFill>
              </a:rPr>
              <a:t>; std::cout&lt;&lt;0;</a:t>
            </a:r>
          </a:p>
          <a:p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endl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>
                <a:solidFill>
                  <a:srgbClr val="A31515"/>
                </a:solidFill>
              </a:rPr>
              <a:t>"-- </a:t>
            </a:r>
            <a:r>
              <a:rPr lang="be-BY" sz="2000" dirty="0">
                <a:solidFill>
                  <a:srgbClr val="A31515"/>
                </a:solidFill>
              </a:rPr>
              <a:t>длина маршрута     : "</a:t>
            </a:r>
            <a:r>
              <a:rPr lang="be-BY" sz="2000" dirty="0">
                <a:solidFill>
                  <a:prstClr val="black"/>
                </a:solidFill>
              </a:rPr>
              <a:t>&lt;&lt;</a:t>
            </a:r>
            <a:r>
              <a:rPr lang="en-US" sz="2000" dirty="0">
                <a:solidFill>
                  <a:prstClr val="black"/>
                </a:solidFill>
              </a:rPr>
              <a:t>s;  </a:t>
            </a:r>
          </a:p>
          <a:p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&lt;&lt;</a:t>
            </a:r>
            <a:r>
              <a:rPr lang="en-US" sz="2000" dirty="0" err="1">
                <a:solidFill>
                  <a:prstClr val="black"/>
                </a:solidFill>
              </a:rPr>
              <a:t>std</a:t>
            </a:r>
            <a:r>
              <a:rPr lang="en-US" sz="2000" dirty="0">
                <a:solidFill>
                  <a:prstClr val="black"/>
                </a:solidFill>
              </a:rPr>
              <a:t>::</a:t>
            </a:r>
            <a:r>
              <a:rPr lang="en-US" sz="2000" dirty="0" err="1">
                <a:solidFill>
                  <a:prstClr val="black"/>
                </a:solidFill>
              </a:rPr>
              <a:t>endl</a:t>
            </a:r>
            <a:r>
              <a:rPr lang="en-US" sz="2000" dirty="0">
                <a:solidFill>
                  <a:prstClr val="black"/>
                </a:solidFill>
              </a:rPr>
              <a:t>;</a:t>
            </a:r>
          </a:p>
          <a:p>
            <a:r>
              <a:rPr lang="en-US" sz="2000" dirty="0">
                <a:solidFill>
                  <a:prstClr val="black"/>
                </a:solidFill>
              </a:rPr>
              <a:t> system(</a:t>
            </a:r>
            <a:r>
              <a:rPr lang="en-US" sz="2000" dirty="0">
                <a:solidFill>
                  <a:srgbClr val="A31515"/>
                </a:solidFill>
              </a:rPr>
              <a:t>"pause"</a:t>
            </a:r>
            <a:r>
              <a:rPr lang="en-US" sz="2000" dirty="0">
                <a:solidFill>
                  <a:prstClr val="black"/>
                </a:solidFill>
              </a:rPr>
              <a:t>);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return</a:t>
            </a:r>
            <a:r>
              <a:rPr lang="en-US" sz="2000" dirty="0">
                <a:solidFill>
                  <a:prstClr val="black"/>
                </a:solidFill>
              </a:rPr>
              <a:t> 0;</a:t>
            </a:r>
          </a:p>
          <a:p>
            <a:r>
              <a:rPr lang="be-BY" sz="2000" dirty="0">
                <a:solidFill>
                  <a:prstClr val="black"/>
                </a:solidFill>
              </a:rPr>
              <a:t>} </a:t>
            </a:r>
            <a:endParaRPr lang="be-BY" sz="2000" dirty="0"/>
          </a:p>
        </p:txBody>
      </p:sp>
    </p:spTree>
    <p:extLst>
      <p:ext uri="{BB962C8B-B14F-4D97-AF65-F5344CB8AC3E}">
        <p14:creationId xmlns:p14="http://schemas.microsoft.com/office/powerpoint/2010/main" val="2085814240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6-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5" y="692697"/>
            <a:ext cx="8873201" cy="4968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935000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695400" y="1628800"/>
            <a:ext cx="41044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Также можно оценить продолжительность выполнения расчетов алгоритмом. </a:t>
            </a:r>
          </a:p>
          <a:p>
            <a:pPr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 программе применяются функции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auxil</a:t>
            </a:r>
            <a:r>
              <a:rPr lang="ru-RU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start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и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auxil</a:t>
            </a:r>
            <a:r>
              <a:rPr lang="ru-RU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iget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, позволяющие сгенерировать расстояния между городами случайным образом, которые берутся из первой лабораторной работы.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-168696" y="181950"/>
            <a:ext cx="5832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Решение задачи коммивояжера </a:t>
            </a:r>
            <a:r>
              <a:rPr lang="en-US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c</a:t>
            </a:r>
            <a:r>
              <a:rPr lang="ru-RU" sz="2400" b="1" dirty="0">
                <a:solidFill>
                  <a:srgbClr val="7030A0"/>
                </a:solidFill>
                <a:latin typeface="Bahnschrift" panose="020B0502040204020203" pitchFamily="34" charset="0"/>
              </a:rPr>
              <a:t> использованием генератора перестановок</a:t>
            </a:r>
            <a:endParaRPr lang="be-BY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591944" y="80350"/>
            <a:ext cx="6408712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SPACE(n)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(n)&lt;&lt;</a:t>
            </a:r>
            <a:r>
              <a:rPr lang="en-US" sz="2400" dirty="0">
                <a:solidFill>
                  <a:srgbClr val="A31515"/>
                </a:solidFill>
              </a:rPr>
              <a:t>" "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N 12</a:t>
            </a:r>
          </a:p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_</a:t>
            </a:r>
            <a:r>
              <a:rPr lang="en-US" sz="2400" dirty="0" err="1">
                <a:solidFill>
                  <a:prstClr val="black"/>
                </a:solidFill>
              </a:rPr>
              <a:t>tmain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argc</a:t>
            </a:r>
            <a:r>
              <a:rPr lang="en-US" sz="2400" dirty="0">
                <a:solidFill>
                  <a:prstClr val="black"/>
                </a:solidFill>
              </a:rPr>
              <a:t>, _TCHAR* </a:t>
            </a:r>
            <a:r>
              <a:rPr lang="en-US" sz="2400" dirty="0" err="1">
                <a:solidFill>
                  <a:prstClr val="black"/>
                </a:solidFill>
              </a:rPr>
              <a:t>argv</a:t>
            </a:r>
            <a:r>
              <a:rPr lang="en-US" sz="24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400" dirty="0">
                <a:solidFill>
                  <a:prstClr val="black"/>
                </a:solidFill>
              </a:rPr>
              <a:t>{</a:t>
            </a:r>
          </a:p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d[N*N+1], r[N];                  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auxil</a:t>
            </a:r>
            <a:r>
              <a:rPr lang="en-US" sz="2400" dirty="0">
                <a:solidFill>
                  <a:prstClr val="black"/>
                </a:solidFill>
              </a:rPr>
              <a:t>::start(); 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&lt;= N*N; i++) d [i] = auxil::iget(10,100); </a:t>
            </a:r>
            <a:endParaRPr lang="ru-RU" sz="2400" dirty="0">
              <a:solidFill>
                <a:prstClr val="black"/>
              </a:solidFill>
            </a:endParaRPr>
          </a:p>
          <a:p>
            <a:r>
              <a:rPr lang="en-US" sz="2400" dirty="0" err="1">
                <a:solidFill>
                  <a:prstClr val="black"/>
                </a:solidFill>
              </a:rPr>
              <a:t>clock_t</a:t>
            </a:r>
            <a:r>
              <a:rPr lang="en-US" sz="2400" dirty="0">
                <a:solidFill>
                  <a:prstClr val="black"/>
                </a:solidFill>
              </a:rPr>
              <a:t> t1, t2; 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7; i &lt;= N; i++)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 </a:t>
            </a:r>
            <a:r>
              <a:rPr lang="en-US" sz="2400" dirty="0">
                <a:solidFill>
                  <a:prstClr val="black"/>
                </a:solidFill>
              </a:rPr>
              <a:t>t1 = clock();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salesman (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, 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*)d, r);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t2 = clock();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&lt;&lt;SPACE(7)&lt;&lt;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(2)&lt;&lt;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&lt;&lt;SPACE(15)&lt;&lt;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(5)&lt;&lt;(t2-t1);</a:t>
            </a:r>
            <a:r>
              <a:rPr lang="be-BY" sz="2400" dirty="0">
                <a:solidFill>
                  <a:prstClr val="black"/>
                </a:solidFill>
              </a:rPr>
              <a:t>}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system(</a:t>
            </a:r>
            <a:r>
              <a:rPr lang="en-US" sz="2400" dirty="0">
                <a:solidFill>
                  <a:srgbClr val="A31515"/>
                </a:solidFill>
              </a:rPr>
              <a:t>"pause"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0;</a:t>
            </a:r>
            <a:r>
              <a:rPr lang="be-BY" sz="2400" dirty="0">
                <a:solidFill>
                  <a:prstClr val="black"/>
                </a:solidFill>
              </a:rPr>
              <a:t>}  </a:t>
            </a:r>
          </a:p>
          <a:p>
            <a:endParaRPr lang="ru-RU" sz="2400" dirty="0">
              <a:solidFill>
                <a:prstClr val="black"/>
              </a:solidFill>
            </a:endParaRPr>
          </a:p>
          <a:p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129972376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6-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20688"/>
            <a:ext cx="9144000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261245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27411"/>
            <a:ext cx="11094552" cy="6037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850348" y="6129591"/>
            <a:ext cx="26997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Сложность </a:t>
            </a:r>
            <a:endParaRPr lang="ru-RU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316708"/>
              </p:ext>
            </p:extLst>
          </p:nvPr>
        </p:nvGraphicFramePr>
        <p:xfrm>
          <a:off x="5231904" y="6165303"/>
          <a:ext cx="2241252" cy="648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Формула" r:id="rId4" imgW="787400" imgH="228600" progId="Equation.3">
                  <p:embed/>
                </p:oleObj>
              </mc:Choice>
              <mc:Fallback>
                <p:oleObj name="Формула" r:id="rId4" imgW="7874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6165303"/>
                        <a:ext cx="2241252" cy="6480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7357854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75520" y="179250"/>
            <a:ext cx="8604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77" y="3775500"/>
            <a:ext cx="8978108" cy="306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818550"/>
            <a:ext cx="8981409" cy="191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2938785"/>
            <a:ext cx="8805214" cy="8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40185" y="2872942"/>
            <a:ext cx="24089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</a:t>
            </a:r>
            <a:endParaRPr lang="be-BY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7608" y="5311360"/>
            <a:ext cx="24089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be-BY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482" y="60132"/>
            <a:ext cx="4865030" cy="6761050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9284590" y="1274799"/>
            <a:ext cx="1095378" cy="18822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9284590" y="2415999"/>
            <a:ext cx="1095378" cy="741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284590" y="3189988"/>
            <a:ext cx="1095378" cy="11083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9284590" y="3157088"/>
            <a:ext cx="1095378" cy="2554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9460785" y="1556792"/>
            <a:ext cx="1603767" cy="324036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9460785" y="2786543"/>
            <a:ext cx="1603767" cy="201060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V="1">
            <a:off x="9460785" y="4072966"/>
            <a:ext cx="1603767" cy="72418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9460785" y="4797152"/>
            <a:ext cx="1603767" cy="95870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11084460" y="179250"/>
            <a:ext cx="1348244" cy="1564015"/>
          </a:xfrm>
          <a:prstGeom prst="rect">
            <a:avLst/>
          </a:prstGeom>
          <a:solidFill>
            <a:srgbClr val="DEEBF7">
              <a:alpha val="4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11059062" y="1796069"/>
            <a:ext cx="1348244" cy="1620371"/>
          </a:xfrm>
          <a:prstGeom prst="rect">
            <a:avLst/>
          </a:prstGeom>
          <a:solidFill>
            <a:srgbClr val="DEEBF7">
              <a:alpha val="4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11069524" y="3416440"/>
            <a:ext cx="1348244" cy="1613014"/>
          </a:xfrm>
          <a:prstGeom prst="rect">
            <a:avLst/>
          </a:prstGeom>
          <a:solidFill>
            <a:srgbClr val="DEEBF7">
              <a:alpha val="4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>
            <a:off x="11084460" y="5029454"/>
            <a:ext cx="1348244" cy="1620371"/>
          </a:xfrm>
          <a:prstGeom prst="rect">
            <a:avLst/>
          </a:prstGeom>
          <a:solidFill>
            <a:srgbClr val="DEEBF7">
              <a:alpha val="4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2027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5" name="Прямоугольник 4"/>
          <p:cNvSpPr/>
          <p:nvPr/>
        </p:nvSpPr>
        <p:spPr>
          <a:xfrm>
            <a:off x="-7268" y="640915"/>
            <a:ext cx="66073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Схема построения множества размещений 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300" b="1" i="1" baseline="-25000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X</a:t>
            </a:r>
            <a:r>
              <a:rPr lang="ru-RU" sz="2300" b="1" i="1" baseline="-25000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,3 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из элементов </a:t>
            </a:r>
            <a:r>
              <a:rPr lang="ru-RU" sz="2300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множества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X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={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</a:t>
            </a:r>
            <a:r>
              <a:rPr lang="en-US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d</a:t>
            </a:r>
            <a:r>
              <a:rPr lang="ru-RU" sz="23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}.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5360" y="1483620"/>
            <a:ext cx="597666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tabLst>
                <a:tab pos="800100" algn="l"/>
              </a:tabLst>
            </a:pP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Для того чтобы проследить этапы генерации множества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en-US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,3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  на схеме, ее следует рассматривать слева направо. В крайней левой позиции изображено множество {0, 1, 2, 3}, на основе которого формируются четыре сочетания.</a:t>
            </a:r>
          </a:p>
          <a:p>
            <a:pPr indent="323850" algn="just"/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Затем каждое сочетание рассматривается как отдельное множество, состоящее из трех элементов. Для каждого множества формируется по 3!=6 перестановок. В итоге в третьем слева столбце на схеме отображены 4∙6=24 перестановки множества {0, 1, 2, 3}</a:t>
            </a:r>
            <a:r>
              <a:rPr lang="en-US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.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  </a:t>
            </a:r>
          </a:p>
          <a:p>
            <a:pPr indent="323850" algn="just"/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последнем этапе формируется множество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en-US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,3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  всех перестановок элементов множества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={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ru-RU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b</a:t>
            </a:r>
            <a:r>
              <a:rPr lang="ru-RU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d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}.  Элементы множества </a:t>
            </a:r>
            <a:r>
              <a:rPr lang="en-US" sz="20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A</a:t>
            </a:r>
            <a:r>
              <a:rPr lang="en-US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X</a:t>
            </a:r>
            <a:r>
              <a:rPr lang="ru-RU" sz="2000" b="1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,3</a:t>
            </a:r>
            <a:r>
              <a:rPr lang="ru-RU" sz="2000" dirty="0">
                <a:latin typeface="Bahnschrift" panose="020B0502040204020203" pitchFamily="34" charset="0"/>
                <a:ea typeface="Times New Roman" panose="02020603050405020304" pitchFamily="18" charset="0"/>
              </a:rPr>
              <a:t>  отображены в крайнем справа столбце.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-744760" y="102387"/>
            <a:ext cx="8604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1770"/>
              </p:ext>
            </p:extLst>
          </p:nvPr>
        </p:nvGraphicFramePr>
        <p:xfrm>
          <a:off x="6830714" y="25524"/>
          <a:ext cx="4860032" cy="6764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Visio" r:id="rId3" imgW="6740280" imgH="9923073" progId="Visio.Drawing.11">
                  <p:embed/>
                </p:oleObj>
              </mc:Choice>
              <mc:Fallback>
                <p:oleObj name="Visio" r:id="rId3" imgW="6740280" imgH="9923073" progId="Visio.Drawing.11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0714" y="25524"/>
                        <a:ext cx="4860032" cy="67649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830714" y="2780928"/>
            <a:ext cx="417414" cy="122413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830714" y="2791528"/>
            <a:ext cx="417414" cy="122413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54649" y="2784699"/>
            <a:ext cx="417414" cy="122413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6854649" y="2802128"/>
            <a:ext cx="417414" cy="122413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8040216" y="836712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8580785" y="102387"/>
            <a:ext cx="827584" cy="167042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8040216" y="2348880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8580785" y="1772816"/>
            <a:ext cx="827584" cy="167042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8043838" y="3933056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8584407" y="3443245"/>
            <a:ext cx="827584" cy="156993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8040216" y="5589240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8580785" y="5013176"/>
            <a:ext cx="827584" cy="167042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744648" y="102386"/>
            <a:ext cx="977390" cy="658121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 стрелкой 26"/>
          <p:cNvCxnSpPr/>
          <p:nvPr/>
        </p:nvCxnSpPr>
        <p:spPr>
          <a:xfrm flipV="1">
            <a:off x="9721902" y="925710"/>
            <a:ext cx="792088" cy="344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V="1">
            <a:off x="9721902" y="2420888"/>
            <a:ext cx="792088" cy="344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V="1">
            <a:off x="9721902" y="4293096"/>
            <a:ext cx="792088" cy="344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V="1">
            <a:off x="9721902" y="5848390"/>
            <a:ext cx="792088" cy="344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139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4.07407E-6 L -0.00052 -0.17593 C -0.00052 -0.25463 0.0181 -0.35162 0.03321 -0.35162 L 0.06732 -0.35162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-175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7037E-6 L -0.00052 -0.06135 C -0.00052 -0.08866 0.01589 -0.12223 0.0293 -0.12223 L 0.05964 -0.12223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8" y="-611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5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1.11111E-6 L -0.00052 0.06018 C -0.00052 0.08727 0.01588 0.12037 0.02929 0.12037 L 0.05963 0.12037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8" y="601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4.81481E-6 L -0.00052 0.1743 C -0.00052 0.25254 0.0181 0.34884 0.0332 0.34884 L 0.06731 0.34884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1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7" grpId="0" animBg="1"/>
      <p:bldP spid="19" grpId="0" animBg="1"/>
      <p:bldP spid="21" grpId="0" animBg="1"/>
      <p:bldP spid="24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723" y="381136"/>
            <a:ext cx="7992888" cy="659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-конечная звезда 4"/>
          <p:cNvSpPr/>
          <p:nvPr/>
        </p:nvSpPr>
        <p:spPr>
          <a:xfrm>
            <a:off x="9552384" y="2249576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6" name="4-конечная звезда 5"/>
          <p:cNvSpPr/>
          <p:nvPr/>
        </p:nvSpPr>
        <p:spPr>
          <a:xfrm>
            <a:off x="9552384" y="2956008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7" name="4-конечная звезда 6"/>
          <p:cNvSpPr/>
          <p:nvPr/>
        </p:nvSpPr>
        <p:spPr>
          <a:xfrm>
            <a:off x="9552384" y="3275104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8" name="4-конечная звезда 7"/>
          <p:cNvSpPr/>
          <p:nvPr/>
        </p:nvSpPr>
        <p:spPr>
          <a:xfrm>
            <a:off x="9552384" y="4312856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9" name="4-конечная звезда 8"/>
          <p:cNvSpPr/>
          <p:nvPr/>
        </p:nvSpPr>
        <p:spPr>
          <a:xfrm>
            <a:off x="9552384" y="4711496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10" name="4-конечная звезда 9"/>
          <p:cNvSpPr/>
          <p:nvPr/>
        </p:nvSpPr>
        <p:spPr>
          <a:xfrm>
            <a:off x="9552384" y="5431576"/>
            <a:ext cx="216024" cy="216024"/>
          </a:xfrm>
          <a:prstGeom prst="star4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1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1F497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Пример. Имеется множество из 4-х элементов. Необходимо получить все возможные размещения по 2 элемента.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5737743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175227"/>
              </p:ext>
            </p:extLst>
          </p:nvPr>
        </p:nvGraphicFramePr>
        <p:xfrm>
          <a:off x="3473915" y="476672"/>
          <a:ext cx="169839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5" name="Формула" r:id="rId3" imgW="723586" imgH="279279" progId="Equation.3">
                  <p:embed/>
                </p:oleObj>
              </mc:Choice>
              <mc:Fallback>
                <p:oleObj name="Формула" r:id="rId3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5" y="476672"/>
                        <a:ext cx="169839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556140"/>
              </p:ext>
            </p:extLst>
          </p:nvPr>
        </p:nvGraphicFramePr>
        <p:xfrm>
          <a:off x="3473916" y="1268760"/>
          <a:ext cx="172074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6" name="Формула" r:id="rId5" imgW="736600" imgH="279400" progId="Equation.3">
                  <p:embed/>
                </p:oleObj>
              </mc:Choice>
              <mc:Fallback>
                <p:oleObj name="Формула" r:id="rId5" imgW="736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6" y="1268760"/>
                        <a:ext cx="1720744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487948"/>
              </p:ext>
            </p:extLst>
          </p:nvPr>
        </p:nvGraphicFramePr>
        <p:xfrm>
          <a:off x="3473916" y="2060848"/>
          <a:ext cx="169839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7" name="Формула" r:id="rId7" imgW="723586" imgH="279279" progId="Equation.3">
                  <p:embed/>
                </p:oleObj>
              </mc:Choice>
              <mc:Fallback>
                <p:oleObj name="Формула" r:id="rId7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6" y="2060848"/>
                        <a:ext cx="169839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325835"/>
              </p:ext>
            </p:extLst>
          </p:nvPr>
        </p:nvGraphicFramePr>
        <p:xfrm>
          <a:off x="3473916" y="2852936"/>
          <a:ext cx="1676048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8" name="Формула" r:id="rId9" imgW="710891" imgH="279279" progId="Equation.3">
                  <p:embed/>
                </p:oleObj>
              </mc:Choice>
              <mc:Fallback>
                <p:oleObj name="Формула" r:id="rId9" imgW="710891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6" y="2852936"/>
                        <a:ext cx="1676048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139386"/>
              </p:ext>
            </p:extLst>
          </p:nvPr>
        </p:nvGraphicFramePr>
        <p:xfrm>
          <a:off x="3473916" y="3573016"/>
          <a:ext cx="1656184" cy="657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9" name="Формула" r:id="rId11" imgW="698500" imgH="279400" progId="Equation.3">
                  <p:embed/>
                </p:oleObj>
              </mc:Choice>
              <mc:Fallback>
                <p:oleObj name="Формула" r:id="rId11" imgW="6985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6" y="3573016"/>
                        <a:ext cx="1656184" cy="657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474947"/>
              </p:ext>
            </p:extLst>
          </p:nvPr>
        </p:nvGraphicFramePr>
        <p:xfrm>
          <a:off x="3473916" y="4365104"/>
          <a:ext cx="1676048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0" name="Формула" r:id="rId13" imgW="710891" imgH="279279" progId="Equation.3">
                  <p:embed/>
                </p:oleObj>
              </mc:Choice>
              <mc:Fallback>
                <p:oleObj name="Формула" r:id="rId13" imgW="710891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916" y="4365104"/>
                        <a:ext cx="1676048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802332"/>
              </p:ext>
            </p:extLst>
          </p:nvPr>
        </p:nvGraphicFramePr>
        <p:xfrm>
          <a:off x="6426244" y="476673"/>
          <a:ext cx="1705925" cy="65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1" name="Формула" r:id="rId15" imgW="723586" imgH="279279" progId="Equation.3">
                  <p:embed/>
                </p:oleObj>
              </mc:Choice>
              <mc:Fallback>
                <p:oleObj name="Формула" r:id="rId15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244" y="476673"/>
                        <a:ext cx="1705925" cy="650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53565"/>
              </p:ext>
            </p:extLst>
          </p:nvPr>
        </p:nvGraphicFramePr>
        <p:xfrm>
          <a:off x="6426245" y="1268760"/>
          <a:ext cx="1706649" cy="64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2" name="Формула" r:id="rId17" imgW="736600" imgH="279400" progId="Equation.3">
                  <p:embed/>
                </p:oleObj>
              </mc:Choice>
              <mc:Fallback>
                <p:oleObj name="Формула" r:id="rId17" imgW="736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245" y="1268760"/>
                        <a:ext cx="1706649" cy="642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615699"/>
              </p:ext>
            </p:extLst>
          </p:nvPr>
        </p:nvGraphicFramePr>
        <p:xfrm>
          <a:off x="6456040" y="2060848"/>
          <a:ext cx="169839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3" name="Формула" r:id="rId19" imgW="723586" imgH="279279" progId="Equation.3">
                  <p:embed/>
                </p:oleObj>
              </mc:Choice>
              <mc:Fallback>
                <p:oleObj name="Формула" r:id="rId19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2060848"/>
                        <a:ext cx="169839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Объект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567340"/>
              </p:ext>
            </p:extLst>
          </p:nvPr>
        </p:nvGraphicFramePr>
        <p:xfrm>
          <a:off x="6478388" y="2852936"/>
          <a:ext cx="1676049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" name="Формула" r:id="rId21" imgW="710891" imgH="279279" progId="Equation.3">
                  <p:embed/>
                </p:oleObj>
              </mc:Choice>
              <mc:Fallback>
                <p:oleObj name="Формула" r:id="rId21" imgW="710891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388" y="2852936"/>
                        <a:ext cx="1676049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337791"/>
              </p:ext>
            </p:extLst>
          </p:nvPr>
        </p:nvGraphicFramePr>
        <p:xfrm>
          <a:off x="6498252" y="3573016"/>
          <a:ext cx="163135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" name="Формула" r:id="rId23" imgW="698500" imgH="279400" progId="Equation.3">
                  <p:embed/>
                </p:oleObj>
              </mc:Choice>
              <mc:Fallback>
                <p:oleObj name="Формула" r:id="rId23" imgW="6985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252" y="3573016"/>
                        <a:ext cx="1631354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34122"/>
              </p:ext>
            </p:extLst>
          </p:nvPr>
        </p:nvGraphicFramePr>
        <p:xfrm>
          <a:off x="6555136" y="4365104"/>
          <a:ext cx="1676048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6" name="Формула" r:id="rId25" imgW="710891" imgH="279279" progId="Equation.3">
                  <p:embed/>
                </p:oleObj>
              </mc:Choice>
              <mc:Fallback>
                <p:oleObj name="Формула" r:id="rId25" imgW="710891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5136" y="4365104"/>
                        <a:ext cx="1676048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/>
        </p:nvGraphicFramePr>
        <p:xfrm>
          <a:off x="1703512" y="5445224"/>
          <a:ext cx="3370404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7" name="Формула" r:id="rId27" imgW="2133600" imgH="635000" progId="Equation.3">
                  <p:embed/>
                </p:oleObj>
              </mc:Choice>
              <mc:Fallback>
                <p:oleObj name="Формула" r:id="rId27" imgW="21336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5445224"/>
                        <a:ext cx="3370404" cy="1008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/>
        </p:nvGraphicFramePr>
        <p:xfrm>
          <a:off x="5591945" y="5733256"/>
          <a:ext cx="1227267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8" name="Формула" r:id="rId29" imgW="532937" imgH="215713" progId="Equation.3">
                  <p:embed/>
                </p:oleObj>
              </mc:Choice>
              <mc:Fallback>
                <p:oleObj name="Формула" r:id="rId29" imgW="532937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5" y="5733256"/>
                        <a:ext cx="1227267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Объект 33"/>
          <p:cNvGraphicFramePr>
            <a:graphicFrameLocks noChangeAspect="1"/>
          </p:cNvGraphicFramePr>
          <p:nvPr/>
        </p:nvGraphicFramePr>
        <p:xfrm>
          <a:off x="7573963" y="5583239"/>
          <a:ext cx="270351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9" name="Формула" r:id="rId31" imgW="1790640" imgH="482400" progId="Equation.3">
                  <p:embed/>
                </p:oleObj>
              </mc:Choice>
              <mc:Fallback>
                <p:oleObj name="Формула" r:id="rId31" imgW="17906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963" y="5583239"/>
                        <a:ext cx="2703512" cy="73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3191109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983432" y="1720840"/>
            <a:ext cx="102251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Как и в предыдущих случаях, генератор размещений тоже реализован в виде структуры. Структура </a:t>
            </a:r>
            <a:r>
              <a:rPr lang="ru-RU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accomodation</a:t>
            </a:r>
            <a:r>
              <a:rPr lang="ru-RU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имеет один конструктор. С помощью двух параметров конструктору передается размерность исходного множества (параметр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 и размерность генерируемых размещений  (параметр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). </a:t>
            </a:r>
          </a:p>
          <a:p>
            <a:pPr indent="323850" algn="just"/>
            <a:endParaRPr lang="ru-RU" sz="28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своей работе генератор размещений использует два встроенных генератора: сочетаний (указатель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cgen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 и перестановок (указатель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pgen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999527272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2135560" y="1556792"/>
            <a:ext cx="43924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n,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m)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 = n;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-&gt;m = m;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cgen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xcombination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n,m</a:t>
            </a:r>
            <a:r>
              <a:rPr lang="en-US" sz="2400" dirty="0">
                <a:solidFill>
                  <a:prstClr val="black"/>
                </a:solidFill>
              </a:rPr>
              <a:t>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pgen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permutation(m);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[m];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-&gt;reset();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}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2583309777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695400" y="1484784"/>
            <a:ext cx="10801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Текущее состояние генератора определяется состоянием используемых генераторов, а также значением четырех переменных: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(количество элементов исходного множества),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(размерность генерируемых размещений),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(указатель на массив индексов) и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na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(номер текущего размещения). Все переменные, включая указатели генераторов, инициализируются в конструкторе. Значение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na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увеличивается на единицу после генерации очередного размещения. Элементы </a:t>
            </a:r>
            <a:r>
              <a:rPr lang="ru-RU" sz="28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мас</a:t>
            </a:r>
            <a:r>
              <a:rPr lang="en-US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ива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sset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меняются при каждом цикле работы генератора.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</p:spTree>
    <p:extLst>
      <p:ext uri="{BB962C8B-B14F-4D97-AF65-F5344CB8AC3E}">
        <p14:creationId xmlns:p14="http://schemas.microsoft.com/office/powerpoint/2010/main" val="2406145408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7" name="Прямоугольник 6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35560" y="1124744"/>
            <a:ext cx="439248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n,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m)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 = n;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-&gt;m = m;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cgen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xcombination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n,m</a:t>
            </a:r>
            <a:r>
              <a:rPr lang="en-US" sz="2400" dirty="0">
                <a:solidFill>
                  <a:prstClr val="black"/>
                </a:solidFill>
              </a:rPr>
              <a:t>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pgen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permutation(m);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</a:rPr>
              <a:t>new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[m];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-&gt;reset();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}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::reset()  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na</a:t>
            </a:r>
            <a:r>
              <a:rPr lang="en-US" sz="2400" dirty="0">
                <a:solidFill>
                  <a:prstClr val="black"/>
                </a:solidFill>
              </a:rPr>
              <a:t> = 0;</a:t>
            </a:r>
            <a:endParaRPr lang="ru-RU" sz="2400" dirty="0">
              <a:solidFill>
                <a:prstClr val="black"/>
              </a:solidFill>
            </a:endParaRPr>
          </a:p>
          <a:p>
            <a:r>
              <a:rPr lang="ru-RU" sz="2400" dirty="0">
                <a:solidFill>
                  <a:prstClr val="black"/>
                </a:solidFill>
              </a:rPr>
              <a:t>…</a:t>
            </a:r>
            <a:endParaRPr lang="en-US" sz="2400" dirty="0">
              <a:solidFill>
                <a:prstClr val="black"/>
              </a:solidFill>
            </a:endParaRPr>
          </a:p>
          <a:p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2463312346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6" name="Прямоугольник 5"/>
          <p:cNvSpPr/>
          <p:nvPr/>
        </p:nvSpPr>
        <p:spPr>
          <a:xfrm>
            <a:off x="479376" y="1340768"/>
            <a:ext cx="45365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Кроме конструктора, структура </a:t>
            </a:r>
            <a:r>
              <a:rPr lang="ru-RU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accomodation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содержит еще пять функций.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не имеет параметров и предназначена для формирования первого размещения. Первое размещение совпадает с первым сочетанием, сформированным функцией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встроенного генератора сочетаний.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077744" y="1109058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short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accomodation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getfirst</a:t>
            </a:r>
            <a:r>
              <a:rPr lang="en-US" sz="2800" dirty="0">
                <a:solidFill>
                  <a:prstClr val="black"/>
                </a:solidFill>
              </a:rPr>
              <a:t>()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short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-&gt;n &gt;=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-&gt;m)?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-&gt;m:-1;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prstClr val="black"/>
                </a:solidFill>
              </a:rPr>
              <a:t> (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&gt; 0)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 {</a:t>
            </a:r>
          </a:p>
          <a:p>
            <a:r>
              <a:rPr lang="nn-NO" sz="2800" dirty="0">
                <a:solidFill>
                  <a:prstClr val="black"/>
                </a:solidFill>
              </a:rPr>
              <a:t>    </a:t>
            </a:r>
            <a:r>
              <a:rPr lang="nn-NO" sz="2800" dirty="0">
                <a:solidFill>
                  <a:srgbClr val="0000FF"/>
                </a:solidFill>
              </a:rPr>
              <a:t>for</a:t>
            </a:r>
            <a:r>
              <a:rPr lang="nn-NO" sz="2800" dirty="0">
                <a:solidFill>
                  <a:prstClr val="black"/>
                </a:solidFill>
              </a:rPr>
              <a:t> (</a:t>
            </a:r>
            <a:r>
              <a:rPr lang="nn-NO" sz="2800" dirty="0">
                <a:solidFill>
                  <a:srgbClr val="0000FF"/>
                </a:solidFill>
              </a:rPr>
              <a:t>int</a:t>
            </a:r>
            <a:r>
              <a:rPr lang="nn-NO" sz="2800" dirty="0">
                <a:solidFill>
                  <a:prstClr val="black"/>
                </a:solidFill>
              </a:rPr>
              <a:t> i = 0; i &lt;= </a:t>
            </a:r>
            <a:r>
              <a:rPr lang="nn-NO" sz="2800" dirty="0">
                <a:solidFill>
                  <a:srgbClr val="0000FF"/>
                </a:solidFill>
              </a:rPr>
              <a:t>this</a:t>
            </a:r>
            <a:r>
              <a:rPr lang="nn-NO" sz="2800" dirty="0">
                <a:solidFill>
                  <a:prstClr val="black"/>
                </a:solidFill>
              </a:rPr>
              <a:t>-&gt;m; i++)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sset</a:t>
            </a:r>
            <a:r>
              <a:rPr lang="en-US" sz="2800" dirty="0">
                <a:solidFill>
                  <a:prstClr val="black"/>
                </a:solidFill>
              </a:rPr>
              <a:t>[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] =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cgen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sset</a:t>
            </a:r>
            <a:r>
              <a:rPr lang="en-US" sz="2800" dirty="0">
                <a:solidFill>
                  <a:prstClr val="black"/>
                </a:solidFill>
              </a:rPr>
              <a:t>[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pgen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ntx</a:t>
            </a:r>
            <a:r>
              <a:rPr lang="en-US" sz="2800" dirty="0">
                <a:solidFill>
                  <a:prstClr val="black"/>
                </a:solidFill>
              </a:rPr>
              <a:t>(</a:t>
            </a:r>
            <a:r>
              <a:rPr lang="en-US" sz="2800" dirty="0" err="1">
                <a:solidFill>
                  <a:prstClr val="black"/>
                </a:solidFill>
              </a:rPr>
              <a:t>i</a:t>
            </a:r>
            <a:r>
              <a:rPr lang="en-US" sz="2800" dirty="0">
                <a:solidFill>
                  <a:prstClr val="black"/>
                </a:solidFill>
              </a:rPr>
              <a:t>)];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 };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};</a:t>
            </a: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257006034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623392" y="1484784"/>
            <a:ext cx="48245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reset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позволяет сбросить текущее состояние генератора для того, чтобы начать его работу сначала. Функция выполняет сброс встроенных генераторов, устанавливает значение нумератора размещений (переменная </a:t>
            </a:r>
            <a:r>
              <a:rPr lang="en-US" sz="2400" b="1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na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 в нуль и выполняет функцию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встроенного</a:t>
            </a:r>
            <a:r>
              <a:rPr lang="ru-RU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генератора сочетаний. </a:t>
            </a: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384032" y="1700808"/>
            <a:ext cx="5227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void</a:t>
            </a:r>
            <a:r>
              <a:rPr lang="en-US" sz="3200" dirty="0">
                <a:solidFill>
                  <a:prstClr val="black"/>
                </a:solidFill>
              </a:rPr>
              <a:t>  </a:t>
            </a:r>
            <a:r>
              <a:rPr lang="en-US" sz="3200" dirty="0" err="1">
                <a:solidFill>
                  <a:prstClr val="black"/>
                </a:solidFill>
              </a:rPr>
              <a:t>accomodation</a:t>
            </a:r>
            <a:r>
              <a:rPr lang="en-US" sz="3200" dirty="0">
                <a:solidFill>
                  <a:prstClr val="black"/>
                </a:solidFill>
              </a:rPr>
              <a:t>::reset()    </a:t>
            </a:r>
          </a:p>
          <a:p>
            <a:r>
              <a:rPr lang="be-BY" sz="3200" dirty="0">
                <a:solidFill>
                  <a:prstClr val="black"/>
                </a:solidFill>
              </a:rPr>
              <a:t>  {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na</a:t>
            </a:r>
            <a:r>
              <a:rPr lang="en-US" sz="3200" dirty="0">
                <a:solidFill>
                  <a:prstClr val="black"/>
                </a:solidFill>
              </a:rPr>
              <a:t> = 0;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cgen</a:t>
            </a:r>
            <a:r>
              <a:rPr lang="en-US" sz="3200" dirty="0">
                <a:solidFill>
                  <a:prstClr val="black"/>
                </a:solidFill>
              </a:rPr>
              <a:t>-&gt;reset();     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pgen</a:t>
            </a:r>
            <a:r>
              <a:rPr lang="en-US" sz="3200" dirty="0">
                <a:solidFill>
                  <a:prstClr val="black"/>
                </a:solidFill>
              </a:rPr>
              <a:t>-&gt;reset();     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</a:t>
            </a:r>
            <a:r>
              <a:rPr lang="en-US" sz="3200" dirty="0">
                <a:solidFill>
                  <a:srgbClr val="0000FF"/>
                </a:solidFill>
              </a:rPr>
              <a:t>this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cgen</a:t>
            </a:r>
            <a:r>
              <a:rPr lang="en-US" sz="3200" dirty="0">
                <a:solidFill>
                  <a:prstClr val="black"/>
                </a:solidFill>
              </a:rPr>
              <a:t>-&gt;</a:t>
            </a:r>
            <a:r>
              <a:rPr lang="en-US" sz="3200" dirty="0" err="1">
                <a:solidFill>
                  <a:prstClr val="black"/>
                </a:solidFill>
              </a:rPr>
              <a:t>getfirst</a:t>
            </a:r>
            <a:r>
              <a:rPr lang="en-US" sz="3200" dirty="0">
                <a:solidFill>
                  <a:prstClr val="black"/>
                </a:solidFill>
              </a:rPr>
              <a:t>();</a:t>
            </a:r>
          </a:p>
          <a:p>
            <a:r>
              <a:rPr lang="be-BY" sz="3200" dirty="0">
                <a:solidFill>
                  <a:prstClr val="black"/>
                </a:solidFill>
              </a:rPr>
              <a:t>  }; </a:t>
            </a:r>
          </a:p>
        </p:txBody>
      </p:sp>
    </p:spTree>
    <p:extLst>
      <p:ext uri="{BB962C8B-B14F-4D97-AF65-F5344CB8AC3E}">
        <p14:creationId xmlns:p14="http://schemas.microsoft.com/office/powerpoint/2010/main" val="1336137617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695400" y="1484784"/>
            <a:ext cx="43924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getnext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формирует массив индексов следующего размещения и увеличивает значение переменной </a:t>
            </a:r>
            <a:r>
              <a:rPr lang="en-US" sz="24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na</a:t>
            </a:r>
            <a:r>
              <a:rPr lang="ru-RU" sz="2400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единицу. В своей работе функция использует  функции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getnext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или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встроенных генераторов, а также функцию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генератора размещений.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519936" y="1268760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short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accomodation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getnext</a:t>
            </a:r>
            <a:r>
              <a:rPr lang="en-US" sz="2800" dirty="0">
                <a:solidFill>
                  <a:prstClr val="black"/>
                </a:solidFill>
              </a:rPr>
              <a:t>()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short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na</a:t>
            </a:r>
            <a:r>
              <a:rPr lang="en-US" sz="2800" dirty="0">
                <a:solidFill>
                  <a:prstClr val="black"/>
                </a:solidFill>
              </a:rPr>
              <a:t>++;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prstClr val="black"/>
                </a:solidFill>
              </a:rPr>
              <a:t> ((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pgen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getnext</a:t>
            </a:r>
            <a:r>
              <a:rPr lang="en-US" sz="2800" dirty="0">
                <a:solidFill>
                  <a:prstClr val="black"/>
                </a:solidFill>
              </a:rPr>
              <a:t>())&gt; 0)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getfirst</a:t>
            </a:r>
            <a:r>
              <a:rPr lang="en-US" sz="2800" dirty="0">
                <a:solidFill>
                  <a:prstClr val="black"/>
                </a:solidFill>
              </a:rPr>
              <a:t>();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else</a:t>
            </a:r>
            <a:r>
              <a:rPr lang="en-US" sz="2800" dirty="0">
                <a:solidFill>
                  <a:prstClr val="black"/>
                </a:solidFill>
              </a:rPr>
              <a:t>  </a:t>
            </a:r>
            <a:r>
              <a:rPr lang="en-US" sz="2800" dirty="0">
                <a:solidFill>
                  <a:srgbClr val="0000FF"/>
                </a:solidFill>
              </a:rPr>
              <a:t>if</a:t>
            </a:r>
            <a:r>
              <a:rPr lang="en-US" sz="2800" dirty="0">
                <a:solidFill>
                  <a:prstClr val="black"/>
                </a:solidFill>
              </a:rPr>
              <a:t> ((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cgen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getnext</a:t>
            </a:r>
            <a:r>
              <a:rPr lang="en-US" sz="2800" dirty="0">
                <a:solidFill>
                  <a:prstClr val="black"/>
                </a:solidFill>
              </a:rPr>
              <a:t>())&gt; 0)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   {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pgen</a:t>
            </a:r>
            <a:r>
              <a:rPr lang="en-US" sz="2800" dirty="0">
                <a:solidFill>
                  <a:prstClr val="black"/>
                </a:solidFill>
              </a:rPr>
              <a:t>-&gt;reset(); 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 = </a:t>
            </a:r>
            <a:r>
              <a:rPr lang="en-US" sz="2800" dirty="0">
                <a:solidFill>
                  <a:srgbClr val="0000FF"/>
                </a:solidFill>
              </a:rPr>
              <a:t>this</a:t>
            </a:r>
            <a:r>
              <a:rPr lang="en-US" sz="2800" dirty="0">
                <a:solidFill>
                  <a:prstClr val="black"/>
                </a:solidFill>
              </a:rPr>
              <a:t>-&gt;</a:t>
            </a:r>
            <a:r>
              <a:rPr lang="en-US" sz="2800" dirty="0" err="1">
                <a:solidFill>
                  <a:prstClr val="black"/>
                </a:solidFill>
              </a:rPr>
              <a:t>getfirst</a:t>
            </a:r>
            <a:r>
              <a:rPr lang="en-US" sz="2800" dirty="0">
                <a:solidFill>
                  <a:prstClr val="black"/>
                </a:solidFill>
              </a:rPr>
              <a:t>();}; 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  </a:t>
            </a:r>
            <a:r>
              <a:rPr lang="en-US" sz="2800" dirty="0">
                <a:solidFill>
                  <a:srgbClr val="0000FF"/>
                </a:solidFill>
              </a:rPr>
              <a:t>return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rc</a:t>
            </a:r>
            <a:r>
              <a:rPr lang="en-US" sz="2800" dirty="0">
                <a:solidFill>
                  <a:prstClr val="black"/>
                </a:solidFill>
              </a:rPr>
              <a:t>; 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2084912250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2" name="Прямоугольник 1"/>
          <p:cNvSpPr/>
          <p:nvPr/>
        </p:nvSpPr>
        <p:spPr>
          <a:xfrm>
            <a:off x="839416" y="1556792"/>
            <a:ext cx="46085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ntx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возвращает значение элемента массива индексов по индексу этого элемента и служит для сокращения записи при переборе элементов массива. </a:t>
            </a: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4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count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вычисляет и возвращает общее количество размещений из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по </a:t>
            </a:r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en-US" sz="24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элементов.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75520" y="179250"/>
            <a:ext cx="8604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Bahnschrift" panose="020B0502040204020203" pitchFamily="34" charset="0"/>
              </a:rPr>
              <a:t>Генерация размещений </a:t>
            </a:r>
          </a:p>
          <a:p>
            <a:pPr algn="ctr"/>
            <a:r>
              <a:rPr lang="ru-RU" sz="2400" b="1" i="1" dirty="0">
                <a:solidFill>
                  <a:srgbClr val="0070C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Реализация генератора размещений на языке С++.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07968" y="154334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ntx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)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{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</a:t>
            </a:r>
            <a:r>
              <a:rPr lang="en-US" sz="2400" dirty="0" err="1">
                <a:solidFill>
                  <a:prstClr val="black"/>
                </a:solidFill>
              </a:rPr>
              <a:t>sset</a:t>
            </a:r>
            <a:r>
              <a:rPr lang="en-US" sz="2400" dirty="0">
                <a:solidFill>
                  <a:prstClr val="black"/>
                </a:solidFill>
              </a:rPr>
              <a:t>[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];  };</a:t>
            </a:r>
            <a:endParaRPr lang="ru-RU" sz="2400" dirty="0">
              <a:solidFill>
                <a:prstClr val="black"/>
              </a:solidFill>
            </a:endParaRP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unsigned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fact(</a:t>
            </a:r>
            <a:r>
              <a:rPr lang="en-US" sz="2400" dirty="0">
                <a:solidFill>
                  <a:srgbClr val="0000FF"/>
                </a:solidFill>
              </a:rPr>
              <a:t>unsigned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x){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(x == 0)?1:(x*fact(x-1));}; </a:t>
            </a:r>
            <a:endParaRPr lang="ru-RU" sz="2400" dirty="0">
              <a:solidFill>
                <a:prstClr val="black"/>
              </a:solidFill>
            </a:endParaRP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unsigned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__int64</a:t>
            </a:r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::count()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endParaRPr lang="en-US" sz="2400" dirty="0">
              <a:solidFill>
                <a:srgbClr val="0000FF"/>
              </a:solidFill>
            </a:endParaRP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 &gt;=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-&gt;m)?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 fact(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-&gt;n)/fact(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-&gt;n - </a:t>
            </a:r>
            <a:r>
              <a:rPr lang="en-US" sz="2400" dirty="0">
                <a:solidFill>
                  <a:srgbClr val="0000FF"/>
                </a:solidFill>
              </a:rPr>
              <a:t>this</a:t>
            </a:r>
            <a:r>
              <a:rPr lang="en-US" sz="2400" dirty="0">
                <a:solidFill>
                  <a:prstClr val="black"/>
                </a:solidFill>
              </a:rPr>
              <a:t>-&gt;m):0;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};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31693594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31504" y="188641"/>
            <a:ext cx="921702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</a:rPr>
              <a:t>// --- main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stdafx.h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&lt;</a:t>
            </a:r>
            <a:r>
              <a:rPr lang="en-US" sz="2400" dirty="0" err="1">
                <a:solidFill>
                  <a:srgbClr val="A31515"/>
                </a:solidFill>
              </a:rPr>
              <a:t>iostream</a:t>
            </a:r>
            <a:r>
              <a:rPr lang="en-US" sz="2400" dirty="0">
                <a:solidFill>
                  <a:srgbClr val="A31515"/>
                </a:solidFill>
              </a:rPr>
              <a:t>&gt;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&lt;</a:t>
            </a:r>
            <a:r>
              <a:rPr lang="en-US" sz="2400" dirty="0" err="1">
                <a:solidFill>
                  <a:srgbClr val="A31515"/>
                </a:solidFill>
              </a:rPr>
              <a:t>iomanip</a:t>
            </a:r>
            <a:r>
              <a:rPr lang="en-US" sz="2400" dirty="0">
                <a:solidFill>
                  <a:srgbClr val="A31515"/>
                </a:solidFill>
              </a:rPr>
              <a:t>&gt;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#include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Combi.h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N (</a:t>
            </a:r>
            <a:r>
              <a:rPr lang="en-US" sz="2400" dirty="0" err="1">
                <a:solidFill>
                  <a:srgbClr val="0000FF"/>
                </a:solidFill>
              </a:rPr>
              <a:t>sizeof</a:t>
            </a:r>
            <a:r>
              <a:rPr lang="en-US" sz="2400" dirty="0">
                <a:solidFill>
                  <a:prstClr val="black"/>
                </a:solidFill>
              </a:rPr>
              <a:t>(AA)/2)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M 3</a:t>
            </a:r>
          </a:p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_</a:t>
            </a:r>
            <a:r>
              <a:rPr lang="en-US" sz="2400" dirty="0" err="1">
                <a:solidFill>
                  <a:prstClr val="black"/>
                </a:solidFill>
              </a:rPr>
              <a:t>tmain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argc</a:t>
            </a:r>
            <a:r>
              <a:rPr lang="en-US" sz="2400" dirty="0">
                <a:solidFill>
                  <a:prstClr val="black"/>
                </a:solidFill>
              </a:rPr>
              <a:t>, _TCHAR* </a:t>
            </a:r>
            <a:r>
              <a:rPr lang="en-US" sz="2400" dirty="0" err="1">
                <a:solidFill>
                  <a:prstClr val="black"/>
                </a:solidFill>
              </a:rPr>
              <a:t>argv</a:t>
            </a:r>
            <a:r>
              <a:rPr lang="en-US" sz="24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400" dirty="0">
                <a:solidFill>
                  <a:prstClr val="black"/>
                </a:solidFill>
              </a:rPr>
              <a:t>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setlocale</a:t>
            </a:r>
            <a:r>
              <a:rPr lang="en-US" sz="2400" dirty="0">
                <a:solidFill>
                  <a:prstClr val="black"/>
                </a:solidFill>
              </a:rPr>
              <a:t>(LC_ALL,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rus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pt-BR" sz="2400" dirty="0">
                <a:solidFill>
                  <a:prstClr val="black"/>
                </a:solidFill>
              </a:rPr>
              <a:t> </a:t>
            </a:r>
            <a:r>
              <a:rPr lang="pt-BR" sz="2400" dirty="0">
                <a:solidFill>
                  <a:srgbClr val="0000FF"/>
                </a:solidFill>
              </a:rPr>
              <a:t>char</a:t>
            </a:r>
            <a:r>
              <a:rPr lang="pt-BR" sz="2400" dirty="0">
                <a:solidFill>
                  <a:prstClr val="black"/>
                </a:solidFill>
              </a:rPr>
              <a:t>  AA[][2]= {</a:t>
            </a:r>
            <a:r>
              <a:rPr lang="pt-BR" sz="2400" dirty="0">
                <a:solidFill>
                  <a:srgbClr val="A31515"/>
                </a:solidFill>
              </a:rPr>
              <a:t>"A"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"B"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"C"</a:t>
            </a:r>
            <a:r>
              <a:rPr lang="pt-BR" sz="2400" dirty="0">
                <a:solidFill>
                  <a:prstClr val="black"/>
                </a:solidFill>
              </a:rPr>
              <a:t>, </a:t>
            </a:r>
            <a:r>
              <a:rPr lang="pt-BR" sz="2400" dirty="0">
                <a:solidFill>
                  <a:srgbClr val="A31515"/>
                </a:solidFill>
              </a:rPr>
              <a:t>"D"</a:t>
            </a:r>
            <a:r>
              <a:rPr lang="pt-BR" sz="2400" dirty="0">
                <a:solidFill>
                  <a:prstClr val="black"/>
                </a:solidFill>
              </a:rPr>
              <a:t>}; </a:t>
            </a:r>
          </a:p>
          <a:p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cout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endl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>
                <a:solidFill>
                  <a:srgbClr val="A31515"/>
                </a:solidFill>
              </a:rPr>
              <a:t>" --- Генератор размещений ---"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cout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endl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>
                <a:solidFill>
                  <a:srgbClr val="A31515"/>
                </a:solidFill>
              </a:rPr>
              <a:t>"Исходное множество: 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"{ 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 N; i++) </a:t>
            </a:r>
            <a:endParaRPr lang="be-BY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  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&lt;&lt;AA[i]&lt;&lt;((i&lt; N-1)?</a:t>
            </a:r>
            <a:r>
              <a:rPr lang="en-US" sz="2400" dirty="0">
                <a:solidFill>
                  <a:srgbClr val="A31515"/>
                </a:solidFill>
              </a:rPr>
              <a:t>", "</a:t>
            </a:r>
            <a:r>
              <a:rPr lang="en-US" sz="2400" dirty="0">
                <a:solidFill>
                  <a:prstClr val="black"/>
                </a:solidFill>
              </a:rPr>
              <a:t>:</a:t>
            </a:r>
            <a:r>
              <a:rPr lang="en-US" sz="2400" dirty="0">
                <a:solidFill>
                  <a:srgbClr val="A31515"/>
                </a:solidFill>
              </a:rPr>
              <a:t>" "</a:t>
            </a:r>
            <a:r>
              <a:rPr lang="en-US" sz="2400" dirty="0">
                <a:solidFill>
                  <a:prstClr val="black"/>
                </a:solidFill>
              </a:rPr>
              <a:t>);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"}"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1087252133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55440" y="476672"/>
            <a:ext cx="105851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cout</a:t>
            </a:r>
            <a:r>
              <a:rPr lang="ru-RU" sz="2400" dirty="0"/>
              <a:t>&lt;&lt;</a:t>
            </a:r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endl</a:t>
            </a:r>
            <a:r>
              <a:rPr lang="ru-RU" sz="2400" dirty="0"/>
              <a:t>&lt;&lt;</a:t>
            </a:r>
            <a:r>
              <a:rPr lang="ru-RU" sz="2400" dirty="0">
                <a:solidFill>
                  <a:srgbClr val="A31515"/>
                </a:solidFill>
              </a:rPr>
              <a:t>"Генерация размещений  из  "</a:t>
            </a:r>
            <a:r>
              <a:rPr lang="ru-RU" sz="2400" dirty="0">
                <a:solidFill>
                  <a:prstClr val="black"/>
                </a:solidFill>
              </a:rPr>
              <a:t>&lt;&lt; N &lt;&lt;</a:t>
            </a:r>
            <a:r>
              <a:rPr lang="ru-RU" sz="2400" dirty="0">
                <a:solidFill>
                  <a:srgbClr val="A31515"/>
                </a:solidFill>
              </a:rPr>
              <a:t>" по "</a:t>
            </a:r>
            <a:r>
              <a:rPr lang="ru-RU" sz="2400" dirty="0">
                <a:solidFill>
                  <a:prstClr val="black"/>
                </a:solidFill>
              </a:rPr>
              <a:t>&lt;&lt;M;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s(N,M);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 n  = </a:t>
            </a:r>
            <a:r>
              <a:rPr lang="en-US" sz="2400" dirty="0" err="1">
                <a:solidFill>
                  <a:prstClr val="black"/>
                </a:solidFill>
              </a:rPr>
              <a:t>s.getfirst</a:t>
            </a:r>
            <a:r>
              <a:rPr lang="en-US" sz="2400" dirty="0">
                <a:solidFill>
                  <a:prstClr val="black"/>
                </a:solidFill>
              </a:rPr>
              <a:t>();    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while</a:t>
            </a:r>
            <a:r>
              <a:rPr lang="en-US" sz="2400" dirty="0">
                <a:solidFill>
                  <a:prstClr val="black"/>
                </a:solidFill>
              </a:rPr>
              <a:t> (n &gt;= 0)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(2)&lt;&lt;s.na&lt;&lt;</a:t>
            </a:r>
            <a:r>
              <a:rPr lang="en-US" sz="2400" dirty="0">
                <a:solidFill>
                  <a:srgbClr val="A31515"/>
                </a:solidFill>
              </a:rPr>
              <a:t>": { 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 3; i++)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&lt;&lt;AA[</a:t>
            </a:r>
            <a:r>
              <a:rPr lang="en-US" sz="2400" dirty="0" err="1">
                <a:solidFill>
                  <a:prstClr val="black"/>
                </a:solidFill>
              </a:rPr>
              <a:t>s.ntx</a:t>
            </a:r>
            <a:r>
              <a:rPr lang="en-US" sz="2400" dirty="0">
                <a:solidFill>
                  <a:prstClr val="black"/>
                </a:solidFill>
              </a:rPr>
              <a:t>(i)]&lt;&lt;((i&lt; n-1)?</a:t>
            </a:r>
            <a:r>
              <a:rPr lang="en-US" sz="2400" dirty="0">
                <a:solidFill>
                  <a:srgbClr val="A31515"/>
                </a:solidFill>
              </a:rPr>
              <a:t>", "</a:t>
            </a:r>
            <a:r>
              <a:rPr lang="en-US" sz="2400" dirty="0">
                <a:solidFill>
                  <a:prstClr val="black"/>
                </a:solidFill>
              </a:rPr>
              <a:t>:</a:t>
            </a:r>
            <a:r>
              <a:rPr lang="en-US" sz="2400" dirty="0">
                <a:solidFill>
                  <a:srgbClr val="A31515"/>
                </a:solidFill>
              </a:rPr>
              <a:t>" "</a:t>
            </a:r>
            <a:r>
              <a:rPr lang="en-US" sz="2400" dirty="0">
                <a:solidFill>
                  <a:prstClr val="black"/>
                </a:solidFill>
              </a:rPr>
              <a:t>);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"}"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n = </a:t>
            </a:r>
            <a:r>
              <a:rPr lang="en-US" sz="2400" dirty="0" err="1">
                <a:solidFill>
                  <a:prstClr val="black"/>
                </a:solidFill>
              </a:rPr>
              <a:t>s.getnext</a:t>
            </a:r>
            <a:r>
              <a:rPr lang="en-US" sz="2400" dirty="0">
                <a:solidFill>
                  <a:prstClr val="black"/>
                </a:solidFill>
              </a:rPr>
              <a:t>();   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};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be-BY" sz="2400" dirty="0">
                <a:solidFill>
                  <a:srgbClr val="A31515"/>
                </a:solidFill>
              </a:rPr>
              <a:t>всего: "</a:t>
            </a:r>
            <a:r>
              <a:rPr lang="be-BY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s.count</a:t>
            </a:r>
            <a:r>
              <a:rPr lang="en-US" sz="2400" dirty="0">
                <a:solidFill>
                  <a:prstClr val="black"/>
                </a:solidFill>
              </a:rPr>
              <a:t>()&lt;&lt;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system(</a:t>
            </a:r>
            <a:r>
              <a:rPr lang="en-US" sz="2400" dirty="0">
                <a:solidFill>
                  <a:srgbClr val="A31515"/>
                </a:solidFill>
              </a:rPr>
              <a:t>"pause"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0;</a:t>
            </a:r>
          </a:p>
          <a:p>
            <a:r>
              <a:rPr lang="be-BY" sz="2400" dirty="0">
                <a:solidFill>
                  <a:prstClr val="black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0621177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7-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1" y="0"/>
            <a:ext cx="64865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915128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47528" y="116633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464" y="1047220"/>
            <a:ext cx="8856984" cy="2704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758534" y="3918248"/>
            <a:ext cx="4818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e-BY" sz="2400" dirty="0">
                <a:solidFill>
                  <a:srgbClr val="0070C0"/>
                </a:solidFill>
                <a:latin typeface="Bahnschrift" panose="020B0502040204020203" pitchFamily="34" charset="0"/>
              </a:rPr>
              <a:t>Математическая модель задачи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375773"/>
              </p:ext>
            </p:extLst>
          </p:nvPr>
        </p:nvGraphicFramePr>
        <p:xfrm>
          <a:off x="1847529" y="4149081"/>
          <a:ext cx="2446135" cy="118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8" name="Формула" r:id="rId4" imgW="1015559" imgH="495085" progId="Equation.3">
                  <p:embed/>
                </p:oleObj>
              </mc:Choice>
              <mc:Fallback>
                <p:oleObj name="Формула" r:id="rId4" imgW="1015559" imgH="4950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4149081"/>
                        <a:ext cx="2446135" cy="118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880688"/>
              </p:ext>
            </p:extLst>
          </p:nvPr>
        </p:nvGraphicFramePr>
        <p:xfrm>
          <a:off x="4367808" y="4479503"/>
          <a:ext cx="216024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9" name="Формула" r:id="rId6" imgW="1002865" imgH="266584" progId="Equation.3">
                  <p:embed/>
                </p:oleObj>
              </mc:Choice>
              <mc:Fallback>
                <p:oleObj name="Формула" r:id="rId6" imgW="1002865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4479503"/>
                        <a:ext cx="2160240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704851"/>
              </p:ext>
            </p:extLst>
          </p:nvPr>
        </p:nvGraphicFramePr>
        <p:xfrm>
          <a:off x="6600057" y="4479503"/>
          <a:ext cx="2419469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0" name="Формула" r:id="rId8" imgW="1143000" imgH="241300" progId="Equation.3">
                  <p:embed/>
                </p:oleObj>
              </mc:Choice>
              <mc:Fallback>
                <p:oleObj name="Формула" r:id="rId8" imgW="1143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7" y="4479503"/>
                        <a:ext cx="2419469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4357"/>
              </p:ext>
            </p:extLst>
          </p:nvPr>
        </p:nvGraphicFramePr>
        <p:xfrm>
          <a:off x="9109445" y="4479503"/>
          <a:ext cx="153617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1" name="Формула" r:id="rId10" imgW="609600" imgH="228600" progId="Equation.3">
                  <p:embed/>
                </p:oleObj>
              </mc:Choice>
              <mc:Fallback>
                <p:oleObj name="Формула" r:id="rId10" imgW="609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9445" y="4479503"/>
                        <a:ext cx="1536170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869097"/>
              </p:ext>
            </p:extLst>
          </p:nvPr>
        </p:nvGraphicFramePr>
        <p:xfrm>
          <a:off x="4367808" y="5013176"/>
          <a:ext cx="1388726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2" name="Формула" r:id="rId12" imgW="571252" imgH="266584" progId="Equation.3">
                  <p:embed/>
                </p:oleObj>
              </mc:Choice>
              <mc:Fallback>
                <p:oleObj name="Формула" r:id="rId12" imgW="571252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5013176"/>
                        <a:ext cx="1388726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062985"/>
              </p:ext>
            </p:extLst>
          </p:nvPr>
        </p:nvGraphicFramePr>
        <p:xfrm>
          <a:off x="6059997" y="5013176"/>
          <a:ext cx="11953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3" name="Формула" r:id="rId14" imgW="545760" imgH="253800" progId="Equation.3">
                  <p:embed/>
                </p:oleObj>
              </mc:Choice>
              <mc:Fallback>
                <p:oleObj name="Формула" r:id="rId14" imgW="545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997" y="5013176"/>
                        <a:ext cx="1195387" cy="560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847528" y="5617841"/>
            <a:ext cx="864096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элемент этого вектора может принимать целое значение из отрезка </a:t>
            </a:r>
            <a:r>
              <a:rPr lang="ru-RU" sz="23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при этом все значения </a:t>
            </a:r>
            <a:r>
              <a:rPr lang="en-US" sz="23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3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должны быть разными. 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2770602124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911424" y="1007039"/>
            <a:ext cx="104411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Решением задачи будет вектор 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(</a:t>
            </a:r>
            <a:r>
              <a:rPr lang="en-US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k</a:t>
            </a:r>
            <a:r>
              <a:rPr lang="ru-RU" sz="24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1</a:t>
            </a:r>
            <a:r>
              <a:rPr lang="ru-RU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k</a:t>
            </a:r>
            <a:r>
              <a:rPr lang="ru-RU" sz="24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2</a:t>
            </a:r>
            <a:r>
              <a:rPr lang="ru-RU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, …, </a:t>
            </a:r>
            <a:r>
              <a:rPr lang="en-US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k</a:t>
            </a:r>
            <a:r>
              <a:rPr lang="en-US" sz="24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).</a:t>
            </a:r>
          </a:p>
          <a:p>
            <a:pPr indent="323850" algn="ctr"/>
            <a:endParaRPr lang="en-US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Каждый элемент этого вектора может принимать целое значение из отрезка [1,</a:t>
            </a:r>
            <a:r>
              <a:rPr lang="en-US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] и при этом все значения </a:t>
            </a:r>
            <a:r>
              <a:rPr lang="en-US" sz="2400" i="1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k</a:t>
            </a:r>
            <a:r>
              <a:rPr lang="en-US" sz="2400" i="1" baseline="-25000" dirty="0" err="1">
                <a:latin typeface="Bahnschrift" panose="020B0502040204020203" pitchFamily="34" charset="0"/>
                <a:ea typeface="Times New Roman" panose="02020603050405020304" pitchFamily="18" charset="0"/>
              </a:rPr>
              <a:t>i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должны быть разными.  </a:t>
            </a: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Задача имеет следующие исходные данные: </a:t>
            </a:r>
          </a:p>
          <a:p>
            <a:pPr indent="323850" algn="just"/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=4 – общее количество контейнеров;</a:t>
            </a:r>
          </a:p>
          <a:p>
            <a:pPr indent="323850" algn="just"/>
            <a:r>
              <a:rPr lang="en-US" sz="24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=3 – количество свободных мест на палубе судна;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{100, 200, 300, 400} – вес контейнеров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{10, 15, 20, 25} – доход от перевозки контейнеров 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{350, 250, 0} – минимальный вес контейнеров</a:t>
            </a:r>
          </a:p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{</a:t>
            </a:r>
            <a:r>
              <a:rPr lang="en-US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750, 350, 750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} – максимальный вес контейнеров </a:t>
            </a: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811524" y="176042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71590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82413" y="2708920"/>
            <a:ext cx="45384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Справа на схеме показана таблица, содержащая все размещения по три элемента множества {0, 1, 2, 3}.   </a:t>
            </a:r>
            <a:r>
              <a:rPr lang="ru-RU" sz="24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Эти размещения могут быть получены с помощью генератора размещений. </a:t>
            </a:r>
          </a:p>
          <a:p>
            <a:pPr indent="323850" algn="just"/>
            <a:endParaRPr lang="ru-RU" sz="24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15722" y="261639"/>
            <a:ext cx="43204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85435"/>
              </p:ext>
            </p:extLst>
          </p:nvPr>
        </p:nvGraphicFramePr>
        <p:xfrm>
          <a:off x="7032104" y="3944"/>
          <a:ext cx="4824413" cy="679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6" name="Visio" r:id="rId3" imgW="7182810" imgH="10126872" progId="Visio.Drawing.11">
                  <p:embed/>
                </p:oleObj>
              </mc:Choice>
              <mc:Fallback>
                <p:oleObj name="Visio" r:id="rId3" imgW="7182810" imgH="10126872" progId="Visio.Drawing.11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3944"/>
                        <a:ext cx="4824413" cy="679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7032104" y="261639"/>
            <a:ext cx="1008112" cy="653521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5303912" y="2852936"/>
            <a:ext cx="1584176" cy="79208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0073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35360" y="1418349"/>
            <a:ext cx="5796136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Строки таблицы, представленной на схеме справа, содержат планы всех размещений контейнеров по свободным местам на палубе судна. </a:t>
            </a:r>
          </a:p>
          <a:p>
            <a:pPr indent="323850" algn="just"/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При этом в первой заголовочной строке таблицы указаны ограничения на вес контейнера для соответствующего места (два числа, обозначающие минимальный и максимальный вес), а в остальных ячейках для каждого места приведены вес соответствующего контейнера и доход от его перевозки в формате </a:t>
            </a:r>
            <a:r>
              <a:rPr lang="en-US" sz="23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v</a:t>
            </a:r>
            <a:r>
              <a:rPr lang="en-US" sz="23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i</a:t>
            </a:r>
            <a:r>
              <a:rPr lang="ru-RU" sz="23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│</a:t>
            </a:r>
            <a:r>
              <a:rPr lang="en-US" sz="23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en-US" sz="2300" i="1" baseline="-25000" dirty="0">
                <a:latin typeface="Bahnschrift" panose="020B0502040204020203" pitchFamily="34" charset="0"/>
                <a:ea typeface="Times New Roman" panose="02020603050405020304" pitchFamily="18" charset="0"/>
              </a:rPr>
              <a:t>i</a:t>
            </a:r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35360" y="23399"/>
            <a:ext cx="5832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807681"/>
              </p:ext>
            </p:extLst>
          </p:nvPr>
        </p:nvGraphicFramePr>
        <p:xfrm>
          <a:off x="7032104" y="3944"/>
          <a:ext cx="4824413" cy="679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1" name="Visio" r:id="rId3" imgW="7182810" imgH="10126872" progId="Visio.Drawing.11">
                  <p:embed/>
                </p:oleObj>
              </mc:Choice>
              <mc:Fallback>
                <p:oleObj name="Visio" r:id="rId3" imgW="7182810" imgH="10126872" progId="Visio.Drawing.11">
                  <p:embed/>
                  <p:pic>
                    <p:nvPicPr>
                      <p:cNvPr id="11" name="Объект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3944"/>
                        <a:ext cx="4824413" cy="679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696400" y="332656"/>
            <a:ext cx="1440160" cy="646420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6131496" y="2060848"/>
            <a:ext cx="3492896" cy="36004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9690620" y="23398"/>
            <a:ext cx="1440160" cy="29062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/>
          <p:nvPr/>
        </p:nvCxnSpPr>
        <p:spPr>
          <a:xfrm flipV="1">
            <a:off x="6124724" y="209877"/>
            <a:ext cx="3499668" cy="378385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516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63606" y="1587786"/>
            <a:ext cx="572412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Закрашенные ячейки таблицы обозначают нарушение ограничений по весу контейнеров для соответствующих мест. План размещения, имеющий хотя бы одну закрашенную ячейку, является недопустимым. </a:t>
            </a:r>
          </a:p>
          <a:p>
            <a:pPr indent="323850"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На схеме только два плана размещения контейнеров являются допустимыми. Для этих планов вычисляется доход от перевозки выбранных контейнеров. Доход указан в овальной рамке рядом со строкой плана.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indent="323850" algn="just"/>
            <a:r>
              <a:rPr lang="ru-RU" sz="2100" b="1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Оптимальный план размещения контейнеров на палубе судна выделен рамкой.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58546" y="184666"/>
            <a:ext cx="60126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be-BY" sz="2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300275"/>
              </p:ext>
            </p:extLst>
          </p:nvPr>
        </p:nvGraphicFramePr>
        <p:xfrm>
          <a:off x="7032104" y="3944"/>
          <a:ext cx="4824413" cy="679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6" name="Visio" r:id="rId3" imgW="7182810" imgH="10126872" progId="Visio.Drawing.11">
                  <p:embed/>
                </p:oleObj>
              </mc:Choice>
              <mc:Fallback>
                <p:oleObj name="Visio" r:id="rId3" imgW="7182810" imgH="10126872" progId="Visio.Drawing.11">
                  <p:embed/>
                  <p:pic>
                    <p:nvPicPr>
                      <p:cNvPr id="13" name="Объект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3944"/>
                        <a:ext cx="4824413" cy="679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768408" y="332656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0200456" y="332656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9768408" y="640814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9770764" y="908720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10200456" y="899416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768408" y="115801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0183638" y="1171743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9768408" y="1400915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9768408" y="1675222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10177412" y="1661497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9768408" y="1933433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10177412" y="1963231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9768408" y="2207740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10188934" y="2199681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10170151" y="2465951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10177412" y="274025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9768408" y="300652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10200456" y="2998469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9768408" y="3294560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10200456" y="3293339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9771942" y="3533992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>
            <a:off x="9768408" y="3799272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10165890" y="3812587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/>
        </p:nvSpPr>
        <p:spPr>
          <a:xfrm>
            <a:off x="10188934" y="4053441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9768408" y="4583749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10188934" y="4579264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>
            <a:off x="9756886" y="4867296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10164519" y="4853571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/>
        </p:nvSpPr>
        <p:spPr>
          <a:xfrm>
            <a:off x="9768408" y="512114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9756886" y="5388725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10164519" y="5388725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10188934" y="5656302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/>
        </p:nvSpPr>
        <p:spPr>
          <a:xfrm>
            <a:off x="9756886" y="618788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10177412" y="6176818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/>
          <p:cNvSpPr/>
          <p:nvPr/>
        </p:nvSpPr>
        <p:spPr>
          <a:xfrm>
            <a:off x="9768408" y="6432449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10200456" y="6430676"/>
            <a:ext cx="432048" cy="288032"/>
          </a:xfrm>
          <a:prstGeom prst="rect">
            <a:avLst/>
          </a:prstGeom>
          <a:solidFill>
            <a:srgbClr val="CC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756886" y="4341473"/>
            <a:ext cx="1955738" cy="2377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/>
          <p:cNvSpPr/>
          <p:nvPr/>
        </p:nvSpPr>
        <p:spPr>
          <a:xfrm>
            <a:off x="9745364" y="5954078"/>
            <a:ext cx="1955738" cy="2377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5987734" y="4453506"/>
            <a:ext cx="3769152" cy="928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>
            <a:endCxn id="52" idx="1"/>
          </p:cNvCxnSpPr>
          <p:nvPr/>
        </p:nvCxnSpPr>
        <p:spPr>
          <a:xfrm>
            <a:off x="5999256" y="4571026"/>
            <a:ext cx="3746108" cy="15019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7363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9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" grpId="0" animBg="1"/>
      <p:bldP spid="52" grpId="0" animBg="1"/>
      <p:bldP spid="52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40631"/>
              </p:ext>
            </p:extLst>
          </p:nvPr>
        </p:nvGraphicFramePr>
        <p:xfrm>
          <a:off x="1271464" y="0"/>
          <a:ext cx="4824413" cy="679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5" name="Visio" r:id="rId3" imgW="7182810" imgH="10126872" progId="Visio.Drawing.11">
                  <p:embed/>
                </p:oleObj>
              </mc:Choice>
              <mc:Fallback>
                <p:oleObj name="Visio" r:id="rId3" imgW="7182810" imgH="1012687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0"/>
                        <a:ext cx="4824413" cy="679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497106"/>
              </p:ext>
            </p:extLst>
          </p:nvPr>
        </p:nvGraphicFramePr>
        <p:xfrm>
          <a:off x="6912913" y="1316962"/>
          <a:ext cx="5090526" cy="1175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Формула" r:id="rId5" imgW="2095200" imgH="482400" progId="Equation.3">
                  <p:embed/>
                </p:oleObj>
              </mc:Choice>
              <mc:Fallback>
                <p:oleObj name="Формула" r:id="rId5" imgW="2095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2913" y="1316962"/>
                        <a:ext cx="5090526" cy="1175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621165"/>
              </p:ext>
            </p:extLst>
          </p:nvPr>
        </p:nvGraphicFramePr>
        <p:xfrm>
          <a:off x="7176120" y="2517291"/>
          <a:ext cx="3953380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Формула" r:id="rId7" imgW="1333500" imgH="482600" progId="Equation.3">
                  <p:embed/>
                </p:oleObj>
              </mc:Choice>
              <mc:Fallback>
                <p:oleObj name="Формула" r:id="rId7" imgW="1333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517291"/>
                        <a:ext cx="3953380" cy="14401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456040" y="116633"/>
            <a:ext cx="5112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2400" dirty="0">
                <a:solidFill>
                  <a:srgbClr val="0070C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Количество различных способов разместить контейнеры на палубе равно: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764905" y="4221088"/>
            <a:ext cx="482453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i="1" dirty="0">
                <a:latin typeface="Bahnschrift" panose="020B0502040204020203" pitchFamily="34" charset="0"/>
                <a:ea typeface="Times New Roman" panose="02020603050405020304" pitchFamily="18" charset="0"/>
              </a:rPr>
              <a:t>Элементы размещений, полученных с помощью генератора используются в качестве индексов в массивах, содержащих вес и доход от транспортировки контейнеров.</a:t>
            </a:r>
            <a:endParaRPr lang="ru-RU" sz="2200" i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5642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7368" y="1597658"/>
            <a:ext cx="1152128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1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</a:t>
            </a:r>
            <a:r>
              <a:rPr lang="ru-RU" sz="21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_</a:t>
            </a:r>
            <a:r>
              <a:rPr lang="en-US" sz="21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en-US" sz="2100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имеет семь параметров, определяющих условие задачи: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количество мест для установки контейнеров,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minv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массив размерностью </a:t>
            </a: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, содержащий минимальный вес контейнера для каждого места,</a:t>
            </a:r>
            <a:r>
              <a:rPr lang="ru-RU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100" b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maxv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массив размерностью </a:t>
            </a: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, содержащий максимальный вес контейнера для каждого места,</a:t>
            </a:r>
            <a:r>
              <a:rPr lang="ru-RU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endParaRPr lang="en-US" sz="2100" b="1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en-US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количество контейнеров,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v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массив размерностью </a:t>
            </a: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,  содержащий вес контейнеров,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 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массив размерностью </a:t>
            </a: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, содержащий величину дохода от перевозки каждого контейнера)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en-US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массив размерностью </a:t>
            </a:r>
            <a:r>
              <a:rPr lang="en-US" sz="21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,</a:t>
            </a:r>
            <a:r>
              <a:rPr lang="ru-RU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содержащий номера выбранных контейнеров </a:t>
            </a: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(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возвращаемый параметр)</a:t>
            </a:r>
            <a:r>
              <a:rPr lang="ru-RU" sz="21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  <a:endParaRPr lang="en-US" sz="21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Если решение задачи существует, то функция возвращает положительное значение, равное величине дохода, иначе возвращается нуль.</a:t>
            </a:r>
          </a:p>
        </p:txBody>
      </p:sp>
    </p:spTree>
    <p:extLst>
      <p:ext uri="{BB962C8B-B14F-4D97-AF65-F5344CB8AC3E}">
        <p14:creationId xmlns:p14="http://schemas.microsoft.com/office/powerpoint/2010/main" val="1539508179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697643" y="1772197"/>
            <a:ext cx="355205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</a:rPr>
              <a:t>int</a:t>
            </a:r>
            <a:r>
              <a:rPr lang="en-US" sz="3200" dirty="0">
                <a:solidFill>
                  <a:prstClr val="black"/>
                </a:solidFill>
              </a:rPr>
              <a:t> boat_</a:t>
            </a:r>
            <a:r>
              <a:rPr lang="be-BY" sz="3200" dirty="0">
                <a:solidFill>
                  <a:prstClr val="black"/>
                </a:solidFill>
              </a:rPr>
              <a:t>с(  </a:t>
            </a:r>
          </a:p>
          <a:p>
            <a:r>
              <a:rPr lang="ru-RU" sz="3200" dirty="0">
                <a:solidFill>
                  <a:srgbClr val="0000FF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short</a:t>
            </a:r>
            <a:r>
              <a:rPr lang="ru-RU" sz="3200" dirty="0">
                <a:solidFill>
                  <a:prstClr val="black"/>
                </a:solidFill>
              </a:rPr>
              <a:t> m, </a:t>
            </a:r>
          </a:p>
          <a:p>
            <a:r>
              <a:rPr lang="ru-RU" sz="3200" dirty="0">
                <a:solidFill>
                  <a:prstClr val="black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int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ru-RU" sz="3200" dirty="0" err="1">
                <a:solidFill>
                  <a:prstClr val="black"/>
                </a:solidFill>
              </a:rPr>
              <a:t>minv</a:t>
            </a:r>
            <a:r>
              <a:rPr lang="ru-RU" sz="3200" dirty="0">
                <a:solidFill>
                  <a:prstClr val="black"/>
                </a:solidFill>
              </a:rPr>
              <a:t>[], </a:t>
            </a:r>
          </a:p>
          <a:p>
            <a:r>
              <a:rPr lang="ru-RU" sz="3200" dirty="0">
                <a:solidFill>
                  <a:srgbClr val="0000FF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int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ru-RU" sz="3200" dirty="0" err="1">
                <a:solidFill>
                  <a:prstClr val="black"/>
                </a:solidFill>
              </a:rPr>
              <a:t>maxv</a:t>
            </a:r>
            <a:r>
              <a:rPr lang="ru-RU" sz="3200" dirty="0">
                <a:solidFill>
                  <a:prstClr val="black"/>
                </a:solidFill>
              </a:rPr>
              <a:t>[],   </a:t>
            </a:r>
            <a:r>
              <a:rPr lang="ru-RU" sz="3200" dirty="0">
                <a:solidFill>
                  <a:srgbClr val="008000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short</a:t>
            </a:r>
            <a:r>
              <a:rPr lang="ru-RU" sz="3200" dirty="0">
                <a:solidFill>
                  <a:prstClr val="black"/>
                </a:solidFill>
              </a:rPr>
              <a:t> n, </a:t>
            </a:r>
          </a:p>
          <a:p>
            <a:r>
              <a:rPr lang="ru-RU" sz="3200" dirty="0">
                <a:solidFill>
                  <a:srgbClr val="0000FF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const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ru-RU" sz="3200" dirty="0" err="1">
                <a:solidFill>
                  <a:srgbClr val="0000FF"/>
                </a:solidFill>
              </a:rPr>
              <a:t>int</a:t>
            </a:r>
            <a:r>
              <a:rPr lang="ru-RU" sz="3200" dirty="0">
                <a:solidFill>
                  <a:prstClr val="black"/>
                </a:solidFill>
              </a:rPr>
              <a:t> v[],</a:t>
            </a:r>
            <a:endParaRPr lang="ru-RU" sz="3200" dirty="0">
              <a:solidFill>
                <a:srgbClr val="008000"/>
              </a:solidFill>
            </a:endParaRPr>
          </a:p>
          <a:p>
            <a:r>
              <a:rPr lang="ru-RU" sz="3200" dirty="0">
                <a:solidFill>
                  <a:srgbClr val="0000FF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const</a:t>
            </a:r>
            <a:r>
              <a:rPr lang="ru-RU" sz="3200" dirty="0">
                <a:solidFill>
                  <a:prstClr val="black"/>
                </a:solidFill>
              </a:rPr>
              <a:t> </a:t>
            </a:r>
            <a:r>
              <a:rPr lang="ru-RU" sz="3200" dirty="0" err="1">
                <a:solidFill>
                  <a:srgbClr val="0000FF"/>
                </a:solidFill>
              </a:rPr>
              <a:t>int</a:t>
            </a:r>
            <a:r>
              <a:rPr lang="ru-RU" sz="3200" dirty="0">
                <a:solidFill>
                  <a:prstClr val="black"/>
                </a:solidFill>
              </a:rPr>
              <a:t> c[],</a:t>
            </a:r>
          </a:p>
          <a:p>
            <a:r>
              <a:rPr lang="ru-RU" sz="3200" dirty="0">
                <a:solidFill>
                  <a:prstClr val="black"/>
                </a:solidFill>
              </a:rPr>
              <a:t>	</a:t>
            </a:r>
            <a:r>
              <a:rPr lang="ru-RU" sz="3200" dirty="0" err="1">
                <a:solidFill>
                  <a:srgbClr val="0000FF"/>
                </a:solidFill>
              </a:rPr>
              <a:t>short</a:t>
            </a:r>
            <a:r>
              <a:rPr lang="ru-RU" sz="3200" dirty="0">
                <a:solidFill>
                  <a:prstClr val="black"/>
                </a:solidFill>
              </a:rPr>
              <a:t> r[]</a:t>
            </a:r>
            <a:r>
              <a:rPr lang="be-BY" sz="3200" dirty="0">
                <a:solidFill>
                  <a:prstClr val="black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14189596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5360" y="1340768"/>
            <a:ext cx="1130525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функции </a:t>
            </a:r>
            <a:r>
              <a:rPr lang="en-US" sz="23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</a:t>
            </a:r>
            <a:r>
              <a:rPr lang="ru-RU" sz="23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_</a:t>
            </a:r>
            <a:r>
              <a:rPr lang="en-US" sz="23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 </a:t>
            </a:r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применяется генератор размещений (тип </a:t>
            </a:r>
            <a:r>
              <a:rPr lang="en-US" sz="23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combi</a:t>
            </a:r>
            <a:r>
              <a:rPr lang="ru-RU" sz="23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3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accomodation</a:t>
            </a:r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). Конструктору генератора передается два параметра: </a:t>
            </a:r>
            <a:r>
              <a:rPr lang="en-US" sz="23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en-US" sz="23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(количество контейнеров) и </a:t>
            </a:r>
            <a:r>
              <a:rPr lang="en-US" sz="23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</a:t>
            </a:r>
            <a:r>
              <a:rPr lang="ru-RU" sz="2300" dirty="0">
                <a:latin typeface="Bahnschrift" panose="020B0502040204020203" pitchFamily="34" charset="0"/>
                <a:ea typeface="Times New Roman" panose="02020603050405020304" pitchFamily="18" charset="0"/>
              </a:rPr>
              <a:t> (количество мест для установки контейнеров). </a:t>
            </a:r>
          </a:p>
          <a:p>
            <a:pPr algn="just"/>
            <a:endParaRPr lang="ru-RU" sz="23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44860" y="2636912"/>
            <a:ext cx="110462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boat_с</a:t>
            </a:r>
            <a:r>
              <a:rPr lang="ru-RU" sz="2400" dirty="0">
                <a:solidFill>
                  <a:prstClr val="black"/>
                </a:solidFill>
              </a:rPr>
              <a:t>(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m,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minv</a:t>
            </a:r>
            <a:r>
              <a:rPr lang="ru-RU" sz="2400" dirty="0">
                <a:solidFill>
                  <a:prstClr val="black"/>
                </a:solidFill>
              </a:rPr>
              <a:t>[],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maxv</a:t>
            </a:r>
            <a:r>
              <a:rPr lang="ru-RU" sz="2400" dirty="0">
                <a:solidFill>
                  <a:prstClr val="black"/>
                </a:solidFill>
              </a:rPr>
              <a:t>[], 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n, </a:t>
            </a:r>
            <a:r>
              <a:rPr lang="ru-RU" sz="2400" dirty="0" err="1">
                <a:solidFill>
                  <a:srgbClr val="0000FF"/>
                </a:solidFill>
              </a:rPr>
              <a:t>const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v[], </a:t>
            </a:r>
            <a:r>
              <a:rPr lang="ru-RU" sz="2400" dirty="0" err="1">
                <a:solidFill>
                  <a:srgbClr val="0000FF"/>
                </a:solidFill>
              </a:rPr>
              <a:t>const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c[], 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r[] </a:t>
            </a:r>
            <a:r>
              <a:rPr lang="be-BY" sz="2400" dirty="0">
                <a:solidFill>
                  <a:prstClr val="black"/>
                </a:solidFill>
              </a:rPr>
              <a:t>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s(n, m);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0,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s.getfirst</a:t>
            </a:r>
            <a:r>
              <a:rPr lang="en-US" sz="2400" dirty="0">
                <a:solidFill>
                  <a:prstClr val="black"/>
                </a:solidFill>
              </a:rPr>
              <a:t>(), cc = 0;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while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&gt; 0)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compv</a:t>
            </a:r>
            <a:r>
              <a:rPr lang="en-US" sz="2400" dirty="0">
                <a:solidFill>
                  <a:prstClr val="black"/>
                </a:solidFill>
              </a:rPr>
              <a:t>(s, </a:t>
            </a:r>
            <a:r>
              <a:rPr lang="en-US" sz="2400" dirty="0" err="1">
                <a:solidFill>
                  <a:prstClr val="black"/>
                </a:solidFill>
              </a:rPr>
              <a:t>minv</a:t>
            </a:r>
            <a:r>
              <a:rPr lang="en-US" sz="2400" dirty="0">
                <a:solidFill>
                  <a:prstClr val="black"/>
                </a:solidFill>
              </a:rPr>
              <a:t>, </a:t>
            </a:r>
            <a:r>
              <a:rPr lang="en-US" sz="2400" dirty="0" err="1">
                <a:solidFill>
                  <a:prstClr val="black"/>
                </a:solidFill>
              </a:rPr>
              <a:t>maxv</a:t>
            </a:r>
            <a:r>
              <a:rPr lang="en-US" sz="2400" dirty="0">
                <a:solidFill>
                  <a:prstClr val="black"/>
                </a:solidFill>
              </a:rPr>
              <a:t>, v)) </a:t>
            </a:r>
          </a:p>
          <a:p>
            <a:r>
              <a:rPr lang="ru-RU" sz="2400" dirty="0">
                <a:solidFill>
                  <a:srgbClr val="0000FF"/>
                </a:solidFill>
              </a:rPr>
              <a:t>    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((cc = 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calcc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s,c</a:t>
            </a:r>
            <a:r>
              <a:rPr lang="en-US" sz="2400" dirty="0">
                <a:solidFill>
                  <a:prstClr val="black"/>
                </a:solidFill>
              </a:rPr>
              <a:t>)) &gt;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)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 {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cc; 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copycomb</a:t>
            </a:r>
            <a:r>
              <a:rPr lang="en-US" sz="2400" dirty="0">
                <a:solidFill>
                  <a:prstClr val="black"/>
                </a:solidFill>
              </a:rPr>
              <a:t>(m, r, </a:t>
            </a:r>
            <a:r>
              <a:rPr lang="en-US" sz="2400" dirty="0" err="1">
                <a:solidFill>
                  <a:prstClr val="black"/>
                </a:solidFill>
              </a:rPr>
              <a:t>s.sset</a:t>
            </a:r>
            <a:r>
              <a:rPr lang="en-US" sz="2400" dirty="0">
                <a:solidFill>
                  <a:prstClr val="black"/>
                </a:solidFill>
              </a:rPr>
              <a:t>);}</a:t>
            </a:r>
          </a:p>
          <a:p>
            <a:r>
              <a:rPr lang="ru-RU" sz="2400" dirty="0">
                <a:solidFill>
                  <a:prstClr val="black"/>
                </a:solidFill>
              </a:rPr>
              <a:t>	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s.getnext</a:t>
            </a:r>
            <a:r>
              <a:rPr lang="en-US" sz="2400" dirty="0">
                <a:solidFill>
                  <a:prstClr val="black"/>
                </a:solidFill>
              </a:rPr>
              <a:t>(); 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</a:p>
          <a:p>
            <a:r>
              <a:rPr lang="be-BY" sz="2400" dirty="0">
                <a:solidFill>
                  <a:prstClr val="black"/>
                </a:solidFill>
              </a:rPr>
              <a:t>	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855197200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5360" y="1173913"/>
            <a:ext cx="1152128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Кроме того, функция вызывает три вспомогательные функции</a:t>
            </a:r>
            <a:r>
              <a:rPr lang="en-US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:</a:t>
            </a:r>
            <a:endParaRPr lang="ru-RU" sz="23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9539" y="1795270"/>
            <a:ext cx="114871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1. Функция 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boatfnc</a:t>
            </a:r>
            <a:r>
              <a:rPr lang="ru-RU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::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compv</a:t>
            </a:r>
            <a:r>
              <a:rPr lang="en-US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позволяет проверить допустимость размещения контейнеров. Если вес всех контейнеров в размещении удовлетворяет заданным ограничениям, то функция возвращает </a:t>
            </a:r>
            <a:r>
              <a:rPr lang="en-US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true</a:t>
            </a:r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, иначе возвращается </a:t>
            </a:r>
            <a:r>
              <a:rPr lang="en-US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false</a:t>
            </a:r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878296" y="3335530"/>
            <a:ext cx="88282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bool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compv</a:t>
            </a:r>
            <a:r>
              <a:rPr lang="en-US" sz="2400" dirty="0">
                <a:solidFill>
                  <a:prstClr val="black"/>
                </a:solidFill>
              </a:rPr>
              <a:t>(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s,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ming</a:t>
            </a:r>
            <a:r>
              <a:rPr lang="en-US" sz="2400" dirty="0">
                <a:solidFill>
                  <a:prstClr val="black"/>
                </a:solidFill>
              </a:rPr>
              <a:t>[],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   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maxg</a:t>
            </a:r>
            <a:r>
              <a:rPr lang="en-US" sz="2400" dirty="0">
                <a:solidFill>
                  <a:prstClr val="black"/>
                </a:solidFill>
              </a:rPr>
              <a:t>[],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v[])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0;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 </a:t>
            </a:r>
            <a:r>
              <a:rPr lang="nn-NO" sz="2400" dirty="0">
                <a:solidFill>
                  <a:srgbClr val="0000FF"/>
                </a:solidFill>
              </a:rPr>
              <a:t>while</a:t>
            </a:r>
            <a:r>
              <a:rPr lang="nn-NO" sz="2400" dirty="0">
                <a:solidFill>
                  <a:prstClr val="black"/>
                </a:solidFill>
              </a:rPr>
              <a:t>(i &lt; s.m &amp;&amp; v[s.ntx(i)] &lt;= maxg[i] &amp;&amp; v[s.ntx(i)] &gt;= ming[i])i++;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== </a:t>
            </a:r>
            <a:r>
              <a:rPr lang="en-US" sz="2400" dirty="0" err="1">
                <a:solidFill>
                  <a:prstClr val="black"/>
                </a:solidFill>
              </a:rPr>
              <a:t>s.m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be-BY" sz="2400" dirty="0">
                <a:solidFill>
                  <a:prstClr val="black"/>
                </a:solidFill>
              </a:rPr>
              <a:t> };</a:t>
            </a:r>
          </a:p>
        </p:txBody>
      </p:sp>
    </p:spTree>
    <p:extLst>
      <p:ext uri="{BB962C8B-B14F-4D97-AF65-F5344CB8AC3E}">
        <p14:creationId xmlns:p14="http://schemas.microsoft.com/office/powerpoint/2010/main" val="27516322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5360" y="1173913"/>
            <a:ext cx="1152128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Кроме того, функция вызывает три вспомогательные функции</a:t>
            </a:r>
            <a:r>
              <a:rPr lang="en-US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:</a:t>
            </a:r>
            <a:endParaRPr lang="ru-RU" sz="23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5360" y="1799654"/>
            <a:ext cx="11487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2. Функция 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boatfnc</a:t>
            </a:r>
            <a:r>
              <a:rPr lang="ru-RU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::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calcc</a:t>
            </a:r>
            <a:r>
              <a:rPr lang="en-US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дает возможность вычислить доход от перевозки контейнеров при заданном размещении.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1753905" y="3284984"/>
            <a:ext cx="88282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calcc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s, </a:t>
            </a:r>
            <a:r>
              <a:rPr lang="en-US" sz="2400" dirty="0" err="1">
                <a:solidFill>
                  <a:srgbClr val="0000FF"/>
                </a:solidFill>
              </a:rPr>
              <a:t>const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c[]) 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0; </a:t>
            </a:r>
          </a:p>
          <a:p>
            <a:r>
              <a:rPr lang="nn-NO" sz="2400" dirty="0">
                <a:solidFill>
                  <a:prstClr val="black"/>
                </a:solidFill>
              </a:rPr>
              <a:t> 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0; i &lt; s.m; i++) rc += c[s.ntx(i)];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</a:p>
          <a:p>
            <a:r>
              <a:rPr lang="be-BY" sz="2400" dirty="0">
                <a:solidFill>
                  <a:prstClr val="black"/>
                </a:solidFill>
              </a:rPr>
              <a:t> };</a:t>
            </a:r>
          </a:p>
        </p:txBody>
      </p:sp>
    </p:spTree>
    <p:extLst>
      <p:ext uri="{BB962C8B-B14F-4D97-AF65-F5344CB8AC3E}">
        <p14:creationId xmlns:p14="http://schemas.microsoft.com/office/powerpoint/2010/main" val="22047362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5360" y="1173913"/>
            <a:ext cx="1152128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Кроме того, функция вызывает три вспомогательные функции</a:t>
            </a:r>
            <a:r>
              <a:rPr lang="en-US" sz="2300" dirty="0">
                <a:latin typeface="Bahnschrift" panose="020B0502040204020203" pitchFamily="34" charset="0"/>
                <a:cs typeface="Times New Roman" panose="02020603050405020304" pitchFamily="18" charset="0"/>
              </a:rPr>
              <a:t>:</a:t>
            </a:r>
            <a:endParaRPr lang="ru-RU" sz="23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5360" y="1905435"/>
            <a:ext cx="114871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3. Функция 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boatfnc</a:t>
            </a:r>
            <a:r>
              <a:rPr lang="ru-RU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::</a:t>
            </a:r>
            <a:r>
              <a:rPr lang="en-US" sz="2200" b="1" dirty="0" err="1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copycomb</a:t>
            </a:r>
            <a:r>
              <a:rPr lang="en-US" sz="2200" b="1" dirty="0">
                <a:solidFill>
                  <a:srgbClr val="C0000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Bahnschrift" panose="020B0502040204020203" pitchFamily="34" charset="0"/>
                <a:cs typeface="Times New Roman" panose="02020603050405020304" pitchFamily="18" charset="0"/>
              </a:rPr>
              <a:t>предназначена для сохранения (копирования) наиболее доходного на данном шаге допустимого размещения. </a:t>
            </a:r>
          </a:p>
          <a:p>
            <a:pPr algn="just"/>
            <a:endParaRPr lang="ru-RU" sz="2200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1753905" y="3681757"/>
            <a:ext cx="88282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void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copycomb</a:t>
            </a:r>
            <a:r>
              <a:rPr lang="en-US" sz="3200" dirty="0">
                <a:solidFill>
                  <a:prstClr val="black"/>
                </a:solidFill>
              </a:rPr>
              <a:t>(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m, 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*r1, </a:t>
            </a:r>
            <a:r>
              <a:rPr lang="en-US" sz="3200" dirty="0" err="1">
                <a:solidFill>
                  <a:srgbClr val="0000FF"/>
                </a:solidFill>
              </a:rPr>
              <a:t>const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short</a:t>
            </a:r>
            <a:r>
              <a:rPr lang="en-US" sz="3200" dirty="0">
                <a:solidFill>
                  <a:prstClr val="black"/>
                </a:solidFill>
              </a:rPr>
              <a:t> *r2)</a:t>
            </a:r>
          </a:p>
          <a:p>
            <a:r>
              <a:rPr lang="nn-NO" sz="3200" dirty="0">
                <a:solidFill>
                  <a:prstClr val="black"/>
                </a:solidFill>
              </a:rPr>
              <a:t> { </a:t>
            </a:r>
            <a:r>
              <a:rPr lang="nn-NO" sz="3200" dirty="0">
                <a:solidFill>
                  <a:srgbClr val="0000FF"/>
                </a:solidFill>
              </a:rPr>
              <a:t>for</a:t>
            </a:r>
            <a:r>
              <a:rPr lang="nn-NO" sz="3200" dirty="0">
                <a:solidFill>
                  <a:prstClr val="black"/>
                </a:solidFill>
              </a:rPr>
              <a:t> (</a:t>
            </a:r>
            <a:r>
              <a:rPr lang="nn-NO" sz="3200" dirty="0">
                <a:solidFill>
                  <a:srgbClr val="0000FF"/>
                </a:solidFill>
              </a:rPr>
              <a:t>int</a:t>
            </a:r>
            <a:r>
              <a:rPr lang="nn-NO" sz="3200" dirty="0">
                <a:solidFill>
                  <a:prstClr val="black"/>
                </a:solidFill>
              </a:rPr>
              <a:t> i = 0; i &lt;  m; i++)  r1[i] = r2[i]; };</a:t>
            </a:r>
          </a:p>
          <a:p>
            <a:r>
              <a:rPr lang="be-BY" sz="3200" dirty="0">
                <a:solidFill>
                  <a:prstClr val="black"/>
                </a:solidFill>
              </a:rPr>
              <a:t>}</a:t>
            </a:r>
            <a:endParaRPr lang="be-BY" sz="3200" dirty="0"/>
          </a:p>
        </p:txBody>
      </p:sp>
    </p:spTree>
    <p:extLst>
      <p:ext uri="{BB962C8B-B14F-4D97-AF65-F5344CB8AC3E}">
        <p14:creationId xmlns:p14="http://schemas.microsoft.com/office/powerpoint/2010/main" val="31656107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55440" y="1746069"/>
            <a:ext cx="10355130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Функция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_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цикле генерирует все возможные размещения контейнеров (функции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getfirst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и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getnext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 генератора размещений), проверяет их допустимость (функция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boatfnc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compv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), вычисляет для допустимых размещений доход от перевозки контейнеров (функция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boatfnc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calcc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), фиксирует оптимальное размещение (функция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boatfnc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copycomb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 и возвращает доход от оптимального размещения или нуль, если решения нет. </a:t>
            </a:r>
          </a:p>
          <a:p>
            <a:pPr indent="323850" algn="just"/>
            <a:endParaRPr lang="ru-RU" sz="2300" dirty="0">
              <a:latin typeface="Bahnschrift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223440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616366" y="1597658"/>
            <a:ext cx="55951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boat_с</a:t>
            </a:r>
            <a:r>
              <a:rPr lang="ru-RU" sz="2400" dirty="0">
                <a:solidFill>
                  <a:prstClr val="black"/>
                </a:solidFill>
              </a:rPr>
              <a:t>(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m,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minv</a:t>
            </a:r>
            <a:r>
              <a:rPr lang="ru-RU" sz="2400" dirty="0">
                <a:solidFill>
                  <a:prstClr val="black"/>
                </a:solidFill>
              </a:rPr>
              <a:t>[],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maxv</a:t>
            </a:r>
            <a:r>
              <a:rPr lang="ru-RU" sz="2400" dirty="0">
                <a:solidFill>
                  <a:prstClr val="black"/>
                </a:solidFill>
              </a:rPr>
              <a:t>[], 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n, </a:t>
            </a:r>
            <a:r>
              <a:rPr lang="ru-RU" sz="2400" dirty="0" err="1">
                <a:solidFill>
                  <a:srgbClr val="0000FF"/>
                </a:solidFill>
              </a:rPr>
              <a:t>const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v[], </a:t>
            </a:r>
            <a:r>
              <a:rPr lang="ru-RU" sz="2400" dirty="0" err="1">
                <a:solidFill>
                  <a:srgbClr val="0000FF"/>
                </a:solidFill>
              </a:rPr>
              <a:t>const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c[], </a:t>
            </a:r>
            <a:r>
              <a:rPr lang="ru-RU" sz="2400" dirty="0" err="1">
                <a:solidFill>
                  <a:srgbClr val="0000FF"/>
                </a:solidFill>
              </a:rPr>
              <a:t>short</a:t>
            </a:r>
            <a:r>
              <a:rPr lang="ru-RU" sz="2400" dirty="0">
                <a:solidFill>
                  <a:prstClr val="black"/>
                </a:solidFill>
              </a:rPr>
              <a:t> r[] </a:t>
            </a:r>
            <a:r>
              <a:rPr lang="be-BY" sz="2400" dirty="0">
                <a:solidFill>
                  <a:prstClr val="black"/>
                </a:solidFill>
              </a:rPr>
              <a:t>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prstClr val="black"/>
                </a:solidFill>
              </a:rPr>
              <a:t>combi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accomodation</a:t>
            </a:r>
            <a:r>
              <a:rPr lang="en-US" sz="2400" dirty="0">
                <a:solidFill>
                  <a:prstClr val="black"/>
                </a:solidFill>
              </a:rPr>
              <a:t> s(n, m);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0, 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s.getfirst</a:t>
            </a:r>
            <a:r>
              <a:rPr lang="en-US" sz="2400" dirty="0">
                <a:solidFill>
                  <a:prstClr val="black"/>
                </a:solidFill>
              </a:rPr>
              <a:t>(), cc = 0; 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while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&gt; 0)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 {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compv</a:t>
            </a:r>
            <a:r>
              <a:rPr lang="en-US" sz="2400" dirty="0">
                <a:solidFill>
                  <a:prstClr val="black"/>
                </a:solidFill>
              </a:rPr>
              <a:t>(s, </a:t>
            </a:r>
            <a:r>
              <a:rPr lang="en-US" sz="2400" dirty="0" err="1">
                <a:solidFill>
                  <a:prstClr val="black"/>
                </a:solidFill>
              </a:rPr>
              <a:t>minv</a:t>
            </a:r>
            <a:r>
              <a:rPr lang="en-US" sz="2400" dirty="0">
                <a:solidFill>
                  <a:prstClr val="black"/>
                </a:solidFill>
              </a:rPr>
              <a:t>, </a:t>
            </a:r>
            <a:r>
              <a:rPr lang="en-US" sz="2400" dirty="0" err="1">
                <a:solidFill>
                  <a:prstClr val="black"/>
                </a:solidFill>
              </a:rPr>
              <a:t>maxv</a:t>
            </a:r>
            <a:r>
              <a:rPr lang="en-US" sz="2400" dirty="0">
                <a:solidFill>
                  <a:prstClr val="black"/>
                </a:solidFill>
              </a:rPr>
              <a:t>, v)) </a:t>
            </a:r>
          </a:p>
          <a:p>
            <a:r>
              <a:rPr lang="ru-RU" sz="2400" dirty="0">
                <a:solidFill>
                  <a:srgbClr val="0000FF"/>
                </a:solidFill>
              </a:rPr>
              <a:t>     </a:t>
            </a:r>
            <a:r>
              <a:rPr lang="en-US" sz="2400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prstClr val="black"/>
                </a:solidFill>
              </a:rPr>
              <a:t> ((cc = 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calcc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prstClr val="black"/>
                </a:solidFill>
              </a:rPr>
              <a:t>s,c</a:t>
            </a:r>
            <a:r>
              <a:rPr lang="en-US" sz="2400" dirty="0">
                <a:solidFill>
                  <a:prstClr val="black"/>
                </a:solidFill>
              </a:rPr>
              <a:t>)) &gt;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)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 {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 = cc; </a:t>
            </a:r>
            <a:r>
              <a:rPr lang="en-US" sz="2400" dirty="0" err="1">
                <a:solidFill>
                  <a:prstClr val="black"/>
                </a:solidFill>
              </a:rPr>
              <a:t>boatfnc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copycomb</a:t>
            </a:r>
            <a:r>
              <a:rPr lang="en-US" sz="2400" dirty="0">
                <a:solidFill>
                  <a:prstClr val="black"/>
                </a:solidFill>
              </a:rPr>
              <a:t>(m, r, </a:t>
            </a:r>
            <a:r>
              <a:rPr lang="en-US" sz="2400" dirty="0" err="1">
                <a:solidFill>
                  <a:prstClr val="black"/>
                </a:solidFill>
              </a:rPr>
              <a:t>s.sset</a:t>
            </a:r>
            <a:r>
              <a:rPr lang="en-US" sz="2400" dirty="0">
                <a:solidFill>
                  <a:prstClr val="black"/>
                </a:solidFill>
              </a:rPr>
              <a:t>);}</a:t>
            </a:r>
          </a:p>
          <a:p>
            <a:r>
              <a:rPr lang="ru-RU" sz="2400" dirty="0">
                <a:solidFill>
                  <a:prstClr val="black"/>
                </a:solidFill>
              </a:rPr>
              <a:t>	</a:t>
            </a:r>
            <a:r>
              <a:rPr lang="en-US" sz="2400" dirty="0" err="1">
                <a:solidFill>
                  <a:prstClr val="black"/>
                </a:solidFill>
              </a:rPr>
              <a:t>i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 err="1">
                <a:solidFill>
                  <a:prstClr val="black"/>
                </a:solidFill>
              </a:rPr>
              <a:t>s.getnext</a:t>
            </a:r>
            <a:r>
              <a:rPr lang="en-US" sz="2400" dirty="0">
                <a:solidFill>
                  <a:prstClr val="black"/>
                </a:solidFill>
              </a:rPr>
              <a:t>(); 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</a:p>
          <a:p>
            <a:r>
              <a:rPr lang="be-BY" sz="2400" dirty="0">
                <a:solidFill>
                  <a:prstClr val="black"/>
                </a:solidFill>
              </a:rPr>
              <a:t>	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rc</a:t>
            </a:r>
            <a:r>
              <a:rPr lang="en-US" sz="2400" dirty="0">
                <a:solidFill>
                  <a:prstClr val="black"/>
                </a:solidFill>
              </a:rPr>
              <a:t>;</a:t>
            </a:r>
            <a:r>
              <a:rPr lang="be-BY" sz="2400" dirty="0">
                <a:solidFill>
                  <a:prstClr val="black"/>
                </a:solidFill>
              </a:rPr>
              <a:t>};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3339003137"/>
      </p:ext>
    </p:extLst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3432" y="1597658"/>
            <a:ext cx="103691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Программа сначала подготавливает массивы данных: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v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(вес каждого контейнера),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(доход от перевозки каждого контейнера),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minv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(нижняя граница веса контейнера для каждого свободного места на палубе судна), </a:t>
            </a:r>
            <a:r>
              <a:rPr lang="en-US" sz="2800" b="1" dirty="0" err="1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maxv</a:t>
            </a:r>
            <a:r>
              <a:rPr lang="en-US" sz="2800" b="1" dirty="0"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(верхняя граница веса контейнера для каждого свободного места), а затем вызывает функцию 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boat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_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c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В результате выполнения функция возвращает доход от оптимального размещения контейнеров на палубе судна, а также параметр (массив </a:t>
            </a:r>
            <a:r>
              <a:rPr lang="en-US" sz="2800" b="1" dirty="0">
                <a:solidFill>
                  <a:srgbClr val="FFC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), содержащий перечень номеров выбранных контейнеров.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70363"/>
      </p:ext>
    </p:extLst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-2738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08732" y="1790992"/>
            <a:ext cx="468052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NN (</a:t>
            </a:r>
            <a:r>
              <a:rPr lang="en-US" sz="2400" dirty="0" err="1">
                <a:solidFill>
                  <a:srgbClr val="0000FF"/>
                </a:solidFill>
              </a:rPr>
              <a:t>sizeof</a:t>
            </a:r>
            <a:r>
              <a:rPr lang="en-US" sz="2400" dirty="0">
                <a:solidFill>
                  <a:prstClr val="black"/>
                </a:solidFill>
              </a:rPr>
              <a:t>(v)/</a:t>
            </a:r>
            <a:r>
              <a:rPr lang="en-US" sz="2400" dirty="0" err="1">
                <a:solidFill>
                  <a:srgbClr val="0000FF"/>
                </a:solidFill>
              </a:rPr>
              <a:t>sizeof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))</a:t>
            </a:r>
          </a:p>
          <a:p>
            <a:r>
              <a:rPr lang="en-US" sz="2400" dirty="0">
                <a:solidFill>
                  <a:srgbClr val="0000FF"/>
                </a:solidFill>
              </a:rPr>
              <a:t>#define</a:t>
            </a:r>
            <a:r>
              <a:rPr lang="en-US" sz="2400" dirty="0">
                <a:solidFill>
                  <a:prstClr val="black"/>
                </a:solidFill>
              </a:rPr>
              <a:t> MM 3</a:t>
            </a:r>
          </a:p>
          <a:p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_</a:t>
            </a:r>
            <a:r>
              <a:rPr lang="en-US" sz="2400" dirty="0" err="1">
                <a:solidFill>
                  <a:prstClr val="black"/>
                </a:solidFill>
              </a:rPr>
              <a:t>tmain</a:t>
            </a:r>
            <a:r>
              <a:rPr lang="en-US" sz="2400" dirty="0">
                <a:solidFill>
                  <a:prstClr val="black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argc</a:t>
            </a:r>
            <a:r>
              <a:rPr lang="en-US" sz="2400" dirty="0">
                <a:solidFill>
                  <a:prstClr val="black"/>
                </a:solidFill>
              </a:rPr>
              <a:t>, _TCHAR* </a:t>
            </a:r>
            <a:r>
              <a:rPr lang="en-US" sz="2400" dirty="0" err="1">
                <a:solidFill>
                  <a:prstClr val="black"/>
                </a:solidFill>
              </a:rPr>
              <a:t>argv</a:t>
            </a:r>
            <a:r>
              <a:rPr lang="en-US" sz="24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400" dirty="0">
                <a:solidFill>
                  <a:prstClr val="black"/>
                </a:solidFill>
              </a:rPr>
              <a:t>{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setlocale</a:t>
            </a:r>
            <a:r>
              <a:rPr lang="en-US" sz="2400" dirty="0">
                <a:solidFill>
                  <a:prstClr val="black"/>
                </a:solidFill>
              </a:rPr>
              <a:t>(LC_ALL, 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 err="1">
                <a:solidFill>
                  <a:srgbClr val="A31515"/>
                </a:solidFill>
              </a:rPr>
              <a:t>rus</a:t>
            </a:r>
            <a:r>
              <a:rPr lang="en-US" sz="2400" dirty="0">
                <a:solidFill>
                  <a:srgbClr val="A31515"/>
                </a:solidFill>
              </a:rPr>
              <a:t>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v[] =   {100,  200, 300,  400}; </a:t>
            </a:r>
            <a:endParaRPr lang="ru-RU" sz="2400" dirty="0">
              <a:solidFill>
                <a:prstClr val="black"/>
              </a:solidFill>
            </a:endParaRPr>
          </a:p>
          <a:p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c[] =   { 10, 15,  20, 25}; </a:t>
            </a:r>
          </a:p>
          <a:p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minv</a:t>
            </a:r>
            <a:r>
              <a:rPr lang="ru-RU" sz="2400" dirty="0">
                <a:solidFill>
                  <a:prstClr val="black"/>
                </a:solidFill>
              </a:rPr>
              <a:t>[]  = {350,  250,  0}; </a:t>
            </a:r>
          </a:p>
          <a:p>
            <a:r>
              <a:rPr lang="ru-RU" sz="2400" dirty="0" err="1">
                <a:solidFill>
                  <a:srgbClr val="0000FF"/>
                </a:solidFill>
              </a:rPr>
              <a:t>int</a:t>
            </a:r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maxv</a:t>
            </a:r>
            <a:r>
              <a:rPr lang="ru-RU" sz="2400" dirty="0">
                <a:solidFill>
                  <a:prstClr val="black"/>
                </a:solidFill>
              </a:rPr>
              <a:t>[]  = {750,  350,  750};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dirty="0">
                <a:solidFill>
                  <a:prstClr val="black"/>
                </a:solidFill>
              </a:rPr>
              <a:t> r[MM];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int</a:t>
            </a:r>
            <a:r>
              <a:rPr lang="en-US" sz="2400" dirty="0">
                <a:solidFill>
                  <a:prstClr val="black"/>
                </a:solidFill>
              </a:rPr>
              <a:t> cc = boat_</a:t>
            </a:r>
            <a:r>
              <a:rPr lang="be-BY" sz="2400" dirty="0">
                <a:solidFill>
                  <a:prstClr val="black"/>
                </a:solidFill>
              </a:rPr>
              <a:t>с( ……)</a:t>
            </a:r>
            <a:r>
              <a:rPr lang="en-US" sz="2400" dirty="0">
                <a:solidFill>
                  <a:prstClr val="black"/>
                </a:solidFill>
              </a:rPr>
              <a:t>{…};</a:t>
            </a:r>
          </a:p>
          <a:p>
            <a:endParaRPr lang="be-BY" dirty="0">
              <a:solidFill>
                <a:prstClr val="black"/>
              </a:solidFill>
            </a:endParaRPr>
          </a:p>
          <a:p>
            <a:endParaRPr lang="be-BY" dirty="0">
              <a:solidFill>
                <a:prstClr val="black"/>
              </a:solidFill>
            </a:endParaRPr>
          </a:p>
          <a:p>
            <a:endParaRPr lang="be-BY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36885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124744"/>
            <a:ext cx="11422910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8088837"/>
      </p:ext>
    </p:extLst>
  </p:cSld>
  <p:clrMapOvr>
    <a:masterClrMapping/>
  </p:clrMapOvr>
  <p:transition spd="slow">
    <p:push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567608" y="1597658"/>
            <a:ext cx="2840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512524" y="1731833"/>
            <a:ext cx="896448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Далее представлена программа, позволяющая оценить продолжительность решения задачи о размещении контейнеров в зависимости от количества свободных мест на палубе судна и результат ее выполнения. </a:t>
            </a:r>
          </a:p>
          <a:p>
            <a:pPr indent="323850" algn="just"/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Здесь применяются функции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auxil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start</a:t>
            </a:r>
            <a:r>
              <a:rPr lang="ru-RU" sz="2800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и 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auxil</a:t>
            </a:r>
            <a:r>
              <a:rPr lang="ru-RU" sz="2800" b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::</a:t>
            </a:r>
            <a:r>
              <a:rPr lang="en-US" sz="2800" b="1" dirty="0" err="1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iget</a:t>
            </a:r>
            <a:r>
              <a:rPr lang="ru-RU" sz="2800" dirty="0">
                <a:latin typeface="Bahnschrift" panose="020B0502040204020203" pitchFamily="34" charset="0"/>
                <a:ea typeface="Times New Roman" panose="02020603050405020304" pitchFamily="18" charset="0"/>
              </a:rPr>
              <a:t>, позволяющие сгенерировать случайные последовательности целых чисел в заданных пределах. </a:t>
            </a:r>
          </a:p>
          <a:p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 flipV="1">
            <a:off x="5928456" y="5757741"/>
            <a:ext cx="163392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836052" y="237765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</a:rPr>
              <a:t>Решение задачи об оптимальном  размещении  контейнеров  на судне с помощью генератора размещений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i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пример реализации на языке С++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)</a:t>
            </a:r>
            <a:endParaRPr lang="be-BY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67438"/>
      </p:ext>
    </p:extLst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31504" y="188640"/>
            <a:ext cx="885698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…</a:t>
            </a:r>
          </a:p>
          <a:p>
            <a:r>
              <a:rPr lang="en-US" sz="2800" dirty="0">
                <a:solidFill>
                  <a:srgbClr val="0000FF"/>
                </a:solidFill>
              </a:rPr>
              <a:t>#define</a:t>
            </a:r>
            <a:r>
              <a:rPr lang="en-US" sz="2800" dirty="0">
                <a:solidFill>
                  <a:prstClr val="black"/>
                </a:solidFill>
              </a:rPr>
              <a:t> SPACE(n) </a:t>
            </a:r>
            <a:r>
              <a:rPr lang="en-US" sz="2800" dirty="0" err="1">
                <a:solidFill>
                  <a:prstClr val="black"/>
                </a:solidFill>
              </a:rPr>
              <a:t>std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setw</a:t>
            </a:r>
            <a:r>
              <a:rPr lang="en-US" sz="2800" dirty="0">
                <a:solidFill>
                  <a:prstClr val="black"/>
                </a:solidFill>
              </a:rPr>
              <a:t>(n)&lt;&lt;</a:t>
            </a:r>
            <a:r>
              <a:rPr lang="en-US" sz="2800" dirty="0">
                <a:solidFill>
                  <a:srgbClr val="A31515"/>
                </a:solidFill>
              </a:rPr>
              <a:t>" "</a:t>
            </a:r>
          </a:p>
          <a:p>
            <a:r>
              <a:rPr lang="en-US" sz="2800" dirty="0">
                <a:solidFill>
                  <a:srgbClr val="0000FF"/>
                </a:solidFill>
              </a:rPr>
              <a:t>#define</a:t>
            </a:r>
            <a:r>
              <a:rPr lang="en-US" sz="2800" dirty="0">
                <a:solidFill>
                  <a:prstClr val="black"/>
                </a:solidFill>
              </a:rPr>
              <a:t> NN 9</a:t>
            </a:r>
          </a:p>
          <a:p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_</a:t>
            </a:r>
            <a:r>
              <a:rPr lang="en-US" sz="2800" dirty="0" err="1">
                <a:solidFill>
                  <a:prstClr val="black"/>
                </a:solidFill>
              </a:rPr>
              <a:t>tmain</a:t>
            </a:r>
            <a:r>
              <a:rPr lang="en-US" sz="2800" dirty="0">
                <a:solidFill>
                  <a:prstClr val="black"/>
                </a:solidFill>
              </a:rPr>
              <a:t>(</a:t>
            </a:r>
            <a:r>
              <a:rPr lang="en-US" sz="2800" dirty="0" err="1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argc</a:t>
            </a:r>
            <a:r>
              <a:rPr lang="en-US" sz="2800" dirty="0">
                <a:solidFill>
                  <a:prstClr val="black"/>
                </a:solidFill>
              </a:rPr>
              <a:t>, _TCHAR* </a:t>
            </a:r>
            <a:r>
              <a:rPr lang="en-US" sz="2800" dirty="0" err="1">
                <a:solidFill>
                  <a:prstClr val="black"/>
                </a:solidFill>
              </a:rPr>
              <a:t>argv</a:t>
            </a:r>
            <a:r>
              <a:rPr lang="en-US" sz="2800" dirty="0">
                <a:solidFill>
                  <a:prstClr val="black"/>
                </a:solidFill>
              </a:rPr>
              <a:t>[])</a:t>
            </a:r>
          </a:p>
          <a:p>
            <a:r>
              <a:rPr lang="be-BY" sz="2800" dirty="0">
                <a:solidFill>
                  <a:prstClr val="black"/>
                </a:solidFill>
              </a:rPr>
              <a:t>{</a:t>
            </a:r>
          </a:p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setlocale</a:t>
            </a:r>
            <a:r>
              <a:rPr lang="en-US" sz="2800" dirty="0">
                <a:solidFill>
                  <a:prstClr val="black"/>
                </a:solidFill>
              </a:rPr>
              <a:t>(LC_ALL, </a:t>
            </a:r>
            <a:r>
              <a:rPr lang="en-US" sz="2800" dirty="0">
                <a:solidFill>
                  <a:srgbClr val="A31515"/>
                </a:solidFill>
              </a:rPr>
              <a:t>"</a:t>
            </a:r>
            <a:r>
              <a:rPr lang="en-US" sz="2800" dirty="0" err="1">
                <a:solidFill>
                  <a:srgbClr val="A31515"/>
                </a:solidFill>
              </a:rPr>
              <a:t>rus</a:t>
            </a:r>
            <a:r>
              <a:rPr lang="en-US" sz="2800" dirty="0">
                <a:solidFill>
                  <a:srgbClr val="A31515"/>
                </a:solidFill>
              </a:rPr>
              <a:t>"</a:t>
            </a:r>
            <a:r>
              <a:rPr lang="en-US" sz="2800" dirty="0">
                <a:solidFill>
                  <a:prstClr val="black"/>
                </a:solidFill>
              </a:rPr>
              <a:t>);</a:t>
            </a:r>
          </a:p>
          <a:p>
            <a:r>
              <a:rPr lang="nn-NO" sz="2800" dirty="0">
                <a:solidFill>
                  <a:prstClr val="black"/>
                </a:solidFill>
              </a:rPr>
              <a:t> </a:t>
            </a:r>
            <a:r>
              <a:rPr lang="nn-NO" sz="2800" dirty="0">
                <a:solidFill>
                  <a:srgbClr val="0000FF"/>
                </a:solidFill>
              </a:rPr>
              <a:t>int</a:t>
            </a:r>
            <a:r>
              <a:rPr lang="nn-NO" sz="2800" dirty="0">
                <a:solidFill>
                  <a:prstClr val="black"/>
                </a:solidFill>
              </a:rPr>
              <a:t> v[NN+1], c[NN+1], minv[NN+1], maxv[NN+1]; </a:t>
            </a:r>
          </a:p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short</a:t>
            </a:r>
            <a:r>
              <a:rPr lang="en-US" sz="2800" dirty="0">
                <a:solidFill>
                  <a:prstClr val="black"/>
                </a:solidFill>
              </a:rPr>
              <a:t> r[NN];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auxil</a:t>
            </a:r>
            <a:r>
              <a:rPr lang="en-US" sz="2800" dirty="0">
                <a:solidFill>
                  <a:prstClr val="black"/>
                </a:solidFill>
              </a:rPr>
              <a:t>::start(); </a:t>
            </a:r>
          </a:p>
          <a:p>
            <a:r>
              <a:rPr lang="nn-NO" sz="2800" dirty="0">
                <a:solidFill>
                  <a:prstClr val="black"/>
                </a:solidFill>
              </a:rPr>
              <a:t> </a:t>
            </a:r>
            <a:r>
              <a:rPr lang="nn-NO" sz="2800" dirty="0">
                <a:solidFill>
                  <a:srgbClr val="0000FF"/>
                </a:solidFill>
              </a:rPr>
              <a:t>for</a:t>
            </a:r>
            <a:r>
              <a:rPr lang="nn-NO" sz="2800" dirty="0">
                <a:solidFill>
                  <a:prstClr val="black"/>
                </a:solidFill>
              </a:rPr>
              <a:t>(</a:t>
            </a:r>
            <a:r>
              <a:rPr lang="nn-NO" sz="2800" dirty="0">
                <a:solidFill>
                  <a:srgbClr val="0000FF"/>
                </a:solidFill>
              </a:rPr>
              <a:t>int</a:t>
            </a:r>
            <a:r>
              <a:rPr lang="nn-NO" sz="2800" dirty="0">
                <a:solidFill>
                  <a:prstClr val="black"/>
                </a:solidFill>
              </a:rPr>
              <a:t> i = 0; i &lt;= NN; i++) </a:t>
            </a:r>
          </a:p>
          <a:p>
            <a:r>
              <a:rPr lang="be-BY" sz="2800" dirty="0">
                <a:solidFill>
                  <a:prstClr val="black"/>
                </a:solidFill>
              </a:rPr>
              <a:t> {</a:t>
            </a:r>
          </a:p>
          <a:p>
            <a:r>
              <a:rPr lang="en-US" sz="2800" dirty="0">
                <a:solidFill>
                  <a:prstClr val="black"/>
                </a:solidFill>
              </a:rPr>
              <a:t> v[i] = </a:t>
            </a:r>
            <a:r>
              <a:rPr lang="en-US" sz="2800" dirty="0" err="1">
                <a:solidFill>
                  <a:prstClr val="black"/>
                </a:solidFill>
              </a:rPr>
              <a:t>auxil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iget</a:t>
            </a:r>
            <a:r>
              <a:rPr lang="en-US" sz="2800" dirty="0">
                <a:solidFill>
                  <a:prstClr val="black"/>
                </a:solidFill>
              </a:rPr>
              <a:t>(50,500); c[i] = </a:t>
            </a:r>
            <a:r>
              <a:rPr lang="en-US" sz="2800" dirty="0" err="1">
                <a:solidFill>
                  <a:prstClr val="black"/>
                </a:solidFill>
              </a:rPr>
              <a:t>auxil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iget</a:t>
            </a:r>
            <a:r>
              <a:rPr lang="en-US" sz="2800" dirty="0">
                <a:solidFill>
                  <a:prstClr val="black"/>
                </a:solidFill>
              </a:rPr>
              <a:t>(10,30);</a:t>
            </a:r>
          </a:p>
          <a:p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err="1">
                <a:solidFill>
                  <a:prstClr val="black"/>
                </a:solidFill>
              </a:rPr>
              <a:t>minv</a:t>
            </a:r>
            <a:r>
              <a:rPr lang="en-US" sz="2800" dirty="0">
                <a:solidFill>
                  <a:prstClr val="black"/>
                </a:solidFill>
              </a:rPr>
              <a:t>[i] = </a:t>
            </a:r>
            <a:r>
              <a:rPr lang="en-US" sz="2800" dirty="0" err="1">
                <a:solidFill>
                  <a:prstClr val="black"/>
                </a:solidFill>
              </a:rPr>
              <a:t>auxil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iget</a:t>
            </a:r>
            <a:r>
              <a:rPr lang="en-US" sz="2800" dirty="0">
                <a:solidFill>
                  <a:prstClr val="black"/>
                </a:solidFill>
              </a:rPr>
              <a:t>(50,300); </a:t>
            </a:r>
            <a:r>
              <a:rPr lang="en-US" sz="2800" dirty="0" err="1">
                <a:solidFill>
                  <a:prstClr val="black"/>
                </a:solidFill>
              </a:rPr>
              <a:t>maxv</a:t>
            </a:r>
            <a:r>
              <a:rPr lang="en-US" sz="2800" dirty="0">
                <a:solidFill>
                  <a:prstClr val="black"/>
                </a:solidFill>
              </a:rPr>
              <a:t>[i] = </a:t>
            </a:r>
            <a:r>
              <a:rPr lang="en-US" sz="2800" dirty="0" err="1">
                <a:solidFill>
                  <a:prstClr val="black"/>
                </a:solidFill>
              </a:rPr>
              <a:t>auxil</a:t>
            </a:r>
            <a:r>
              <a:rPr lang="en-US" sz="2800" dirty="0">
                <a:solidFill>
                  <a:prstClr val="black"/>
                </a:solidFill>
              </a:rPr>
              <a:t>::</a:t>
            </a:r>
            <a:r>
              <a:rPr lang="en-US" sz="2800" dirty="0" err="1">
                <a:solidFill>
                  <a:prstClr val="black"/>
                </a:solidFill>
              </a:rPr>
              <a:t>iget</a:t>
            </a:r>
            <a:r>
              <a:rPr lang="en-US" sz="2800" dirty="0">
                <a:solidFill>
                  <a:prstClr val="black"/>
                </a:solidFill>
              </a:rPr>
              <a:t>(250,750);</a:t>
            </a:r>
          </a:p>
          <a:p>
            <a:r>
              <a:rPr lang="be-BY" sz="2800" dirty="0">
                <a:solidFill>
                  <a:prstClr val="black"/>
                </a:solidFill>
              </a:rPr>
              <a:t> } </a:t>
            </a: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4031194862"/>
      </p:ext>
    </p:extLst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79374" y="117694"/>
            <a:ext cx="892899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cout</a:t>
            </a:r>
            <a:r>
              <a:rPr lang="ru-RU" sz="2400" dirty="0"/>
              <a:t>&lt;&lt;</a:t>
            </a:r>
            <a:r>
              <a:rPr lang="ru-RU" sz="2400" dirty="0" err="1"/>
              <a:t>std</a:t>
            </a:r>
            <a:r>
              <a:rPr lang="ru-RU" sz="2400" dirty="0"/>
              <a:t>::</a:t>
            </a:r>
            <a:r>
              <a:rPr lang="ru-RU" sz="2400" dirty="0" err="1"/>
              <a:t>endl</a:t>
            </a:r>
            <a:r>
              <a:rPr lang="ru-RU" sz="2400" dirty="0"/>
              <a:t>&lt;&lt;</a:t>
            </a:r>
            <a:r>
              <a:rPr lang="ru-RU" sz="2400" dirty="0">
                <a:solidFill>
                  <a:srgbClr val="A31515"/>
                </a:solidFill>
              </a:rPr>
              <a:t>"-- Задача о размещении контейнеров -- 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"-- </a:t>
            </a:r>
            <a:r>
              <a:rPr lang="be-BY" sz="2400" dirty="0">
                <a:solidFill>
                  <a:srgbClr val="A31515"/>
                </a:solidFill>
              </a:rPr>
              <a:t>всего контейнеров: "</a:t>
            </a:r>
            <a:r>
              <a:rPr lang="be-BY" sz="2400" dirty="0">
                <a:solidFill>
                  <a:prstClr val="black"/>
                </a:solidFill>
              </a:rPr>
              <a:t> &lt;&lt; </a:t>
            </a:r>
            <a:r>
              <a:rPr lang="en-US" sz="2400" dirty="0">
                <a:solidFill>
                  <a:prstClr val="black"/>
                </a:solidFill>
              </a:rPr>
              <a:t>NN;</a:t>
            </a:r>
          </a:p>
          <a:p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cout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 err="1">
                <a:solidFill>
                  <a:prstClr val="black"/>
                </a:solidFill>
              </a:rPr>
              <a:t>std</a:t>
            </a:r>
            <a:r>
              <a:rPr lang="ru-RU" sz="2400" dirty="0">
                <a:solidFill>
                  <a:prstClr val="black"/>
                </a:solidFill>
              </a:rPr>
              <a:t>::</a:t>
            </a:r>
            <a:r>
              <a:rPr lang="ru-RU" sz="2400" dirty="0" err="1">
                <a:solidFill>
                  <a:prstClr val="black"/>
                </a:solidFill>
              </a:rPr>
              <a:t>endl</a:t>
            </a:r>
            <a:r>
              <a:rPr lang="ru-RU" sz="2400" dirty="0">
                <a:solidFill>
                  <a:prstClr val="black"/>
                </a:solidFill>
              </a:rPr>
              <a:t>&lt;&lt;</a:t>
            </a:r>
            <a:r>
              <a:rPr lang="ru-RU" sz="2400" dirty="0">
                <a:solidFill>
                  <a:srgbClr val="A31515"/>
                </a:solidFill>
              </a:rPr>
              <a:t>"-- количество ------ продолжительность -- "</a:t>
            </a:r>
            <a:r>
              <a:rPr lang="ru-RU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>
                <a:solidFill>
                  <a:srgbClr val="A31515"/>
                </a:solidFill>
              </a:rPr>
              <a:t>"  </a:t>
            </a:r>
            <a:r>
              <a:rPr lang="be-BY" sz="2400" dirty="0">
                <a:solidFill>
                  <a:srgbClr val="A31515"/>
                </a:solidFill>
              </a:rPr>
              <a:t>мест     вычисления  "</a:t>
            </a:r>
            <a:r>
              <a:rPr lang="be-BY" sz="2400" dirty="0">
                <a:solidFill>
                  <a:prstClr val="black"/>
                </a:solidFill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clock_t</a:t>
            </a:r>
            <a:r>
              <a:rPr lang="en-US" sz="2400" dirty="0">
                <a:solidFill>
                  <a:prstClr val="black"/>
                </a:solidFill>
              </a:rPr>
              <a:t> t1, t2; </a:t>
            </a:r>
          </a:p>
          <a:p>
            <a:r>
              <a:rPr lang="nn-NO" sz="2400" dirty="0">
                <a:solidFill>
                  <a:prstClr val="black"/>
                </a:solidFill>
              </a:rPr>
              <a:t> </a:t>
            </a:r>
            <a:r>
              <a:rPr lang="nn-NO" sz="2400" dirty="0">
                <a:solidFill>
                  <a:srgbClr val="0000FF"/>
                </a:solidFill>
              </a:rPr>
              <a:t>for</a:t>
            </a:r>
            <a:r>
              <a:rPr lang="nn-NO" sz="2400" dirty="0">
                <a:solidFill>
                  <a:prstClr val="black"/>
                </a:solidFill>
              </a:rPr>
              <a:t> (</a:t>
            </a:r>
            <a:r>
              <a:rPr lang="nn-NO" sz="2400" dirty="0">
                <a:solidFill>
                  <a:srgbClr val="0000FF"/>
                </a:solidFill>
              </a:rPr>
              <a:t>int</a:t>
            </a:r>
            <a:r>
              <a:rPr lang="nn-NO" sz="2400" dirty="0">
                <a:solidFill>
                  <a:prstClr val="black"/>
                </a:solidFill>
              </a:rPr>
              <a:t> i = 4; i &lt; NN; i++)</a:t>
            </a:r>
          </a:p>
          <a:p>
            <a:r>
              <a:rPr lang="be-BY" sz="2400" dirty="0">
                <a:solidFill>
                  <a:prstClr val="black"/>
                </a:solidFill>
              </a:rPr>
              <a:t> { </a:t>
            </a:r>
          </a:p>
          <a:p>
            <a:r>
              <a:rPr lang="en-US" sz="2400" dirty="0">
                <a:solidFill>
                  <a:prstClr val="black"/>
                </a:solidFill>
              </a:rPr>
              <a:t> t1 = clock();</a:t>
            </a:r>
          </a:p>
          <a:p>
            <a:r>
              <a:rPr lang="nn-NO" sz="2400" dirty="0">
                <a:solidFill>
                  <a:prstClr val="black"/>
                </a:solidFill>
              </a:rPr>
              <a:t> boat_с(i, minv,  maxv, NN,  v,  c, r);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t2 = clock();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&lt;&lt;SPACE(7)&lt;&lt;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(2)&lt;&lt;i</a:t>
            </a:r>
          </a:p>
          <a:p>
            <a:r>
              <a:rPr lang="en-US" sz="2400" dirty="0">
                <a:solidFill>
                  <a:prstClr val="black"/>
                </a:solidFill>
              </a:rPr>
              <a:t>       &lt;&lt;SPACE(15)&lt;&lt;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setw</a:t>
            </a:r>
            <a:r>
              <a:rPr lang="en-US" sz="2400" dirty="0">
                <a:solidFill>
                  <a:prstClr val="black"/>
                </a:solidFill>
              </a:rPr>
              <a:t>(6)&lt;&lt;(t2-t1);</a:t>
            </a:r>
          </a:p>
          <a:p>
            <a:r>
              <a:rPr lang="be-BY" sz="2400" dirty="0">
                <a:solidFill>
                  <a:prstClr val="black"/>
                </a:solidFill>
              </a:rPr>
              <a:t> }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cout</a:t>
            </a:r>
            <a:r>
              <a:rPr lang="en-US" sz="2400" dirty="0">
                <a:solidFill>
                  <a:prstClr val="black"/>
                </a:solidFill>
              </a:rPr>
              <a:t>&lt;&lt;</a:t>
            </a:r>
            <a:r>
              <a:rPr lang="en-US" sz="2400" dirty="0" err="1">
                <a:solidFill>
                  <a:prstClr val="black"/>
                </a:solidFill>
              </a:rPr>
              <a:t>std</a:t>
            </a:r>
            <a:r>
              <a:rPr lang="en-US" sz="2400" dirty="0">
                <a:solidFill>
                  <a:prstClr val="black"/>
                </a:solidFill>
              </a:rPr>
              <a:t>::</a:t>
            </a:r>
            <a:r>
              <a:rPr lang="en-US" sz="2400" dirty="0" err="1">
                <a:solidFill>
                  <a:prstClr val="black"/>
                </a:solidFill>
              </a:rPr>
              <a:t>endl</a:t>
            </a:r>
            <a:r>
              <a:rPr lang="en-US" sz="2400" dirty="0">
                <a:solidFill>
                  <a:prstClr val="black"/>
                </a:solidFill>
              </a:rPr>
              <a:t>; system(</a:t>
            </a:r>
            <a:r>
              <a:rPr lang="en-US" sz="2400" dirty="0">
                <a:solidFill>
                  <a:srgbClr val="A31515"/>
                </a:solidFill>
              </a:rPr>
              <a:t>"pause"</a:t>
            </a:r>
            <a:r>
              <a:rPr lang="en-US" sz="2400" dirty="0">
                <a:solidFill>
                  <a:prstClr val="black"/>
                </a:solidFill>
              </a:rPr>
              <a:t>);</a:t>
            </a:r>
          </a:p>
          <a:p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return</a:t>
            </a:r>
            <a:r>
              <a:rPr lang="en-US" sz="2400" dirty="0">
                <a:solidFill>
                  <a:prstClr val="black"/>
                </a:solidFill>
              </a:rPr>
              <a:t> 0;</a:t>
            </a:r>
          </a:p>
          <a:p>
            <a:r>
              <a:rPr lang="be-BY" sz="2400" dirty="0">
                <a:solidFill>
                  <a:prstClr val="black"/>
                </a:solidFill>
              </a:rPr>
              <a:t>}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1806571941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7-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6"/>
          <a:stretch/>
        </p:blipFill>
        <p:spPr bwMode="auto">
          <a:xfrm>
            <a:off x="1535156" y="1093304"/>
            <a:ext cx="9132844" cy="4279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0565266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200" y="188640"/>
            <a:ext cx="9841600" cy="5582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935760" y="6115399"/>
            <a:ext cx="2304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800" dirty="0">
                <a:solidFill>
                  <a:srgbClr val="C00000"/>
                </a:solidFill>
                <a:latin typeface="Bahnschrift" panose="020B0502040204020203" pitchFamily="34" charset="0"/>
                <a:ea typeface="Times New Roman" pitchFamily="18" charset="0"/>
                <a:cs typeface="Arial" pitchFamily="34" charset="0"/>
              </a:rPr>
              <a:t>Сложность</a:t>
            </a:r>
            <a:r>
              <a:rPr lang="ru-RU" sz="28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endParaRPr lang="ru-RU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849988"/>
              </p:ext>
            </p:extLst>
          </p:nvPr>
        </p:nvGraphicFramePr>
        <p:xfrm>
          <a:off x="6096001" y="6042927"/>
          <a:ext cx="1267207" cy="66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Формула" r:id="rId4" imgW="520474" imgH="279279" progId="Equation.3">
                  <p:embed/>
                </p:oleObj>
              </mc:Choice>
              <mc:Fallback>
                <p:oleObj name="Формула" r:id="rId4" imgW="520474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6042927"/>
                        <a:ext cx="1267207" cy="6681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59096" y="533010"/>
            <a:ext cx="396410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График, отражающий зависимость продолжительности решения задачи от количества свободных мест на палубе судна при общем количестве контейнеров, равном </a:t>
            </a:r>
            <a:r>
              <a:rPr lang="ru-RU" sz="2400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. Вид графика вполне согласуется с оценкой  сложности алгоритма генерации размещений </a:t>
            </a:r>
            <a:r>
              <a:rPr lang="en-US" sz="2400" b="1" i="1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n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из </a:t>
            </a:r>
            <a:r>
              <a:rPr lang="ru-RU" sz="2400" dirty="0">
                <a:solidFill>
                  <a:srgbClr val="C00000"/>
                </a:solidFill>
                <a:latin typeface="Bahnschrift" panose="020B0502040204020203" pitchFamily="34" charset="0"/>
                <a:ea typeface="Times New Roman" panose="02020603050405020304" pitchFamily="18" charset="0"/>
              </a:rPr>
              <a:t>11</a:t>
            </a:r>
            <a:r>
              <a:rPr lang="ru-RU" sz="2400" dirty="0">
                <a:latin typeface="Bahnschrift" panose="020B0502040204020203" pitchFamily="34" charset="0"/>
                <a:ea typeface="Times New Roman" panose="02020603050405020304" pitchFamily="18" charset="0"/>
              </a:rPr>
              <a:t> элементов               .   </a:t>
            </a:r>
            <a:endParaRPr lang="ru-RU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7828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3251</TotalTime>
  <Words>5946</Words>
  <Application>Microsoft Office PowerPoint</Application>
  <PresentationFormat>Широкоэкранный</PresentationFormat>
  <Paragraphs>588</Paragraphs>
  <Slides>75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75</vt:i4>
      </vt:variant>
    </vt:vector>
  </HeadingPairs>
  <TitlesOfParts>
    <vt:vector size="86" baseType="lpstr">
      <vt:lpstr>Arial</vt:lpstr>
      <vt:lpstr>Bahnschrift</vt:lpstr>
      <vt:lpstr>Calibri</vt:lpstr>
      <vt:lpstr>Calibri Light</vt:lpstr>
      <vt:lpstr>Cambria Math</vt:lpstr>
      <vt:lpstr>Times New Roman</vt:lpstr>
      <vt:lpstr>Wingdings</vt:lpstr>
      <vt:lpstr>Тема Office</vt:lpstr>
      <vt:lpstr>Формула</vt:lpstr>
      <vt:lpstr>Уравнение</vt:lpstr>
      <vt:lpstr>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93</cp:revision>
  <dcterms:created xsi:type="dcterms:W3CDTF">2010-12-02T13:55:43Z</dcterms:created>
  <dcterms:modified xsi:type="dcterms:W3CDTF">2026-02-18T14:58:48Z</dcterms:modified>
</cp:coreProperties>
</file>