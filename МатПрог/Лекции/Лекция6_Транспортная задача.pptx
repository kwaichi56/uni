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317" r:id="rId2"/>
    <p:sldId id="300" r:id="rId3"/>
    <p:sldId id="301" r:id="rId4"/>
    <p:sldId id="319" r:id="rId5"/>
    <p:sldId id="321" r:id="rId6"/>
    <p:sldId id="318" r:id="rId7"/>
    <p:sldId id="302" r:id="rId8"/>
    <p:sldId id="320" r:id="rId9"/>
    <p:sldId id="303" r:id="rId10"/>
    <p:sldId id="322" r:id="rId11"/>
    <p:sldId id="32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24" r:id="rId22"/>
    <p:sldId id="313" r:id="rId23"/>
    <p:sldId id="314" r:id="rId24"/>
    <p:sldId id="315" r:id="rId25"/>
    <p:sldId id="316" r:id="rId26"/>
  </p:sldIdLst>
  <p:sldSz cx="12192000" cy="6858000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328"/>
    <a:srgbClr val="9A57CD"/>
    <a:srgbClr val="CCFFCC"/>
    <a:srgbClr val="99CC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-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77674" autoAdjust="0"/>
  </p:normalViewPr>
  <p:slideViewPr>
    <p:cSldViewPr>
      <p:cViewPr varScale="1">
        <p:scale>
          <a:sx n="95" d="100"/>
          <a:sy n="95" d="100"/>
        </p:scale>
        <p:origin x="19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BC03C-7C44-4B82-B564-DAFCB17545D3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ECF78-862C-405B-86DC-86BB98D5F1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169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47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018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443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476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0573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634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8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060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98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239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015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151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987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428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0649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4600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1762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9440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2880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2330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1371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2121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6792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FECF78-862C-405B-86DC-86BB98D5F1A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03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92529051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90692662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40334911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8771630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730158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27459593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045403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06847524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006927188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37479461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29858165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C61C8-9B01-4390-BFEC-BFC4D09FF6CC}" type="datetimeFigureOut">
              <a:rPr lang="be-BY" smtClean="0"/>
              <a:pPr/>
              <a:t>27.04.26</a:t>
            </a:fld>
            <a:endParaRPr lang="be-BY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e-BY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943C8-F4B5-45BD-9696-606291EBDE38}" type="slidenum">
              <a:rPr lang="be-BY" smtClean="0"/>
              <a:pPr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415127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524000" y="2780928"/>
            <a:ext cx="9144000" cy="1655762"/>
          </a:xfrm>
        </p:spPr>
        <p:txBody>
          <a:bodyPr>
            <a:normAutofit/>
          </a:bodyPr>
          <a:lstStyle/>
          <a:p>
            <a:r>
              <a:rPr lang="ru-RU" sz="4800" dirty="0">
                <a:solidFill>
                  <a:srgbClr val="9A57CD"/>
                </a:solidFill>
                <a:latin typeface="Bahnschrift" panose="020B0502040204020203" pitchFamily="34" charset="0"/>
              </a:rPr>
              <a:t>Транспортная задача</a:t>
            </a:r>
          </a:p>
        </p:txBody>
      </p:sp>
    </p:spTree>
    <p:extLst>
      <p:ext uri="{BB962C8B-B14F-4D97-AF65-F5344CB8AC3E}">
        <p14:creationId xmlns:p14="http://schemas.microsoft.com/office/powerpoint/2010/main" val="289431074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/>
          <p:cNvSpPr txBox="1">
            <a:spLocks/>
          </p:cNvSpPr>
          <p:nvPr/>
        </p:nvSpPr>
        <p:spPr>
          <a:xfrm>
            <a:off x="2135560" y="692696"/>
            <a:ext cx="7992888" cy="347472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8988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64208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6596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86000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87752" indent="-182880" algn="l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Char char="*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 algn="ctr">
              <a:buClr>
                <a:srgbClr val="9A57CD"/>
              </a:buClr>
              <a:buNone/>
            </a:pPr>
            <a:r>
              <a:rPr lang="ru-RU" sz="4800" dirty="0">
                <a:solidFill>
                  <a:srgbClr val="9A57CD"/>
                </a:solidFill>
                <a:latin typeface="Bahnschrift" panose="020B0502040204020203" pitchFamily="34" charset="0"/>
              </a:rPr>
              <a:t> План лекции</a:t>
            </a:r>
          </a:p>
          <a:p>
            <a:pPr marL="788670" indent="-742950">
              <a:buClr>
                <a:srgbClr val="9A57CD"/>
              </a:buClr>
              <a:buFont typeface="+mj-lt"/>
              <a:buAutoNum type="arabicPeriod"/>
            </a:pPr>
            <a:r>
              <a:rPr lang="ru-RU" sz="4000" dirty="0">
                <a:solidFill>
                  <a:schemeClr val="tx1"/>
                </a:solidFill>
                <a:latin typeface="Bahnschrift" panose="020B0502040204020203" pitchFamily="34" charset="0"/>
              </a:rPr>
              <a:t>Основные понятия;</a:t>
            </a:r>
          </a:p>
          <a:p>
            <a:pPr marL="788670" indent="-742950">
              <a:buClr>
                <a:srgbClr val="9A57CD"/>
              </a:buClr>
              <a:buFont typeface="+mj-lt"/>
              <a:buAutoNum type="arabicPeriod"/>
            </a:pPr>
            <a:r>
              <a:rPr lang="ru-RU" sz="4000" dirty="0">
                <a:solidFill>
                  <a:schemeClr val="tx1"/>
                </a:solidFill>
                <a:latin typeface="Bahnschrift" panose="020B0502040204020203" pitchFamily="34" charset="0"/>
              </a:rPr>
              <a:t>Построение математической модели задачи</a:t>
            </a:r>
            <a:r>
              <a:rPr lang="en-US" sz="4000" dirty="0">
                <a:solidFill>
                  <a:schemeClr val="tx1"/>
                </a:solidFill>
                <a:latin typeface="Bahnschrift" panose="020B0502040204020203" pitchFamily="34" charset="0"/>
              </a:rPr>
              <a:t>;</a:t>
            </a:r>
            <a:endParaRPr lang="ru-RU" sz="40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788670" indent="-742950">
              <a:buClr>
                <a:srgbClr val="9A57CD"/>
              </a:buClr>
              <a:buFont typeface="+mj-lt"/>
              <a:buAutoNum type="arabicPeriod"/>
            </a:pPr>
            <a:r>
              <a:rPr lang="ru-RU" sz="4000" dirty="0">
                <a:solidFill>
                  <a:schemeClr val="tx1"/>
                </a:solidFill>
                <a:latin typeface="Bahnschrift" panose="020B0502040204020203" pitchFamily="34" charset="0"/>
              </a:rPr>
              <a:t>Изучение методов решения транспортной задачи.</a:t>
            </a:r>
          </a:p>
          <a:p>
            <a:pPr marL="45720" indent="0">
              <a:buNone/>
            </a:pPr>
            <a:endParaRPr lang="be-BY" sz="4000" dirty="0">
              <a:solidFill>
                <a:schemeClr val="tx1"/>
              </a:solidFill>
            </a:endParaRPr>
          </a:p>
          <a:p>
            <a:pPr marL="502920" indent="-457200">
              <a:buFont typeface="Georgia" pitchFamily="18" charset="0"/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  <a:p>
            <a:pPr marL="502920" indent="-457200">
              <a:buFont typeface="Georgia" pitchFamily="18" charset="0"/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  <a:p>
            <a:pPr marL="502920" indent="-457200">
              <a:buFont typeface="Georgia" pitchFamily="18" charset="0"/>
              <a:buAutoNum type="arabicPeriod"/>
            </a:pPr>
            <a:endParaRPr lang="be-BY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61529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26004" y="188641"/>
            <a:ext cx="82904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50000"/>
                  </a:schemeClr>
                </a:solidFill>
              </a:rPr>
              <a:t>Транспортная задача </a:t>
            </a:r>
            <a:endParaRPr lang="be-BY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7890" name="Picture 2" descr="Транспортно-логистическое направление – Анализ операционных результатов –  Обзор результатов – Годовой отчет ОАО «РЖД» за 2019 г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7211" y="5161793"/>
            <a:ext cx="12426421" cy="339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95399" y="1105556"/>
            <a:ext cx="10801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     Транспортная задача линейного программирования относится к перечню классических задач, решаемых в практике деятельности людей. Эта задача методами классической математики не решается. В задаче необходимо отыскивать экстремум целевой функции. В задаче целевая функция </a:t>
            </a:r>
            <a:r>
              <a:rPr lang="ru-RU" sz="2400" b="1" i="1" dirty="0"/>
              <a:t>– линейная. </a:t>
            </a:r>
            <a:r>
              <a:rPr lang="ru-RU" sz="2400" dirty="0"/>
              <a:t>Ограничения на переменные (их может быть очень много) описываются также </a:t>
            </a:r>
            <a:r>
              <a:rPr lang="ru-RU" sz="2400" b="1" i="1" dirty="0"/>
              <a:t>линейными</a:t>
            </a:r>
            <a:r>
              <a:rPr lang="ru-RU" sz="2400" dirty="0"/>
              <a:t> зависимостями. Эти ограничения порождают трудности, связанные не просто с поиском </a:t>
            </a:r>
            <a:r>
              <a:rPr lang="ru-RU" sz="2400" dirty="0" err="1"/>
              <a:t>max</a:t>
            </a:r>
            <a:r>
              <a:rPr lang="ru-RU" sz="2400" dirty="0"/>
              <a:t> и </a:t>
            </a:r>
            <a:r>
              <a:rPr lang="ru-RU" sz="2400" dirty="0" err="1"/>
              <a:t>min</a:t>
            </a:r>
            <a:r>
              <a:rPr lang="ru-RU" sz="2400" dirty="0"/>
              <a:t> при отсутствии ограничений, а с необходимостью учета таких ограничений. Искать требуется не просто экстремум, а </a:t>
            </a:r>
            <a:r>
              <a:rPr lang="ru-RU" sz="2400" b="1" i="1" dirty="0"/>
              <a:t>условный экстремум</a:t>
            </a:r>
            <a:r>
              <a:rPr lang="ru-RU" sz="2400" dirty="0"/>
              <a:t>. Методы решения задачи позволяют учитывать особенности структуры задачи.</a:t>
            </a:r>
          </a:p>
        </p:txBody>
      </p:sp>
    </p:spTree>
    <p:extLst>
      <p:ext uri="{BB962C8B-B14F-4D97-AF65-F5344CB8AC3E}">
        <p14:creationId xmlns:p14="http://schemas.microsoft.com/office/powerpoint/2010/main" val="291460287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73469" y="0"/>
            <a:ext cx="7851304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Глобальность задачи</a:t>
            </a:r>
          </a:p>
        </p:txBody>
      </p:sp>
    </p:spTree>
    <p:extLst>
      <p:ext uri="{BB962C8B-B14F-4D97-AF65-F5344CB8AC3E}">
        <p14:creationId xmlns:p14="http://schemas.microsoft.com/office/powerpoint/2010/main" val="164909195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368" y="0"/>
            <a:ext cx="4465712" cy="1325563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История задачи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3879664"/>
            <a:ext cx="8928992" cy="2978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7368" y="1330100"/>
            <a:ext cx="111612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Впервые сформулирована в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</a:rPr>
              <a:t>1781</a:t>
            </a:r>
            <a:r>
              <a:rPr lang="ru-RU" sz="2800" dirty="0"/>
              <a:t> году </a:t>
            </a:r>
            <a:r>
              <a:rPr lang="ru-RU" sz="2800" dirty="0" err="1">
                <a:solidFill>
                  <a:schemeClr val="accent1">
                    <a:lumMod val="50000"/>
                  </a:schemeClr>
                </a:solidFill>
              </a:rPr>
              <a:t>Гаспаром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</a:rPr>
              <a:t> Монжем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C1328"/>
                </a:solidFill>
              </a:rPr>
              <a:t>Прогресс в формулировании решения был достигнут во время </a:t>
            </a:r>
            <a:r>
              <a:rPr lang="ru-RU" sz="2800" dirty="0">
                <a:solidFill>
                  <a:srgbClr val="0070C0"/>
                </a:solidFill>
              </a:rPr>
              <a:t>ВОВ</a:t>
            </a:r>
            <a:r>
              <a:rPr lang="ru-RU" sz="2800" dirty="0">
                <a:solidFill>
                  <a:srgbClr val="0C1328"/>
                </a:solidFill>
              </a:rPr>
              <a:t> советским математиком </a:t>
            </a:r>
            <a:r>
              <a:rPr lang="ru-RU" sz="2800" dirty="0">
                <a:solidFill>
                  <a:srgbClr val="0070C0"/>
                </a:solidFill>
              </a:rPr>
              <a:t>Леонидом Канторовичем</a:t>
            </a:r>
            <a:r>
              <a:rPr lang="ru-RU" sz="2800" dirty="0">
                <a:solidFill>
                  <a:srgbClr val="0C1328"/>
                </a:solidFill>
              </a:rPr>
              <a:t>. С тех пор задача часто встречается под названием </a:t>
            </a:r>
            <a:r>
              <a:rPr lang="ru-RU" sz="2800" dirty="0">
                <a:solidFill>
                  <a:schemeClr val="accent1">
                    <a:lumMod val="50000"/>
                  </a:schemeClr>
                </a:solidFill>
              </a:rPr>
              <a:t>«Транспортная задача Монжа-Канторовича»</a:t>
            </a:r>
          </a:p>
        </p:txBody>
      </p:sp>
    </p:spTree>
    <p:extLst>
      <p:ext uri="{BB962C8B-B14F-4D97-AF65-F5344CB8AC3E}">
        <p14:creationId xmlns:p14="http://schemas.microsoft.com/office/powerpoint/2010/main" val="209625174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26004" y="188641"/>
            <a:ext cx="82904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Транспортная задача </a:t>
            </a:r>
            <a:endParaRPr lang="be-BY" sz="3600" dirty="0">
              <a:solidFill>
                <a:srgbClr val="7030A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83432" y="1556792"/>
            <a:ext cx="936104" cy="936104"/>
          </a:xfrm>
          <a:prstGeom prst="rect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a</a:t>
            </a:r>
            <a:r>
              <a:rPr lang="en-US" sz="4000" baseline="-25000" dirty="0">
                <a:solidFill>
                  <a:schemeClr val="tx1"/>
                </a:solidFill>
              </a:rPr>
              <a:t>1</a:t>
            </a:r>
            <a:endParaRPr lang="ru-RU" sz="4000" baseline="-25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83432" y="2924944"/>
            <a:ext cx="936104" cy="936104"/>
          </a:xfrm>
          <a:prstGeom prst="rect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a</a:t>
            </a:r>
            <a:r>
              <a:rPr lang="en-US" sz="4000" baseline="-25000" dirty="0">
                <a:solidFill>
                  <a:schemeClr val="tx1"/>
                </a:solidFill>
              </a:rPr>
              <a:t>2</a:t>
            </a:r>
            <a:endParaRPr lang="ru-RU" sz="4000" baseline="-250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83432" y="5013176"/>
            <a:ext cx="936104" cy="936104"/>
          </a:xfrm>
          <a:prstGeom prst="rect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a</a:t>
            </a:r>
            <a:r>
              <a:rPr lang="en-US" sz="4000" baseline="-25000" dirty="0">
                <a:solidFill>
                  <a:schemeClr val="tx1"/>
                </a:solidFill>
              </a:rPr>
              <a:t>m</a:t>
            </a:r>
            <a:endParaRPr lang="ru-RU" sz="4000" baseline="-25000" dirty="0"/>
          </a:p>
        </p:txBody>
      </p:sp>
      <p:sp>
        <p:nvSpPr>
          <p:cNvPr id="6" name="Овал 5"/>
          <p:cNvSpPr/>
          <p:nvPr/>
        </p:nvSpPr>
        <p:spPr>
          <a:xfrm>
            <a:off x="2495600" y="1559369"/>
            <a:ext cx="936104" cy="936104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ru-RU" sz="3600" dirty="0">
              <a:solidFill>
                <a:schemeClr val="tx1"/>
              </a:solidFill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2495600" y="2924944"/>
            <a:ext cx="936104" cy="936104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1" name="Овал 10"/>
          <p:cNvSpPr/>
          <p:nvPr/>
        </p:nvSpPr>
        <p:spPr>
          <a:xfrm>
            <a:off x="2495600" y="5013176"/>
            <a:ext cx="936104" cy="936104"/>
          </a:xfrm>
          <a:prstGeom prst="ellipse">
            <a:avLst/>
          </a:prstGeom>
          <a:solidFill>
            <a:srgbClr val="CCCCFF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m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0200457" y="1556792"/>
            <a:ext cx="936104" cy="936104"/>
          </a:xfrm>
          <a:prstGeom prst="rect">
            <a:avLst/>
          </a:prstGeom>
          <a:solidFill>
            <a:srgbClr val="99CCFF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b</a:t>
            </a:r>
            <a:r>
              <a:rPr lang="en-US" sz="4000" baseline="-25000" dirty="0">
                <a:solidFill>
                  <a:schemeClr val="tx1"/>
                </a:solidFill>
              </a:rPr>
              <a:t>1</a:t>
            </a:r>
            <a:endParaRPr lang="ru-RU" sz="4000" baseline="-250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0200457" y="2924944"/>
            <a:ext cx="936104" cy="936104"/>
          </a:xfrm>
          <a:prstGeom prst="rect">
            <a:avLst/>
          </a:prstGeom>
          <a:solidFill>
            <a:srgbClr val="99CCFF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b</a:t>
            </a:r>
            <a:r>
              <a:rPr lang="en-US" sz="4000" baseline="-25000" dirty="0">
                <a:solidFill>
                  <a:schemeClr val="tx1"/>
                </a:solidFill>
              </a:rPr>
              <a:t>2</a:t>
            </a:r>
            <a:endParaRPr lang="ru-RU" sz="4000" baseline="-25000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0200457" y="5013176"/>
            <a:ext cx="936104" cy="936104"/>
          </a:xfrm>
          <a:prstGeom prst="rect">
            <a:avLst/>
          </a:prstGeom>
          <a:solidFill>
            <a:srgbClr val="99CCFF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tx1"/>
                </a:solidFill>
              </a:rPr>
              <a:t>b</a:t>
            </a:r>
            <a:r>
              <a:rPr lang="en-US" sz="4000" baseline="-25000" dirty="0" err="1">
                <a:solidFill>
                  <a:schemeClr val="tx1"/>
                </a:solidFill>
              </a:rPr>
              <a:t>n</a:t>
            </a:r>
            <a:endParaRPr lang="ru-RU" sz="4000" baseline="-25000" dirty="0"/>
          </a:p>
        </p:txBody>
      </p:sp>
      <p:sp>
        <p:nvSpPr>
          <p:cNvPr id="15" name="Овал 14"/>
          <p:cNvSpPr/>
          <p:nvPr/>
        </p:nvSpPr>
        <p:spPr>
          <a:xfrm>
            <a:off x="8688289" y="1559369"/>
            <a:ext cx="936104" cy="936104"/>
          </a:xfrm>
          <a:prstGeom prst="ellipse">
            <a:avLst/>
          </a:prstGeom>
          <a:solidFill>
            <a:srgbClr val="99CCFF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1</a:t>
            </a:r>
            <a:endParaRPr lang="ru-RU" sz="3600" dirty="0">
              <a:solidFill>
                <a:schemeClr val="tx1"/>
              </a:solidFill>
            </a:endParaRPr>
          </a:p>
        </p:txBody>
      </p:sp>
      <p:sp>
        <p:nvSpPr>
          <p:cNvPr id="16" name="Овал 15"/>
          <p:cNvSpPr/>
          <p:nvPr/>
        </p:nvSpPr>
        <p:spPr>
          <a:xfrm>
            <a:off x="8688289" y="2924944"/>
            <a:ext cx="936104" cy="936104"/>
          </a:xfrm>
          <a:prstGeom prst="ellipse">
            <a:avLst/>
          </a:prstGeom>
          <a:solidFill>
            <a:srgbClr val="99CCFF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2</a:t>
            </a:r>
            <a:endParaRPr lang="ru-RU" sz="4400" dirty="0">
              <a:solidFill>
                <a:schemeClr val="tx1"/>
              </a:solidFill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8688289" y="5013176"/>
            <a:ext cx="936104" cy="936104"/>
          </a:xfrm>
          <a:prstGeom prst="ellipse">
            <a:avLst/>
          </a:prstGeom>
          <a:solidFill>
            <a:srgbClr val="99CCFF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n</a:t>
            </a:r>
            <a:endParaRPr lang="ru-RU" sz="4400" dirty="0">
              <a:solidFill>
                <a:schemeClr val="tx1"/>
              </a:solidFill>
            </a:endParaRPr>
          </a:p>
        </p:txBody>
      </p:sp>
      <p:cxnSp>
        <p:nvCxnSpPr>
          <p:cNvPr id="18" name="Прямая со стрелкой 17"/>
          <p:cNvCxnSpPr>
            <a:stCxn id="5" idx="3"/>
            <a:endCxn id="6" idx="2"/>
          </p:cNvCxnSpPr>
          <p:nvPr/>
        </p:nvCxnSpPr>
        <p:spPr>
          <a:xfrm>
            <a:off x="1919536" y="2024844"/>
            <a:ext cx="576064" cy="25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>
            <a:off x="1919536" y="3392996"/>
            <a:ext cx="576064" cy="25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1914286" y="5481228"/>
            <a:ext cx="576064" cy="25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9624393" y="2024844"/>
            <a:ext cx="576064" cy="25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9624393" y="3392996"/>
            <a:ext cx="576064" cy="25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9624393" y="5518124"/>
            <a:ext cx="576064" cy="25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endCxn id="15" idx="2"/>
          </p:cNvCxnSpPr>
          <p:nvPr/>
        </p:nvCxnSpPr>
        <p:spPr>
          <a:xfrm>
            <a:off x="3416865" y="2027421"/>
            <a:ext cx="527142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6" idx="6"/>
            <a:endCxn id="16" idx="2"/>
          </p:cNvCxnSpPr>
          <p:nvPr/>
        </p:nvCxnSpPr>
        <p:spPr>
          <a:xfrm>
            <a:off x="3431704" y="2027421"/>
            <a:ext cx="5256585" cy="13655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6" idx="6"/>
            <a:endCxn id="17" idx="2"/>
          </p:cNvCxnSpPr>
          <p:nvPr/>
        </p:nvCxnSpPr>
        <p:spPr>
          <a:xfrm>
            <a:off x="3431704" y="2027421"/>
            <a:ext cx="5256585" cy="34538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1" idx="6"/>
            <a:endCxn id="17" idx="2"/>
          </p:cNvCxnSpPr>
          <p:nvPr/>
        </p:nvCxnSpPr>
        <p:spPr>
          <a:xfrm>
            <a:off x="3431704" y="5481228"/>
            <a:ext cx="525658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11" idx="6"/>
            <a:endCxn id="16" idx="2"/>
          </p:cNvCxnSpPr>
          <p:nvPr/>
        </p:nvCxnSpPr>
        <p:spPr>
          <a:xfrm flipV="1">
            <a:off x="3431704" y="3392996"/>
            <a:ext cx="5256585" cy="20882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>
            <a:stCxn id="11" idx="6"/>
            <a:endCxn id="15" idx="2"/>
          </p:cNvCxnSpPr>
          <p:nvPr/>
        </p:nvCxnSpPr>
        <p:spPr>
          <a:xfrm flipV="1">
            <a:off x="3431704" y="2027421"/>
            <a:ext cx="5256585" cy="34538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stCxn id="10" idx="6"/>
            <a:endCxn id="15" idx="2"/>
          </p:cNvCxnSpPr>
          <p:nvPr/>
        </p:nvCxnSpPr>
        <p:spPr>
          <a:xfrm flipV="1">
            <a:off x="3431704" y="2027421"/>
            <a:ext cx="5256585" cy="13655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stCxn id="10" idx="6"/>
            <a:endCxn id="16" idx="2"/>
          </p:cNvCxnSpPr>
          <p:nvPr/>
        </p:nvCxnSpPr>
        <p:spPr>
          <a:xfrm>
            <a:off x="3431704" y="3392996"/>
            <a:ext cx="525658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>
            <a:stCxn id="10" idx="6"/>
          </p:cNvCxnSpPr>
          <p:nvPr/>
        </p:nvCxnSpPr>
        <p:spPr>
          <a:xfrm>
            <a:off x="3431704" y="3392996"/>
            <a:ext cx="5256585" cy="212512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Скругленный прямоугольник 50"/>
          <p:cNvSpPr/>
          <p:nvPr/>
        </p:nvSpPr>
        <p:spPr>
          <a:xfrm>
            <a:off x="5695178" y="1772816"/>
            <a:ext cx="576064" cy="504056"/>
          </a:xfrm>
          <a:prstGeom prst="roundRect">
            <a:avLst/>
          </a:prstGeom>
          <a:solidFill>
            <a:srgbClr val="CCFFCC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</a:rPr>
              <a:t>11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3" name="Скругленный прямоугольник 52"/>
          <p:cNvSpPr/>
          <p:nvPr/>
        </p:nvSpPr>
        <p:spPr>
          <a:xfrm>
            <a:off x="4879718" y="2152660"/>
            <a:ext cx="640217" cy="504056"/>
          </a:xfrm>
          <a:prstGeom prst="roundRect">
            <a:avLst/>
          </a:prstGeom>
          <a:solidFill>
            <a:srgbClr val="CCFFCC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</a:rPr>
              <a:t>12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3983545" y="2404688"/>
            <a:ext cx="640217" cy="504056"/>
          </a:xfrm>
          <a:prstGeom prst="roundRect">
            <a:avLst/>
          </a:prstGeom>
          <a:solidFill>
            <a:srgbClr val="CCFFCC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</a:rPr>
              <a:t>1n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5" name="Скругленный прямоугольник 54"/>
          <p:cNvSpPr/>
          <p:nvPr/>
        </p:nvSpPr>
        <p:spPr>
          <a:xfrm>
            <a:off x="4191874" y="4203532"/>
            <a:ext cx="712227" cy="504056"/>
          </a:xfrm>
          <a:prstGeom prst="roundRect">
            <a:avLst/>
          </a:prstGeom>
          <a:solidFill>
            <a:srgbClr val="CCFFCC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</a:rPr>
              <a:t>m1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6" name="Скругленный прямоугольник 55"/>
          <p:cNvSpPr/>
          <p:nvPr/>
        </p:nvSpPr>
        <p:spPr>
          <a:xfrm>
            <a:off x="4977813" y="4662605"/>
            <a:ext cx="862392" cy="504056"/>
          </a:xfrm>
          <a:prstGeom prst="roundRect">
            <a:avLst/>
          </a:prstGeom>
          <a:solidFill>
            <a:srgbClr val="CCFFCC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</a:rPr>
              <a:t>m2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7" name="Скругленный прямоугольник 56"/>
          <p:cNvSpPr/>
          <p:nvPr/>
        </p:nvSpPr>
        <p:spPr>
          <a:xfrm>
            <a:off x="5260655" y="5345312"/>
            <a:ext cx="862392" cy="504056"/>
          </a:xfrm>
          <a:prstGeom prst="roundRect">
            <a:avLst/>
          </a:prstGeom>
          <a:solidFill>
            <a:srgbClr val="CCFFCC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</a:rPr>
              <a:t>mn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8" name="Скругленный прямоугольник 57"/>
          <p:cNvSpPr/>
          <p:nvPr/>
        </p:nvSpPr>
        <p:spPr>
          <a:xfrm>
            <a:off x="6971880" y="3219870"/>
            <a:ext cx="780305" cy="475495"/>
          </a:xfrm>
          <a:prstGeom prst="roundRect">
            <a:avLst/>
          </a:prstGeom>
          <a:solidFill>
            <a:srgbClr val="CCFFCC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</a:rPr>
              <a:t>22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9" name="Скругленный прямоугольник 58"/>
          <p:cNvSpPr/>
          <p:nvPr/>
        </p:nvSpPr>
        <p:spPr>
          <a:xfrm>
            <a:off x="6713959" y="2111133"/>
            <a:ext cx="780305" cy="475495"/>
          </a:xfrm>
          <a:prstGeom prst="roundRect">
            <a:avLst/>
          </a:prstGeom>
          <a:solidFill>
            <a:srgbClr val="CCFFCC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</a:rPr>
              <a:t>21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0" name="Скругленный прямоугольник 59"/>
          <p:cNvSpPr/>
          <p:nvPr/>
        </p:nvSpPr>
        <p:spPr>
          <a:xfrm>
            <a:off x="6581727" y="4660116"/>
            <a:ext cx="780305" cy="475495"/>
          </a:xfrm>
          <a:prstGeom prst="roundRect">
            <a:avLst/>
          </a:prstGeom>
          <a:solidFill>
            <a:srgbClr val="CCFFCC"/>
          </a:solidFill>
          <a:ln w="381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</a:t>
            </a:r>
            <a:r>
              <a:rPr lang="en-US" sz="2800" baseline="-25000" dirty="0">
                <a:solidFill>
                  <a:schemeClr val="tx1"/>
                </a:solidFill>
              </a:rPr>
              <a:t>2n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2879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51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9416" y="980728"/>
            <a:ext cx="11702469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9784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52" y="1124744"/>
            <a:ext cx="11827392" cy="4320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700284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116632"/>
            <a:ext cx="9461741" cy="6624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20136" y="764704"/>
            <a:ext cx="410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X</a:t>
            </a:r>
            <a:r>
              <a:rPr lang="en-US" sz="2400" dirty="0"/>
              <a:t> – </a:t>
            </a:r>
            <a:r>
              <a:rPr lang="ru-RU" sz="2400" dirty="0"/>
              <a:t>объемы перевозок от поставщика к потребителю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2083" y="5877272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0070C0"/>
                </a:solidFill>
              </a:rPr>
              <a:t>Закрытый тип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4311" y="4005064"/>
            <a:ext cx="354923" cy="6155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ru-RU" sz="3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6603170" y="4149080"/>
            <a:ext cx="576064" cy="0"/>
          </a:xfrm>
          <a:prstGeom prst="line">
            <a:avLst/>
          </a:prstGeom>
          <a:ln w="28575">
            <a:solidFill>
              <a:srgbClr val="0C13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80283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416" y="188640"/>
            <a:ext cx="5688632" cy="1325563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Методы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400" y="1772816"/>
            <a:ext cx="604867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Симплекс-метод</a:t>
            </a: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Итерационное улучшение плана перевозок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Нахождение опорного плана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Метод северо-западного угла (диагональный или улучшенный)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Метод наименьшего элемента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Итерации</a:t>
            </a:r>
          </a:p>
          <a:p>
            <a:endParaRPr lang="ru-RU" sz="3200" b="1" dirty="0"/>
          </a:p>
        </p:txBody>
      </p:sp>
      <p:pic>
        <p:nvPicPr>
          <p:cNvPr id="37890" name="Picture 2" descr="Выбор оптимальных решений в транспортной логистике – инструмент  имитационного моделирования AnyLogic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6635" r="-485" b="2384"/>
          <a:stretch/>
        </p:blipFill>
        <p:spPr bwMode="auto">
          <a:xfrm>
            <a:off x="7104112" y="-27383"/>
            <a:ext cx="5112568" cy="691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92200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416" y="188640"/>
            <a:ext cx="5688632" cy="1325563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Симплекс метод</a:t>
            </a:r>
          </a:p>
        </p:txBody>
      </p:sp>
    </p:spTree>
    <p:extLst>
      <p:ext uri="{BB962C8B-B14F-4D97-AF65-F5344CB8AC3E}">
        <p14:creationId xmlns:p14="http://schemas.microsoft.com/office/powerpoint/2010/main" val="6779123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91544" y="404665"/>
            <a:ext cx="828092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rgbClr val="7030A0"/>
                </a:solidFill>
              </a:rPr>
              <a:t>РЕШЕНИЕ ТРАНСПОРТНОЙ ЗАДАЧИ</a:t>
            </a:r>
          </a:p>
          <a:p>
            <a:endParaRPr lang="ru-RU" sz="3200" dirty="0">
              <a:solidFill>
                <a:srgbClr val="7030A0"/>
              </a:solidFill>
            </a:endParaRPr>
          </a:p>
          <a:p>
            <a:r>
              <a:rPr lang="ru-RU" sz="3200" dirty="0">
                <a:solidFill>
                  <a:srgbClr val="7030A0"/>
                </a:solidFill>
              </a:rPr>
              <a:t>Этапы:</a:t>
            </a:r>
          </a:p>
          <a:p>
            <a:pPr marL="571500" indent="-571500">
              <a:buAutoNum type="romanUcPeriod"/>
            </a:pPr>
            <a:r>
              <a:rPr lang="ru-RU" sz="3200" dirty="0"/>
              <a:t>Построение начального базисного решения : метод северо-западного угла, метод наименьшей стоимости (минимального элемента), метод Фогеля</a:t>
            </a:r>
            <a:endParaRPr lang="en-US" sz="3200" dirty="0"/>
          </a:p>
          <a:p>
            <a:r>
              <a:rPr lang="ru-RU" sz="3200" dirty="0"/>
              <a:t> </a:t>
            </a:r>
          </a:p>
          <a:p>
            <a:pPr marL="571500" indent="-571500">
              <a:buAutoNum type="romanUcPeriod" startAt="2"/>
            </a:pPr>
            <a:r>
              <a:rPr lang="ru-RU" sz="3200" dirty="0"/>
              <a:t>Итеративный процесс поиска оптимального решения (метод потенциалов).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7274057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476672"/>
            <a:ext cx="8702555" cy="5904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64395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260648"/>
            <a:ext cx="8985958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1775521" y="6012904"/>
          <a:ext cx="3122681" cy="51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1854200" imgH="304800" progId="Equation.3">
                  <p:embed/>
                </p:oleObj>
              </mc:Choice>
              <mc:Fallback>
                <p:oleObj name="Формула" r:id="rId4" imgW="1854200" imgH="304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1" y="6012904"/>
                        <a:ext cx="3122681" cy="5124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915111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06" y="16970"/>
            <a:ext cx="8763307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553614" y="31628"/>
            <a:ext cx="389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dirty="0">
                <a:latin typeface="Arial" pitchFamily="34" charset="0"/>
                <a:ea typeface="Times New Roman" pitchFamily="18" charset="0"/>
                <a:cs typeface="Arial" pitchFamily="34" charset="0"/>
              </a:rPr>
              <a:t>3)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54952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116632"/>
            <a:ext cx="8826030" cy="6552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979557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1772816"/>
            <a:ext cx="10938226" cy="2952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230719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404664"/>
            <a:ext cx="883735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746765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14577"/>
            <a:ext cx="8790969" cy="6843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7383320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188640"/>
            <a:ext cx="8773092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113071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BBDEEB-8299-44AC-909B-FB78AD5FBF59}"/>
              </a:ext>
            </a:extLst>
          </p:cNvPr>
          <p:cNvSpPr txBox="1"/>
          <p:nvPr/>
        </p:nvSpPr>
        <p:spPr>
          <a:xfrm>
            <a:off x="695400" y="548680"/>
            <a:ext cx="108012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      Вводимой в базис будет переменная, имеющая наибольшее положительное значение – х</a:t>
            </a:r>
            <a:r>
              <a:rPr lang="ru-RU" sz="1200" dirty="0"/>
              <a:t>22</a:t>
            </a:r>
            <a:r>
              <a:rPr lang="ru-RU" sz="2000" dirty="0"/>
              <a:t>.</a:t>
            </a:r>
          </a:p>
          <a:p>
            <a:pPr algn="just"/>
            <a:endParaRPr lang="ru-RU" sz="2000" dirty="0"/>
          </a:p>
          <a:p>
            <a:pPr algn="just"/>
            <a:r>
              <a:rPr lang="ru-RU" sz="2000" dirty="0"/>
              <a:t>      Определив вводимую в базис переменную, следует определить исключаемую из базиса переменную. Обозначим через θ количество груза, перевозимого по маршруту (2,2). Максимально возможное значение θ определяем из следующих условий:</a:t>
            </a:r>
          </a:p>
          <a:p>
            <a:pPr algn="just"/>
            <a:r>
              <a:rPr lang="ru-RU" sz="2000" dirty="0"/>
              <a:t>1.     Должны выполняться ограничения на спрос и предложение.</a:t>
            </a:r>
          </a:p>
          <a:p>
            <a:pPr marL="457200" indent="-457200" algn="just">
              <a:buAutoNum type="arabicPeriod" startAt="2"/>
            </a:pPr>
            <a:r>
              <a:rPr lang="ru-RU" sz="2000" dirty="0"/>
              <a:t>Ни по какому маршруту не должны выполняться перевозки с отрицательным объемом грузов.</a:t>
            </a:r>
          </a:p>
          <a:p>
            <a:pPr algn="just"/>
            <a:endParaRPr lang="ru-RU" sz="2000" dirty="0"/>
          </a:p>
          <a:p>
            <a:pPr algn="just"/>
            <a:r>
              <a:rPr lang="ru-RU" sz="2000" dirty="0"/>
              <a:t>      Сначала строим замкнутый цикл, который начинается и заканчивается в искомой ячейке. Цикл состоит из последовательности горизонтальных и вертикальных отрезков (но не диагональных), соединяющих ячейки, соответствующие текущим базисным переменным, и ячейку, соответствующую вводимой переменной. Для того, чтобы удовлетворять ограничениям по спросу и предложению, надо поочередно отнимать и прибавлять θ к значениям базисных переменных, расположенных в угловых ячейках цикла. Направление обхода цикла (по часовой стрелке или против) не имеет значения.</a:t>
            </a:r>
          </a:p>
        </p:txBody>
      </p:sp>
    </p:spTree>
    <p:extLst>
      <p:ext uri="{BB962C8B-B14F-4D97-AF65-F5344CB8AC3E}">
        <p14:creationId xmlns:p14="http://schemas.microsoft.com/office/powerpoint/2010/main" val="36133046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908720"/>
            <a:ext cx="8929922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286316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84" name="Picture 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104" y="1556792"/>
            <a:ext cx="11180060" cy="368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8296988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116633"/>
            <a:ext cx="7632848" cy="6742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4898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997" y="116632"/>
            <a:ext cx="7816005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DBB566C-4B28-44C0-8F2F-7A5BBAC1FBE9}"/>
              </a:ext>
            </a:extLst>
          </p:cNvPr>
          <p:cNvSpPr/>
          <p:nvPr/>
        </p:nvSpPr>
        <p:spPr>
          <a:xfrm>
            <a:off x="7824192" y="4365104"/>
            <a:ext cx="360040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BD8B3-FF90-414B-A7D2-CDEE4215031F}"/>
              </a:ext>
            </a:extLst>
          </p:cNvPr>
          <p:cNvSpPr txBox="1"/>
          <p:nvPr/>
        </p:nvSpPr>
        <p:spPr>
          <a:xfrm>
            <a:off x="7716180" y="4278287"/>
            <a:ext cx="576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352DA9-B883-4EB5-A1BE-44E4CEB66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252" y="5805264"/>
            <a:ext cx="5801535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5557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МП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1688</TotalTime>
  <Words>432</Words>
  <Application>Microsoft Office PowerPoint</Application>
  <PresentationFormat>Широкоэкранный</PresentationFormat>
  <Paragraphs>85</Paragraphs>
  <Slides>25</Slides>
  <Notes>24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Arial</vt:lpstr>
      <vt:lpstr>Bahnschrift</vt:lpstr>
      <vt:lpstr>Calibri</vt:lpstr>
      <vt:lpstr>Georgia</vt:lpstr>
      <vt:lpstr>Times New Roman</vt:lpstr>
      <vt:lpstr>Тема Office</vt:lpstr>
      <vt:lpstr>Формула</vt:lpstr>
      <vt:lpstr>Презентация PowerPoint</vt:lpstr>
      <vt:lpstr>Презентация PowerPoint</vt:lpstr>
      <vt:lpstr>Презентация PowerPoint</vt:lpstr>
      <vt:lpstr>Глобальность задачи</vt:lpstr>
      <vt:lpstr>История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Методы решения</vt:lpstr>
      <vt:lpstr>Симплекс метод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МАТЕМАТИЧЕСКОЕ ПРОГРАММИРОВАНИЕ</dc:title>
  <dc:creator>Brakovich</dc:creator>
  <cp:lastModifiedBy>ThinkPad</cp:lastModifiedBy>
  <cp:revision>108</cp:revision>
  <cp:lastPrinted>2023-03-22T11:40:15Z</cp:lastPrinted>
  <dcterms:created xsi:type="dcterms:W3CDTF">2010-12-02T13:55:43Z</dcterms:created>
  <dcterms:modified xsi:type="dcterms:W3CDTF">2026-04-27T09:07:23Z</dcterms:modified>
</cp:coreProperties>
</file>