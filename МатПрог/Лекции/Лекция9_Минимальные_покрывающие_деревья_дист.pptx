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4"/>
  </p:notesMasterIdLst>
  <p:handoutMasterIdLst>
    <p:handoutMasterId r:id="rId95"/>
  </p:handoutMasterIdLst>
  <p:sldIdLst>
    <p:sldId id="313" r:id="rId2"/>
    <p:sldId id="316" r:id="rId3"/>
    <p:sldId id="314" r:id="rId4"/>
    <p:sldId id="256" r:id="rId5"/>
    <p:sldId id="320" r:id="rId6"/>
    <p:sldId id="279" r:id="rId7"/>
    <p:sldId id="258" r:id="rId8"/>
    <p:sldId id="259" r:id="rId9"/>
    <p:sldId id="315" r:id="rId10"/>
    <p:sldId id="260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17" r:id="rId41"/>
    <p:sldId id="318" r:id="rId42"/>
    <p:sldId id="319" r:id="rId43"/>
    <p:sldId id="312" r:id="rId44"/>
    <p:sldId id="359" r:id="rId45"/>
    <p:sldId id="360" r:id="rId46"/>
    <p:sldId id="361" r:id="rId47"/>
    <p:sldId id="362" r:id="rId48"/>
    <p:sldId id="363" r:id="rId49"/>
    <p:sldId id="364" r:id="rId50"/>
    <p:sldId id="365" r:id="rId51"/>
    <p:sldId id="366" r:id="rId52"/>
    <p:sldId id="367" r:id="rId53"/>
    <p:sldId id="368" r:id="rId54"/>
    <p:sldId id="369" r:id="rId55"/>
    <p:sldId id="370" r:id="rId56"/>
    <p:sldId id="371" r:id="rId57"/>
    <p:sldId id="372" r:id="rId58"/>
    <p:sldId id="373" r:id="rId59"/>
    <p:sldId id="374" r:id="rId60"/>
    <p:sldId id="375" r:id="rId61"/>
    <p:sldId id="377" r:id="rId62"/>
    <p:sldId id="378" r:id="rId63"/>
    <p:sldId id="379" r:id="rId64"/>
    <p:sldId id="380" r:id="rId65"/>
    <p:sldId id="381" r:id="rId66"/>
    <p:sldId id="382" r:id="rId67"/>
    <p:sldId id="383" r:id="rId68"/>
    <p:sldId id="384" r:id="rId69"/>
    <p:sldId id="385" r:id="rId70"/>
    <p:sldId id="386" r:id="rId71"/>
    <p:sldId id="387" r:id="rId72"/>
    <p:sldId id="388" r:id="rId73"/>
    <p:sldId id="389" r:id="rId74"/>
    <p:sldId id="390" r:id="rId75"/>
    <p:sldId id="391" r:id="rId76"/>
    <p:sldId id="392" r:id="rId77"/>
    <p:sldId id="393" r:id="rId78"/>
    <p:sldId id="394" r:id="rId79"/>
    <p:sldId id="395" r:id="rId80"/>
    <p:sldId id="396" r:id="rId81"/>
    <p:sldId id="397" r:id="rId82"/>
    <p:sldId id="398" r:id="rId83"/>
    <p:sldId id="399" r:id="rId84"/>
    <p:sldId id="400" r:id="rId85"/>
    <p:sldId id="401" r:id="rId86"/>
    <p:sldId id="402" r:id="rId87"/>
    <p:sldId id="403" r:id="rId88"/>
    <p:sldId id="404" r:id="rId89"/>
    <p:sldId id="405" r:id="rId90"/>
    <p:sldId id="406" r:id="rId91"/>
    <p:sldId id="407" r:id="rId92"/>
    <p:sldId id="408" r:id="rId93"/>
  </p:sldIdLst>
  <p:sldSz cx="12192000" cy="6858000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95044-6A0E-480D-BA60-ECF8AA2AF606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E1A34-71DD-497C-B61B-613208D999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4761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FA434-8906-4ED8-B84B-7855B694E46E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961B9-FC53-46D5-BBE3-6B21AE7BC9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77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185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628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083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890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973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813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00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933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798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938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447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641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164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4641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5402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648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258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278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02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60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200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2719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628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3096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3633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7375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4676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6770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0887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0752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7837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0549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158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6163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514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5854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6529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104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5302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8344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7659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5915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961B9-FC53-46D5-BBE3-6B21AE7BC90A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058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15320630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21528997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52422897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50228927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840335600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90946352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97321886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28816955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20603983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0418357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783994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C61C8-9B01-4390-BFEC-BFC4D09FF6CC}" type="datetimeFigureOut">
              <a:rPr lang="be-BY" smtClean="0"/>
              <a:pPr/>
              <a:t>29.04.26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77820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5520" y="1844824"/>
            <a:ext cx="8640960" cy="1143000"/>
          </a:xfrm>
        </p:spPr>
        <p:txBody>
          <a:bodyPr>
            <a:noAutofit/>
          </a:bodyPr>
          <a:lstStyle/>
          <a:p>
            <a:pPr algn="ctr"/>
            <a:r>
              <a:rPr lang="ru-RU" sz="5400" b="1" dirty="0">
                <a:solidFill>
                  <a:srgbClr val="7030A0"/>
                </a:solidFill>
              </a:rPr>
              <a:t/>
            </a:r>
            <a:br>
              <a:rPr lang="ru-RU" sz="5400" b="1" dirty="0">
                <a:solidFill>
                  <a:srgbClr val="7030A0"/>
                </a:solidFill>
              </a:rPr>
            </a:br>
            <a:r>
              <a:rPr lang="ru-RU" sz="5400" b="1" dirty="0">
                <a:solidFill>
                  <a:srgbClr val="7030A0"/>
                </a:solidFill>
              </a:rPr>
              <a:t/>
            </a:r>
            <a:br>
              <a:rPr lang="ru-RU" sz="5400" b="1" dirty="0">
                <a:solidFill>
                  <a:srgbClr val="7030A0"/>
                </a:solidFill>
              </a:rPr>
            </a:br>
            <a:r>
              <a:rPr lang="ru-RU" sz="5400" b="1" dirty="0">
                <a:solidFill>
                  <a:srgbClr val="0070C0"/>
                </a:solidFill>
              </a:rPr>
              <a:t>МИНИМАЛЬНЫЕ ПОКРЫВАЮЩИЕ ДЕРЕВЬЯ</a:t>
            </a:r>
            <a:r>
              <a:rPr lang="ru-RU" sz="3600" b="1" dirty="0">
                <a:solidFill>
                  <a:srgbClr val="0070C0"/>
                </a:solidFill>
              </a:rPr>
              <a:t> </a:t>
            </a:r>
            <a:endParaRPr lang="be-BY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329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512" y="548680"/>
            <a:ext cx="8640960" cy="1143000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rgbClr val="0070C0"/>
                </a:solidFill>
              </a:rPr>
              <a:t>МИНИМАЛЬНЫЕ ПОКРЫВАЮЩИЕ ДЕРЕВЬЯ</a:t>
            </a:r>
            <a:r>
              <a:rPr lang="ru-RU" sz="3200" dirty="0"/>
              <a:t> </a:t>
            </a:r>
            <a:endParaRPr lang="be-BY" sz="3200" dirty="0"/>
          </a:p>
        </p:txBody>
      </p:sp>
      <p:sp>
        <p:nvSpPr>
          <p:cNvPr id="4" name="Объект 2"/>
          <p:cNvSpPr>
            <a:spLocks noGrp="1"/>
          </p:cNvSpPr>
          <p:nvPr>
            <p:ph idx="1"/>
          </p:nvPr>
        </p:nvSpPr>
        <p:spPr>
          <a:xfrm>
            <a:off x="1019436" y="2204864"/>
            <a:ext cx="10009112" cy="347472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Цель: </a:t>
            </a:r>
            <a:r>
              <a:rPr lang="ru-RU" sz="3200" dirty="0">
                <a:solidFill>
                  <a:schemeClr val="tx1"/>
                </a:solidFill>
              </a:rPr>
              <a:t>освоение навыков решения задач построения минимальных покрывающих деревьев.</a:t>
            </a:r>
          </a:p>
          <a:p>
            <a:pPr marL="45720" indent="0">
              <a:buNone/>
            </a:pPr>
            <a:r>
              <a:rPr lang="ru-RU" sz="3200" dirty="0">
                <a:solidFill>
                  <a:srgbClr val="0070C0"/>
                </a:solidFill>
              </a:rPr>
              <a:t>Задачи: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1"/>
                </a:solidFill>
              </a:rPr>
              <a:t>изучение теоретических основ;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1"/>
                </a:solidFill>
              </a:rPr>
              <a:t>освоение навыков решения задач построения минимальных покрывающих деревьев.</a:t>
            </a:r>
          </a:p>
          <a:p>
            <a:pPr marL="45720" indent="0">
              <a:buNone/>
            </a:pPr>
            <a:endParaRPr lang="be-BY" sz="3200" dirty="0"/>
          </a:p>
        </p:txBody>
      </p:sp>
    </p:spTree>
    <p:extLst>
      <p:ext uri="{BB962C8B-B14F-4D97-AF65-F5344CB8AC3E}">
        <p14:creationId xmlns:p14="http://schemas.microsoft.com/office/powerpoint/2010/main" val="330234051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47756" y="404664"/>
            <a:ext cx="6512511" cy="1143000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solidFill>
                  <a:srgbClr val="0070C0"/>
                </a:solidFill>
              </a:rPr>
              <a:t>План лекции</a:t>
            </a:r>
            <a:endParaRPr lang="be-BY" dirty="0">
              <a:solidFill>
                <a:srgbClr val="0070C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3451" y="2060848"/>
            <a:ext cx="10081120" cy="3474720"/>
          </a:xfrm>
        </p:spPr>
        <p:txBody>
          <a:bodyPr>
            <a:no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sz="4000" dirty="0">
                <a:solidFill>
                  <a:schemeClr val="tx1"/>
                </a:solidFill>
              </a:rPr>
              <a:t> Теоретическое введение;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4000" dirty="0">
                <a:solidFill>
                  <a:schemeClr val="tx1"/>
                </a:solidFill>
              </a:rPr>
              <a:t> Стандартный алгоритм построения минимальных покрывающих деревьев</a:t>
            </a:r>
            <a:r>
              <a:rPr lang="en-US" sz="4000" dirty="0">
                <a:solidFill>
                  <a:schemeClr val="tx1"/>
                </a:solidFill>
              </a:rPr>
              <a:t>;</a:t>
            </a:r>
            <a:endParaRPr lang="ru-RU" sz="4000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/>
            </a:pPr>
            <a:r>
              <a:rPr lang="ru-RU" sz="4000" dirty="0">
                <a:solidFill>
                  <a:schemeClr val="tx1"/>
                </a:solidFill>
              </a:rPr>
              <a:t> Алгоритм </a:t>
            </a:r>
            <a:r>
              <a:rPr lang="ru-RU" sz="4000" dirty="0" err="1">
                <a:solidFill>
                  <a:schemeClr val="tx1"/>
                </a:solidFill>
              </a:rPr>
              <a:t>Кр</a:t>
            </a:r>
            <a:r>
              <a:rPr lang="ru-RU" sz="4000" dirty="0" err="1"/>
              <a:t>а</a:t>
            </a:r>
            <a:r>
              <a:rPr lang="ru-RU" sz="4000" dirty="0" err="1">
                <a:solidFill>
                  <a:schemeClr val="tx1"/>
                </a:solidFill>
              </a:rPr>
              <a:t>скала</a:t>
            </a:r>
            <a:r>
              <a:rPr lang="ru-RU" sz="4000" dirty="0">
                <a:solidFill>
                  <a:schemeClr val="tx1"/>
                </a:solidFill>
              </a:rPr>
              <a:t>;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ru-RU" sz="4000" dirty="0">
                <a:solidFill>
                  <a:schemeClr val="tx1"/>
                </a:solidFill>
              </a:rPr>
              <a:t>Алгоритм Прима.</a:t>
            </a:r>
            <a:endParaRPr lang="be-BY" sz="4000" dirty="0">
              <a:solidFill>
                <a:schemeClr val="tx1"/>
              </a:solidFill>
            </a:endParaRPr>
          </a:p>
          <a:p>
            <a:pPr marL="502920" indent="-457200">
              <a:buFont typeface="Georgia" pitchFamily="18" charset="0"/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  <a:p>
            <a:pPr marL="502920" indent="-457200">
              <a:buFont typeface="Georgia" pitchFamily="18" charset="0"/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  <a:p>
            <a:pPr marL="502920" indent="-457200"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73600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26004" y="188641"/>
            <a:ext cx="82904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0070C0"/>
                </a:solidFill>
              </a:rPr>
              <a:t>МИНИМАЛЬНЫЕ ПОКРЫВАЮЩИЕ ДЕРЕВЬЯ </a:t>
            </a:r>
            <a:endParaRPr lang="be-BY" sz="3600" dirty="0">
              <a:solidFill>
                <a:srgbClr val="0070C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87" y="1769195"/>
            <a:ext cx="10412025" cy="2215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9C5636-908C-4C8E-B1CE-3D58483E266E}"/>
              </a:ext>
            </a:extLst>
          </p:cNvPr>
          <p:cNvSpPr txBox="1"/>
          <p:nvPr/>
        </p:nvSpPr>
        <p:spPr>
          <a:xfrm>
            <a:off x="767408" y="4293095"/>
            <a:ext cx="105346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обозначении ребра используются круглые скобки (а не угловые как для обозначения дуг), подчеркивающие неважность порядка перечисления вершин в ребре. </a:t>
            </a:r>
          </a:p>
        </p:txBody>
      </p:sp>
    </p:spTree>
    <p:extLst>
      <p:ext uri="{BB962C8B-B14F-4D97-AF65-F5344CB8AC3E}">
        <p14:creationId xmlns:p14="http://schemas.microsoft.com/office/powerpoint/2010/main" val="411129454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26004" y="188641"/>
            <a:ext cx="82904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0070C0"/>
                </a:solidFill>
              </a:rPr>
              <a:t>МИНИМАЛЬНЫЕ ПОКРЫВАЮЩИЕ ДЕРЕВЬЯ </a:t>
            </a:r>
            <a:endParaRPr lang="be-BY" sz="3600" dirty="0">
              <a:solidFill>
                <a:srgbClr val="0070C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05" y="1598988"/>
            <a:ext cx="11059041" cy="156849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79" y="3246430"/>
            <a:ext cx="11059041" cy="202207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C77B1EB-54B0-4F89-B81C-5C77AFF2D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39" y="5347450"/>
            <a:ext cx="11203722" cy="80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2466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1052736"/>
            <a:ext cx="8818058" cy="5688632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238382" y="-99392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3283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e-BY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1063100"/>
            <a:ext cx="8380652" cy="568365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238382" y="-99392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9510110" y="5208276"/>
            <a:ext cx="657556" cy="657556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10085925" y="814842"/>
            <a:ext cx="657556" cy="65755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11336274" y="3311283"/>
            <a:ext cx="657556" cy="65755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9321520" y="2141006"/>
            <a:ext cx="657556" cy="65755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9328813" y="3553079"/>
            <a:ext cx="657556" cy="65755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11198615" y="1330842"/>
            <a:ext cx="657556" cy="65755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11265447" y="4797152"/>
            <a:ext cx="657556" cy="657556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637986" y="5949280"/>
            <a:ext cx="657556" cy="657556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08" name="Прямая соединительная линия 107"/>
          <p:cNvCxnSpPr>
            <a:stCxn id="9" idx="0"/>
            <a:endCxn id="7" idx="2"/>
          </p:cNvCxnSpPr>
          <p:nvPr/>
        </p:nvCxnSpPr>
        <p:spPr>
          <a:xfrm flipV="1">
            <a:off x="9650298" y="1143620"/>
            <a:ext cx="435627" cy="9973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единительная линия 108"/>
          <p:cNvCxnSpPr>
            <a:endCxn id="9" idx="4"/>
          </p:cNvCxnSpPr>
          <p:nvPr/>
        </p:nvCxnSpPr>
        <p:spPr>
          <a:xfrm flipV="1">
            <a:off x="9630791" y="2798562"/>
            <a:ext cx="19507" cy="7545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единительная линия 111"/>
          <p:cNvCxnSpPr>
            <a:stCxn id="6" idx="0"/>
            <a:endCxn id="10" idx="4"/>
          </p:cNvCxnSpPr>
          <p:nvPr/>
        </p:nvCxnSpPr>
        <p:spPr>
          <a:xfrm flipH="1" flipV="1">
            <a:off x="9657591" y="4210635"/>
            <a:ext cx="181297" cy="9976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единительная линия 114"/>
          <p:cNvCxnSpPr>
            <a:stCxn id="13" idx="2"/>
            <a:endCxn id="6" idx="4"/>
          </p:cNvCxnSpPr>
          <p:nvPr/>
        </p:nvCxnSpPr>
        <p:spPr>
          <a:xfrm flipH="1" flipV="1">
            <a:off x="9838888" y="5865832"/>
            <a:ext cx="799098" cy="4122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единительная линия 117"/>
          <p:cNvCxnSpPr>
            <a:stCxn id="11" idx="2"/>
            <a:endCxn id="7" idx="6"/>
          </p:cNvCxnSpPr>
          <p:nvPr/>
        </p:nvCxnSpPr>
        <p:spPr>
          <a:xfrm flipH="1" flipV="1">
            <a:off x="10743481" y="1143620"/>
            <a:ext cx="455134" cy="516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/>
          <p:cNvCxnSpPr>
            <a:stCxn id="8" idx="0"/>
            <a:endCxn id="11" idx="4"/>
          </p:cNvCxnSpPr>
          <p:nvPr/>
        </p:nvCxnSpPr>
        <p:spPr>
          <a:xfrm flipH="1" flipV="1">
            <a:off x="11527393" y="1988398"/>
            <a:ext cx="137659" cy="13228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>
            <a:stCxn id="12" idx="0"/>
            <a:endCxn id="8" idx="4"/>
          </p:cNvCxnSpPr>
          <p:nvPr/>
        </p:nvCxnSpPr>
        <p:spPr>
          <a:xfrm flipV="1">
            <a:off x="11594225" y="3968839"/>
            <a:ext cx="70827" cy="8283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единительная линия 127"/>
          <p:cNvCxnSpPr>
            <a:stCxn id="12" idx="4"/>
            <a:endCxn id="13" idx="6"/>
          </p:cNvCxnSpPr>
          <p:nvPr/>
        </p:nvCxnSpPr>
        <p:spPr>
          <a:xfrm flipH="1">
            <a:off x="11295542" y="5454708"/>
            <a:ext cx="298683" cy="8233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131"/>
          <p:cNvCxnSpPr>
            <a:stCxn id="10" idx="5"/>
            <a:endCxn id="13" idx="0"/>
          </p:cNvCxnSpPr>
          <p:nvPr/>
        </p:nvCxnSpPr>
        <p:spPr>
          <a:xfrm>
            <a:off x="9890072" y="4114338"/>
            <a:ext cx="1076692" cy="18349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единительная линия 134"/>
          <p:cNvCxnSpPr>
            <a:stCxn id="9" idx="5"/>
            <a:endCxn id="8" idx="2"/>
          </p:cNvCxnSpPr>
          <p:nvPr/>
        </p:nvCxnSpPr>
        <p:spPr>
          <a:xfrm>
            <a:off x="9882779" y="2702265"/>
            <a:ext cx="1453495" cy="9377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Прямая соединительная линия 137"/>
          <p:cNvCxnSpPr>
            <a:stCxn id="7" idx="4"/>
            <a:endCxn id="10" idx="7"/>
          </p:cNvCxnSpPr>
          <p:nvPr/>
        </p:nvCxnSpPr>
        <p:spPr>
          <a:xfrm flipH="1">
            <a:off x="9890072" y="1472398"/>
            <a:ext cx="524631" cy="2176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Прямая соединительная линия 140"/>
          <p:cNvCxnSpPr>
            <a:stCxn id="11" idx="3"/>
            <a:endCxn id="10" idx="6"/>
          </p:cNvCxnSpPr>
          <p:nvPr/>
        </p:nvCxnSpPr>
        <p:spPr>
          <a:xfrm flipH="1">
            <a:off x="9986369" y="1892101"/>
            <a:ext cx="1308543" cy="1989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Прямая соединительная линия 143"/>
          <p:cNvCxnSpPr>
            <a:stCxn id="8" idx="3"/>
            <a:endCxn id="6" idx="7"/>
          </p:cNvCxnSpPr>
          <p:nvPr/>
        </p:nvCxnSpPr>
        <p:spPr>
          <a:xfrm flipH="1">
            <a:off x="10071369" y="3872542"/>
            <a:ext cx="1361202" cy="14320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Прямая соединительная линия 146"/>
          <p:cNvCxnSpPr>
            <a:stCxn id="12" idx="3"/>
            <a:endCxn id="6" idx="6"/>
          </p:cNvCxnSpPr>
          <p:nvPr/>
        </p:nvCxnSpPr>
        <p:spPr>
          <a:xfrm flipH="1">
            <a:off x="10167666" y="5358411"/>
            <a:ext cx="1194078" cy="1786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олилиния 42"/>
          <p:cNvSpPr/>
          <p:nvPr/>
        </p:nvSpPr>
        <p:spPr>
          <a:xfrm>
            <a:off x="9047182" y="4416186"/>
            <a:ext cx="3055170" cy="1014486"/>
          </a:xfrm>
          <a:custGeom>
            <a:avLst/>
            <a:gdLst>
              <a:gd name="connsiteX0" fmla="*/ 0 w 4578919"/>
              <a:gd name="connsiteY0" fmla="*/ 1238261 h 1626732"/>
              <a:gd name="connsiteX1" fmla="*/ 2173044 w 4578919"/>
              <a:gd name="connsiteY1" fmla="*/ 108708 h 1626732"/>
              <a:gd name="connsiteX2" fmla="*/ 4335331 w 4578919"/>
              <a:gd name="connsiteY2" fmla="*/ 205527 h 1626732"/>
              <a:gd name="connsiteX3" fmla="*/ 4453666 w 4578919"/>
              <a:gd name="connsiteY3" fmla="*/ 1528718 h 1626732"/>
              <a:gd name="connsiteX4" fmla="*/ 3668357 w 4578919"/>
              <a:gd name="connsiteY4" fmla="*/ 1528718 h 1626732"/>
              <a:gd name="connsiteX5" fmla="*/ 3668357 w 4578919"/>
              <a:gd name="connsiteY5" fmla="*/ 1528718 h 1626732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423581"/>
              <a:gd name="connsiteY0" fmla="*/ 1490134 h 1673811"/>
              <a:gd name="connsiteX1" fmla="*/ 731519 w 4423581"/>
              <a:gd name="connsiteY1" fmla="*/ 274519 h 1673811"/>
              <a:gd name="connsiteX2" fmla="*/ 3743660 w 4423581"/>
              <a:gd name="connsiteY2" fmla="*/ 102398 h 1673811"/>
              <a:gd name="connsiteX3" fmla="*/ 4421393 w 4423581"/>
              <a:gd name="connsiteY3" fmla="*/ 1565438 h 1673811"/>
              <a:gd name="connsiteX4" fmla="*/ 3636084 w 4423581"/>
              <a:gd name="connsiteY4" fmla="*/ 1565438 h 1673811"/>
              <a:gd name="connsiteX5" fmla="*/ 3636084 w 4423581"/>
              <a:gd name="connsiteY5" fmla="*/ 1565438 h 1673811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5" fmla="*/ 3636084 w 4402417"/>
              <a:gd name="connsiteY5" fmla="*/ 1550298 h 1550298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0" fmla="*/ 0 w 4402417"/>
              <a:gd name="connsiteY0" fmla="*/ 1474994 h 1474994"/>
              <a:gd name="connsiteX1" fmla="*/ 731519 w 4402417"/>
              <a:gd name="connsiteY1" fmla="*/ 259379 h 1474994"/>
              <a:gd name="connsiteX2" fmla="*/ 3743660 w 4402417"/>
              <a:gd name="connsiteY2" fmla="*/ 87258 h 1474994"/>
              <a:gd name="connsiteX3" fmla="*/ 4399877 w 4402417"/>
              <a:gd name="connsiteY3" fmla="*/ 1345903 h 1474994"/>
              <a:gd name="connsiteX0" fmla="*/ 0 w 5711195"/>
              <a:gd name="connsiteY0" fmla="*/ 1572410 h 1572410"/>
              <a:gd name="connsiteX1" fmla="*/ 731519 w 5711195"/>
              <a:gd name="connsiteY1" fmla="*/ 356795 h 1572410"/>
              <a:gd name="connsiteX2" fmla="*/ 5583217 w 5711195"/>
              <a:gd name="connsiteY2" fmla="*/ 66340 h 1572410"/>
              <a:gd name="connsiteX3" fmla="*/ 4399877 w 5711195"/>
              <a:gd name="connsiteY3" fmla="*/ 1443319 h 1572410"/>
              <a:gd name="connsiteX0" fmla="*/ 0 w 7208038"/>
              <a:gd name="connsiteY0" fmla="*/ 1562551 h 1562551"/>
              <a:gd name="connsiteX1" fmla="*/ 731519 w 7208038"/>
              <a:gd name="connsiteY1" fmla="*/ 346936 h 1562551"/>
              <a:gd name="connsiteX2" fmla="*/ 5583217 w 7208038"/>
              <a:gd name="connsiteY2" fmla="*/ 56481 h 1562551"/>
              <a:gd name="connsiteX3" fmla="*/ 7207623 w 7208038"/>
              <a:gd name="connsiteY3" fmla="*/ 1293611 h 1562551"/>
              <a:gd name="connsiteX0" fmla="*/ 0 w 7208038"/>
              <a:gd name="connsiteY0" fmla="*/ 1632035 h 1632035"/>
              <a:gd name="connsiteX1" fmla="*/ 731519 w 7208038"/>
              <a:gd name="connsiteY1" fmla="*/ 416420 h 1632035"/>
              <a:gd name="connsiteX2" fmla="*/ 3872752 w 7208038"/>
              <a:gd name="connsiteY2" fmla="*/ 74118 h 1632035"/>
              <a:gd name="connsiteX3" fmla="*/ 5583217 w 7208038"/>
              <a:gd name="connsiteY3" fmla="*/ 125965 h 1632035"/>
              <a:gd name="connsiteX4" fmla="*/ 7207623 w 7208038"/>
              <a:gd name="connsiteY4" fmla="*/ 1363095 h 1632035"/>
              <a:gd name="connsiteX0" fmla="*/ 0 w 7207710"/>
              <a:gd name="connsiteY0" fmla="*/ 4410856 h 4410856"/>
              <a:gd name="connsiteX1" fmla="*/ 731519 w 7207710"/>
              <a:gd name="connsiteY1" fmla="*/ 3195241 h 4410856"/>
              <a:gd name="connsiteX2" fmla="*/ 3872752 w 7207710"/>
              <a:gd name="connsiteY2" fmla="*/ 2852939 h 4410856"/>
              <a:gd name="connsiteX3" fmla="*/ 3399415 w 7207710"/>
              <a:gd name="connsiteY3" fmla="*/ 10979 h 4410856"/>
              <a:gd name="connsiteX4" fmla="*/ 7207623 w 7207710"/>
              <a:gd name="connsiteY4" fmla="*/ 4141916 h 4410856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695"/>
              <a:gd name="connsiteY0" fmla="*/ 4428168 h 4428168"/>
              <a:gd name="connsiteX1" fmla="*/ 731519 w 7207695"/>
              <a:gd name="connsiteY1" fmla="*/ 3212553 h 4428168"/>
              <a:gd name="connsiteX2" fmla="*/ 4120178 w 7207695"/>
              <a:gd name="connsiteY2" fmla="*/ 2837978 h 4428168"/>
              <a:gd name="connsiteX3" fmla="*/ 3399415 w 7207695"/>
              <a:gd name="connsiteY3" fmla="*/ 28291 h 4428168"/>
              <a:gd name="connsiteX4" fmla="*/ 7207623 w 7207695"/>
              <a:gd name="connsiteY4" fmla="*/ 4159228 h 4428168"/>
              <a:gd name="connsiteX0" fmla="*/ 0 w 7207695"/>
              <a:gd name="connsiteY0" fmla="*/ 4429776 h 4429776"/>
              <a:gd name="connsiteX1" fmla="*/ 731519 w 7207695"/>
              <a:gd name="connsiteY1" fmla="*/ 3214161 h 4429776"/>
              <a:gd name="connsiteX2" fmla="*/ 4120178 w 7207695"/>
              <a:gd name="connsiteY2" fmla="*/ 2839586 h 4429776"/>
              <a:gd name="connsiteX3" fmla="*/ 3399415 w 7207695"/>
              <a:gd name="connsiteY3" fmla="*/ 29899 h 4429776"/>
              <a:gd name="connsiteX4" fmla="*/ 7207623 w 7207695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74402 h 4474402"/>
              <a:gd name="connsiteX1" fmla="*/ 731519 w 7207623"/>
              <a:gd name="connsiteY1" fmla="*/ 3258787 h 4474402"/>
              <a:gd name="connsiteX2" fmla="*/ 1613646 w 7207623"/>
              <a:gd name="connsiteY2" fmla="*/ 2389360 h 4474402"/>
              <a:gd name="connsiteX3" fmla="*/ 3399415 w 7207623"/>
              <a:gd name="connsiteY3" fmla="*/ 74525 h 4474402"/>
              <a:gd name="connsiteX4" fmla="*/ 7207623 w 7207623"/>
              <a:gd name="connsiteY4" fmla="*/ 4205462 h 4474402"/>
              <a:gd name="connsiteX0" fmla="*/ 0 w 7207623"/>
              <a:gd name="connsiteY0" fmla="*/ 4442271 h 4442271"/>
              <a:gd name="connsiteX1" fmla="*/ 731519 w 7207623"/>
              <a:gd name="connsiteY1" fmla="*/ 3226656 h 4442271"/>
              <a:gd name="connsiteX2" fmla="*/ 1613646 w 7207623"/>
              <a:gd name="connsiteY2" fmla="*/ 2357229 h 4442271"/>
              <a:gd name="connsiteX3" fmla="*/ 3399415 w 7207623"/>
              <a:gd name="connsiteY3" fmla="*/ 42394 h 4442271"/>
              <a:gd name="connsiteX4" fmla="*/ 7207623 w 7207623"/>
              <a:gd name="connsiteY4" fmla="*/ 4173331 h 4442271"/>
              <a:gd name="connsiteX0" fmla="*/ 0 w 7207623"/>
              <a:gd name="connsiteY0" fmla="*/ 4406738 h 4406738"/>
              <a:gd name="connsiteX1" fmla="*/ 731519 w 7207623"/>
              <a:gd name="connsiteY1" fmla="*/ 3191123 h 4406738"/>
              <a:gd name="connsiteX2" fmla="*/ 3399415 w 7207623"/>
              <a:gd name="connsiteY2" fmla="*/ 6861 h 4406738"/>
              <a:gd name="connsiteX3" fmla="*/ 7207623 w 7207623"/>
              <a:gd name="connsiteY3" fmla="*/ 4137798 h 4406738"/>
              <a:gd name="connsiteX0" fmla="*/ 0 w 7207623"/>
              <a:gd name="connsiteY0" fmla="*/ 4399877 h 4399877"/>
              <a:gd name="connsiteX1" fmla="*/ 3399415 w 7207623"/>
              <a:gd name="connsiteY1" fmla="*/ 0 h 4399877"/>
              <a:gd name="connsiteX2" fmla="*/ 7207623 w 7207623"/>
              <a:gd name="connsiteY2" fmla="*/ 4130937 h 4399877"/>
              <a:gd name="connsiteX0" fmla="*/ 0 w 7487322"/>
              <a:gd name="connsiteY0" fmla="*/ 4238830 h 4238830"/>
              <a:gd name="connsiteX1" fmla="*/ 3679114 w 7487322"/>
              <a:gd name="connsiteY1" fmla="*/ 318 h 4238830"/>
              <a:gd name="connsiteX2" fmla="*/ 7487322 w 7487322"/>
              <a:gd name="connsiteY2" fmla="*/ 4131255 h 4238830"/>
              <a:gd name="connsiteX0" fmla="*/ 0 w 7487322"/>
              <a:gd name="connsiteY0" fmla="*/ 4378630 h 4378630"/>
              <a:gd name="connsiteX1" fmla="*/ 4130935 w 7487322"/>
              <a:gd name="connsiteY1" fmla="*/ 269 h 4378630"/>
              <a:gd name="connsiteX2" fmla="*/ 7487322 w 7487322"/>
              <a:gd name="connsiteY2" fmla="*/ 4271055 h 4378630"/>
              <a:gd name="connsiteX0" fmla="*/ 0 w 7487322"/>
              <a:gd name="connsiteY0" fmla="*/ 4385845 h 4385845"/>
              <a:gd name="connsiteX1" fmla="*/ 4130935 w 7487322"/>
              <a:gd name="connsiteY1" fmla="*/ 7484 h 4385845"/>
              <a:gd name="connsiteX2" fmla="*/ 7487322 w 7487322"/>
              <a:gd name="connsiteY2" fmla="*/ 4278270 h 4385845"/>
              <a:gd name="connsiteX0" fmla="*/ 0 w 7487322"/>
              <a:gd name="connsiteY0" fmla="*/ 4482077 h 4482077"/>
              <a:gd name="connsiteX1" fmla="*/ 4959274 w 7487322"/>
              <a:gd name="connsiteY1" fmla="*/ 6897 h 4482077"/>
              <a:gd name="connsiteX2" fmla="*/ 7487322 w 7487322"/>
              <a:gd name="connsiteY2" fmla="*/ 4374502 h 4482077"/>
              <a:gd name="connsiteX0" fmla="*/ 0 w 7487322"/>
              <a:gd name="connsiteY0" fmla="*/ 4475628 h 4475628"/>
              <a:gd name="connsiteX1" fmla="*/ 4959274 w 7487322"/>
              <a:gd name="connsiteY1" fmla="*/ 448 h 4475628"/>
              <a:gd name="connsiteX2" fmla="*/ 7487322 w 7487322"/>
              <a:gd name="connsiteY2" fmla="*/ 4368053 h 4475628"/>
              <a:gd name="connsiteX0" fmla="*/ 0 w 7510216"/>
              <a:gd name="connsiteY0" fmla="*/ 4475628 h 4475628"/>
              <a:gd name="connsiteX1" fmla="*/ 4959274 w 7510216"/>
              <a:gd name="connsiteY1" fmla="*/ 448 h 4475628"/>
              <a:gd name="connsiteX2" fmla="*/ 7487322 w 7510216"/>
              <a:gd name="connsiteY2" fmla="*/ 4368053 h 4475628"/>
              <a:gd name="connsiteX0" fmla="*/ 0 w 7262412"/>
              <a:gd name="connsiteY0" fmla="*/ 4475319 h 4475319"/>
              <a:gd name="connsiteX1" fmla="*/ 4959274 w 7262412"/>
              <a:gd name="connsiteY1" fmla="*/ 139 h 4475319"/>
              <a:gd name="connsiteX2" fmla="*/ 7261411 w 7262412"/>
              <a:gd name="connsiteY2" fmla="*/ 4400017 h 4475319"/>
              <a:gd name="connsiteX0" fmla="*/ 0 w 7431727"/>
              <a:gd name="connsiteY0" fmla="*/ 4498466 h 4498466"/>
              <a:gd name="connsiteX1" fmla="*/ 4959274 w 7431727"/>
              <a:gd name="connsiteY1" fmla="*/ 23286 h 4498466"/>
              <a:gd name="connsiteX2" fmla="*/ 7261411 w 7431727"/>
              <a:gd name="connsiteY2" fmla="*/ 4423164 h 4498466"/>
              <a:gd name="connsiteX0" fmla="*/ 0 w 7555037"/>
              <a:gd name="connsiteY0" fmla="*/ 4476281 h 4476281"/>
              <a:gd name="connsiteX1" fmla="*/ 4959274 w 7555037"/>
              <a:gd name="connsiteY1" fmla="*/ 1101 h 4476281"/>
              <a:gd name="connsiteX2" fmla="*/ 7261411 w 7555037"/>
              <a:gd name="connsiteY2" fmla="*/ 4400979 h 4476281"/>
              <a:gd name="connsiteX0" fmla="*/ 0 w 7520628"/>
              <a:gd name="connsiteY0" fmla="*/ 4476618 h 4476618"/>
              <a:gd name="connsiteX1" fmla="*/ 4959274 w 7520628"/>
              <a:gd name="connsiteY1" fmla="*/ 1438 h 4476618"/>
              <a:gd name="connsiteX2" fmla="*/ 7261411 w 7520628"/>
              <a:gd name="connsiteY2" fmla="*/ 4401316 h 4476618"/>
              <a:gd name="connsiteX0" fmla="*/ 0 w 7366213"/>
              <a:gd name="connsiteY0" fmla="*/ 4476618 h 4476618"/>
              <a:gd name="connsiteX1" fmla="*/ 4959274 w 7366213"/>
              <a:gd name="connsiteY1" fmla="*/ 1438 h 4476618"/>
              <a:gd name="connsiteX2" fmla="*/ 7261411 w 7366213"/>
              <a:gd name="connsiteY2" fmla="*/ 4401316 h 4476618"/>
              <a:gd name="connsiteX0" fmla="*/ 0 w 7417518"/>
              <a:gd name="connsiteY0" fmla="*/ 2336693 h 2336693"/>
              <a:gd name="connsiteX1" fmla="*/ 5346549 w 7417518"/>
              <a:gd name="connsiteY1" fmla="*/ 1045777 h 2336693"/>
              <a:gd name="connsiteX2" fmla="*/ 7261411 w 7417518"/>
              <a:gd name="connsiteY2" fmla="*/ 2261391 h 2336693"/>
              <a:gd name="connsiteX0" fmla="*/ 0 w 7303033"/>
              <a:gd name="connsiteY0" fmla="*/ 2362188 h 2362188"/>
              <a:gd name="connsiteX1" fmla="*/ 5346549 w 7303033"/>
              <a:gd name="connsiteY1" fmla="*/ 1071272 h 2362188"/>
              <a:gd name="connsiteX2" fmla="*/ 7261411 w 7303033"/>
              <a:gd name="connsiteY2" fmla="*/ 2286886 h 2362188"/>
              <a:gd name="connsiteX0" fmla="*/ 0 w 9827168"/>
              <a:gd name="connsiteY0" fmla="*/ 2129574 h 2409275"/>
              <a:gd name="connsiteX1" fmla="*/ 5346549 w 9827168"/>
              <a:gd name="connsiteY1" fmla="*/ 838658 h 2409275"/>
              <a:gd name="connsiteX2" fmla="*/ 9800215 w 9827168"/>
              <a:gd name="connsiteY2" fmla="*/ 2409275 h 2409275"/>
              <a:gd name="connsiteX0" fmla="*/ 0 w 9800215"/>
              <a:gd name="connsiteY0" fmla="*/ 1294399 h 1574100"/>
              <a:gd name="connsiteX1" fmla="*/ 5346549 w 9800215"/>
              <a:gd name="connsiteY1" fmla="*/ 3483 h 1574100"/>
              <a:gd name="connsiteX2" fmla="*/ 9800215 w 9800215"/>
              <a:gd name="connsiteY2" fmla="*/ 1574100 h 1574100"/>
              <a:gd name="connsiteX0" fmla="*/ 0 w 9843246"/>
              <a:gd name="connsiteY0" fmla="*/ 1639299 h 1639299"/>
              <a:gd name="connsiteX1" fmla="*/ 5346549 w 9843246"/>
              <a:gd name="connsiteY1" fmla="*/ 348383 h 1639299"/>
              <a:gd name="connsiteX2" fmla="*/ 9843246 w 9843246"/>
              <a:gd name="connsiteY2" fmla="*/ 585052 h 1639299"/>
              <a:gd name="connsiteX0" fmla="*/ 0 w 9843246"/>
              <a:gd name="connsiteY0" fmla="*/ 1801356 h 1801356"/>
              <a:gd name="connsiteX1" fmla="*/ 8240356 w 9843246"/>
              <a:gd name="connsiteY1" fmla="*/ 176953 h 1801356"/>
              <a:gd name="connsiteX2" fmla="*/ 9843246 w 9843246"/>
              <a:gd name="connsiteY2" fmla="*/ 747109 h 1801356"/>
              <a:gd name="connsiteX0" fmla="*/ 0 w 9843246"/>
              <a:gd name="connsiteY0" fmla="*/ 1669185 h 1669185"/>
              <a:gd name="connsiteX1" fmla="*/ 8240356 w 9843246"/>
              <a:gd name="connsiteY1" fmla="*/ 44782 h 1669185"/>
              <a:gd name="connsiteX2" fmla="*/ 9843246 w 9843246"/>
              <a:gd name="connsiteY2" fmla="*/ 614938 h 1669185"/>
              <a:gd name="connsiteX0" fmla="*/ 0 w 3087443"/>
              <a:gd name="connsiteY0" fmla="*/ 967224 h 967224"/>
              <a:gd name="connsiteX1" fmla="*/ 1484553 w 3087443"/>
              <a:gd name="connsiteY1" fmla="*/ 9795 h 967224"/>
              <a:gd name="connsiteX2" fmla="*/ 3087443 w 3087443"/>
              <a:gd name="connsiteY2" fmla="*/ 579951 h 967224"/>
              <a:gd name="connsiteX0" fmla="*/ 0 w 3055170"/>
              <a:gd name="connsiteY0" fmla="*/ 1014486 h 1014486"/>
              <a:gd name="connsiteX1" fmla="*/ 1484553 w 3055170"/>
              <a:gd name="connsiteY1" fmla="*/ 57057 h 1014486"/>
              <a:gd name="connsiteX2" fmla="*/ 3055170 w 3055170"/>
              <a:gd name="connsiteY2" fmla="*/ 347515 h 1014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5170" h="1014486">
                <a:moveTo>
                  <a:pt x="0" y="1014486"/>
                </a:moveTo>
                <a:cubicBezTo>
                  <a:pt x="708212" y="97845"/>
                  <a:pt x="975358" y="168219"/>
                  <a:pt x="1484553" y="57057"/>
                </a:cubicBezTo>
                <a:cubicBezTo>
                  <a:pt x="1993748" y="-54105"/>
                  <a:pt x="2933248" y="-25416"/>
                  <a:pt x="3055170" y="347515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5755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095" y="1399189"/>
            <a:ext cx="8816735" cy="374441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238381" y="171161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07096" y="5445225"/>
            <a:ext cx="88167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Утверждение является следствием теоремы: достаточно положить </a:t>
            </a:r>
            <a:r>
              <a:rPr lang="en-US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ru-RU" sz="2800" i="1" dirty="0">
                <a:solidFill>
                  <a:srgbClr val="44546A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ru-RU" sz="28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95433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82913" y="119274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67407" y="1197913"/>
            <a:ext cx="105851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Алгоритмы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Краскала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Прима относятся к классу алгоритмов, называемых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жадными алгоритмами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Такое название эти алгоритмы получили за стратегию, заключающуюся в принятии на каждом шаге локально оптимального решения (жадного решения), в предположении, что такая стратегия приведет к конечному оптимальному решению. 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67408" y="3356992"/>
            <a:ext cx="1058517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   Пример построения минимального остовного дерева для связного неориентированного графа. Сначала все ребра графа изображены тонкой линий, над которой указана длина этого ребра. На рисунке показано пошаговое построение разрезов, начиная с (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24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) и заканчивая (</a:t>
            </a:r>
            <a:r>
              <a:rPr lang="en-US" sz="24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)  По мере того, как вершины и дуги включаются в состав минимального остовного дерева, они меняют свою окраску. На каждом шаге, кроме последнего, выбирается легкое ребро разреза, которое, согласно приведенной выше теореме, является безопасным для множества окрашенных ребер.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4532313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071664" y="184482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Овал 4"/>
          <p:cNvSpPr/>
          <p:nvPr/>
        </p:nvSpPr>
        <p:spPr>
          <a:xfrm>
            <a:off x="5663952" y="184482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Овал 5"/>
          <p:cNvSpPr/>
          <p:nvPr/>
        </p:nvSpPr>
        <p:spPr>
          <a:xfrm>
            <a:off x="8400256" y="184482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Овал 6"/>
          <p:cNvSpPr/>
          <p:nvPr/>
        </p:nvSpPr>
        <p:spPr>
          <a:xfrm>
            <a:off x="3063458" y="487608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Овал 7"/>
          <p:cNvSpPr/>
          <p:nvPr/>
        </p:nvSpPr>
        <p:spPr>
          <a:xfrm>
            <a:off x="5655746" y="487608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Овал 8"/>
          <p:cNvSpPr/>
          <p:nvPr/>
        </p:nvSpPr>
        <p:spPr>
          <a:xfrm>
            <a:off x="8392050" y="487608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Овал 9"/>
          <p:cNvSpPr/>
          <p:nvPr/>
        </p:nvSpPr>
        <p:spPr>
          <a:xfrm>
            <a:off x="920909" y="3350661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Овал 10"/>
          <p:cNvSpPr/>
          <p:nvPr/>
        </p:nvSpPr>
        <p:spPr>
          <a:xfrm>
            <a:off x="10516008" y="3350661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Овал 11"/>
          <p:cNvSpPr/>
          <p:nvPr/>
        </p:nvSpPr>
        <p:spPr>
          <a:xfrm>
            <a:off x="4442373" y="33694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3" name="Прямая соединительная линия 12"/>
          <p:cNvCxnSpPr>
            <a:stCxn id="4" idx="6"/>
            <a:endCxn id="5" idx="2"/>
          </p:cNvCxnSpPr>
          <p:nvPr/>
        </p:nvCxnSpPr>
        <p:spPr>
          <a:xfrm>
            <a:off x="4007768" y="2312876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5" idx="6"/>
            <a:endCxn id="6" idx="2"/>
          </p:cNvCxnSpPr>
          <p:nvPr/>
        </p:nvCxnSpPr>
        <p:spPr>
          <a:xfrm>
            <a:off x="6600056" y="2312876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stCxn id="5" idx="5"/>
            <a:endCxn id="9" idx="1"/>
          </p:cNvCxnSpPr>
          <p:nvPr/>
        </p:nvCxnSpPr>
        <p:spPr>
          <a:xfrm>
            <a:off x="6462967" y="2643839"/>
            <a:ext cx="2066172" cy="23693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6" idx="4"/>
            <a:endCxn id="9" idx="0"/>
          </p:cNvCxnSpPr>
          <p:nvPr/>
        </p:nvCxnSpPr>
        <p:spPr>
          <a:xfrm flipH="1">
            <a:off x="8860102" y="2780928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6" idx="6"/>
            <a:endCxn id="11" idx="1"/>
          </p:cNvCxnSpPr>
          <p:nvPr/>
        </p:nvCxnSpPr>
        <p:spPr>
          <a:xfrm>
            <a:off x="9336360" y="2312876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9" idx="6"/>
            <a:endCxn id="11" idx="3"/>
          </p:cNvCxnSpPr>
          <p:nvPr/>
        </p:nvCxnSpPr>
        <p:spPr>
          <a:xfrm flipV="1">
            <a:off x="9328154" y="4149676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9" idx="2"/>
          </p:cNvCxnSpPr>
          <p:nvPr/>
        </p:nvCxnSpPr>
        <p:spPr>
          <a:xfrm>
            <a:off x="6591850" y="5344139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2" idx="5"/>
            <a:endCxn id="8" idx="1"/>
          </p:cNvCxnSpPr>
          <p:nvPr/>
        </p:nvCxnSpPr>
        <p:spPr>
          <a:xfrm>
            <a:off x="5241388" y="4168420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4" idx="2"/>
            <a:endCxn id="10" idx="7"/>
          </p:cNvCxnSpPr>
          <p:nvPr/>
        </p:nvCxnSpPr>
        <p:spPr>
          <a:xfrm flipH="1">
            <a:off x="1719924" y="2312876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7" idx="2"/>
            <a:endCxn id="10" idx="5"/>
          </p:cNvCxnSpPr>
          <p:nvPr/>
        </p:nvCxnSpPr>
        <p:spPr>
          <a:xfrm flipH="1" flipV="1">
            <a:off x="1719924" y="4149676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5" idx="3"/>
            <a:endCxn id="12" idx="7"/>
          </p:cNvCxnSpPr>
          <p:nvPr/>
        </p:nvCxnSpPr>
        <p:spPr>
          <a:xfrm flipH="1">
            <a:off x="5241388" y="2643839"/>
            <a:ext cx="559653" cy="8626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4" idx="4"/>
            <a:endCxn id="7" idx="0"/>
          </p:cNvCxnSpPr>
          <p:nvPr/>
        </p:nvCxnSpPr>
        <p:spPr>
          <a:xfrm flipH="1">
            <a:off x="3531510" y="2780928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12" idx="3"/>
            <a:endCxn id="7" idx="7"/>
          </p:cNvCxnSpPr>
          <p:nvPr/>
        </p:nvCxnSpPr>
        <p:spPr>
          <a:xfrm flipH="1">
            <a:off x="3862473" y="4168420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8" idx="2"/>
            <a:endCxn id="7" idx="6"/>
          </p:cNvCxnSpPr>
          <p:nvPr/>
        </p:nvCxnSpPr>
        <p:spPr>
          <a:xfrm flipH="1">
            <a:off x="3999562" y="5344139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73568" y="2577147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2238" y="1966327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6792" y="198971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1257" y="256416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8534" y="4355163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1332" y="3522089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320" y="3435056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9338" y="2770323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25479" y="4305509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7234" y="4229756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4813" y="5010563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3982" y="4286765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6792" y="5010564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8939" y="3371684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849610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990172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582460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18764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981966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574254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0558" y="516411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417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434516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360881" y="36574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926276" y="260090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18564" y="2600908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381475" y="2931871"/>
            <a:ext cx="2066172" cy="23693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778610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254868" y="2600908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246662" y="4437708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10358" y="5632171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159896" y="4456452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638432" y="2600908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638432" y="4437708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159896" y="2931871"/>
            <a:ext cx="559653" cy="8626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450018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780981" y="4456452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18070" y="5632171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92076" y="2865179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746" y="2254359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300" y="2277742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65" y="285220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042" y="4643195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9840" y="3810121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828" y="3723088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7846" y="3058355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3987" y="4593541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5742" y="4517788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3321" y="5298595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2490" y="4574797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300" y="5298596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47447" y="3659716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  <p:sp>
        <p:nvSpPr>
          <p:cNvPr id="2" name="Полилиния 1"/>
          <p:cNvSpPr/>
          <p:nvPr/>
        </p:nvSpPr>
        <p:spPr>
          <a:xfrm>
            <a:off x="2571078" y="4784015"/>
            <a:ext cx="4402417" cy="1474994"/>
          </a:xfrm>
          <a:custGeom>
            <a:avLst/>
            <a:gdLst>
              <a:gd name="connsiteX0" fmla="*/ 0 w 4578919"/>
              <a:gd name="connsiteY0" fmla="*/ 1238261 h 1626732"/>
              <a:gd name="connsiteX1" fmla="*/ 2173044 w 4578919"/>
              <a:gd name="connsiteY1" fmla="*/ 108708 h 1626732"/>
              <a:gd name="connsiteX2" fmla="*/ 4335331 w 4578919"/>
              <a:gd name="connsiteY2" fmla="*/ 205527 h 1626732"/>
              <a:gd name="connsiteX3" fmla="*/ 4453666 w 4578919"/>
              <a:gd name="connsiteY3" fmla="*/ 1528718 h 1626732"/>
              <a:gd name="connsiteX4" fmla="*/ 3668357 w 4578919"/>
              <a:gd name="connsiteY4" fmla="*/ 1528718 h 1626732"/>
              <a:gd name="connsiteX5" fmla="*/ 3668357 w 4578919"/>
              <a:gd name="connsiteY5" fmla="*/ 1528718 h 1626732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423581"/>
              <a:gd name="connsiteY0" fmla="*/ 1490134 h 1673811"/>
              <a:gd name="connsiteX1" fmla="*/ 731519 w 4423581"/>
              <a:gd name="connsiteY1" fmla="*/ 274519 h 1673811"/>
              <a:gd name="connsiteX2" fmla="*/ 3743660 w 4423581"/>
              <a:gd name="connsiteY2" fmla="*/ 102398 h 1673811"/>
              <a:gd name="connsiteX3" fmla="*/ 4421393 w 4423581"/>
              <a:gd name="connsiteY3" fmla="*/ 1565438 h 1673811"/>
              <a:gd name="connsiteX4" fmla="*/ 3636084 w 4423581"/>
              <a:gd name="connsiteY4" fmla="*/ 1565438 h 1673811"/>
              <a:gd name="connsiteX5" fmla="*/ 3636084 w 4423581"/>
              <a:gd name="connsiteY5" fmla="*/ 1565438 h 1673811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5" fmla="*/ 3636084 w 4402417"/>
              <a:gd name="connsiteY5" fmla="*/ 1550298 h 1550298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0" fmla="*/ 0 w 4402417"/>
              <a:gd name="connsiteY0" fmla="*/ 1474994 h 1474994"/>
              <a:gd name="connsiteX1" fmla="*/ 731519 w 4402417"/>
              <a:gd name="connsiteY1" fmla="*/ 259379 h 1474994"/>
              <a:gd name="connsiteX2" fmla="*/ 3743660 w 4402417"/>
              <a:gd name="connsiteY2" fmla="*/ 87258 h 1474994"/>
              <a:gd name="connsiteX3" fmla="*/ 4399877 w 4402417"/>
              <a:gd name="connsiteY3" fmla="*/ 1345903 h 1474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2417" h="1474994">
                <a:moveTo>
                  <a:pt x="0" y="1474994"/>
                </a:moveTo>
                <a:cubicBezTo>
                  <a:pt x="133573" y="1060824"/>
                  <a:pt x="107576" y="490668"/>
                  <a:pt x="731519" y="259379"/>
                </a:cubicBezTo>
                <a:cubicBezTo>
                  <a:pt x="1355462" y="28090"/>
                  <a:pt x="3132267" y="-93829"/>
                  <a:pt x="3743660" y="87258"/>
                </a:cubicBezTo>
                <a:cubicBezTo>
                  <a:pt x="4355053" y="268345"/>
                  <a:pt x="4417806" y="1102063"/>
                  <a:pt x="4399877" y="1345903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4815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990172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582460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18764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981966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574254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0558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417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434516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360881" y="36574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926276" y="260090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18564" y="2600908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381475" y="2931871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778610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254868" y="2600908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246662" y="4437708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10358" y="5632171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159896" y="4456452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638432" y="2600908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638432" y="4437708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159896" y="2931871"/>
            <a:ext cx="559653" cy="8626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450018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780981" y="4456452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18070" y="5632171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92076" y="2865179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746" y="2254359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300" y="2277742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65" y="285220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042" y="4643195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9840" y="3810121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828" y="3723088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7846" y="3058355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3987" y="4593541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5742" y="4517788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3321" y="5298595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2490" y="4574797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300" y="5298596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47447" y="3659716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  <p:sp>
        <p:nvSpPr>
          <p:cNvPr id="43" name="Полилиния 42"/>
          <p:cNvSpPr/>
          <p:nvPr/>
        </p:nvSpPr>
        <p:spPr>
          <a:xfrm>
            <a:off x="2571079" y="4696458"/>
            <a:ext cx="7208038" cy="1562551"/>
          </a:xfrm>
          <a:custGeom>
            <a:avLst/>
            <a:gdLst>
              <a:gd name="connsiteX0" fmla="*/ 0 w 4578919"/>
              <a:gd name="connsiteY0" fmla="*/ 1238261 h 1626732"/>
              <a:gd name="connsiteX1" fmla="*/ 2173044 w 4578919"/>
              <a:gd name="connsiteY1" fmla="*/ 108708 h 1626732"/>
              <a:gd name="connsiteX2" fmla="*/ 4335331 w 4578919"/>
              <a:gd name="connsiteY2" fmla="*/ 205527 h 1626732"/>
              <a:gd name="connsiteX3" fmla="*/ 4453666 w 4578919"/>
              <a:gd name="connsiteY3" fmla="*/ 1528718 h 1626732"/>
              <a:gd name="connsiteX4" fmla="*/ 3668357 w 4578919"/>
              <a:gd name="connsiteY4" fmla="*/ 1528718 h 1626732"/>
              <a:gd name="connsiteX5" fmla="*/ 3668357 w 4578919"/>
              <a:gd name="connsiteY5" fmla="*/ 1528718 h 1626732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423581"/>
              <a:gd name="connsiteY0" fmla="*/ 1490134 h 1673811"/>
              <a:gd name="connsiteX1" fmla="*/ 731519 w 4423581"/>
              <a:gd name="connsiteY1" fmla="*/ 274519 h 1673811"/>
              <a:gd name="connsiteX2" fmla="*/ 3743660 w 4423581"/>
              <a:gd name="connsiteY2" fmla="*/ 102398 h 1673811"/>
              <a:gd name="connsiteX3" fmla="*/ 4421393 w 4423581"/>
              <a:gd name="connsiteY3" fmla="*/ 1565438 h 1673811"/>
              <a:gd name="connsiteX4" fmla="*/ 3636084 w 4423581"/>
              <a:gd name="connsiteY4" fmla="*/ 1565438 h 1673811"/>
              <a:gd name="connsiteX5" fmla="*/ 3636084 w 4423581"/>
              <a:gd name="connsiteY5" fmla="*/ 1565438 h 1673811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5" fmla="*/ 3636084 w 4402417"/>
              <a:gd name="connsiteY5" fmla="*/ 1550298 h 1550298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0" fmla="*/ 0 w 4402417"/>
              <a:gd name="connsiteY0" fmla="*/ 1474994 h 1474994"/>
              <a:gd name="connsiteX1" fmla="*/ 731519 w 4402417"/>
              <a:gd name="connsiteY1" fmla="*/ 259379 h 1474994"/>
              <a:gd name="connsiteX2" fmla="*/ 3743660 w 4402417"/>
              <a:gd name="connsiteY2" fmla="*/ 87258 h 1474994"/>
              <a:gd name="connsiteX3" fmla="*/ 4399877 w 4402417"/>
              <a:gd name="connsiteY3" fmla="*/ 1345903 h 1474994"/>
              <a:gd name="connsiteX0" fmla="*/ 0 w 5711195"/>
              <a:gd name="connsiteY0" fmla="*/ 1572410 h 1572410"/>
              <a:gd name="connsiteX1" fmla="*/ 731519 w 5711195"/>
              <a:gd name="connsiteY1" fmla="*/ 356795 h 1572410"/>
              <a:gd name="connsiteX2" fmla="*/ 5583217 w 5711195"/>
              <a:gd name="connsiteY2" fmla="*/ 66340 h 1572410"/>
              <a:gd name="connsiteX3" fmla="*/ 4399877 w 5711195"/>
              <a:gd name="connsiteY3" fmla="*/ 1443319 h 1572410"/>
              <a:gd name="connsiteX0" fmla="*/ 0 w 7208038"/>
              <a:gd name="connsiteY0" fmla="*/ 1562551 h 1562551"/>
              <a:gd name="connsiteX1" fmla="*/ 731519 w 7208038"/>
              <a:gd name="connsiteY1" fmla="*/ 346936 h 1562551"/>
              <a:gd name="connsiteX2" fmla="*/ 5583217 w 7208038"/>
              <a:gd name="connsiteY2" fmla="*/ 56481 h 1562551"/>
              <a:gd name="connsiteX3" fmla="*/ 7207623 w 7208038"/>
              <a:gd name="connsiteY3" fmla="*/ 1293611 h 156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8038" h="1562551">
                <a:moveTo>
                  <a:pt x="0" y="1562551"/>
                </a:moveTo>
                <a:cubicBezTo>
                  <a:pt x="133573" y="1148381"/>
                  <a:pt x="-199017" y="597948"/>
                  <a:pt x="731519" y="346936"/>
                </a:cubicBezTo>
                <a:cubicBezTo>
                  <a:pt x="1662055" y="95924"/>
                  <a:pt x="4503866" y="-101298"/>
                  <a:pt x="5583217" y="56481"/>
                </a:cubicBezTo>
                <a:cubicBezTo>
                  <a:pt x="6662568" y="214260"/>
                  <a:pt x="7225552" y="1049771"/>
                  <a:pt x="7207623" y="1293611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4966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990172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582460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18764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981966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574254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0558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417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434516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360881" y="36574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926276" y="260090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18564" y="2600908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381475" y="2931871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778610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254868" y="2600908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246662" y="4437708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10358" y="5632171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159896" y="4456452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638432" y="2600908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638432" y="4437708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159896" y="2931871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450018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780981" y="4456452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18070" y="5632171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92076" y="2865179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746" y="2254359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300" y="2277742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65" y="285220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042" y="4643195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9840" y="3810121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828" y="3723088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7846" y="3058355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3987" y="4593541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5742" y="4517788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3321" y="5298595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2490" y="4574797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300" y="5298596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47447" y="3659716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  <p:sp>
        <p:nvSpPr>
          <p:cNvPr id="43" name="Полилиния 42"/>
          <p:cNvSpPr/>
          <p:nvPr/>
        </p:nvSpPr>
        <p:spPr>
          <a:xfrm>
            <a:off x="2571078" y="1829233"/>
            <a:ext cx="7207623" cy="4429776"/>
          </a:xfrm>
          <a:custGeom>
            <a:avLst/>
            <a:gdLst>
              <a:gd name="connsiteX0" fmla="*/ 0 w 4578919"/>
              <a:gd name="connsiteY0" fmla="*/ 1238261 h 1626732"/>
              <a:gd name="connsiteX1" fmla="*/ 2173044 w 4578919"/>
              <a:gd name="connsiteY1" fmla="*/ 108708 h 1626732"/>
              <a:gd name="connsiteX2" fmla="*/ 4335331 w 4578919"/>
              <a:gd name="connsiteY2" fmla="*/ 205527 h 1626732"/>
              <a:gd name="connsiteX3" fmla="*/ 4453666 w 4578919"/>
              <a:gd name="connsiteY3" fmla="*/ 1528718 h 1626732"/>
              <a:gd name="connsiteX4" fmla="*/ 3668357 w 4578919"/>
              <a:gd name="connsiteY4" fmla="*/ 1528718 h 1626732"/>
              <a:gd name="connsiteX5" fmla="*/ 3668357 w 4578919"/>
              <a:gd name="connsiteY5" fmla="*/ 1528718 h 1626732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423581"/>
              <a:gd name="connsiteY0" fmla="*/ 1490134 h 1673811"/>
              <a:gd name="connsiteX1" fmla="*/ 731519 w 4423581"/>
              <a:gd name="connsiteY1" fmla="*/ 274519 h 1673811"/>
              <a:gd name="connsiteX2" fmla="*/ 3743660 w 4423581"/>
              <a:gd name="connsiteY2" fmla="*/ 102398 h 1673811"/>
              <a:gd name="connsiteX3" fmla="*/ 4421393 w 4423581"/>
              <a:gd name="connsiteY3" fmla="*/ 1565438 h 1673811"/>
              <a:gd name="connsiteX4" fmla="*/ 3636084 w 4423581"/>
              <a:gd name="connsiteY4" fmla="*/ 1565438 h 1673811"/>
              <a:gd name="connsiteX5" fmla="*/ 3636084 w 4423581"/>
              <a:gd name="connsiteY5" fmla="*/ 1565438 h 1673811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5" fmla="*/ 3636084 w 4402417"/>
              <a:gd name="connsiteY5" fmla="*/ 1550298 h 1550298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0" fmla="*/ 0 w 4402417"/>
              <a:gd name="connsiteY0" fmla="*/ 1474994 h 1474994"/>
              <a:gd name="connsiteX1" fmla="*/ 731519 w 4402417"/>
              <a:gd name="connsiteY1" fmla="*/ 259379 h 1474994"/>
              <a:gd name="connsiteX2" fmla="*/ 3743660 w 4402417"/>
              <a:gd name="connsiteY2" fmla="*/ 87258 h 1474994"/>
              <a:gd name="connsiteX3" fmla="*/ 4399877 w 4402417"/>
              <a:gd name="connsiteY3" fmla="*/ 1345903 h 1474994"/>
              <a:gd name="connsiteX0" fmla="*/ 0 w 5711195"/>
              <a:gd name="connsiteY0" fmla="*/ 1572410 h 1572410"/>
              <a:gd name="connsiteX1" fmla="*/ 731519 w 5711195"/>
              <a:gd name="connsiteY1" fmla="*/ 356795 h 1572410"/>
              <a:gd name="connsiteX2" fmla="*/ 5583217 w 5711195"/>
              <a:gd name="connsiteY2" fmla="*/ 66340 h 1572410"/>
              <a:gd name="connsiteX3" fmla="*/ 4399877 w 5711195"/>
              <a:gd name="connsiteY3" fmla="*/ 1443319 h 1572410"/>
              <a:gd name="connsiteX0" fmla="*/ 0 w 7208038"/>
              <a:gd name="connsiteY0" fmla="*/ 1562551 h 1562551"/>
              <a:gd name="connsiteX1" fmla="*/ 731519 w 7208038"/>
              <a:gd name="connsiteY1" fmla="*/ 346936 h 1562551"/>
              <a:gd name="connsiteX2" fmla="*/ 5583217 w 7208038"/>
              <a:gd name="connsiteY2" fmla="*/ 56481 h 1562551"/>
              <a:gd name="connsiteX3" fmla="*/ 7207623 w 7208038"/>
              <a:gd name="connsiteY3" fmla="*/ 1293611 h 1562551"/>
              <a:gd name="connsiteX0" fmla="*/ 0 w 7208038"/>
              <a:gd name="connsiteY0" fmla="*/ 1632035 h 1632035"/>
              <a:gd name="connsiteX1" fmla="*/ 731519 w 7208038"/>
              <a:gd name="connsiteY1" fmla="*/ 416420 h 1632035"/>
              <a:gd name="connsiteX2" fmla="*/ 3872752 w 7208038"/>
              <a:gd name="connsiteY2" fmla="*/ 74118 h 1632035"/>
              <a:gd name="connsiteX3" fmla="*/ 5583217 w 7208038"/>
              <a:gd name="connsiteY3" fmla="*/ 125965 h 1632035"/>
              <a:gd name="connsiteX4" fmla="*/ 7207623 w 7208038"/>
              <a:gd name="connsiteY4" fmla="*/ 1363095 h 1632035"/>
              <a:gd name="connsiteX0" fmla="*/ 0 w 7207710"/>
              <a:gd name="connsiteY0" fmla="*/ 4410856 h 4410856"/>
              <a:gd name="connsiteX1" fmla="*/ 731519 w 7207710"/>
              <a:gd name="connsiteY1" fmla="*/ 3195241 h 4410856"/>
              <a:gd name="connsiteX2" fmla="*/ 3872752 w 7207710"/>
              <a:gd name="connsiteY2" fmla="*/ 2852939 h 4410856"/>
              <a:gd name="connsiteX3" fmla="*/ 3399415 w 7207710"/>
              <a:gd name="connsiteY3" fmla="*/ 10979 h 4410856"/>
              <a:gd name="connsiteX4" fmla="*/ 7207623 w 7207710"/>
              <a:gd name="connsiteY4" fmla="*/ 4141916 h 4410856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695"/>
              <a:gd name="connsiteY0" fmla="*/ 4428168 h 4428168"/>
              <a:gd name="connsiteX1" fmla="*/ 731519 w 7207695"/>
              <a:gd name="connsiteY1" fmla="*/ 3212553 h 4428168"/>
              <a:gd name="connsiteX2" fmla="*/ 4120178 w 7207695"/>
              <a:gd name="connsiteY2" fmla="*/ 2837978 h 4428168"/>
              <a:gd name="connsiteX3" fmla="*/ 3399415 w 7207695"/>
              <a:gd name="connsiteY3" fmla="*/ 28291 h 4428168"/>
              <a:gd name="connsiteX4" fmla="*/ 7207623 w 7207695"/>
              <a:gd name="connsiteY4" fmla="*/ 4159228 h 4428168"/>
              <a:gd name="connsiteX0" fmla="*/ 0 w 7207695"/>
              <a:gd name="connsiteY0" fmla="*/ 4429776 h 4429776"/>
              <a:gd name="connsiteX1" fmla="*/ 731519 w 7207695"/>
              <a:gd name="connsiteY1" fmla="*/ 3214161 h 4429776"/>
              <a:gd name="connsiteX2" fmla="*/ 4120178 w 7207695"/>
              <a:gd name="connsiteY2" fmla="*/ 2839586 h 4429776"/>
              <a:gd name="connsiteX3" fmla="*/ 3399415 w 7207695"/>
              <a:gd name="connsiteY3" fmla="*/ 29899 h 4429776"/>
              <a:gd name="connsiteX4" fmla="*/ 7207623 w 7207695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7623" h="4429776">
                <a:moveTo>
                  <a:pt x="0" y="4429776"/>
                </a:moveTo>
                <a:cubicBezTo>
                  <a:pt x="133573" y="4015606"/>
                  <a:pt x="44823" y="3479193"/>
                  <a:pt x="731519" y="3214161"/>
                </a:cubicBezTo>
                <a:cubicBezTo>
                  <a:pt x="1418215" y="2949129"/>
                  <a:pt x="4537935" y="3554970"/>
                  <a:pt x="4120178" y="2839586"/>
                </a:cubicBezTo>
                <a:cubicBezTo>
                  <a:pt x="2174835" y="811770"/>
                  <a:pt x="2884841" y="-190309"/>
                  <a:pt x="3399415" y="29899"/>
                </a:cubicBezTo>
                <a:cubicBezTo>
                  <a:pt x="3913989" y="250107"/>
                  <a:pt x="5203114" y="743491"/>
                  <a:pt x="7207623" y="4160836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70974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990172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582460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18764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981966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574254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0558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417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434516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360881" y="36574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926276" y="260090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18564" y="2600908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381475" y="2931871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778610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254868" y="2600908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246662" y="4437708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10358" y="5632171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159896" y="4456452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638432" y="2600908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638432" y="4437708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159896" y="2931871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450018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780981" y="4456452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18070" y="5632171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92076" y="2865179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746" y="2254359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300" y="2277742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65" y="285220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042" y="4643195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9840" y="3810121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828" y="3723088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7846" y="3058355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3987" y="4593541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5742" y="4517788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3321" y="5298595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2490" y="4574797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300" y="5298596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47447" y="3659716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  <p:sp>
        <p:nvSpPr>
          <p:cNvPr id="43" name="Полилиния 42"/>
          <p:cNvSpPr/>
          <p:nvPr/>
        </p:nvSpPr>
        <p:spPr>
          <a:xfrm>
            <a:off x="2291379" y="1858815"/>
            <a:ext cx="7487322" cy="4238830"/>
          </a:xfrm>
          <a:custGeom>
            <a:avLst/>
            <a:gdLst>
              <a:gd name="connsiteX0" fmla="*/ 0 w 4578919"/>
              <a:gd name="connsiteY0" fmla="*/ 1238261 h 1626732"/>
              <a:gd name="connsiteX1" fmla="*/ 2173044 w 4578919"/>
              <a:gd name="connsiteY1" fmla="*/ 108708 h 1626732"/>
              <a:gd name="connsiteX2" fmla="*/ 4335331 w 4578919"/>
              <a:gd name="connsiteY2" fmla="*/ 205527 h 1626732"/>
              <a:gd name="connsiteX3" fmla="*/ 4453666 w 4578919"/>
              <a:gd name="connsiteY3" fmla="*/ 1528718 h 1626732"/>
              <a:gd name="connsiteX4" fmla="*/ 3668357 w 4578919"/>
              <a:gd name="connsiteY4" fmla="*/ 1528718 h 1626732"/>
              <a:gd name="connsiteX5" fmla="*/ 3668357 w 4578919"/>
              <a:gd name="connsiteY5" fmla="*/ 1528718 h 1626732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423581"/>
              <a:gd name="connsiteY0" fmla="*/ 1490134 h 1673811"/>
              <a:gd name="connsiteX1" fmla="*/ 731519 w 4423581"/>
              <a:gd name="connsiteY1" fmla="*/ 274519 h 1673811"/>
              <a:gd name="connsiteX2" fmla="*/ 3743660 w 4423581"/>
              <a:gd name="connsiteY2" fmla="*/ 102398 h 1673811"/>
              <a:gd name="connsiteX3" fmla="*/ 4421393 w 4423581"/>
              <a:gd name="connsiteY3" fmla="*/ 1565438 h 1673811"/>
              <a:gd name="connsiteX4" fmla="*/ 3636084 w 4423581"/>
              <a:gd name="connsiteY4" fmla="*/ 1565438 h 1673811"/>
              <a:gd name="connsiteX5" fmla="*/ 3636084 w 4423581"/>
              <a:gd name="connsiteY5" fmla="*/ 1565438 h 1673811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5" fmla="*/ 3636084 w 4402417"/>
              <a:gd name="connsiteY5" fmla="*/ 1550298 h 1550298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0" fmla="*/ 0 w 4402417"/>
              <a:gd name="connsiteY0" fmla="*/ 1474994 h 1474994"/>
              <a:gd name="connsiteX1" fmla="*/ 731519 w 4402417"/>
              <a:gd name="connsiteY1" fmla="*/ 259379 h 1474994"/>
              <a:gd name="connsiteX2" fmla="*/ 3743660 w 4402417"/>
              <a:gd name="connsiteY2" fmla="*/ 87258 h 1474994"/>
              <a:gd name="connsiteX3" fmla="*/ 4399877 w 4402417"/>
              <a:gd name="connsiteY3" fmla="*/ 1345903 h 1474994"/>
              <a:gd name="connsiteX0" fmla="*/ 0 w 5711195"/>
              <a:gd name="connsiteY0" fmla="*/ 1572410 h 1572410"/>
              <a:gd name="connsiteX1" fmla="*/ 731519 w 5711195"/>
              <a:gd name="connsiteY1" fmla="*/ 356795 h 1572410"/>
              <a:gd name="connsiteX2" fmla="*/ 5583217 w 5711195"/>
              <a:gd name="connsiteY2" fmla="*/ 66340 h 1572410"/>
              <a:gd name="connsiteX3" fmla="*/ 4399877 w 5711195"/>
              <a:gd name="connsiteY3" fmla="*/ 1443319 h 1572410"/>
              <a:gd name="connsiteX0" fmla="*/ 0 w 7208038"/>
              <a:gd name="connsiteY0" fmla="*/ 1562551 h 1562551"/>
              <a:gd name="connsiteX1" fmla="*/ 731519 w 7208038"/>
              <a:gd name="connsiteY1" fmla="*/ 346936 h 1562551"/>
              <a:gd name="connsiteX2" fmla="*/ 5583217 w 7208038"/>
              <a:gd name="connsiteY2" fmla="*/ 56481 h 1562551"/>
              <a:gd name="connsiteX3" fmla="*/ 7207623 w 7208038"/>
              <a:gd name="connsiteY3" fmla="*/ 1293611 h 1562551"/>
              <a:gd name="connsiteX0" fmla="*/ 0 w 7208038"/>
              <a:gd name="connsiteY0" fmla="*/ 1632035 h 1632035"/>
              <a:gd name="connsiteX1" fmla="*/ 731519 w 7208038"/>
              <a:gd name="connsiteY1" fmla="*/ 416420 h 1632035"/>
              <a:gd name="connsiteX2" fmla="*/ 3872752 w 7208038"/>
              <a:gd name="connsiteY2" fmla="*/ 74118 h 1632035"/>
              <a:gd name="connsiteX3" fmla="*/ 5583217 w 7208038"/>
              <a:gd name="connsiteY3" fmla="*/ 125965 h 1632035"/>
              <a:gd name="connsiteX4" fmla="*/ 7207623 w 7208038"/>
              <a:gd name="connsiteY4" fmla="*/ 1363095 h 1632035"/>
              <a:gd name="connsiteX0" fmla="*/ 0 w 7207710"/>
              <a:gd name="connsiteY0" fmla="*/ 4410856 h 4410856"/>
              <a:gd name="connsiteX1" fmla="*/ 731519 w 7207710"/>
              <a:gd name="connsiteY1" fmla="*/ 3195241 h 4410856"/>
              <a:gd name="connsiteX2" fmla="*/ 3872752 w 7207710"/>
              <a:gd name="connsiteY2" fmla="*/ 2852939 h 4410856"/>
              <a:gd name="connsiteX3" fmla="*/ 3399415 w 7207710"/>
              <a:gd name="connsiteY3" fmla="*/ 10979 h 4410856"/>
              <a:gd name="connsiteX4" fmla="*/ 7207623 w 7207710"/>
              <a:gd name="connsiteY4" fmla="*/ 4141916 h 4410856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695"/>
              <a:gd name="connsiteY0" fmla="*/ 4428168 h 4428168"/>
              <a:gd name="connsiteX1" fmla="*/ 731519 w 7207695"/>
              <a:gd name="connsiteY1" fmla="*/ 3212553 h 4428168"/>
              <a:gd name="connsiteX2" fmla="*/ 4120178 w 7207695"/>
              <a:gd name="connsiteY2" fmla="*/ 2837978 h 4428168"/>
              <a:gd name="connsiteX3" fmla="*/ 3399415 w 7207695"/>
              <a:gd name="connsiteY3" fmla="*/ 28291 h 4428168"/>
              <a:gd name="connsiteX4" fmla="*/ 7207623 w 7207695"/>
              <a:gd name="connsiteY4" fmla="*/ 4159228 h 4428168"/>
              <a:gd name="connsiteX0" fmla="*/ 0 w 7207695"/>
              <a:gd name="connsiteY0" fmla="*/ 4429776 h 4429776"/>
              <a:gd name="connsiteX1" fmla="*/ 731519 w 7207695"/>
              <a:gd name="connsiteY1" fmla="*/ 3214161 h 4429776"/>
              <a:gd name="connsiteX2" fmla="*/ 4120178 w 7207695"/>
              <a:gd name="connsiteY2" fmla="*/ 2839586 h 4429776"/>
              <a:gd name="connsiteX3" fmla="*/ 3399415 w 7207695"/>
              <a:gd name="connsiteY3" fmla="*/ 29899 h 4429776"/>
              <a:gd name="connsiteX4" fmla="*/ 7207623 w 7207695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74402 h 4474402"/>
              <a:gd name="connsiteX1" fmla="*/ 731519 w 7207623"/>
              <a:gd name="connsiteY1" fmla="*/ 3258787 h 4474402"/>
              <a:gd name="connsiteX2" fmla="*/ 1613646 w 7207623"/>
              <a:gd name="connsiteY2" fmla="*/ 2389360 h 4474402"/>
              <a:gd name="connsiteX3" fmla="*/ 3399415 w 7207623"/>
              <a:gd name="connsiteY3" fmla="*/ 74525 h 4474402"/>
              <a:gd name="connsiteX4" fmla="*/ 7207623 w 7207623"/>
              <a:gd name="connsiteY4" fmla="*/ 4205462 h 4474402"/>
              <a:gd name="connsiteX0" fmla="*/ 0 w 7207623"/>
              <a:gd name="connsiteY0" fmla="*/ 4442271 h 4442271"/>
              <a:gd name="connsiteX1" fmla="*/ 731519 w 7207623"/>
              <a:gd name="connsiteY1" fmla="*/ 3226656 h 4442271"/>
              <a:gd name="connsiteX2" fmla="*/ 1613646 w 7207623"/>
              <a:gd name="connsiteY2" fmla="*/ 2357229 h 4442271"/>
              <a:gd name="connsiteX3" fmla="*/ 3399415 w 7207623"/>
              <a:gd name="connsiteY3" fmla="*/ 42394 h 4442271"/>
              <a:gd name="connsiteX4" fmla="*/ 7207623 w 7207623"/>
              <a:gd name="connsiteY4" fmla="*/ 4173331 h 4442271"/>
              <a:gd name="connsiteX0" fmla="*/ 0 w 7207623"/>
              <a:gd name="connsiteY0" fmla="*/ 4406738 h 4406738"/>
              <a:gd name="connsiteX1" fmla="*/ 731519 w 7207623"/>
              <a:gd name="connsiteY1" fmla="*/ 3191123 h 4406738"/>
              <a:gd name="connsiteX2" fmla="*/ 3399415 w 7207623"/>
              <a:gd name="connsiteY2" fmla="*/ 6861 h 4406738"/>
              <a:gd name="connsiteX3" fmla="*/ 7207623 w 7207623"/>
              <a:gd name="connsiteY3" fmla="*/ 4137798 h 4406738"/>
              <a:gd name="connsiteX0" fmla="*/ 0 w 7207623"/>
              <a:gd name="connsiteY0" fmla="*/ 4399877 h 4399877"/>
              <a:gd name="connsiteX1" fmla="*/ 3399415 w 7207623"/>
              <a:gd name="connsiteY1" fmla="*/ 0 h 4399877"/>
              <a:gd name="connsiteX2" fmla="*/ 7207623 w 7207623"/>
              <a:gd name="connsiteY2" fmla="*/ 4130937 h 4399877"/>
              <a:gd name="connsiteX0" fmla="*/ 0 w 7487322"/>
              <a:gd name="connsiteY0" fmla="*/ 4238830 h 4238830"/>
              <a:gd name="connsiteX1" fmla="*/ 3679114 w 7487322"/>
              <a:gd name="connsiteY1" fmla="*/ 318 h 4238830"/>
              <a:gd name="connsiteX2" fmla="*/ 7487322 w 7487322"/>
              <a:gd name="connsiteY2" fmla="*/ 4131255 h 423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87322" h="4238830">
                <a:moveTo>
                  <a:pt x="0" y="4238830"/>
                </a:moveTo>
                <a:cubicBezTo>
                  <a:pt x="708212" y="3322189"/>
                  <a:pt x="2431227" y="18247"/>
                  <a:pt x="3679114" y="318"/>
                </a:cubicBezTo>
                <a:cubicBezTo>
                  <a:pt x="4927001" y="-17611"/>
                  <a:pt x="5482813" y="713910"/>
                  <a:pt x="7487322" y="4131255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3227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990172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582460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18764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981966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574254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0558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417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434516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360881" y="36574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926276" y="260090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18564" y="2600908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381475" y="2931871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778610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254868" y="2600908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246662" y="4437708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10358" y="5632171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159896" y="4456452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638432" y="2600908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638432" y="4437708"/>
            <a:ext cx="1343534" cy="11944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159896" y="2931871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450018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780981" y="4456452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18070" y="5632171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92076" y="2865179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746" y="2254359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300" y="2277742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65" y="285220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042" y="4643195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9840" y="3810121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828" y="3723088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7846" y="3058355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3987" y="4593541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5742" y="4517788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3321" y="5298595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2490" y="4574797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300" y="5298596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47447" y="3659716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  <p:sp>
        <p:nvSpPr>
          <p:cNvPr id="43" name="Полилиния 42"/>
          <p:cNvSpPr/>
          <p:nvPr/>
        </p:nvSpPr>
        <p:spPr>
          <a:xfrm>
            <a:off x="2291378" y="1621027"/>
            <a:ext cx="7366213" cy="4476618"/>
          </a:xfrm>
          <a:custGeom>
            <a:avLst/>
            <a:gdLst>
              <a:gd name="connsiteX0" fmla="*/ 0 w 4578919"/>
              <a:gd name="connsiteY0" fmla="*/ 1238261 h 1626732"/>
              <a:gd name="connsiteX1" fmla="*/ 2173044 w 4578919"/>
              <a:gd name="connsiteY1" fmla="*/ 108708 h 1626732"/>
              <a:gd name="connsiteX2" fmla="*/ 4335331 w 4578919"/>
              <a:gd name="connsiteY2" fmla="*/ 205527 h 1626732"/>
              <a:gd name="connsiteX3" fmla="*/ 4453666 w 4578919"/>
              <a:gd name="connsiteY3" fmla="*/ 1528718 h 1626732"/>
              <a:gd name="connsiteX4" fmla="*/ 3668357 w 4578919"/>
              <a:gd name="connsiteY4" fmla="*/ 1528718 h 1626732"/>
              <a:gd name="connsiteX5" fmla="*/ 3668357 w 4578919"/>
              <a:gd name="connsiteY5" fmla="*/ 1528718 h 1626732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423581"/>
              <a:gd name="connsiteY0" fmla="*/ 1490134 h 1673811"/>
              <a:gd name="connsiteX1" fmla="*/ 731519 w 4423581"/>
              <a:gd name="connsiteY1" fmla="*/ 274519 h 1673811"/>
              <a:gd name="connsiteX2" fmla="*/ 3743660 w 4423581"/>
              <a:gd name="connsiteY2" fmla="*/ 102398 h 1673811"/>
              <a:gd name="connsiteX3" fmla="*/ 4421393 w 4423581"/>
              <a:gd name="connsiteY3" fmla="*/ 1565438 h 1673811"/>
              <a:gd name="connsiteX4" fmla="*/ 3636084 w 4423581"/>
              <a:gd name="connsiteY4" fmla="*/ 1565438 h 1673811"/>
              <a:gd name="connsiteX5" fmla="*/ 3636084 w 4423581"/>
              <a:gd name="connsiteY5" fmla="*/ 1565438 h 1673811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5" fmla="*/ 3636084 w 4402417"/>
              <a:gd name="connsiteY5" fmla="*/ 1550298 h 1550298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0" fmla="*/ 0 w 4402417"/>
              <a:gd name="connsiteY0" fmla="*/ 1474994 h 1474994"/>
              <a:gd name="connsiteX1" fmla="*/ 731519 w 4402417"/>
              <a:gd name="connsiteY1" fmla="*/ 259379 h 1474994"/>
              <a:gd name="connsiteX2" fmla="*/ 3743660 w 4402417"/>
              <a:gd name="connsiteY2" fmla="*/ 87258 h 1474994"/>
              <a:gd name="connsiteX3" fmla="*/ 4399877 w 4402417"/>
              <a:gd name="connsiteY3" fmla="*/ 1345903 h 1474994"/>
              <a:gd name="connsiteX0" fmla="*/ 0 w 5711195"/>
              <a:gd name="connsiteY0" fmla="*/ 1572410 h 1572410"/>
              <a:gd name="connsiteX1" fmla="*/ 731519 w 5711195"/>
              <a:gd name="connsiteY1" fmla="*/ 356795 h 1572410"/>
              <a:gd name="connsiteX2" fmla="*/ 5583217 w 5711195"/>
              <a:gd name="connsiteY2" fmla="*/ 66340 h 1572410"/>
              <a:gd name="connsiteX3" fmla="*/ 4399877 w 5711195"/>
              <a:gd name="connsiteY3" fmla="*/ 1443319 h 1572410"/>
              <a:gd name="connsiteX0" fmla="*/ 0 w 7208038"/>
              <a:gd name="connsiteY0" fmla="*/ 1562551 h 1562551"/>
              <a:gd name="connsiteX1" fmla="*/ 731519 w 7208038"/>
              <a:gd name="connsiteY1" fmla="*/ 346936 h 1562551"/>
              <a:gd name="connsiteX2" fmla="*/ 5583217 w 7208038"/>
              <a:gd name="connsiteY2" fmla="*/ 56481 h 1562551"/>
              <a:gd name="connsiteX3" fmla="*/ 7207623 w 7208038"/>
              <a:gd name="connsiteY3" fmla="*/ 1293611 h 1562551"/>
              <a:gd name="connsiteX0" fmla="*/ 0 w 7208038"/>
              <a:gd name="connsiteY0" fmla="*/ 1632035 h 1632035"/>
              <a:gd name="connsiteX1" fmla="*/ 731519 w 7208038"/>
              <a:gd name="connsiteY1" fmla="*/ 416420 h 1632035"/>
              <a:gd name="connsiteX2" fmla="*/ 3872752 w 7208038"/>
              <a:gd name="connsiteY2" fmla="*/ 74118 h 1632035"/>
              <a:gd name="connsiteX3" fmla="*/ 5583217 w 7208038"/>
              <a:gd name="connsiteY3" fmla="*/ 125965 h 1632035"/>
              <a:gd name="connsiteX4" fmla="*/ 7207623 w 7208038"/>
              <a:gd name="connsiteY4" fmla="*/ 1363095 h 1632035"/>
              <a:gd name="connsiteX0" fmla="*/ 0 w 7207710"/>
              <a:gd name="connsiteY0" fmla="*/ 4410856 h 4410856"/>
              <a:gd name="connsiteX1" fmla="*/ 731519 w 7207710"/>
              <a:gd name="connsiteY1" fmla="*/ 3195241 h 4410856"/>
              <a:gd name="connsiteX2" fmla="*/ 3872752 w 7207710"/>
              <a:gd name="connsiteY2" fmla="*/ 2852939 h 4410856"/>
              <a:gd name="connsiteX3" fmla="*/ 3399415 w 7207710"/>
              <a:gd name="connsiteY3" fmla="*/ 10979 h 4410856"/>
              <a:gd name="connsiteX4" fmla="*/ 7207623 w 7207710"/>
              <a:gd name="connsiteY4" fmla="*/ 4141916 h 4410856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695"/>
              <a:gd name="connsiteY0" fmla="*/ 4428168 h 4428168"/>
              <a:gd name="connsiteX1" fmla="*/ 731519 w 7207695"/>
              <a:gd name="connsiteY1" fmla="*/ 3212553 h 4428168"/>
              <a:gd name="connsiteX2" fmla="*/ 4120178 w 7207695"/>
              <a:gd name="connsiteY2" fmla="*/ 2837978 h 4428168"/>
              <a:gd name="connsiteX3" fmla="*/ 3399415 w 7207695"/>
              <a:gd name="connsiteY3" fmla="*/ 28291 h 4428168"/>
              <a:gd name="connsiteX4" fmla="*/ 7207623 w 7207695"/>
              <a:gd name="connsiteY4" fmla="*/ 4159228 h 4428168"/>
              <a:gd name="connsiteX0" fmla="*/ 0 w 7207695"/>
              <a:gd name="connsiteY0" fmla="*/ 4429776 h 4429776"/>
              <a:gd name="connsiteX1" fmla="*/ 731519 w 7207695"/>
              <a:gd name="connsiteY1" fmla="*/ 3214161 h 4429776"/>
              <a:gd name="connsiteX2" fmla="*/ 4120178 w 7207695"/>
              <a:gd name="connsiteY2" fmla="*/ 2839586 h 4429776"/>
              <a:gd name="connsiteX3" fmla="*/ 3399415 w 7207695"/>
              <a:gd name="connsiteY3" fmla="*/ 29899 h 4429776"/>
              <a:gd name="connsiteX4" fmla="*/ 7207623 w 7207695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74402 h 4474402"/>
              <a:gd name="connsiteX1" fmla="*/ 731519 w 7207623"/>
              <a:gd name="connsiteY1" fmla="*/ 3258787 h 4474402"/>
              <a:gd name="connsiteX2" fmla="*/ 1613646 w 7207623"/>
              <a:gd name="connsiteY2" fmla="*/ 2389360 h 4474402"/>
              <a:gd name="connsiteX3" fmla="*/ 3399415 w 7207623"/>
              <a:gd name="connsiteY3" fmla="*/ 74525 h 4474402"/>
              <a:gd name="connsiteX4" fmla="*/ 7207623 w 7207623"/>
              <a:gd name="connsiteY4" fmla="*/ 4205462 h 4474402"/>
              <a:gd name="connsiteX0" fmla="*/ 0 w 7207623"/>
              <a:gd name="connsiteY0" fmla="*/ 4442271 h 4442271"/>
              <a:gd name="connsiteX1" fmla="*/ 731519 w 7207623"/>
              <a:gd name="connsiteY1" fmla="*/ 3226656 h 4442271"/>
              <a:gd name="connsiteX2" fmla="*/ 1613646 w 7207623"/>
              <a:gd name="connsiteY2" fmla="*/ 2357229 h 4442271"/>
              <a:gd name="connsiteX3" fmla="*/ 3399415 w 7207623"/>
              <a:gd name="connsiteY3" fmla="*/ 42394 h 4442271"/>
              <a:gd name="connsiteX4" fmla="*/ 7207623 w 7207623"/>
              <a:gd name="connsiteY4" fmla="*/ 4173331 h 4442271"/>
              <a:gd name="connsiteX0" fmla="*/ 0 w 7207623"/>
              <a:gd name="connsiteY0" fmla="*/ 4406738 h 4406738"/>
              <a:gd name="connsiteX1" fmla="*/ 731519 w 7207623"/>
              <a:gd name="connsiteY1" fmla="*/ 3191123 h 4406738"/>
              <a:gd name="connsiteX2" fmla="*/ 3399415 w 7207623"/>
              <a:gd name="connsiteY2" fmla="*/ 6861 h 4406738"/>
              <a:gd name="connsiteX3" fmla="*/ 7207623 w 7207623"/>
              <a:gd name="connsiteY3" fmla="*/ 4137798 h 4406738"/>
              <a:gd name="connsiteX0" fmla="*/ 0 w 7207623"/>
              <a:gd name="connsiteY0" fmla="*/ 4399877 h 4399877"/>
              <a:gd name="connsiteX1" fmla="*/ 3399415 w 7207623"/>
              <a:gd name="connsiteY1" fmla="*/ 0 h 4399877"/>
              <a:gd name="connsiteX2" fmla="*/ 7207623 w 7207623"/>
              <a:gd name="connsiteY2" fmla="*/ 4130937 h 4399877"/>
              <a:gd name="connsiteX0" fmla="*/ 0 w 7487322"/>
              <a:gd name="connsiteY0" fmla="*/ 4238830 h 4238830"/>
              <a:gd name="connsiteX1" fmla="*/ 3679114 w 7487322"/>
              <a:gd name="connsiteY1" fmla="*/ 318 h 4238830"/>
              <a:gd name="connsiteX2" fmla="*/ 7487322 w 7487322"/>
              <a:gd name="connsiteY2" fmla="*/ 4131255 h 4238830"/>
              <a:gd name="connsiteX0" fmla="*/ 0 w 7487322"/>
              <a:gd name="connsiteY0" fmla="*/ 4378630 h 4378630"/>
              <a:gd name="connsiteX1" fmla="*/ 4130935 w 7487322"/>
              <a:gd name="connsiteY1" fmla="*/ 269 h 4378630"/>
              <a:gd name="connsiteX2" fmla="*/ 7487322 w 7487322"/>
              <a:gd name="connsiteY2" fmla="*/ 4271055 h 4378630"/>
              <a:gd name="connsiteX0" fmla="*/ 0 w 7487322"/>
              <a:gd name="connsiteY0" fmla="*/ 4385845 h 4385845"/>
              <a:gd name="connsiteX1" fmla="*/ 4130935 w 7487322"/>
              <a:gd name="connsiteY1" fmla="*/ 7484 h 4385845"/>
              <a:gd name="connsiteX2" fmla="*/ 7487322 w 7487322"/>
              <a:gd name="connsiteY2" fmla="*/ 4278270 h 4385845"/>
              <a:gd name="connsiteX0" fmla="*/ 0 w 7487322"/>
              <a:gd name="connsiteY0" fmla="*/ 4482077 h 4482077"/>
              <a:gd name="connsiteX1" fmla="*/ 4959274 w 7487322"/>
              <a:gd name="connsiteY1" fmla="*/ 6897 h 4482077"/>
              <a:gd name="connsiteX2" fmla="*/ 7487322 w 7487322"/>
              <a:gd name="connsiteY2" fmla="*/ 4374502 h 4482077"/>
              <a:gd name="connsiteX0" fmla="*/ 0 w 7487322"/>
              <a:gd name="connsiteY0" fmla="*/ 4475628 h 4475628"/>
              <a:gd name="connsiteX1" fmla="*/ 4959274 w 7487322"/>
              <a:gd name="connsiteY1" fmla="*/ 448 h 4475628"/>
              <a:gd name="connsiteX2" fmla="*/ 7487322 w 7487322"/>
              <a:gd name="connsiteY2" fmla="*/ 4368053 h 4475628"/>
              <a:gd name="connsiteX0" fmla="*/ 0 w 7510216"/>
              <a:gd name="connsiteY0" fmla="*/ 4475628 h 4475628"/>
              <a:gd name="connsiteX1" fmla="*/ 4959274 w 7510216"/>
              <a:gd name="connsiteY1" fmla="*/ 448 h 4475628"/>
              <a:gd name="connsiteX2" fmla="*/ 7487322 w 7510216"/>
              <a:gd name="connsiteY2" fmla="*/ 4368053 h 4475628"/>
              <a:gd name="connsiteX0" fmla="*/ 0 w 7262412"/>
              <a:gd name="connsiteY0" fmla="*/ 4475319 h 4475319"/>
              <a:gd name="connsiteX1" fmla="*/ 4959274 w 7262412"/>
              <a:gd name="connsiteY1" fmla="*/ 139 h 4475319"/>
              <a:gd name="connsiteX2" fmla="*/ 7261411 w 7262412"/>
              <a:gd name="connsiteY2" fmla="*/ 4400017 h 4475319"/>
              <a:gd name="connsiteX0" fmla="*/ 0 w 7431727"/>
              <a:gd name="connsiteY0" fmla="*/ 4498466 h 4498466"/>
              <a:gd name="connsiteX1" fmla="*/ 4959274 w 7431727"/>
              <a:gd name="connsiteY1" fmla="*/ 23286 h 4498466"/>
              <a:gd name="connsiteX2" fmla="*/ 7261411 w 7431727"/>
              <a:gd name="connsiteY2" fmla="*/ 4423164 h 4498466"/>
              <a:gd name="connsiteX0" fmla="*/ 0 w 7555037"/>
              <a:gd name="connsiteY0" fmla="*/ 4476281 h 4476281"/>
              <a:gd name="connsiteX1" fmla="*/ 4959274 w 7555037"/>
              <a:gd name="connsiteY1" fmla="*/ 1101 h 4476281"/>
              <a:gd name="connsiteX2" fmla="*/ 7261411 w 7555037"/>
              <a:gd name="connsiteY2" fmla="*/ 4400979 h 4476281"/>
              <a:gd name="connsiteX0" fmla="*/ 0 w 7520628"/>
              <a:gd name="connsiteY0" fmla="*/ 4476618 h 4476618"/>
              <a:gd name="connsiteX1" fmla="*/ 4959274 w 7520628"/>
              <a:gd name="connsiteY1" fmla="*/ 1438 h 4476618"/>
              <a:gd name="connsiteX2" fmla="*/ 7261411 w 7520628"/>
              <a:gd name="connsiteY2" fmla="*/ 4401316 h 4476618"/>
              <a:gd name="connsiteX0" fmla="*/ 0 w 7366213"/>
              <a:gd name="connsiteY0" fmla="*/ 4476618 h 4476618"/>
              <a:gd name="connsiteX1" fmla="*/ 4959274 w 7366213"/>
              <a:gd name="connsiteY1" fmla="*/ 1438 h 4476618"/>
              <a:gd name="connsiteX2" fmla="*/ 7261411 w 7366213"/>
              <a:gd name="connsiteY2" fmla="*/ 4401316 h 4476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66213" h="4476618">
                <a:moveTo>
                  <a:pt x="0" y="4476618"/>
                </a:moveTo>
                <a:cubicBezTo>
                  <a:pt x="708212" y="3559977"/>
                  <a:pt x="2780851" y="-82831"/>
                  <a:pt x="4959274" y="1438"/>
                </a:cubicBezTo>
                <a:cubicBezTo>
                  <a:pt x="7137697" y="85707"/>
                  <a:pt x="7612826" y="101844"/>
                  <a:pt x="7261411" y="4401316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71797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990172" y="21328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582460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18764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981966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574254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0558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417" y="363869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434516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360881" y="36574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926276" y="260090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18564" y="2600908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381475" y="2931871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778610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254868" y="2600908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246662" y="4437708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10358" y="5632171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159896" y="4456452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638432" y="2600908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638432" y="4437708"/>
            <a:ext cx="1343534" cy="11944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159896" y="2931871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450018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780981" y="4456452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18070" y="5632171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92076" y="2865179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746" y="2254359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300" y="2277742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65" y="285220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042" y="4643195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9840" y="3810121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828" y="3723088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7846" y="3058355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3987" y="4593541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5742" y="4517788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3321" y="5298595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2490" y="4574797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300" y="5298596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47447" y="3659716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  <p:sp>
        <p:nvSpPr>
          <p:cNvPr id="43" name="Полилиния 42"/>
          <p:cNvSpPr/>
          <p:nvPr/>
        </p:nvSpPr>
        <p:spPr>
          <a:xfrm>
            <a:off x="1312432" y="1622454"/>
            <a:ext cx="8399532" cy="4399889"/>
          </a:xfrm>
          <a:custGeom>
            <a:avLst/>
            <a:gdLst>
              <a:gd name="connsiteX0" fmla="*/ 0 w 4578919"/>
              <a:gd name="connsiteY0" fmla="*/ 1238261 h 1626732"/>
              <a:gd name="connsiteX1" fmla="*/ 2173044 w 4578919"/>
              <a:gd name="connsiteY1" fmla="*/ 108708 h 1626732"/>
              <a:gd name="connsiteX2" fmla="*/ 4335331 w 4578919"/>
              <a:gd name="connsiteY2" fmla="*/ 205527 h 1626732"/>
              <a:gd name="connsiteX3" fmla="*/ 4453666 w 4578919"/>
              <a:gd name="connsiteY3" fmla="*/ 1528718 h 1626732"/>
              <a:gd name="connsiteX4" fmla="*/ 3668357 w 4578919"/>
              <a:gd name="connsiteY4" fmla="*/ 1528718 h 1626732"/>
              <a:gd name="connsiteX5" fmla="*/ 3668357 w 4578919"/>
              <a:gd name="connsiteY5" fmla="*/ 1528718 h 1626732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423581"/>
              <a:gd name="connsiteY0" fmla="*/ 1490134 h 1673811"/>
              <a:gd name="connsiteX1" fmla="*/ 731519 w 4423581"/>
              <a:gd name="connsiteY1" fmla="*/ 274519 h 1673811"/>
              <a:gd name="connsiteX2" fmla="*/ 3743660 w 4423581"/>
              <a:gd name="connsiteY2" fmla="*/ 102398 h 1673811"/>
              <a:gd name="connsiteX3" fmla="*/ 4421393 w 4423581"/>
              <a:gd name="connsiteY3" fmla="*/ 1565438 h 1673811"/>
              <a:gd name="connsiteX4" fmla="*/ 3636084 w 4423581"/>
              <a:gd name="connsiteY4" fmla="*/ 1565438 h 1673811"/>
              <a:gd name="connsiteX5" fmla="*/ 3636084 w 4423581"/>
              <a:gd name="connsiteY5" fmla="*/ 1565438 h 1673811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5" fmla="*/ 3636084 w 4402417"/>
              <a:gd name="connsiteY5" fmla="*/ 1550298 h 1550298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0" fmla="*/ 0 w 4402417"/>
              <a:gd name="connsiteY0" fmla="*/ 1474994 h 1474994"/>
              <a:gd name="connsiteX1" fmla="*/ 731519 w 4402417"/>
              <a:gd name="connsiteY1" fmla="*/ 259379 h 1474994"/>
              <a:gd name="connsiteX2" fmla="*/ 3743660 w 4402417"/>
              <a:gd name="connsiteY2" fmla="*/ 87258 h 1474994"/>
              <a:gd name="connsiteX3" fmla="*/ 4399877 w 4402417"/>
              <a:gd name="connsiteY3" fmla="*/ 1345903 h 1474994"/>
              <a:gd name="connsiteX0" fmla="*/ 0 w 5711195"/>
              <a:gd name="connsiteY0" fmla="*/ 1572410 h 1572410"/>
              <a:gd name="connsiteX1" fmla="*/ 731519 w 5711195"/>
              <a:gd name="connsiteY1" fmla="*/ 356795 h 1572410"/>
              <a:gd name="connsiteX2" fmla="*/ 5583217 w 5711195"/>
              <a:gd name="connsiteY2" fmla="*/ 66340 h 1572410"/>
              <a:gd name="connsiteX3" fmla="*/ 4399877 w 5711195"/>
              <a:gd name="connsiteY3" fmla="*/ 1443319 h 1572410"/>
              <a:gd name="connsiteX0" fmla="*/ 0 w 7208038"/>
              <a:gd name="connsiteY0" fmla="*/ 1562551 h 1562551"/>
              <a:gd name="connsiteX1" fmla="*/ 731519 w 7208038"/>
              <a:gd name="connsiteY1" fmla="*/ 346936 h 1562551"/>
              <a:gd name="connsiteX2" fmla="*/ 5583217 w 7208038"/>
              <a:gd name="connsiteY2" fmla="*/ 56481 h 1562551"/>
              <a:gd name="connsiteX3" fmla="*/ 7207623 w 7208038"/>
              <a:gd name="connsiteY3" fmla="*/ 1293611 h 1562551"/>
              <a:gd name="connsiteX0" fmla="*/ 0 w 7208038"/>
              <a:gd name="connsiteY0" fmla="*/ 1632035 h 1632035"/>
              <a:gd name="connsiteX1" fmla="*/ 731519 w 7208038"/>
              <a:gd name="connsiteY1" fmla="*/ 416420 h 1632035"/>
              <a:gd name="connsiteX2" fmla="*/ 3872752 w 7208038"/>
              <a:gd name="connsiteY2" fmla="*/ 74118 h 1632035"/>
              <a:gd name="connsiteX3" fmla="*/ 5583217 w 7208038"/>
              <a:gd name="connsiteY3" fmla="*/ 125965 h 1632035"/>
              <a:gd name="connsiteX4" fmla="*/ 7207623 w 7208038"/>
              <a:gd name="connsiteY4" fmla="*/ 1363095 h 1632035"/>
              <a:gd name="connsiteX0" fmla="*/ 0 w 7207710"/>
              <a:gd name="connsiteY0" fmla="*/ 4410856 h 4410856"/>
              <a:gd name="connsiteX1" fmla="*/ 731519 w 7207710"/>
              <a:gd name="connsiteY1" fmla="*/ 3195241 h 4410856"/>
              <a:gd name="connsiteX2" fmla="*/ 3872752 w 7207710"/>
              <a:gd name="connsiteY2" fmla="*/ 2852939 h 4410856"/>
              <a:gd name="connsiteX3" fmla="*/ 3399415 w 7207710"/>
              <a:gd name="connsiteY3" fmla="*/ 10979 h 4410856"/>
              <a:gd name="connsiteX4" fmla="*/ 7207623 w 7207710"/>
              <a:gd name="connsiteY4" fmla="*/ 4141916 h 4410856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695"/>
              <a:gd name="connsiteY0" fmla="*/ 4428168 h 4428168"/>
              <a:gd name="connsiteX1" fmla="*/ 731519 w 7207695"/>
              <a:gd name="connsiteY1" fmla="*/ 3212553 h 4428168"/>
              <a:gd name="connsiteX2" fmla="*/ 4120178 w 7207695"/>
              <a:gd name="connsiteY2" fmla="*/ 2837978 h 4428168"/>
              <a:gd name="connsiteX3" fmla="*/ 3399415 w 7207695"/>
              <a:gd name="connsiteY3" fmla="*/ 28291 h 4428168"/>
              <a:gd name="connsiteX4" fmla="*/ 7207623 w 7207695"/>
              <a:gd name="connsiteY4" fmla="*/ 4159228 h 4428168"/>
              <a:gd name="connsiteX0" fmla="*/ 0 w 7207695"/>
              <a:gd name="connsiteY0" fmla="*/ 4429776 h 4429776"/>
              <a:gd name="connsiteX1" fmla="*/ 731519 w 7207695"/>
              <a:gd name="connsiteY1" fmla="*/ 3214161 h 4429776"/>
              <a:gd name="connsiteX2" fmla="*/ 4120178 w 7207695"/>
              <a:gd name="connsiteY2" fmla="*/ 2839586 h 4429776"/>
              <a:gd name="connsiteX3" fmla="*/ 3399415 w 7207695"/>
              <a:gd name="connsiteY3" fmla="*/ 29899 h 4429776"/>
              <a:gd name="connsiteX4" fmla="*/ 7207623 w 7207695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74402 h 4474402"/>
              <a:gd name="connsiteX1" fmla="*/ 731519 w 7207623"/>
              <a:gd name="connsiteY1" fmla="*/ 3258787 h 4474402"/>
              <a:gd name="connsiteX2" fmla="*/ 1613646 w 7207623"/>
              <a:gd name="connsiteY2" fmla="*/ 2389360 h 4474402"/>
              <a:gd name="connsiteX3" fmla="*/ 3399415 w 7207623"/>
              <a:gd name="connsiteY3" fmla="*/ 74525 h 4474402"/>
              <a:gd name="connsiteX4" fmla="*/ 7207623 w 7207623"/>
              <a:gd name="connsiteY4" fmla="*/ 4205462 h 4474402"/>
              <a:gd name="connsiteX0" fmla="*/ 0 w 7207623"/>
              <a:gd name="connsiteY0" fmla="*/ 4442271 h 4442271"/>
              <a:gd name="connsiteX1" fmla="*/ 731519 w 7207623"/>
              <a:gd name="connsiteY1" fmla="*/ 3226656 h 4442271"/>
              <a:gd name="connsiteX2" fmla="*/ 1613646 w 7207623"/>
              <a:gd name="connsiteY2" fmla="*/ 2357229 h 4442271"/>
              <a:gd name="connsiteX3" fmla="*/ 3399415 w 7207623"/>
              <a:gd name="connsiteY3" fmla="*/ 42394 h 4442271"/>
              <a:gd name="connsiteX4" fmla="*/ 7207623 w 7207623"/>
              <a:gd name="connsiteY4" fmla="*/ 4173331 h 4442271"/>
              <a:gd name="connsiteX0" fmla="*/ 0 w 7207623"/>
              <a:gd name="connsiteY0" fmla="*/ 4406738 h 4406738"/>
              <a:gd name="connsiteX1" fmla="*/ 731519 w 7207623"/>
              <a:gd name="connsiteY1" fmla="*/ 3191123 h 4406738"/>
              <a:gd name="connsiteX2" fmla="*/ 3399415 w 7207623"/>
              <a:gd name="connsiteY2" fmla="*/ 6861 h 4406738"/>
              <a:gd name="connsiteX3" fmla="*/ 7207623 w 7207623"/>
              <a:gd name="connsiteY3" fmla="*/ 4137798 h 4406738"/>
              <a:gd name="connsiteX0" fmla="*/ 0 w 7207623"/>
              <a:gd name="connsiteY0" fmla="*/ 4399877 h 4399877"/>
              <a:gd name="connsiteX1" fmla="*/ 3399415 w 7207623"/>
              <a:gd name="connsiteY1" fmla="*/ 0 h 4399877"/>
              <a:gd name="connsiteX2" fmla="*/ 7207623 w 7207623"/>
              <a:gd name="connsiteY2" fmla="*/ 4130937 h 4399877"/>
              <a:gd name="connsiteX0" fmla="*/ 0 w 7487322"/>
              <a:gd name="connsiteY0" fmla="*/ 4238830 h 4238830"/>
              <a:gd name="connsiteX1" fmla="*/ 3679114 w 7487322"/>
              <a:gd name="connsiteY1" fmla="*/ 318 h 4238830"/>
              <a:gd name="connsiteX2" fmla="*/ 7487322 w 7487322"/>
              <a:gd name="connsiteY2" fmla="*/ 4131255 h 4238830"/>
              <a:gd name="connsiteX0" fmla="*/ 0 w 7487322"/>
              <a:gd name="connsiteY0" fmla="*/ 4378630 h 4378630"/>
              <a:gd name="connsiteX1" fmla="*/ 4130935 w 7487322"/>
              <a:gd name="connsiteY1" fmla="*/ 269 h 4378630"/>
              <a:gd name="connsiteX2" fmla="*/ 7487322 w 7487322"/>
              <a:gd name="connsiteY2" fmla="*/ 4271055 h 4378630"/>
              <a:gd name="connsiteX0" fmla="*/ 0 w 7487322"/>
              <a:gd name="connsiteY0" fmla="*/ 4385845 h 4385845"/>
              <a:gd name="connsiteX1" fmla="*/ 4130935 w 7487322"/>
              <a:gd name="connsiteY1" fmla="*/ 7484 h 4385845"/>
              <a:gd name="connsiteX2" fmla="*/ 7487322 w 7487322"/>
              <a:gd name="connsiteY2" fmla="*/ 4278270 h 4385845"/>
              <a:gd name="connsiteX0" fmla="*/ 0 w 7487322"/>
              <a:gd name="connsiteY0" fmla="*/ 4482077 h 4482077"/>
              <a:gd name="connsiteX1" fmla="*/ 4959274 w 7487322"/>
              <a:gd name="connsiteY1" fmla="*/ 6897 h 4482077"/>
              <a:gd name="connsiteX2" fmla="*/ 7487322 w 7487322"/>
              <a:gd name="connsiteY2" fmla="*/ 4374502 h 4482077"/>
              <a:gd name="connsiteX0" fmla="*/ 0 w 7487322"/>
              <a:gd name="connsiteY0" fmla="*/ 4475628 h 4475628"/>
              <a:gd name="connsiteX1" fmla="*/ 4959274 w 7487322"/>
              <a:gd name="connsiteY1" fmla="*/ 448 h 4475628"/>
              <a:gd name="connsiteX2" fmla="*/ 7487322 w 7487322"/>
              <a:gd name="connsiteY2" fmla="*/ 4368053 h 4475628"/>
              <a:gd name="connsiteX0" fmla="*/ 0 w 7510216"/>
              <a:gd name="connsiteY0" fmla="*/ 4475628 h 4475628"/>
              <a:gd name="connsiteX1" fmla="*/ 4959274 w 7510216"/>
              <a:gd name="connsiteY1" fmla="*/ 448 h 4475628"/>
              <a:gd name="connsiteX2" fmla="*/ 7487322 w 7510216"/>
              <a:gd name="connsiteY2" fmla="*/ 4368053 h 4475628"/>
              <a:gd name="connsiteX0" fmla="*/ 0 w 7262412"/>
              <a:gd name="connsiteY0" fmla="*/ 4475319 h 4475319"/>
              <a:gd name="connsiteX1" fmla="*/ 4959274 w 7262412"/>
              <a:gd name="connsiteY1" fmla="*/ 139 h 4475319"/>
              <a:gd name="connsiteX2" fmla="*/ 7261411 w 7262412"/>
              <a:gd name="connsiteY2" fmla="*/ 4400017 h 4475319"/>
              <a:gd name="connsiteX0" fmla="*/ 0 w 7431727"/>
              <a:gd name="connsiteY0" fmla="*/ 4498466 h 4498466"/>
              <a:gd name="connsiteX1" fmla="*/ 4959274 w 7431727"/>
              <a:gd name="connsiteY1" fmla="*/ 23286 h 4498466"/>
              <a:gd name="connsiteX2" fmla="*/ 7261411 w 7431727"/>
              <a:gd name="connsiteY2" fmla="*/ 4423164 h 4498466"/>
              <a:gd name="connsiteX0" fmla="*/ 0 w 7555037"/>
              <a:gd name="connsiteY0" fmla="*/ 4476281 h 4476281"/>
              <a:gd name="connsiteX1" fmla="*/ 4959274 w 7555037"/>
              <a:gd name="connsiteY1" fmla="*/ 1101 h 4476281"/>
              <a:gd name="connsiteX2" fmla="*/ 7261411 w 7555037"/>
              <a:gd name="connsiteY2" fmla="*/ 4400979 h 4476281"/>
              <a:gd name="connsiteX0" fmla="*/ 0 w 7520628"/>
              <a:gd name="connsiteY0" fmla="*/ 4476618 h 4476618"/>
              <a:gd name="connsiteX1" fmla="*/ 4959274 w 7520628"/>
              <a:gd name="connsiteY1" fmla="*/ 1438 h 4476618"/>
              <a:gd name="connsiteX2" fmla="*/ 7261411 w 7520628"/>
              <a:gd name="connsiteY2" fmla="*/ 4401316 h 4476618"/>
              <a:gd name="connsiteX0" fmla="*/ 0 w 7366213"/>
              <a:gd name="connsiteY0" fmla="*/ 4476618 h 4476618"/>
              <a:gd name="connsiteX1" fmla="*/ 4959274 w 7366213"/>
              <a:gd name="connsiteY1" fmla="*/ 1438 h 4476618"/>
              <a:gd name="connsiteX2" fmla="*/ 7261411 w 7366213"/>
              <a:gd name="connsiteY2" fmla="*/ 4401316 h 4476618"/>
              <a:gd name="connsiteX0" fmla="*/ 0 w 8299208"/>
              <a:gd name="connsiteY0" fmla="*/ 1804977 h 4494390"/>
              <a:gd name="connsiteX1" fmla="*/ 5938220 w 8299208"/>
              <a:gd name="connsiteY1" fmla="*/ 94512 h 4494390"/>
              <a:gd name="connsiteX2" fmla="*/ 8240357 w 8299208"/>
              <a:gd name="connsiteY2" fmla="*/ 4494390 h 4494390"/>
              <a:gd name="connsiteX0" fmla="*/ 0 w 8299208"/>
              <a:gd name="connsiteY0" fmla="*/ 1744708 h 4434121"/>
              <a:gd name="connsiteX1" fmla="*/ 5938220 w 8299208"/>
              <a:gd name="connsiteY1" fmla="*/ 34243 h 4434121"/>
              <a:gd name="connsiteX2" fmla="*/ 8240357 w 8299208"/>
              <a:gd name="connsiteY2" fmla="*/ 4434121 h 4434121"/>
              <a:gd name="connsiteX0" fmla="*/ 0 w 8399532"/>
              <a:gd name="connsiteY0" fmla="*/ 1710476 h 4399889"/>
              <a:gd name="connsiteX1" fmla="*/ 5938220 w 8399532"/>
              <a:gd name="connsiteY1" fmla="*/ 11 h 4399889"/>
              <a:gd name="connsiteX2" fmla="*/ 8240357 w 8399532"/>
              <a:gd name="connsiteY2" fmla="*/ 4399889 h 439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9532" h="4399889">
                <a:moveTo>
                  <a:pt x="0" y="1710476"/>
                </a:moveTo>
                <a:cubicBezTo>
                  <a:pt x="2859741" y="3687642"/>
                  <a:pt x="3306183" y="-7160"/>
                  <a:pt x="5938220" y="11"/>
                </a:cubicBezTo>
                <a:cubicBezTo>
                  <a:pt x="8570257" y="7182"/>
                  <a:pt x="8591772" y="100417"/>
                  <a:pt x="8240357" y="4399889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94789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990172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582460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18764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981966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574254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0558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417" y="363869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434516" y="363869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360881" y="36574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926276" y="260090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18564" y="2600908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381475" y="2931871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778610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254868" y="260090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246662" y="4437708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10358" y="5632171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159896" y="4456452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638432" y="2600908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638432" y="4437708"/>
            <a:ext cx="1343534" cy="11944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159896" y="2931871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450018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780981" y="4456452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18070" y="5632171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92076" y="2865179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746" y="2254359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300" y="2277742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65" y="285220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042" y="4643195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9840" y="3810121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828" y="3723088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7846" y="3058355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3987" y="4593541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5742" y="4517788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3321" y="5298595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2490" y="4574797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300" y="5298596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47447" y="3659716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  <p:sp>
        <p:nvSpPr>
          <p:cNvPr id="43" name="Полилиния 42"/>
          <p:cNvSpPr/>
          <p:nvPr/>
        </p:nvSpPr>
        <p:spPr>
          <a:xfrm>
            <a:off x="9404905" y="2063529"/>
            <a:ext cx="814855" cy="4238514"/>
          </a:xfrm>
          <a:custGeom>
            <a:avLst/>
            <a:gdLst>
              <a:gd name="connsiteX0" fmla="*/ 0 w 4578919"/>
              <a:gd name="connsiteY0" fmla="*/ 1238261 h 1626732"/>
              <a:gd name="connsiteX1" fmla="*/ 2173044 w 4578919"/>
              <a:gd name="connsiteY1" fmla="*/ 108708 h 1626732"/>
              <a:gd name="connsiteX2" fmla="*/ 4335331 w 4578919"/>
              <a:gd name="connsiteY2" fmla="*/ 205527 h 1626732"/>
              <a:gd name="connsiteX3" fmla="*/ 4453666 w 4578919"/>
              <a:gd name="connsiteY3" fmla="*/ 1528718 h 1626732"/>
              <a:gd name="connsiteX4" fmla="*/ 3668357 w 4578919"/>
              <a:gd name="connsiteY4" fmla="*/ 1528718 h 1626732"/>
              <a:gd name="connsiteX5" fmla="*/ 3668357 w 4578919"/>
              <a:gd name="connsiteY5" fmla="*/ 1528718 h 1626732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423581"/>
              <a:gd name="connsiteY0" fmla="*/ 1490134 h 1673811"/>
              <a:gd name="connsiteX1" fmla="*/ 731519 w 4423581"/>
              <a:gd name="connsiteY1" fmla="*/ 274519 h 1673811"/>
              <a:gd name="connsiteX2" fmla="*/ 3743660 w 4423581"/>
              <a:gd name="connsiteY2" fmla="*/ 102398 h 1673811"/>
              <a:gd name="connsiteX3" fmla="*/ 4421393 w 4423581"/>
              <a:gd name="connsiteY3" fmla="*/ 1565438 h 1673811"/>
              <a:gd name="connsiteX4" fmla="*/ 3636084 w 4423581"/>
              <a:gd name="connsiteY4" fmla="*/ 1565438 h 1673811"/>
              <a:gd name="connsiteX5" fmla="*/ 3636084 w 4423581"/>
              <a:gd name="connsiteY5" fmla="*/ 1565438 h 1673811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5" fmla="*/ 3636084 w 4402417"/>
              <a:gd name="connsiteY5" fmla="*/ 1550298 h 1550298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0" fmla="*/ 0 w 4402417"/>
              <a:gd name="connsiteY0" fmla="*/ 1474994 h 1474994"/>
              <a:gd name="connsiteX1" fmla="*/ 731519 w 4402417"/>
              <a:gd name="connsiteY1" fmla="*/ 259379 h 1474994"/>
              <a:gd name="connsiteX2" fmla="*/ 3743660 w 4402417"/>
              <a:gd name="connsiteY2" fmla="*/ 87258 h 1474994"/>
              <a:gd name="connsiteX3" fmla="*/ 4399877 w 4402417"/>
              <a:gd name="connsiteY3" fmla="*/ 1345903 h 1474994"/>
              <a:gd name="connsiteX0" fmla="*/ 0 w 5711195"/>
              <a:gd name="connsiteY0" fmla="*/ 1572410 h 1572410"/>
              <a:gd name="connsiteX1" fmla="*/ 731519 w 5711195"/>
              <a:gd name="connsiteY1" fmla="*/ 356795 h 1572410"/>
              <a:gd name="connsiteX2" fmla="*/ 5583217 w 5711195"/>
              <a:gd name="connsiteY2" fmla="*/ 66340 h 1572410"/>
              <a:gd name="connsiteX3" fmla="*/ 4399877 w 5711195"/>
              <a:gd name="connsiteY3" fmla="*/ 1443319 h 1572410"/>
              <a:gd name="connsiteX0" fmla="*/ 0 w 7208038"/>
              <a:gd name="connsiteY0" fmla="*/ 1562551 h 1562551"/>
              <a:gd name="connsiteX1" fmla="*/ 731519 w 7208038"/>
              <a:gd name="connsiteY1" fmla="*/ 346936 h 1562551"/>
              <a:gd name="connsiteX2" fmla="*/ 5583217 w 7208038"/>
              <a:gd name="connsiteY2" fmla="*/ 56481 h 1562551"/>
              <a:gd name="connsiteX3" fmla="*/ 7207623 w 7208038"/>
              <a:gd name="connsiteY3" fmla="*/ 1293611 h 1562551"/>
              <a:gd name="connsiteX0" fmla="*/ 0 w 7208038"/>
              <a:gd name="connsiteY0" fmla="*/ 1632035 h 1632035"/>
              <a:gd name="connsiteX1" fmla="*/ 731519 w 7208038"/>
              <a:gd name="connsiteY1" fmla="*/ 416420 h 1632035"/>
              <a:gd name="connsiteX2" fmla="*/ 3872752 w 7208038"/>
              <a:gd name="connsiteY2" fmla="*/ 74118 h 1632035"/>
              <a:gd name="connsiteX3" fmla="*/ 5583217 w 7208038"/>
              <a:gd name="connsiteY3" fmla="*/ 125965 h 1632035"/>
              <a:gd name="connsiteX4" fmla="*/ 7207623 w 7208038"/>
              <a:gd name="connsiteY4" fmla="*/ 1363095 h 1632035"/>
              <a:gd name="connsiteX0" fmla="*/ 0 w 7207710"/>
              <a:gd name="connsiteY0" fmla="*/ 4410856 h 4410856"/>
              <a:gd name="connsiteX1" fmla="*/ 731519 w 7207710"/>
              <a:gd name="connsiteY1" fmla="*/ 3195241 h 4410856"/>
              <a:gd name="connsiteX2" fmla="*/ 3872752 w 7207710"/>
              <a:gd name="connsiteY2" fmla="*/ 2852939 h 4410856"/>
              <a:gd name="connsiteX3" fmla="*/ 3399415 w 7207710"/>
              <a:gd name="connsiteY3" fmla="*/ 10979 h 4410856"/>
              <a:gd name="connsiteX4" fmla="*/ 7207623 w 7207710"/>
              <a:gd name="connsiteY4" fmla="*/ 4141916 h 4410856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38248 h 4438248"/>
              <a:gd name="connsiteX1" fmla="*/ 731519 w 7207710"/>
              <a:gd name="connsiteY1" fmla="*/ 3222633 h 4438248"/>
              <a:gd name="connsiteX2" fmla="*/ 3872752 w 7207710"/>
              <a:gd name="connsiteY2" fmla="*/ 2880331 h 4438248"/>
              <a:gd name="connsiteX3" fmla="*/ 3399415 w 7207710"/>
              <a:gd name="connsiteY3" fmla="*/ 38371 h 4438248"/>
              <a:gd name="connsiteX4" fmla="*/ 7207623 w 7207710"/>
              <a:gd name="connsiteY4" fmla="*/ 4169308 h 443824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710"/>
              <a:gd name="connsiteY0" fmla="*/ 4426378 h 4426378"/>
              <a:gd name="connsiteX1" fmla="*/ 731519 w 7207710"/>
              <a:gd name="connsiteY1" fmla="*/ 3210763 h 4426378"/>
              <a:gd name="connsiteX2" fmla="*/ 3872752 w 7207710"/>
              <a:gd name="connsiteY2" fmla="*/ 2868461 h 4426378"/>
              <a:gd name="connsiteX3" fmla="*/ 3399415 w 7207710"/>
              <a:gd name="connsiteY3" fmla="*/ 26501 h 4426378"/>
              <a:gd name="connsiteX4" fmla="*/ 7207623 w 7207710"/>
              <a:gd name="connsiteY4" fmla="*/ 4157438 h 4426378"/>
              <a:gd name="connsiteX0" fmla="*/ 0 w 7207695"/>
              <a:gd name="connsiteY0" fmla="*/ 4428168 h 4428168"/>
              <a:gd name="connsiteX1" fmla="*/ 731519 w 7207695"/>
              <a:gd name="connsiteY1" fmla="*/ 3212553 h 4428168"/>
              <a:gd name="connsiteX2" fmla="*/ 4120178 w 7207695"/>
              <a:gd name="connsiteY2" fmla="*/ 2837978 h 4428168"/>
              <a:gd name="connsiteX3" fmla="*/ 3399415 w 7207695"/>
              <a:gd name="connsiteY3" fmla="*/ 28291 h 4428168"/>
              <a:gd name="connsiteX4" fmla="*/ 7207623 w 7207695"/>
              <a:gd name="connsiteY4" fmla="*/ 4159228 h 4428168"/>
              <a:gd name="connsiteX0" fmla="*/ 0 w 7207695"/>
              <a:gd name="connsiteY0" fmla="*/ 4429776 h 4429776"/>
              <a:gd name="connsiteX1" fmla="*/ 731519 w 7207695"/>
              <a:gd name="connsiteY1" fmla="*/ 3214161 h 4429776"/>
              <a:gd name="connsiteX2" fmla="*/ 4120178 w 7207695"/>
              <a:gd name="connsiteY2" fmla="*/ 2839586 h 4429776"/>
              <a:gd name="connsiteX3" fmla="*/ 3399415 w 7207695"/>
              <a:gd name="connsiteY3" fmla="*/ 29899 h 4429776"/>
              <a:gd name="connsiteX4" fmla="*/ 7207623 w 7207695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29776 h 4429776"/>
              <a:gd name="connsiteX1" fmla="*/ 731519 w 7207623"/>
              <a:gd name="connsiteY1" fmla="*/ 3214161 h 4429776"/>
              <a:gd name="connsiteX2" fmla="*/ 4120178 w 7207623"/>
              <a:gd name="connsiteY2" fmla="*/ 2839586 h 4429776"/>
              <a:gd name="connsiteX3" fmla="*/ 3399415 w 7207623"/>
              <a:gd name="connsiteY3" fmla="*/ 29899 h 4429776"/>
              <a:gd name="connsiteX4" fmla="*/ 7207623 w 7207623"/>
              <a:gd name="connsiteY4" fmla="*/ 4160836 h 4429776"/>
              <a:gd name="connsiteX0" fmla="*/ 0 w 7207623"/>
              <a:gd name="connsiteY0" fmla="*/ 4474402 h 4474402"/>
              <a:gd name="connsiteX1" fmla="*/ 731519 w 7207623"/>
              <a:gd name="connsiteY1" fmla="*/ 3258787 h 4474402"/>
              <a:gd name="connsiteX2" fmla="*/ 1613646 w 7207623"/>
              <a:gd name="connsiteY2" fmla="*/ 2389360 h 4474402"/>
              <a:gd name="connsiteX3" fmla="*/ 3399415 w 7207623"/>
              <a:gd name="connsiteY3" fmla="*/ 74525 h 4474402"/>
              <a:gd name="connsiteX4" fmla="*/ 7207623 w 7207623"/>
              <a:gd name="connsiteY4" fmla="*/ 4205462 h 4474402"/>
              <a:gd name="connsiteX0" fmla="*/ 0 w 7207623"/>
              <a:gd name="connsiteY0" fmla="*/ 4442271 h 4442271"/>
              <a:gd name="connsiteX1" fmla="*/ 731519 w 7207623"/>
              <a:gd name="connsiteY1" fmla="*/ 3226656 h 4442271"/>
              <a:gd name="connsiteX2" fmla="*/ 1613646 w 7207623"/>
              <a:gd name="connsiteY2" fmla="*/ 2357229 h 4442271"/>
              <a:gd name="connsiteX3" fmla="*/ 3399415 w 7207623"/>
              <a:gd name="connsiteY3" fmla="*/ 42394 h 4442271"/>
              <a:gd name="connsiteX4" fmla="*/ 7207623 w 7207623"/>
              <a:gd name="connsiteY4" fmla="*/ 4173331 h 4442271"/>
              <a:gd name="connsiteX0" fmla="*/ 0 w 7207623"/>
              <a:gd name="connsiteY0" fmla="*/ 4406738 h 4406738"/>
              <a:gd name="connsiteX1" fmla="*/ 731519 w 7207623"/>
              <a:gd name="connsiteY1" fmla="*/ 3191123 h 4406738"/>
              <a:gd name="connsiteX2" fmla="*/ 3399415 w 7207623"/>
              <a:gd name="connsiteY2" fmla="*/ 6861 h 4406738"/>
              <a:gd name="connsiteX3" fmla="*/ 7207623 w 7207623"/>
              <a:gd name="connsiteY3" fmla="*/ 4137798 h 4406738"/>
              <a:gd name="connsiteX0" fmla="*/ 0 w 7207623"/>
              <a:gd name="connsiteY0" fmla="*/ 4399877 h 4399877"/>
              <a:gd name="connsiteX1" fmla="*/ 3399415 w 7207623"/>
              <a:gd name="connsiteY1" fmla="*/ 0 h 4399877"/>
              <a:gd name="connsiteX2" fmla="*/ 7207623 w 7207623"/>
              <a:gd name="connsiteY2" fmla="*/ 4130937 h 4399877"/>
              <a:gd name="connsiteX0" fmla="*/ 0 w 7487322"/>
              <a:gd name="connsiteY0" fmla="*/ 4238830 h 4238830"/>
              <a:gd name="connsiteX1" fmla="*/ 3679114 w 7487322"/>
              <a:gd name="connsiteY1" fmla="*/ 318 h 4238830"/>
              <a:gd name="connsiteX2" fmla="*/ 7487322 w 7487322"/>
              <a:gd name="connsiteY2" fmla="*/ 4131255 h 4238830"/>
              <a:gd name="connsiteX0" fmla="*/ 0 w 7487322"/>
              <a:gd name="connsiteY0" fmla="*/ 4378630 h 4378630"/>
              <a:gd name="connsiteX1" fmla="*/ 4130935 w 7487322"/>
              <a:gd name="connsiteY1" fmla="*/ 269 h 4378630"/>
              <a:gd name="connsiteX2" fmla="*/ 7487322 w 7487322"/>
              <a:gd name="connsiteY2" fmla="*/ 4271055 h 4378630"/>
              <a:gd name="connsiteX0" fmla="*/ 0 w 7487322"/>
              <a:gd name="connsiteY0" fmla="*/ 4385845 h 4385845"/>
              <a:gd name="connsiteX1" fmla="*/ 4130935 w 7487322"/>
              <a:gd name="connsiteY1" fmla="*/ 7484 h 4385845"/>
              <a:gd name="connsiteX2" fmla="*/ 7487322 w 7487322"/>
              <a:gd name="connsiteY2" fmla="*/ 4278270 h 4385845"/>
              <a:gd name="connsiteX0" fmla="*/ 0 w 7487322"/>
              <a:gd name="connsiteY0" fmla="*/ 4482077 h 4482077"/>
              <a:gd name="connsiteX1" fmla="*/ 4959274 w 7487322"/>
              <a:gd name="connsiteY1" fmla="*/ 6897 h 4482077"/>
              <a:gd name="connsiteX2" fmla="*/ 7487322 w 7487322"/>
              <a:gd name="connsiteY2" fmla="*/ 4374502 h 4482077"/>
              <a:gd name="connsiteX0" fmla="*/ 0 w 7487322"/>
              <a:gd name="connsiteY0" fmla="*/ 4475628 h 4475628"/>
              <a:gd name="connsiteX1" fmla="*/ 4959274 w 7487322"/>
              <a:gd name="connsiteY1" fmla="*/ 448 h 4475628"/>
              <a:gd name="connsiteX2" fmla="*/ 7487322 w 7487322"/>
              <a:gd name="connsiteY2" fmla="*/ 4368053 h 4475628"/>
              <a:gd name="connsiteX0" fmla="*/ 0 w 7510216"/>
              <a:gd name="connsiteY0" fmla="*/ 4475628 h 4475628"/>
              <a:gd name="connsiteX1" fmla="*/ 4959274 w 7510216"/>
              <a:gd name="connsiteY1" fmla="*/ 448 h 4475628"/>
              <a:gd name="connsiteX2" fmla="*/ 7487322 w 7510216"/>
              <a:gd name="connsiteY2" fmla="*/ 4368053 h 4475628"/>
              <a:gd name="connsiteX0" fmla="*/ 0 w 7262412"/>
              <a:gd name="connsiteY0" fmla="*/ 4475319 h 4475319"/>
              <a:gd name="connsiteX1" fmla="*/ 4959274 w 7262412"/>
              <a:gd name="connsiteY1" fmla="*/ 139 h 4475319"/>
              <a:gd name="connsiteX2" fmla="*/ 7261411 w 7262412"/>
              <a:gd name="connsiteY2" fmla="*/ 4400017 h 4475319"/>
              <a:gd name="connsiteX0" fmla="*/ 0 w 7431727"/>
              <a:gd name="connsiteY0" fmla="*/ 4498466 h 4498466"/>
              <a:gd name="connsiteX1" fmla="*/ 4959274 w 7431727"/>
              <a:gd name="connsiteY1" fmla="*/ 23286 h 4498466"/>
              <a:gd name="connsiteX2" fmla="*/ 7261411 w 7431727"/>
              <a:gd name="connsiteY2" fmla="*/ 4423164 h 4498466"/>
              <a:gd name="connsiteX0" fmla="*/ 0 w 7555037"/>
              <a:gd name="connsiteY0" fmla="*/ 4476281 h 4476281"/>
              <a:gd name="connsiteX1" fmla="*/ 4959274 w 7555037"/>
              <a:gd name="connsiteY1" fmla="*/ 1101 h 4476281"/>
              <a:gd name="connsiteX2" fmla="*/ 7261411 w 7555037"/>
              <a:gd name="connsiteY2" fmla="*/ 4400979 h 4476281"/>
              <a:gd name="connsiteX0" fmla="*/ 0 w 7520628"/>
              <a:gd name="connsiteY0" fmla="*/ 4476618 h 4476618"/>
              <a:gd name="connsiteX1" fmla="*/ 4959274 w 7520628"/>
              <a:gd name="connsiteY1" fmla="*/ 1438 h 4476618"/>
              <a:gd name="connsiteX2" fmla="*/ 7261411 w 7520628"/>
              <a:gd name="connsiteY2" fmla="*/ 4401316 h 4476618"/>
              <a:gd name="connsiteX0" fmla="*/ 0 w 7366213"/>
              <a:gd name="connsiteY0" fmla="*/ 4476618 h 4476618"/>
              <a:gd name="connsiteX1" fmla="*/ 4959274 w 7366213"/>
              <a:gd name="connsiteY1" fmla="*/ 1438 h 4476618"/>
              <a:gd name="connsiteX2" fmla="*/ 7261411 w 7366213"/>
              <a:gd name="connsiteY2" fmla="*/ 4401316 h 4476618"/>
              <a:gd name="connsiteX0" fmla="*/ 0 w 8299208"/>
              <a:gd name="connsiteY0" fmla="*/ 1804977 h 4494390"/>
              <a:gd name="connsiteX1" fmla="*/ 5938220 w 8299208"/>
              <a:gd name="connsiteY1" fmla="*/ 94512 h 4494390"/>
              <a:gd name="connsiteX2" fmla="*/ 8240357 w 8299208"/>
              <a:gd name="connsiteY2" fmla="*/ 4494390 h 4494390"/>
              <a:gd name="connsiteX0" fmla="*/ 0 w 8299208"/>
              <a:gd name="connsiteY0" fmla="*/ 1744708 h 4434121"/>
              <a:gd name="connsiteX1" fmla="*/ 5938220 w 8299208"/>
              <a:gd name="connsiteY1" fmla="*/ 34243 h 4434121"/>
              <a:gd name="connsiteX2" fmla="*/ 8240357 w 8299208"/>
              <a:gd name="connsiteY2" fmla="*/ 4434121 h 4434121"/>
              <a:gd name="connsiteX0" fmla="*/ 0 w 8399532"/>
              <a:gd name="connsiteY0" fmla="*/ 1710476 h 4399889"/>
              <a:gd name="connsiteX1" fmla="*/ 5938220 w 8399532"/>
              <a:gd name="connsiteY1" fmla="*/ 11 h 4399889"/>
              <a:gd name="connsiteX2" fmla="*/ 8240357 w 8399532"/>
              <a:gd name="connsiteY2" fmla="*/ 4399889 h 4399889"/>
              <a:gd name="connsiteX0" fmla="*/ 0 w 9417636"/>
              <a:gd name="connsiteY0" fmla="*/ 1749094 h 4621387"/>
              <a:gd name="connsiteX1" fmla="*/ 5938220 w 9417636"/>
              <a:gd name="connsiteY1" fmla="*/ 38629 h 4621387"/>
              <a:gd name="connsiteX2" fmla="*/ 9380667 w 9417636"/>
              <a:gd name="connsiteY2" fmla="*/ 4621387 h 4621387"/>
              <a:gd name="connsiteX0" fmla="*/ 0 w 9380667"/>
              <a:gd name="connsiteY0" fmla="*/ 1749094 h 4621387"/>
              <a:gd name="connsiteX1" fmla="*/ 5938220 w 9380667"/>
              <a:gd name="connsiteY1" fmla="*/ 38629 h 4621387"/>
              <a:gd name="connsiteX2" fmla="*/ 9380667 w 9380667"/>
              <a:gd name="connsiteY2" fmla="*/ 4621387 h 4621387"/>
              <a:gd name="connsiteX0" fmla="*/ 0 w 9380667"/>
              <a:gd name="connsiteY0" fmla="*/ 0 h 2872293"/>
              <a:gd name="connsiteX1" fmla="*/ 8100507 w 9380667"/>
              <a:gd name="connsiteY1" fmla="*/ 666975 h 2872293"/>
              <a:gd name="connsiteX2" fmla="*/ 9380667 w 9380667"/>
              <a:gd name="connsiteY2" fmla="*/ 2872293 h 2872293"/>
              <a:gd name="connsiteX0" fmla="*/ 0 w 9380667"/>
              <a:gd name="connsiteY0" fmla="*/ 0 h 2872293"/>
              <a:gd name="connsiteX1" fmla="*/ 8100507 w 9380667"/>
              <a:gd name="connsiteY1" fmla="*/ 666975 h 2872293"/>
              <a:gd name="connsiteX2" fmla="*/ 9380667 w 9380667"/>
              <a:gd name="connsiteY2" fmla="*/ 2872293 h 2872293"/>
              <a:gd name="connsiteX0" fmla="*/ 466525 w 1602340"/>
              <a:gd name="connsiteY0" fmla="*/ 0 h 4141695"/>
              <a:gd name="connsiteX1" fmla="*/ 3945 w 1602340"/>
              <a:gd name="connsiteY1" fmla="*/ 1936377 h 4141695"/>
              <a:gd name="connsiteX2" fmla="*/ 1284105 w 1602340"/>
              <a:gd name="connsiteY2" fmla="*/ 4141695 h 4141695"/>
              <a:gd name="connsiteX0" fmla="*/ 493770 w 1311350"/>
              <a:gd name="connsiteY0" fmla="*/ 0 h 4141695"/>
              <a:gd name="connsiteX1" fmla="*/ 31190 w 1311350"/>
              <a:gd name="connsiteY1" fmla="*/ 1936377 h 4141695"/>
              <a:gd name="connsiteX2" fmla="*/ 1311350 w 1311350"/>
              <a:gd name="connsiteY2" fmla="*/ 4141695 h 4141695"/>
              <a:gd name="connsiteX0" fmla="*/ 470612 w 814855"/>
              <a:gd name="connsiteY0" fmla="*/ 0 h 4238514"/>
              <a:gd name="connsiteX1" fmla="*/ 8032 w 814855"/>
              <a:gd name="connsiteY1" fmla="*/ 1936377 h 4238514"/>
              <a:gd name="connsiteX2" fmla="*/ 814855 w 814855"/>
              <a:gd name="connsiteY2" fmla="*/ 4238514 h 423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4855" h="4238514">
                <a:moveTo>
                  <a:pt x="470612" y="0"/>
                </a:moveTo>
                <a:cubicBezTo>
                  <a:pt x="210635" y="406549"/>
                  <a:pt x="-49342" y="1229958"/>
                  <a:pt x="8032" y="1936377"/>
                </a:cubicBezTo>
                <a:cubicBezTo>
                  <a:pt x="65406" y="2642796"/>
                  <a:pt x="219597" y="3693461"/>
                  <a:pt x="814855" y="4238514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49745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990172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582460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18764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981966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574254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0558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417" y="363869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434516" y="363869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360881" y="36574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926276" y="260090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18564" y="2600908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381475" y="2931871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778610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254868" y="260090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246662" y="4437708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10358" y="5632171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159896" y="4456452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638432" y="2600908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638432" y="4437708"/>
            <a:ext cx="1343534" cy="11944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159896" y="2931871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450018" y="3068960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780981" y="4456452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18070" y="5632171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92076" y="2865179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746" y="2254359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300" y="2277742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65" y="285220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042" y="4643195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9840" y="3810121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828" y="3723088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7846" y="3058355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3987" y="4593541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25742" y="4517788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3321" y="5298595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2490" y="4574797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300" y="5298596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47447" y="3659716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3764584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990172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582460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18764" y="21328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981966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574254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0558" y="516411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417" y="363869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434516" y="363869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360881" y="36574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18564" y="2600908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381475" y="2931871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254868" y="260090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10358" y="5632171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638432" y="2600908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638432" y="4437708"/>
            <a:ext cx="1343534" cy="11944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159896" y="2931871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18070" y="5632171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92076" y="2865179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300" y="2277742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65" y="285220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828" y="3723088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27846" y="3058355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3987" y="4593541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3321" y="5298595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300" y="5298596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8697952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11624" y="116632"/>
            <a:ext cx="6400800" cy="537240"/>
          </a:xfrm>
        </p:spPr>
        <p:txBody>
          <a:bodyPr>
            <a:noAutofit/>
          </a:bodyPr>
          <a:lstStyle/>
          <a:p>
            <a:pPr marL="45720" indent="0" algn="ctr"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Крускала</a:t>
            </a: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(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)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1898531"/>
            <a:ext cx="8682723" cy="4824536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631505" y="676037"/>
            <a:ext cx="88267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i="1" dirty="0">
                <a:solidFill>
                  <a:srgbClr val="44546A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 </a:t>
            </a:r>
            <a:r>
              <a:rPr lang="ru-RU" sz="2400" i="1" dirty="0" err="1">
                <a:solidFill>
                  <a:srgbClr val="44546A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Краскала</a:t>
            </a:r>
            <a:r>
              <a:rPr lang="ru-RU" sz="2400" i="1" dirty="0">
                <a:solidFill>
                  <a:srgbClr val="44546A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работает по тому же принципу. Отличие только в порядке </a:t>
            </a:r>
            <a:r>
              <a:rPr lang="ru-RU" sz="2200" i="1" dirty="0">
                <a:solidFill>
                  <a:srgbClr val="44546A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объединения</a:t>
            </a:r>
            <a:r>
              <a:rPr lang="ru-RU" sz="2400" i="1" dirty="0">
                <a:solidFill>
                  <a:srgbClr val="44546A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вершин в пошагово формирующемся минимальном покрывающем дереве. 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47957969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620688"/>
            <a:ext cx="8784976" cy="6055494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11624" y="215170"/>
            <a:ext cx="6400800" cy="537240"/>
          </a:xfrm>
        </p:spPr>
        <p:txBody>
          <a:bodyPr>
            <a:noAutofit/>
          </a:bodyPr>
          <a:lstStyle/>
          <a:p>
            <a:pPr marL="45720" indent="0" algn="ctr"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238719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2711624" y="215170"/>
            <a:ext cx="6400800" cy="537240"/>
          </a:xfrm>
        </p:spPr>
        <p:txBody>
          <a:bodyPr>
            <a:noAutofit/>
          </a:bodyPr>
          <a:lstStyle/>
          <a:p>
            <a:pPr marL="45720" indent="0" algn="ctr"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51384" y="762566"/>
            <a:ext cx="107291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Пример построения минимального остовного дерева с помощью алгоритма </a:t>
            </a:r>
            <a:r>
              <a:rPr lang="ru-RU" sz="2400" dirty="0" err="1">
                <a:ea typeface="Calibri" panose="020F0502020204030204" pitchFamily="34" charset="0"/>
                <a:cs typeface="Times New Roman" panose="02020603050405020304" pitchFamily="18" charset="0"/>
              </a:rPr>
              <a:t>Краскала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dirty="0">
                <a:ea typeface="Calibri" panose="020F0502020204030204" pitchFamily="34" charset="0"/>
              </a:rPr>
              <a:t>Построение минимального остовного дерева осуществляется по шагам.</a:t>
            </a:r>
            <a:endParaRPr lang="ru-RU" sz="2400" dirty="0"/>
          </a:p>
        </p:txBody>
      </p:sp>
      <p:sp>
        <p:nvSpPr>
          <p:cNvPr id="6" name="Овал 5"/>
          <p:cNvSpPr/>
          <p:nvPr/>
        </p:nvSpPr>
        <p:spPr>
          <a:xfrm>
            <a:off x="3063322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655610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391914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3055116" y="56390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647404" y="56390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83708" y="56390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912567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507666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434031" y="413231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999426" y="3075789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591714" y="3075789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454625" y="3406752"/>
            <a:ext cx="2066172" cy="23693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851760" y="3543841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328018" y="3075789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319812" y="4912589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583508" y="6107052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233046" y="4931333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711582" y="3075789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711582" y="4912589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233046" y="3406752"/>
            <a:ext cx="559653" cy="8626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523168" y="3543841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854131" y="4931333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991220" y="610705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65226" y="3340060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3896" y="272924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8450" y="2752623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2915" y="3327081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192" y="5118076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2990" y="4285002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978" y="4197969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0996" y="3533236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17137" y="5068422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98892" y="4992669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6471" y="5773476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5640" y="5049678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78450" y="5773477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20597" y="4134597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151499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07368" y="5229200"/>
            <a:ext cx="1137726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ea typeface="Times New Roman" panose="02020603050405020304" pitchFamily="18" charset="0"/>
              </a:rPr>
              <a:t>На первом шаге изображено разбиение исходного графа на максимальное число (равное 9 – количеству вершин в графе) подграфов. </a:t>
            </a:r>
            <a:endParaRPr lang="be-BY" sz="2800" dirty="0"/>
          </a:p>
        </p:txBody>
      </p:sp>
      <p:sp>
        <p:nvSpPr>
          <p:cNvPr id="6" name="Объект 2"/>
          <p:cNvSpPr>
            <a:spLocks noGrp="1"/>
          </p:cNvSpPr>
          <p:nvPr>
            <p:ph idx="1"/>
          </p:nvPr>
        </p:nvSpPr>
        <p:spPr>
          <a:xfrm>
            <a:off x="2711624" y="215170"/>
            <a:ext cx="6400800" cy="537240"/>
          </a:xfrm>
        </p:spPr>
        <p:txBody>
          <a:bodyPr>
            <a:noAutofit/>
          </a:bodyPr>
          <a:lstStyle/>
          <a:p>
            <a:pPr marL="45720" indent="0" algn="ctr"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2855640" y="102178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Овал 8"/>
          <p:cNvSpPr/>
          <p:nvPr/>
        </p:nvSpPr>
        <p:spPr>
          <a:xfrm>
            <a:off x="5447928" y="102178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/>
          <p:cNvSpPr/>
          <p:nvPr/>
        </p:nvSpPr>
        <p:spPr>
          <a:xfrm>
            <a:off x="8184232" y="102178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>
          <a:xfrm>
            <a:off x="2847434" y="405304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Овал 11"/>
          <p:cNvSpPr/>
          <p:nvPr/>
        </p:nvSpPr>
        <p:spPr>
          <a:xfrm>
            <a:off x="5439722" y="405304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Овал 12"/>
          <p:cNvSpPr/>
          <p:nvPr/>
        </p:nvSpPr>
        <p:spPr>
          <a:xfrm>
            <a:off x="8176026" y="405304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/>
          <p:cNvSpPr/>
          <p:nvPr/>
        </p:nvSpPr>
        <p:spPr>
          <a:xfrm>
            <a:off x="704885" y="25276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/>
          <p:cNvSpPr/>
          <p:nvPr/>
        </p:nvSpPr>
        <p:spPr>
          <a:xfrm>
            <a:off x="10299984" y="25276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4226349" y="2546361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4970415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917" y="764704"/>
            <a:ext cx="4473799" cy="19812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67408" y="680857"/>
            <a:ext cx="521992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e-BY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ru-RU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тыскивается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ребро исходного графа, имеющее минимальную длину (ребро (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,6) с длиной 1). Вершины, соединенные выбранным ребром, окрашиваются.</a:t>
            </a:r>
            <a:endParaRPr lang="be-BY" sz="2400" dirty="0"/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3063322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55610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1914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Овал 12"/>
          <p:cNvSpPr/>
          <p:nvPr/>
        </p:nvSpPr>
        <p:spPr>
          <a:xfrm>
            <a:off x="3055116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" name="Овал 13"/>
          <p:cNvSpPr/>
          <p:nvPr/>
        </p:nvSpPr>
        <p:spPr>
          <a:xfrm>
            <a:off x="5647404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5" name="Овал 14"/>
          <p:cNvSpPr/>
          <p:nvPr/>
        </p:nvSpPr>
        <p:spPr>
          <a:xfrm>
            <a:off x="8383708" y="56390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Овал 15"/>
          <p:cNvSpPr/>
          <p:nvPr/>
        </p:nvSpPr>
        <p:spPr>
          <a:xfrm>
            <a:off x="912567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Овал 16"/>
          <p:cNvSpPr/>
          <p:nvPr/>
        </p:nvSpPr>
        <p:spPr>
          <a:xfrm>
            <a:off x="10507666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Овал 17"/>
          <p:cNvSpPr/>
          <p:nvPr/>
        </p:nvSpPr>
        <p:spPr>
          <a:xfrm>
            <a:off x="4434031" y="413231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32" name="Прямая соединительная линия 31"/>
          <p:cNvCxnSpPr>
            <a:stCxn id="14" idx="2"/>
            <a:endCxn id="13" idx="6"/>
          </p:cNvCxnSpPr>
          <p:nvPr/>
        </p:nvCxnSpPr>
        <p:spPr>
          <a:xfrm flipH="1">
            <a:off x="3991220" y="6107052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646471" y="5773476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84937318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63352" y="748139"/>
            <a:ext cx="59665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всех последующих шагах из оставшихся ребер каждый раз  выбирается ребро с минимальной длиной, но такое, чтобы концевые его вершины находились в изолированных друг от друга  подграфах. После выбора ребра подграфы становятся для алгоритма единой компонентой.</a:t>
            </a:r>
            <a:endParaRPr lang="be-BY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Объек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50" y="617031"/>
            <a:ext cx="4473799" cy="1981200"/>
          </a:xfrm>
          <a:prstGeom prst="rect">
            <a:avLst/>
          </a:prstGeom>
        </p:spPr>
      </p:pic>
      <p:sp>
        <p:nvSpPr>
          <p:cNvPr id="9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3063322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55610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91914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Овал 12"/>
          <p:cNvSpPr/>
          <p:nvPr/>
        </p:nvSpPr>
        <p:spPr>
          <a:xfrm>
            <a:off x="3055116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" name="Овал 13"/>
          <p:cNvSpPr/>
          <p:nvPr/>
        </p:nvSpPr>
        <p:spPr>
          <a:xfrm>
            <a:off x="5647404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5" name="Овал 14"/>
          <p:cNvSpPr/>
          <p:nvPr/>
        </p:nvSpPr>
        <p:spPr>
          <a:xfrm>
            <a:off x="8383708" y="56390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Овал 15"/>
          <p:cNvSpPr/>
          <p:nvPr/>
        </p:nvSpPr>
        <p:spPr>
          <a:xfrm>
            <a:off x="912567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Овал 16"/>
          <p:cNvSpPr/>
          <p:nvPr/>
        </p:nvSpPr>
        <p:spPr>
          <a:xfrm>
            <a:off x="10507666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Овал 17"/>
          <p:cNvSpPr/>
          <p:nvPr/>
        </p:nvSpPr>
        <p:spPr>
          <a:xfrm>
            <a:off x="4434031" y="413231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29" name="Прямая соединительная линия 28"/>
          <p:cNvCxnSpPr>
            <a:stCxn id="11" idx="3"/>
            <a:endCxn id="18" idx="7"/>
          </p:cNvCxnSpPr>
          <p:nvPr/>
        </p:nvCxnSpPr>
        <p:spPr>
          <a:xfrm flipH="1">
            <a:off x="5233046" y="3406752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4" idx="2"/>
            <a:endCxn id="13" idx="6"/>
          </p:cNvCxnSpPr>
          <p:nvPr/>
        </p:nvCxnSpPr>
        <p:spPr>
          <a:xfrm flipH="1">
            <a:off x="3991220" y="6107052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00996" y="3533236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6471" y="5773476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51342732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50" y="349132"/>
            <a:ext cx="4473799" cy="1981200"/>
          </a:xfrm>
          <a:prstGeom prst="rect">
            <a:avLst/>
          </a:prstGeom>
        </p:spPr>
      </p:pic>
      <p:sp>
        <p:nvSpPr>
          <p:cNvPr id="7" name="Объект 2"/>
          <p:cNvSpPr txBox="1">
            <a:spLocks/>
          </p:cNvSpPr>
          <p:nvPr/>
        </p:nvSpPr>
        <p:spPr>
          <a:xfrm>
            <a:off x="1838494" y="182137"/>
            <a:ext cx="6400800" cy="53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3063322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Овал 8"/>
          <p:cNvSpPr/>
          <p:nvPr/>
        </p:nvSpPr>
        <p:spPr>
          <a:xfrm>
            <a:off x="5655610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/>
          <p:cNvSpPr/>
          <p:nvPr/>
        </p:nvSpPr>
        <p:spPr>
          <a:xfrm>
            <a:off x="8391914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>
          <a:xfrm>
            <a:off x="3055116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Овал 11"/>
          <p:cNvSpPr/>
          <p:nvPr/>
        </p:nvSpPr>
        <p:spPr>
          <a:xfrm>
            <a:off x="5647404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Овал 12"/>
          <p:cNvSpPr/>
          <p:nvPr/>
        </p:nvSpPr>
        <p:spPr>
          <a:xfrm>
            <a:off x="8383708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/>
          <p:cNvSpPr/>
          <p:nvPr/>
        </p:nvSpPr>
        <p:spPr>
          <a:xfrm>
            <a:off x="912567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/>
          <p:cNvSpPr/>
          <p:nvPr/>
        </p:nvSpPr>
        <p:spPr>
          <a:xfrm>
            <a:off x="10507666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4434031" y="413231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23" name="Прямая соединительная линия 22"/>
          <p:cNvCxnSpPr>
            <a:stCxn id="12" idx="6"/>
            <a:endCxn id="13" idx="2"/>
          </p:cNvCxnSpPr>
          <p:nvPr/>
        </p:nvCxnSpPr>
        <p:spPr>
          <a:xfrm>
            <a:off x="6583508" y="6107052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9" idx="3"/>
            <a:endCxn id="16" idx="7"/>
          </p:cNvCxnSpPr>
          <p:nvPr/>
        </p:nvCxnSpPr>
        <p:spPr>
          <a:xfrm flipH="1">
            <a:off x="5233046" y="3406752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2" idx="2"/>
            <a:endCxn id="11" idx="6"/>
          </p:cNvCxnSpPr>
          <p:nvPr/>
        </p:nvCxnSpPr>
        <p:spPr>
          <a:xfrm flipH="1">
            <a:off x="3991220" y="6107052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0996" y="3533236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6471" y="5773476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450" y="5773477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59039698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450" y="441028"/>
            <a:ext cx="4473799" cy="1981200"/>
          </a:xfrm>
          <a:prstGeom prst="rect">
            <a:avLst/>
          </a:prstGeom>
        </p:spPr>
      </p:pic>
      <p:sp>
        <p:nvSpPr>
          <p:cNvPr id="7" name="Объект 2"/>
          <p:cNvSpPr txBox="1">
            <a:spLocks/>
          </p:cNvSpPr>
          <p:nvPr/>
        </p:nvSpPr>
        <p:spPr>
          <a:xfrm>
            <a:off x="1839365" y="351188"/>
            <a:ext cx="6400800" cy="53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3063322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Овал 8"/>
          <p:cNvSpPr/>
          <p:nvPr/>
        </p:nvSpPr>
        <p:spPr>
          <a:xfrm>
            <a:off x="5655610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/>
          <p:cNvSpPr/>
          <p:nvPr/>
        </p:nvSpPr>
        <p:spPr>
          <a:xfrm>
            <a:off x="8391914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>
          <a:xfrm>
            <a:off x="3055116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Овал 11"/>
          <p:cNvSpPr/>
          <p:nvPr/>
        </p:nvSpPr>
        <p:spPr>
          <a:xfrm>
            <a:off x="5647404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Овал 12"/>
          <p:cNvSpPr/>
          <p:nvPr/>
        </p:nvSpPr>
        <p:spPr>
          <a:xfrm>
            <a:off x="8383708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/>
          <p:cNvSpPr/>
          <p:nvPr/>
        </p:nvSpPr>
        <p:spPr>
          <a:xfrm>
            <a:off x="912567" y="411357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/>
          <p:cNvSpPr/>
          <p:nvPr/>
        </p:nvSpPr>
        <p:spPr>
          <a:xfrm>
            <a:off x="10507666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4434031" y="413231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23" name="Прямая соединительная линия 22"/>
          <p:cNvCxnSpPr>
            <a:stCxn id="12" idx="6"/>
            <a:endCxn id="13" idx="2"/>
          </p:cNvCxnSpPr>
          <p:nvPr/>
        </p:nvCxnSpPr>
        <p:spPr>
          <a:xfrm>
            <a:off x="6583508" y="6107052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8" idx="2"/>
            <a:endCxn id="14" idx="7"/>
          </p:cNvCxnSpPr>
          <p:nvPr/>
        </p:nvCxnSpPr>
        <p:spPr>
          <a:xfrm flipH="1">
            <a:off x="1711582" y="3075789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9" idx="3"/>
            <a:endCxn id="16" idx="7"/>
          </p:cNvCxnSpPr>
          <p:nvPr/>
        </p:nvCxnSpPr>
        <p:spPr>
          <a:xfrm flipH="1">
            <a:off x="5233046" y="3406752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2" idx="2"/>
            <a:endCxn id="11" idx="6"/>
          </p:cNvCxnSpPr>
          <p:nvPr/>
        </p:nvCxnSpPr>
        <p:spPr>
          <a:xfrm flipH="1">
            <a:off x="3991220" y="6107052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65226" y="3340060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0996" y="3533236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6471" y="5773476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450" y="5773477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59910221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978" y="377973"/>
            <a:ext cx="4473799" cy="1981200"/>
          </a:xfrm>
          <a:prstGeom prst="rect">
            <a:avLst/>
          </a:prstGeom>
        </p:spPr>
      </p:pic>
      <p:sp>
        <p:nvSpPr>
          <p:cNvPr id="7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3063322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Овал 8"/>
          <p:cNvSpPr/>
          <p:nvPr/>
        </p:nvSpPr>
        <p:spPr>
          <a:xfrm>
            <a:off x="5655610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/>
          <p:cNvSpPr/>
          <p:nvPr/>
        </p:nvSpPr>
        <p:spPr>
          <a:xfrm>
            <a:off x="8391914" y="260773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>
          <a:xfrm>
            <a:off x="3055116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Овал 11"/>
          <p:cNvSpPr/>
          <p:nvPr/>
        </p:nvSpPr>
        <p:spPr>
          <a:xfrm>
            <a:off x="5647404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Овал 12"/>
          <p:cNvSpPr/>
          <p:nvPr/>
        </p:nvSpPr>
        <p:spPr>
          <a:xfrm>
            <a:off x="8383708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/>
          <p:cNvSpPr/>
          <p:nvPr/>
        </p:nvSpPr>
        <p:spPr>
          <a:xfrm>
            <a:off x="912567" y="411357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/>
          <p:cNvSpPr/>
          <p:nvPr/>
        </p:nvSpPr>
        <p:spPr>
          <a:xfrm>
            <a:off x="10507666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4434031" y="413231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9" name="Прямая соединительная линия 18"/>
          <p:cNvCxnSpPr>
            <a:stCxn id="9" idx="5"/>
            <a:endCxn id="13" idx="1"/>
          </p:cNvCxnSpPr>
          <p:nvPr/>
        </p:nvCxnSpPr>
        <p:spPr>
          <a:xfrm>
            <a:off x="6454625" y="3406752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2" idx="6"/>
            <a:endCxn id="13" idx="2"/>
          </p:cNvCxnSpPr>
          <p:nvPr/>
        </p:nvCxnSpPr>
        <p:spPr>
          <a:xfrm>
            <a:off x="6583508" y="6107052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8" idx="2"/>
            <a:endCxn id="14" idx="7"/>
          </p:cNvCxnSpPr>
          <p:nvPr/>
        </p:nvCxnSpPr>
        <p:spPr>
          <a:xfrm flipH="1">
            <a:off x="1711582" y="3075789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9" idx="3"/>
            <a:endCxn id="16" idx="7"/>
          </p:cNvCxnSpPr>
          <p:nvPr/>
        </p:nvCxnSpPr>
        <p:spPr>
          <a:xfrm flipH="1">
            <a:off x="5233046" y="3406752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2" idx="2"/>
            <a:endCxn id="11" idx="6"/>
          </p:cNvCxnSpPr>
          <p:nvPr/>
        </p:nvCxnSpPr>
        <p:spPr>
          <a:xfrm flipH="1">
            <a:off x="3991220" y="6107052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65226" y="3340060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978" y="4197969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0996" y="3533236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6471" y="5773476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450" y="5773477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01679826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971" y="208782"/>
            <a:ext cx="4473799" cy="1981200"/>
          </a:xfrm>
          <a:prstGeom prst="rect">
            <a:avLst/>
          </a:prstGeom>
        </p:spPr>
      </p:pic>
      <p:sp>
        <p:nvSpPr>
          <p:cNvPr id="7" name="Объект 2"/>
          <p:cNvSpPr txBox="1">
            <a:spLocks/>
          </p:cNvSpPr>
          <p:nvPr/>
        </p:nvSpPr>
        <p:spPr>
          <a:xfrm>
            <a:off x="653731" y="372405"/>
            <a:ext cx="6400800" cy="53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3063322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Овал 8"/>
          <p:cNvSpPr/>
          <p:nvPr/>
        </p:nvSpPr>
        <p:spPr>
          <a:xfrm>
            <a:off x="5655610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/>
          <p:cNvSpPr/>
          <p:nvPr/>
        </p:nvSpPr>
        <p:spPr>
          <a:xfrm>
            <a:off x="8391914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>
          <a:xfrm>
            <a:off x="3055116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Овал 11"/>
          <p:cNvSpPr/>
          <p:nvPr/>
        </p:nvSpPr>
        <p:spPr>
          <a:xfrm>
            <a:off x="5647404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Овал 12"/>
          <p:cNvSpPr/>
          <p:nvPr/>
        </p:nvSpPr>
        <p:spPr>
          <a:xfrm>
            <a:off x="8383708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/>
          <p:cNvSpPr/>
          <p:nvPr/>
        </p:nvSpPr>
        <p:spPr>
          <a:xfrm>
            <a:off x="912567" y="411357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/>
          <p:cNvSpPr/>
          <p:nvPr/>
        </p:nvSpPr>
        <p:spPr>
          <a:xfrm>
            <a:off x="10507666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4434031" y="413231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8" name="Прямая соединительная линия 17"/>
          <p:cNvCxnSpPr>
            <a:stCxn id="9" idx="6"/>
            <a:endCxn id="10" idx="2"/>
          </p:cNvCxnSpPr>
          <p:nvPr/>
        </p:nvCxnSpPr>
        <p:spPr>
          <a:xfrm>
            <a:off x="6591714" y="3075789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9" idx="5"/>
            <a:endCxn id="13" idx="1"/>
          </p:cNvCxnSpPr>
          <p:nvPr/>
        </p:nvCxnSpPr>
        <p:spPr>
          <a:xfrm>
            <a:off x="6454625" y="3406752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2" idx="6"/>
            <a:endCxn id="13" idx="2"/>
          </p:cNvCxnSpPr>
          <p:nvPr/>
        </p:nvCxnSpPr>
        <p:spPr>
          <a:xfrm>
            <a:off x="6583508" y="6107052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8" idx="2"/>
            <a:endCxn id="14" idx="7"/>
          </p:cNvCxnSpPr>
          <p:nvPr/>
        </p:nvCxnSpPr>
        <p:spPr>
          <a:xfrm flipH="1">
            <a:off x="1711582" y="3075789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9" idx="3"/>
            <a:endCxn id="16" idx="7"/>
          </p:cNvCxnSpPr>
          <p:nvPr/>
        </p:nvCxnSpPr>
        <p:spPr>
          <a:xfrm flipH="1">
            <a:off x="5233046" y="3406752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2" idx="2"/>
            <a:endCxn id="11" idx="6"/>
          </p:cNvCxnSpPr>
          <p:nvPr/>
        </p:nvCxnSpPr>
        <p:spPr>
          <a:xfrm flipH="1">
            <a:off x="3991220" y="6107052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65226" y="3340060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450" y="2752623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978" y="4197969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0996" y="3533236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6471" y="5773476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450" y="5773477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508007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818" y="251063"/>
            <a:ext cx="4473799" cy="1981200"/>
          </a:xfrm>
          <a:prstGeom prst="rect">
            <a:avLst/>
          </a:prstGeom>
        </p:spPr>
      </p:pic>
      <p:sp>
        <p:nvSpPr>
          <p:cNvPr id="6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3063322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Овал 8"/>
          <p:cNvSpPr/>
          <p:nvPr/>
        </p:nvSpPr>
        <p:spPr>
          <a:xfrm>
            <a:off x="5655610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/>
          <p:cNvSpPr/>
          <p:nvPr/>
        </p:nvSpPr>
        <p:spPr>
          <a:xfrm>
            <a:off x="8391914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>
          <a:xfrm>
            <a:off x="3055116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Овал 11"/>
          <p:cNvSpPr/>
          <p:nvPr/>
        </p:nvSpPr>
        <p:spPr>
          <a:xfrm>
            <a:off x="5647404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Овал 12"/>
          <p:cNvSpPr/>
          <p:nvPr/>
        </p:nvSpPr>
        <p:spPr>
          <a:xfrm>
            <a:off x="8383708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/>
          <p:cNvSpPr/>
          <p:nvPr/>
        </p:nvSpPr>
        <p:spPr>
          <a:xfrm>
            <a:off x="912567" y="411357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/>
          <p:cNvSpPr/>
          <p:nvPr/>
        </p:nvSpPr>
        <p:spPr>
          <a:xfrm>
            <a:off x="10507666" y="411357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4434031" y="413231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7" name="Прямая соединительная линия 16"/>
          <p:cNvCxnSpPr>
            <a:stCxn id="8" idx="6"/>
            <a:endCxn id="9" idx="2"/>
          </p:cNvCxnSpPr>
          <p:nvPr/>
        </p:nvCxnSpPr>
        <p:spPr>
          <a:xfrm>
            <a:off x="3999426" y="3075789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9" idx="6"/>
            <a:endCxn id="10" idx="2"/>
          </p:cNvCxnSpPr>
          <p:nvPr/>
        </p:nvCxnSpPr>
        <p:spPr>
          <a:xfrm>
            <a:off x="6591714" y="3075789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9" idx="5"/>
            <a:endCxn id="13" idx="1"/>
          </p:cNvCxnSpPr>
          <p:nvPr/>
        </p:nvCxnSpPr>
        <p:spPr>
          <a:xfrm>
            <a:off x="6454625" y="3406752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2" idx="6"/>
            <a:endCxn id="13" idx="2"/>
          </p:cNvCxnSpPr>
          <p:nvPr/>
        </p:nvCxnSpPr>
        <p:spPr>
          <a:xfrm>
            <a:off x="6583508" y="6107052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8" idx="2"/>
            <a:endCxn id="14" idx="7"/>
          </p:cNvCxnSpPr>
          <p:nvPr/>
        </p:nvCxnSpPr>
        <p:spPr>
          <a:xfrm flipH="1">
            <a:off x="1711582" y="3075789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9" idx="3"/>
            <a:endCxn id="16" idx="7"/>
          </p:cNvCxnSpPr>
          <p:nvPr/>
        </p:nvCxnSpPr>
        <p:spPr>
          <a:xfrm flipH="1">
            <a:off x="5233046" y="3406752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2" idx="2"/>
            <a:endCxn id="11" idx="6"/>
          </p:cNvCxnSpPr>
          <p:nvPr/>
        </p:nvCxnSpPr>
        <p:spPr>
          <a:xfrm flipH="1">
            <a:off x="3991220" y="6107052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65226" y="3340060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3896" y="272924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450" y="2752623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978" y="4197969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0996" y="3533236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6471" y="5773476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450" y="5773477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82493260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136" y="620688"/>
            <a:ext cx="4473799" cy="19812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04421" y="752410"/>
            <a:ext cx="66108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dirty="0">
                <a:ea typeface="Times New Roman" panose="02020603050405020304" pitchFamily="18" charset="0"/>
              </a:rPr>
              <a:t>Следует обратить внимание, что минимальное остовное дерево, построенное в предыдущем примере, отличается от полученного результата. В обоих случаях построено минимальное остовное дерево. Если подсчитать сумму длин ребер деревьев, то в обоих случаях получается 37.</a:t>
            </a:r>
            <a:endParaRPr lang="be-BY" dirty="0">
              <a:ea typeface="Times New Roman" panose="02020603050405020304" pitchFamily="18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3063322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Овал 8"/>
          <p:cNvSpPr/>
          <p:nvPr/>
        </p:nvSpPr>
        <p:spPr>
          <a:xfrm>
            <a:off x="5655610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/>
          <p:cNvSpPr/>
          <p:nvPr/>
        </p:nvSpPr>
        <p:spPr>
          <a:xfrm>
            <a:off x="8391914" y="2607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>
          <a:xfrm>
            <a:off x="3055116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Овал 11"/>
          <p:cNvSpPr/>
          <p:nvPr/>
        </p:nvSpPr>
        <p:spPr>
          <a:xfrm>
            <a:off x="5647404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Овал 12"/>
          <p:cNvSpPr/>
          <p:nvPr/>
        </p:nvSpPr>
        <p:spPr>
          <a:xfrm>
            <a:off x="8383708" y="56390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/>
          <p:cNvSpPr/>
          <p:nvPr/>
        </p:nvSpPr>
        <p:spPr>
          <a:xfrm>
            <a:off x="912567" y="411357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/>
          <p:cNvSpPr/>
          <p:nvPr/>
        </p:nvSpPr>
        <p:spPr>
          <a:xfrm>
            <a:off x="10507666" y="411357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4434031" y="413231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7" name="Прямая соединительная линия 16"/>
          <p:cNvCxnSpPr>
            <a:stCxn id="8" idx="6"/>
            <a:endCxn id="9" idx="2"/>
          </p:cNvCxnSpPr>
          <p:nvPr/>
        </p:nvCxnSpPr>
        <p:spPr>
          <a:xfrm>
            <a:off x="3999426" y="3075789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9" idx="6"/>
            <a:endCxn id="10" idx="2"/>
          </p:cNvCxnSpPr>
          <p:nvPr/>
        </p:nvCxnSpPr>
        <p:spPr>
          <a:xfrm>
            <a:off x="6591714" y="3075789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9" idx="5"/>
            <a:endCxn id="13" idx="1"/>
          </p:cNvCxnSpPr>
          <p:nvPr/>
        </p:nvCxnSpPr>
        <p:spPr>
          <a:xfrm>
            <a:off x="6454625" y="3406752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5" idx="1"/>
          </p:cNvCxnSpPr>
          <p:nvPr/>
        </p:nvCxnSpPr>
        <p:spPr>
          <a:xfrm>
            <a:off x="9328018" y="3075789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2" idx="6"/>
            <a:endCxn id="13" idx="2"/>
          </p:cNvCxnSpPr>
          <p:nvPr/>
        </p:nvCxnSpPr>
        <p:spPr>
          <a:xfrm>
            <a:off x="6583508" y="6107052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8" idx="2"/>
            <a:endCxn id="14" idx="7"/>
          </p:cNvCxnSpPr>
          <p:nvPr/>
        </p:nvCxnSpPr>
        <p:spPr>
          <a:xfrm flipH="1">
            <a:off x="1711582" y="3075789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9" idx="3"/>
            <a:endCxn id="16" idx="7"/>
          </p:cNvCxnSpPr>
          <p:nvPr/>
        </p:nvCxnSpPr>
        <p:spPr>
          <a:xfrm flipH="1">
            <a:off x="5233046" y="3406752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2" idx="2"/>
            <a:endCxn id="11" idx="6"/>
          </p:cNvCxnSpPr>
          <p:nvPr/>
        </p:nvCxnSpPr>
        <p:spPr>
          <a:xfrm flipH="1">
            <a:off x="3991220" y="6107052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65226" y="3340060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3896" y="2729240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450" y="2752623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2915" y="3327081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978" y="4197969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0996" y="3533236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6471" y="5773476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8450" y="5773477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90133899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764704"/>
            <a:ext cx="8784976" cy="6013652"/>
          </a:xfrm>
          <a:prstGeom prst="rect">
            <a:avLst/>
          </a:prstGeom>
        </p:spPr>
      </p:pic>
      <p:sp>
        <p:nvSpPr>
          <p:cNvPr id="5" name="Объект 2"/>
          <p:cNvSpPr>
            <a:spLocks noGrp="1"/>
          </p:cNvSpPr>
          <p:nvPr>
            <p:ph idx="1"/>
          </p:nvPr>
        </p:nvSpPr>
        <p:spPr>
          <a:xfrm>
            <a:off x="2783632" y="116632"/>
            <a:ext cx="6400800" cy="536575"/>
          </a:xfrm>
        </p:spPr>
        <p:txBody>
          <a:bodyPr>
            <a:noAutofit/>
          </a:bodyPr>
          <a:lstStyle/>
          <a:p>
            <a:pPr marL="45720" indent="0" algn="ctr"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58720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51385" y="620688"/>
            <a:ext cx="111612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Пример применения алгоритма Прима для построения минимального остовного дерева. </a:t>
            </a:r>
          </a:p>
          <a:p>
            <a:pPr algn="ctr"/>
            <a:r>
              <a:rPr lang="ru-RU" sz="2400" dirty="0">
                <a:ea typeface="Calibri" panose="020F0502020204030204" pitchFamily="34" charset="0"/>
              </a:rPr>
              <a:t>Работа алгоритма Прима представлена пошагово. </a:t>
            </a:r>
            <a:endParaRPr lang="ru-RU" sz="2400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2783632" y="77602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2990172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Овал 9"/>
          <p:cNvSpPr/>
          <p:nvPr/>
        </p:nvSpPr>
        <p:spPr>
          <a:xfrm>
            <a:off x="5582460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Овал 10"/>
          <p:cNvSpPr/>
          <p:nvPr/>
        </p:nvSpPr>
        <p:spPr>
          <a:xfrm>
            <a:off x="8318764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Овал 11"/>
          <p:cNvSpPr/>
          <p:nvPr/>
        </p:nvSpPr>
        <p:spPr>
          <a:xfrm>
            <a:off x="2981966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74254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Овал 13"/>
          <p:cNvSpPr/>
          <p:nvPr/>
        </p:nvSpPr>
        <p:spPr>
          <a:xfrm>
            <a:off x="8310558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Овал 14"/>
          <p:cNvSpPr/>
          <p:nvPr/>
        </p:nvSpPr>
        <p:spPr>
          <a:xfrm>
            <a:off x="839417" y="398487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Овал 15"/>
          <p:cNvSpPr/>
          <p:nvPr/>
        </p:nvSpPr>
        <p:spPr>
          <a:xfrm>
            <a:off x="10434516" y="398487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Овал 16"/>
          <p:cNvSpPr/>
          <p:nvPr/>
        </p:nvSpPr>
        <p:spPr>
          <a:xfrm>
            <a:off x="4360881" y="400362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9" name="Прямая соединительная линия 18"/>
          <p:cNvCxnSpPr>
            <a:stCxn id="7" idx="6"/>
            <a:endCxn id="10" idx="2"/>
          </p:cNvCxnSpPr>
          <p:nvPr/>
        </p:nvCxnSpPr>
        <p:spPr>
          <a:xfrm>
            <a:off x="3926276" y="294709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0" idx="6"/>
            <a:endCxn id="11" idx="2"/>
          </p:cNvCxnSpPr>
          <p:nvPr/>
        </p:nvCxnSpPr>
        <p:spPr>
          <a:xfrm>
            <a:off x="6518564" y="2947094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0" idx="5"/>
            <a:endCxn id="14" idx="1"/>
          </p:cNvCxnSpPr>
          <p:nvPr/>
        </p:nvCxnSpPr>
        <p:spPr>
          <a:xfrm>
            <a:off x="6381475" y="3278057"/>
            <a:ext cx="2066172" cy="23693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11" idx="4"/>
            <a:endCxn id="14" idx="0"/>
          </p:cNvCxnSpPr>
          <p:nvPr/>
        </p:nvCxnSpPr>
        <p:spPr>
          <a:xfrm flipH="1">
            <a:off x="8778610" y="341514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1" idx="6"/>
            <a:endCxn id="16" idx="1"/>
          </p:cNvCxnSpPr>
          <p:nvPr/>
        </p:nvCxnSpPr>
        <p:spPr>
          <a:xfrm>
            <a:off x="9254868" y="294709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14" idx="6"/>
            <a:endCxn id="16" idx="3"/>
          </p:cNvCxnSpPr>
          <p:nvPr/>
        </p:nvCxnSpPr>
        <p:spPr>
          <a:xfrm flipV="1">
            <a:off x="9246662" y="478389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stCxn id="13" idx="6"/>
            <a:endCxn id="14" idx="2"/>
          </p:cNvCxnSpPr>
          <p:nvPr/>
        </p:nvCxnSpPr>
        <p:spPr>
          <a:xfrm>
            <a:off x="6510358" y="5978357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>
            <a:stCxn id="17" idx="5"/>
            <a:endCxn id="13" idx="1"/>
          </p:cNvCxnSpPr>
          <p:nvPr/>
        </p:nvCxnSpPr>
        <p:spPr>
          <a:xfrm>
            <a:off x="5159896" y="480263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stCxn id="7" idx="2"/>
            <a:endCxn id="15" idx="7"/>
          </p:cNvCxnSpPr>
          <p:nvPr/>
        </p:nvCxnSpPr>
        <p:spPr>
          <a:xfrm flipH="1">
            <a:off x="1638432" y="2947094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stCxn id="12" idx="2"/>
            <a:endCxn id="15" idx="5"/>
          </p:cNvCxnSpPr>
          <p:nvPr/>
        </p:nvCxnSpPr>
        <p:spPr>
          <a:xfrm flipH="1" flipV="1">
            <a:off x="1638432" y="4783894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/>
          <p:cNvCxnSpPr>
            <a:stCxn id="10" idx="3"/>
            <a:endCxn id="17" idx="7"/>
          </p:cNvCxnSpPr>
          <p:nvPr/>
        </p:nvCxnSpPr>
        <p:spPr>
          <a:xfrm flipH="1">
            <a:off x="5159896" y="3278057"/>
            <a:ext cx="559653" cy="8626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>
            <a:stCxn id="7" idx="4"/>
            <a:endCxn id="12" idx="0"/>
          </p:cNvCxnSpPr>
          <p:nvPr/>
        </p:nvCxnSpPr>
        <p:spPr>
          <a:xfrm flipH="1">
            <a:off x="3450018" y="341514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7" idx="3"/>
            <a:endCxn id="12" idx="7"/>
          </p:cNvCxnSpPr>
          <p:nvPr/>
        </p:nvCxnSpPr>
        <p:spPr>
          <a:xfrm flipH="1">
            <a:off x="3780981" y="480263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>
            <a:stCxn id="13" idx="2"/>
            <a:endCxn id="12" idx="6"/>
          </p:cNvCxnSpPr>
          <p:nvPr/>
        </p:nvCxnSpPr>
        <p:spPr>
          <a:xfrm flipH="1">
            <a:off x="3918070" y="5978357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992076" y="321136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30746" y="260054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05300" y="262392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59765" y="319838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47042" y="498938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99840" y="415630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86828" y="406927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27846" y="3404541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43987" y="493972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25742" y="486397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3321" y="564478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82490" y="492098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05300" y="564478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47447" y="4005902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40077310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919536" y="908721"/>
            <a:ext cx="85110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первом шаге выбирается стартовая вершина (на рисунке – вершина 8) и окрашивается.</a:t>
            </a:r>
            <a:endParaRPr lang="be-BY" sz="2400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2783632" y="286239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2990172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2460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Овал 11"/>
          <p:cNvSpPr/>
          <p:nvPr/>
        </p:nvSpPr>
        <p:spPr>
          <a:xfrm>
            <a:off x="8318764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Овал 12"/>
          <p:cNvSpPr/>
          <p:nvPr/>
        </p:nvSpPr>
        <p:spPr>
          <a:xfrm>
            <a:off x="2981966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" name="Овал 13"/>
          <p:cNvSpPr/>
          <p:nvPr/>
        </p:nvSpPr>
        <p:spPr>
          <a:xfrm>
            <a:off x="5574254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5" name="Овал 14"/>
          <p:cNvSpPr/>
          <p:nvPr/>
        </p:nvSpPr>
        <p:spPr>
          <a:xfrm>
            <a:off x="8310558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" name="Овал 15"/>
          <p:cNvSpPr/>
          <p:nvPr/>
        </p:nvSpPr>
        <p:spPr>
          <a:xfrm>
            <a:off x="839417" y="398487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Овал 16"/>
          <p:cNvSpPr/>
          <p:nvPr/>
        </p:nvSpPr>
        <p:spPr>
          <a:xfrm>
            <a:off x="10434516" y="398487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Овал 17"/>
          <p:cNvSpPr/>
          <p:nvPr/>
        </p:nvSpPr>
        <p:spPr>
          <a:xfrm>
            <a:off x="4360881" y="400362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9" name="Прямая соединительная линия 18"/>
          <p:cNvCxnSpPr>
            <a:stCxn id="10" idx="6"/>
            <a:endCxn id="11" idx="2"/>
          </p:cNvCxnSpPr>
          <p:nvPr/>
        </p:nvCxnSpPr>
        <p:spPr>
          <a:xfrm>
            <a:off x="3926276" y="294709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2" idx="2"/>
          </p:cNvCxnSpPr>
          <p:nvPr/>
        </p:nvCxnSpPr>
        <p:spPr>
          <a:xfrm>
            <a:off x="6518564" y="2947094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1" idx="5"/>
            <a:endCxn id="15" idx="1"/>
          </p:cNvCxnSpPr>
          <p:nvPr/>
        </p:nvCxnSpPr>
        <p:spPr>
          <a:xfrm>
            <a:off x="6381475" y="3278057"/>
            <a:ext cx="2066172" cy="23693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2" idx="4"/>
            <a:endCxn id="15" idx="0"/>
          </p:cNvCxnSpPr>
          <p:nvPr/>
        </p:nvCxnSpPr>
        <p:spPr>
          <a:xfrm flipH="1">
            <a:off x="8778610" y="341514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2" idx="6"/>
            <a:endCxn id="17" idx="1"/>
          </p:cNvCxnSpPr>
          <p:nvPr/>
        </p:nvCxnSpPr>
        <p:spPr>
          <a:xfrm>
            <a:off x="9254868" y="294709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15" idx="6"/>
            <a:endCxn id="17" idx="3"/>
          </p:cNvCxnSpPr>
          <p:nvPr/>
        </p:nvCxnSpPr>
        <p:spPr>
          <a:xfrm flipV="1">
            <a:off x="9246662" y="478389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14" idx="6"/>
            <a:endCxn id="15" idx="2"/>
          </p:cNvCxnSpPr>
          <p:nvPr/>
        </p:nvCxnSpPr>
        <p:spPr>
          <a:xfrm>
            <a:off x="6510358" y="5978357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18" idx="5"/>
            <a:endCxn id="14" idx="1"/>
          </p:cNvCxnSpPr>
          <p:nvPr/>
        </p:nvCxnSpPr>
        <p:spPr>
          <a:xfrm>
            <a:off x="5159896" y="480263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0" idx="2"/>
            <a:endCxn id="16" idx="7"/>
          </p:cNvCxnSpPr>
          <p:nvPr/>
        </p:nvCxnSpPr>
        <p:spPr>
          <a:xfrm flipH="1">
            <a:off x="1638432" y="2947094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3" idx="2"/>
            <a:endCxn id="16" idx="5"/>
          </p:cNvCxnSpPr>
          <p:nvPr/>
        </p:nvCxnSpPr>
        <p:spPr>
          <a:xfrm flipH="1" flipV="1">
            <a:off x="1638432" y="4783894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1" idx="3"/>
            <a:endCxn id="18" idx="7"/>
          </p:cNvCxnSpPr>
          <p:nvPr/>
        </p:nvCxnSpPr>
        <p:spPr>
          <a:xfrm flipH="1">
            <a:off x="5159896" y="3278057"/>
            <a:ext cx="559653" cy="8626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0" idx="4"/>
            <a:endCxn id="13" idx="0"/>
          </p:cNvCxnSpPr>
          <p:nvPr/>
        </p:nvCxnSpPr>
        <p:spPr>
          <a:xfrm flipH="1">
            <a:off x="3450018" y="341514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>
            <a:stCxn id="18" idx="3"/>
            <a:endCxn id="13" idx="7"/>
          </p:cNvCxnSpPr>
          <p:nvPr/>
        </p:nvCxnSpPr>
        <p:spPr>
          <a:xfrm flipH="1">
            <a:off x="3780981" y="480263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4" idx="2"/>
            <a:endCxn id="13" idx="6"/>
          </p:cNvCxnSpPr>
          <p:nvPr/>
        </p:nvCxnSpPr>
        <p:spPr>
          <a:xfrm flipH="1">
            <a:off x="3918070" y="5978357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92076" y="321136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0746" y="260054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300" y="262392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9765" y="319838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7042" y="498938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9840" y="415630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828" y="406927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27846" y="3404541"/>
            <a:ext cx="56084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43987" y="493972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25742" y="486397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3321" y="564478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2490" y="492098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5300" y="564478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47447" y="4005902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38212850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51384" y="764704"/>
            <a:ext cx="111612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втором шаге среди всех ребер, инцидентных стартовой вершине, отыскивается ребро, имеющее наименьшую длину (на рисунке – ребро (8, 2)). Вторая (неокрашенная) вершина ребра окрашивается, а само ребро вместе с концевыми вершинами  включается в будущее минимальное остовное дерево.</a:t>
            </a:r>
            <a:endParaRPr lang="be-BY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2816951" y="228129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990172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Овал 8"/>
          <p:cNvSpPr/>
          <p:nvPr/>
        </p:nvSpPr>
        <p:spPr>
          <a:xfrm>
            <a:off x="5582460" y="247904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/>
          <p:cNvSpPr/>
          <p:nvPr/>
        </p:nvSpPr>
        <p:spPr>
          <a:xfrm>
            <a:off x="8318764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>
          <a:xfrm>
            <a:off x="2981966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Овал 11"/>
          <p:cNvSpPr/>
          <p:nvPr/>
        </p:nvSpPr>
        <p:spPr>
          <a:xfrm>
            <a:off x="5574254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Овал 12"/>
          <p:cNvSpPr/>
          <p:nvPr/>
        </p:nvSpPr>
        <p:spPr>
          <a:xfrm>
            <a:off x="8310558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/>
          <p:cNvSpPr/>
          <p:nvPr/>
        </p:nvSpPr>
        <p:spPr>
          <a:xfrm>
            <a:off x="839417" y="398487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/>
          <p:cNvSpPr/>
          <p:nvPr/>
        </p:nvSpPr>
        <p:spPr>
          <a:xfrm>
            <a:off x="10434516" y="398487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4360881" y="400362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7" name="Прямая соединительная линия 16"/>
          <p:cNvCxnSpPr>
            <a:stCxn id="8" idx="6"/>
            <a:endCxn id="9" idx="2"/>
          </p:cNvCxnSpPr>
          <p:nvPr/>
        </p:nvCxnSpPr>
        <p:spPr>
          <a:xfrm>
            <a:off x="3926276" y="294709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9" idx="6"/>
            <a:endCxn id="10" idx="2"/>
          </p:cNvCxnSpPr>
          <p:nvPr/>
        </p:nvCxnSpPr>
        <p:spPr>
          <a:xfrm>
            <a:off x="6518564" y="2947094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9" idx="5"/>
            <a:endCxn id="13" idx="1"/>
          </p:cNvCxnSpPr>
          <p:nvPr/>
        </p:nvCxnSpPr>
        <p:spPr>
          <a:xfrm>
            <a:off x="6381475" y="3278057"/>
            <a:ext cx="2066172" cy="23693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0" idx="4"/>
            <a:endCxn id="13" idx="0"/>
          </p:cNvCxnSpPr>
          <p:nvPr/>
        </p:nvCxnSpPr>
        <p:spPr>
          <a:xfrm flipH="1">
            <a:off x="8778610" y="341514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5" idx="1"/>
          </p:cNvCxnSpPr>
          <p:nvPr/>
        </p:nvCxnSpPr>
        <p:spPr>
          <a:xfrm>
            <a:off x="9254868" y="294709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3" idx="6"/>
            <a:endCxn id="15" idx="3"/>
          </p:cNvCxnSpPr>
          <p:nvPr/>
        </p:nvCxnSpPr>
        <p:spPr>
          <a:xfrm flipV="1">
            <a:off x="9246662" y="478389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2" idx="6"/>
            <a:endCxn id="13" idx="2"/>
          </p:cNvCxnSpPr>
          <p:nvPr/>
        </p:nvCxnSpPr>
        <p:spPr>
          <a:xfrm>
            <a:off x="6510358" y="5978357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16" idx="5"/>
            <a:endCxn id="12" idx="1"/>
          </p:cNvCxnSpPr>
          <p:nvPr/>
        </p:nvCxnSpPr>
        <p:spPr>
          <a:xfrm>
            <a:off x="5159896" y="480263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8" idx="2"/>
            <a:endCxn id="14" idx="7"/>
          </p:cNvCxnSpPr>
          <p:nvPr/>
        </p:nvCxnSpPr>
        <p:spPr>
          <a:xfrm flipH="1">
            <a:off x="1638432" y="2947094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11" idx="2"/>
            <a:endCxn id="14" idx="5"/>
          </p:cNvCxnSpPr>
          <p:nvPr/>
        </p:nvCxnSpPr>
        <p:spPr>
          <a:xfrm flipH="1" flipV="1">
            <a:off x="1638432" y="4783894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9" idx="3"/>
            <a:endCxn id="16" idx="7"/>
          </p:cNvCxnSpPr>
          <p:nvPr/>
        </p:nvCxnSpPr>
        <p:spPr>
          <a:xfrm flipH="1">
            <a:off x="5159896" y="3278057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8" idx="4"/>
            <a:endCxn id="11" idx="0"/>
          </p:cNvCxnSpPr>
          <p:nvPr/>
        </p:nvCxnSpPr>
        <p:spPr>
          <a:xfrm flipH="1">
            <a:off x="3450018" y="341514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16" idx="3"/>
            <a:endCxn id="11" idx="7"/>
          </p:cNvCxnSpPr>
          <p:nvPr/>
        </p:nvCxnSpPr>
        <p:spPr>
          <a:xfrm flipH="1">
            <a:off x="3780981" y="480263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2" idx="2"/>
            <a:endCxn id="11" idx="6"/>
          </p:cNvCxnSpPr>
          <p:nvPr/>
        </p:nvCxnSpPr>
        <p:spPr>
          <a:xfrm flipH="1">
            <a:off x="3918070" y="5978357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992076" y="321136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0746" y="260054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300" y="262392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9765" y="319838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7042" y="498938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9840" y="415630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828" y="406927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72893" y="3278057"/>
            <a:ext cx="372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43987" y="493972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25742" y="486397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3321" y="564478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2490" y="492098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5300" y="564478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47447" y="4005902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81260946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79376" y="764704"/>
            <a:ext cx="113052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шагах 3–10 алгоритма выбирается по одному ребру с минимальной длиной и одной неокрашенной концевой вершиной. Неокрашенные вершины окрашиваются, выбранные ребра пополняют строящееся минимальное остовное дерево. Цикл построения дерева продолжается до тех пор, пока не будут окрашены все вершины исходного графа. </a:t>
            </a:r>
            <a:endParaRPr lang="be-BY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2711624" y="54429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2990172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Овал 44"/>
          <p:cNvSpPr/>
          <p:nvPr/>
        </p:nvSpPr>
        <p:spPr>
          <a:xfrm>
            <a:off x="5582460" y="247904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6" name="Овал 45"/>
          <p:cNvSpPr/>
          <p:nvPr/>
        </p:nvSpPr>
        <p:spPr>
          <a:xfrm>
            <a:off x="8318764" y="247904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" name="Овал 46"/>
          <p:cNvSpPr/>
          <p:nvPr/>
        </p:nvSpPr>
        <p:spPr>
          <a:xfrm>
            <a:off x="2981966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8" name="Овал 47"/>
          <p:cNvSpPr/>
          <p:nvPr/>
        </p:nvSpPr>
        <p:spPr>
          <a:xfrm>
            <a:off x="5574254" y="551030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Овал 48"/>
          <p:cNvSpPr/>
          <p:nvPr/>
        </p:nvSpPr>
        <p:spPr>
          <a:xfrm>
            <a:off x="8310558" y="551030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0" name="Овал 49"/>
          <p:cNvSpPr/>
          <p:nvPr/>
        </p:nvSpPr>
        <p:spPr>
          <a:xfrm>
            <a:off x="839417" y="398487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Овал 50"/>
          <p:cNvSpPr/>
          <p:nvPr/>
        </p:nvSpPr>
        <p:spPr>
          <a:xfrm>
            <a:off x="10434516" y="398487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Овал 51"/>
          <p:cNvSpPr/>
          <p:nvPr/>
        </p:nvSpPr>
        <p:spPr>
          <a:xfrm>
            <a:off x="4360881" y="400362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53" name="Прямая соединительная линия 52"/>
          <p:cNvCxnSpPr>
            <a:stCxn id="44" idx="6"/>
            <a:endCxn id="45" idx="2"/>
          </p:cNvCxnSpPr>
          <p:nvPr/>
        </p:nvCxnSpPr>
        <p:spPr>
          <a:xfrm>
            <a:off x="3926276" y="294709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>
            <a:stCxn id="45" idx="6"/>
            <a:endCxn id="46" idx="2"/>
          </p:cNvCxnSpPr>
          <p:nvPr/>
        </p:nvCxnSpPr>
        <p:spPr>
          <a:xfrm>
            <a:off x="6518564" y="2947094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45" idx="5"/>
            <a:endCxn id="49" idx="1"/>
          </p:cNvCxnSpPr>
          <p:nvPr/>
        </p:nvCxnSpPr>
        <p:spPr>
          <a:xfrm>
            <a:off x="6381475" y="3278057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46" idx="4"/>
            <a:endCxn id="49" idx="0"/>
          </p:cNvCxnSpPr>
          <p:nvPr/>
        </p:nvCxnSpPr>
        <p:spPr>
          <a:xfrm flipH="1">
            <a:off x="8778610" y="341514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>
            <a:stCxn id="46" idx="6"/>
            <a:endCxn id="51" idx="1"/>
          </p:cNvCxnSpPr>
          <p:nvPr/>
        </p:nvCxnSpPr>
        <p:spPr>
          <a:xfrm>
            <a:off x="9254868" y="294709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>
            <a:stCxn id="49" idx="6"/>
            <a:endCxn id="51" idx="3"/>
          </p:cNvCxnSpPr>
          <p:nvPr/>
        </p:nvCxnSpPr>
        <p:spPr>
          <a:xfrm flipV="1">
            <a:off x="9246662" y="478389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stCxn id="48" idx="6"/>
            <a:endCxn id="49" idx="2"/>
          </p:cNvCxnSpPr>
          <p:nvPr/>
        </p:nvCxnSpPr>
        <p:spPr>
          <a:xfrm>
            <a:off x="6510358" y="5978357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>
            <a:stCxn id="52" idx="5"/>
            <a:endCxn id="48" idx="1"/>
          </p:cNvCxnSpPr>
          <p:nvPr/>
        </p:nvCxnSpPr>
        <p:spPr>
          <a:xfrm>
            <a:off x="5159896" y="480263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44" idx="2"/>
            <a:endCxn id="50" idx="7"/>
          </p:cNvCxnSpPr>
          <p:nvPr/>
        </p:nvCxnSpPr>
        <p:spPr>
          <a:xfrm flipH="1">
            <a:off x="1638432" y="2947094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>
            <a:stCxn id="47" idx="2"/>
            <a:endCxn id="50" idx="5"/>
          </p:cNvCxnSpPr>
          <p:nvPr/>
        </p:nvCxnSpPr>
        <p:spPr>
          <a:xfrm flipH="1" flipV="1">
            <a:off x="1638432" y="4783894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>
            <a:stCxn id="45" idx="3"/>
            <a:endCxn id="52" idx="7"/>
          </p:cNvCxnSpPr>
          <p:nvPr/>
        </p:nvCxnSpPr>
        <p:spPr>
          <a:xfrm flipH="1">
            <a:off x="5159896" y="3278057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>
            <a:stCxn id="44" idx="4"/>
            <a:endCxn id="47" idx="0"/>
          </p:cNvCxnSpPr>
          <p:nvPr/>
        </p:nvCxnSpPr>
        <p:spPr>
          <a:xfrm flipH="1">
            <a:off x="3450018" y="341514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>
            <a:stCxn id="52" idx="3"/>
            <a:endCxn id="47" idx="7"/>
          </p:cNvCxnSpPr>
          <p:nvPr/>
        </p:nvCxnSpPr>
        <p:spPr>
          <a:xfrm flipH="1">
            <a:off x="3780981" y="480263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48" idx="2"/>
            <a:endCxn id="47" idx="6"/>
          </p:cNvCxnSpPr>
          <p:nvPr/>
        </p:nvCxnSpPr>
        <p:spPr>
          <a:xfrm flipH="1">
            <a:off x="3918070" y="5978357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992076" y="321136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30746" y="260054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05300" y="262392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59765" y="319838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7042" y="498938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99840" y="415630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86828" y="406927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72893" y="3278057"/>
            <a:ext cx="372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43987" y="493972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25742" y="486397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3321" y="564478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82490" y="492098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05300" y="564478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47447" y="4005902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05459429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2812998" y="476672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55640" y="160559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447928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184232" y="160559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847434" y="463685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439722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176026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704885" y="311142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299984" y="311142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226349" y="313017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791744" y="207364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384032" y="2073644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246943" y="2404607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644078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120336" y="207364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112130" y="391044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375826" y="5104907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025364" y="392918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503900" y="2073644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503900" y="3910444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025364" y="2404607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315486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646449" y="392918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783538" y="5104907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57544" y="233791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6214" y="172709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0768" y="175047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233" y="232493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2510" y="411593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5308" y="328285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2296" y="319582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61" y="2404607"/>
            <a:ext cx="372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9455" y="406627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1210" y="399052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8789" y="477133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7958" y="404753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0768" y="477133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0996" y="3256315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05757321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2792583" y="476672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55640" y="160559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447928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184232" y="160559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847434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439722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176026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704885" y="311142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299984" y="311142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226349" y="313017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791744" y="207364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384032" y="2073644"/>
            <a:ext cx="1800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246943" y="2404607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644078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120336" y="207364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112130" y="391044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375826" y="5104907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025364" y="392918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503900" y="2073644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503900" y="3910444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025364" y="2404607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315486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646449" y="392918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783538" y="5104907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57544" y="233791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6214" y="172709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0768" y="175047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233" y="232493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2510" y="411593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5308" y="328285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2296" y="319582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61" y="2404607"/>
            <a:ext cx="372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9455" y="406627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1210" y="399052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8789" y="477133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7958" y="404753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0768" y="477133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6374" y="3195823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1044496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2783632" y="548680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55640" y="160559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447928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184232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847434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439722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176026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704885" y="311142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299984" y="311142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226349" y="313017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791744" y="207364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384032" y="2073644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246943" y="2404607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644078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120336" y="207364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112130" y="391044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375826" y="5104907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025364" y="392918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503900" y="2073644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503900" y="3910444"/>
            <a:ext cx="1343534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025364" y="2404607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315486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646449" y="392918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783538" y="5104907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57544" y="233791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6214" y="172709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0768" y="175047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233" y="232493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2510" y="411593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5308" y="328285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2296" y="319582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61" y="2404607"/>
            <a:ext cx="372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9455" y="406627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1210" y="399052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8789" y="477133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7958" y="404753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0768" y="477133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1121" y="3235078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1065957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2783632" y="548680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55640" y="1605592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447928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184232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847434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439722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176026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704885" y="311142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299984" y="311142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226349" y="313017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791744" y="207364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384032" y="2073644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246943" y="2404607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644078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120336" y="207364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112130" y="391044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375826" y="5104907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025364" y="392918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503900" y="2073644"/>
            <a:ext cx="1351740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503900" y="3910444"/>
            <a:ext cx="1343534" cy="11944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025364" y="2404607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315486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646449" y="392918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783538" y="5104907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57544" y="233791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6214" y="172709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0768" y="175047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233" y="232493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2510" y="411593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5308" y="328285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2296" y="319582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61" y="2404607"/>
            <a:ext cx="372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9455" y="406627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1210" y="399052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8789" y="477133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7958" y="404753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0768" y="477133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1121" y="3235078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9354517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2783632" y="548680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55640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447928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184232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847434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439722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176026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704885" y="311142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299984" y="311142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226349" y="313017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791744" y="207364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384032" y="2073644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246943" y="2404607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644078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120336" y="207364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112130" y="391044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375826" y="5104907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025364" y="392918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503900" y="2073644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503900" y="3910444"/>
            <a:ext cx="1343534" cy="11944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025364" y="2404607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315486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646449" y="392918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783538" y="5104907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57544" y="233791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6214" y="172709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0768" y="175047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233" y="232493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2510" y="411593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5308" y="328285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2296" y="319582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61" y="2404607"/>
            <a:ext cx="372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9455" y="406627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1210" y="399052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8789" y="477133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7958" y="404753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0768" y="477133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1121" y="3235078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30119160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2783632" y="548680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55640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5447928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/>
          <p:cNvSpPr/>
          <p:nvPr/>
        </p:nvSpPr>
        <p:spPr>
          <a:xfrm>
            <a:off x="8184232" y="1605592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Овал 8"/>
          <p:cNvSpPr/>
          <p:nvPr/>
        </p:nvSpPr>
        <p:spPr>
          <a:xfrm>
            <a:off x="2847434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5439722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8176026" y="463685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Овал 11"/>
          <p:cNvSpPr/>
          <p:nvPr/>
        </p:nvSpPr>
        <p:spPr>
          <a:xfrm>
            <a:off x="704885" y="311142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Овал 12"/>
          <p:cNvSpPr/>
          <p:nvPr/>
        </p:nvSpPr>
        <p:spPr>
          <a:xfrm>
            <a:off x="10299984" y="311142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Овал 13"/>
          <p:cNvSpPr/>
          <p:nvPr/>
        </p:nvSpPr>
        <p:spPr>
          <a:xfrm>
            <a:off x="4226349" y="313017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" name="Прямая соединительная линия 14"/>
          <p:cNvCxnSpPr>
            <a:stCxn id="6" idx="6"/>
            <a:endCxn id="7" idx="2"/>
          </p:cNvCxnSpPr>
          <p:nvPr/>
        </p:nvCxnSpPr>
        <p:spPr>
          <a:xfrm>
            <a:off x="3791744" y="207364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6"/>
            <a:endCxn id="8" idx="2"/>
          </p:cNvCxnSpPr>
          <p:nvPr/>
        </p:nvCxnSpPr>
        <p:spPr>
          <a:xfrm>
            <a:off x="6384032" y="2073644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5"/>
            <a:endCxn id="11" idx="1"/>
          </p:cNvCxnSpPr>
          <p:nvPr/>
        </p:nvCxnSpPr>
        <p:spPr>
          <a:xfrm>
            <a:off x="6246943" y="2404607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8" idx="4"/>
            <a:endCxn id="11" idx="0"/>
          </p:cNvCxnSpPr>
          <p:nvPr/>
        </p:nvCxnSpPr>
        <p:spPr>
          <a:xfrm flipH="1">
            <a:off x="8644078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8" idx="6"/>
            <a:endCxn id="13" idx="1"/>
          </p:cNvCxnSpPr>
          <p:nvPr/>
        </p:nvCxnSpPr>
        <p:spPr>
          <a:xfrm>
            <a:off x="9120336" y="2073644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1" idx="6"/>
            <a:endCxn id="13" idx="3"/>
          </p:cNvCxnSpPr>
          <p:nvPr/>
        </p:nvCxnSpPr>
        <p:spPr>
          <a:xfrm flipV="1">
            <a:off x="9112130" y="3910444"/>
            <a:ext cx="1324943" cy="11944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1" idx="2"/>
          </p:cNvCxnSpPr>
          <p:nvPr/>
        </p:nvCxnSpPr>
        <p:spPr>
          <a:xfrm>
            <a:off x="6375826" y="5104907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4" idx="5"/>
            <a:endCxn id="10" idx="1"/>
          </p:cNvCxnSpPr>
          <p:nvPr/>
        </p:nvCxnSpPr>
        <p:spPr>
          <a:xfrm>
            <a:off x="5025364" y="3929188"/>
            <a:ext cx="551447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6" idx="2"/>
            <a:endCxn id="12" idx="7"/>
          </p:cNvCxnSpPr>
          <p:nvPr/>
        </p:nvCxnSpPr>
        <p:spPr>
          <a:xfrm flipH="1">
            <a:off x="1503900" y="2073644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stCxn id="9" idx="2"/>
            <a:endCxn id="12" idx="5"/>
          </p:cNvCxnSpPr>
          <p:nvPr/>
        </p:nvCxnSpPr>
        <p:spPr>
          <a:xfrm flipH="1" flipV="1">
            <a:off x="1503900" y="3910444"/>
            <a:ext cx="1343534" cy="11944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7" idx="3"/>
            <a:endCxn id="14" idx="7"/>
          </p:cNvCxnSpPr>
          <p:nvPr/>
        </p:nvCxnSpPr>
        <p:spPr>
          <a:xfrm flipH="1">
            <a:off x="5025364" y="2404607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6" idx="4"/>
            <a:endCxn id="9" idx="0"/>
          </p:cNvCxnSpPr>
          <p:nvPr/>
        </p:nvCxnSpPr>
        <p:spPr>
          <a:xfrm flipH="1">
            <a:off x="3315486" y="2541696"/>
            <a:ext cx="8206" cy="2095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4" idx="3"/>
            <a:endCxn id="9" idx="7"/>
          </p:cNvCxnSpPr>
          <p:nvPr/>
        </p:nvCxnSpPr>
        <p:spPr>
          <a:xfrm flipH="1">
            <a:off x="3646449" y="3929188"/>
            <a:ext cx="716989" cy="844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>
            <a:stCxn id="10" idx="2"/>
            <a:endCxn id="9" idx="6"/>
          </p:cNvCxnSpPr>
          <p:nvPr/>
        </p:nvCxnSpPr>
        <p:spPr>
          <a:xfrm flipH="1">
            <a:off x="3783538" y="5104907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57544" y="2337915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6214" y="1727095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70768" y="1750478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233" y="232493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2510" y="4115931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5308" y="3282857"/>
            <a:ext cx="75048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2296" y="3195824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38361" y="2404607"/>
            <a:ext cx="372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9455" y="4066277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1210" y="3990524"/>
            <a:ext cx="3942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8789" y="4771331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7958" y="4047533"/>
            <a:ext cx="34545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0768" y="4771332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1121" y="3235078"/>
            <a:ext cx="60514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89853207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6218" y="544056"/>
            <a:ext cx="116652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>
                <a:ea typeface="Times New Roman" panose="02020603050405020304" pitchFamily="18" charset="0"/>
              </a:rPr>
              <a:t>На последнем, одиннадцатом шаге из выбранных ребер строится минимальное остовное дерево. Несложно подсчитать, что суммарная длина всех ребер сформированного остовного дерева равна 37, что совпадает с результатами, полученными с помощью других алгоритмов.</a:t>
            </a:r>
            <a:endParaRPr lang="be-BY" sz="2400" dirty="0">
              <a:ea typeface="Times New Roman" panose="02020603050405020304" pitchFamily="18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2783632" y="1"/>
            <a:ext cx="6400800" cy="536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>
                <a:solidFill>
                  <a:srgbClr val="00B0F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B0F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999656" y="25289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Овал 8"/>
          <p:cNvSpPr/>
          <p:nvPr/>
        </p:nvSpPr>
        <p:spPr>
          <a:xfrm>
            <a:off x="5591944" y="25289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Овал 9"/>
          <p:cNvSpPr/>
          <p:nvPr/>
        </p:nvSpPr>
        <p:spPr>
          <a:xfrm>
            <a:off x="8328248" y="25289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Овал 10"/>
          <p:cNvSpPr/>
          <p:nvPr/>
        </p:nvSpPr>
        <p:spPr>
          <a:xfrm>
            <a:off x="2991450" y="556016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Овал 11"/>
          <p:cNvSpPr/>
          <p:nvPr/>
        </p:nvSpPr>
        <p:spPr>
          <a:xfrm>
            <a:off x="5583738" y="556016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" name="Овал 12"/>
          <p:cNvSpPr/>
          <p:nvPr/>
        </p:nvSpPr>
        <p:spPr>
          <a:xfrm>
            <a:off x="8320042" y="556016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Овал 13"/>
          <p:cNvSpPr/>
          <p:nvPr/>
        </p:nvSpPr>
        <p:spPr>
          <a:xfrm>
            <a:off x="848901" y="4034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Овал 14"/>
          <p:cNvSpPr/>
          <p:nvPr/>
        </p:nvSpPr>
        <p:spPr>
          <a:xfrm>
            <a:off x="10444000" y="403473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6" name="Овал 15"/>
          <p:cNvSpPr/>
          <p:nvPr/>
        </p:nvSpPr>
        <p:spPr>
          <a:xfrm>
            <a:off x="4370365" y="4053481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8" name="Прямая соединительная линия 17"/>
          <p:cNvCxnSpPr>
            <a:stCxn id="9" idx="6"/>
            <a:endCxn id="10" idx="2"/>
          </p:cNvCxnSpPr>
          <p:nvPr/>
        </p:nvCxnSpPr>
        <p:spPr>
          <a:xfrm>
            <a:off x="6528048" y="2996952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9" idx="5"/>
            <a:endCxn id="13" idx="1"/>
          </p:cNvCxnSpPr>
          <p:nvPr/>
        </p:nvCxnSpPr>
        <p:spPr>
          <a:xfrm>
            <a:off x="6390959" y="3327915"/>
            <a:ext cx="2066172" cy="236933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>
            <a:stCxn id="10" idx="6"/>
            <a:endCxn id="15" idx="1"/>
          </p:cNvCxnSpPr>
          <p:nvPr/>
        </p:nvCxnSpPr>
        <p:spPr>
          <a:xfrm>
            <a:off x="9264352" y="2996952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stCxn id="12" idx="6"/>
            <a:endCxn id="13" idx="2"/>
          </p:cNvCxnSpPr>
          <p:nvPr/>
        </p:nvCxnSpPr>
        <p:spPr>
          <a:xfrm>
            <a:off x="6519842" y="6028215"/>
            <a:ext cx="18002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8" idx="2"/>
            <a:endCxn id="14" idx="7"/>
          </p:cNvCxnSpPr>
          <p:nvPr/>
        </p:nvCxnSpPr>
        <p:spPr>
          <a:xfrm flipH="1">
            <a:off x="1647916" y="2996952"/>
            <a:ext cx="1351740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>
            <a:stCxn id="11" idx="2"/>
            <a:endCxn id="14" idx="5"/>
          </p:cNvCxnSpPr>
          <p:nvPr/>
        </p:nvCxnSpPr>
        <p:spPr>
          <a:xfrm flipH="1" flipV="1">
            <a:off x="1647916" y="4833752"/>
            <a:ext cx="1343534" cy="11944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9" idx="3"/>
            <a:endCxn id="16" idx="7"/>
          </p:cNvCxnSpPr>
          <p:nvPr/>
        </p:nvCxnSpPr>
        <p:spPr>
          <a:xfrm flipH="1">
            <a:off x="5169380" y="3327915"/>
            <a:ext cx="559653" cy="8626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12" idx="2"/>
            <a:endCxn id="11" idx="6"/>
          </p:cNvCxnSpPr>
          <p:nvPr/>
        </p:nvCxnSpPr>
        <p:spPr>
          <a:xfrm flipH="1">
            <a:off x="3927554" y="6028215"/>
            <a:ext cx="165618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01560" y="3261223"/>
            <a:ext cx="4053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784" y="2673786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9249" y="3248244"/>
            <a:ext cx="49873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96312" y="4119132"/>
            <a:ext cx="5057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2377" y="3327915"/>
            <a:ext cx="37292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3471" y="4989585"/>
            <a:ext cx="44312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2805" y="5694639"/>
            <a:ext cx="41126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4784" y="5694640"/>
            <a:ext cx="4338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44144912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1860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28463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5909" y="23468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72786" y="39305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16916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964406" y="48720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47795" y="319493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638009456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1860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28463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5909" y="23468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72786" y="39305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16916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964406" y="48720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47795" y="319493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Полилиния 67"/>
          <p:cNvSpPr/>
          <p:nvPr/>
        </p:nvSpPr>
        <p:spPr>
          <a:xfrm>
            <a:off x="3285958" y="5083872"/>
            <a:ext cx="3527049" cy="1110851"/>
          </a:xfrm>
          <a:custGeom>
            <a:avLst/>
            <a:gdLst>
              <a:gd name="connsiteX0" fmla="*/ 0 w 4578919"/>
              <a:gd name="connsiteY0" fmla="*/ 1238261 h 1626732"/>
              <a:gd name="connsiteX1" fmla="*/ 2173044 w 4578919"/>
              <a:gd name="connsiteY1" fmla="*/ 108708 h 1626732"/>
              <a:gd name="connsiteX2" fmla="*/ 4335331 w 4578919"/>
              <a:gd name="connsiteY2" fmla="*/ 205527 h 1626732"/>
              <a:gd name="connsiteX3" fmla="*/ 4453666 w 4578919"/>
              <a:gd name="connsiteY3" fmla="*/ 1528718 h 1626732"/>
              <a:gd name="connsiteX4" fmla="*/ 3668357 w 4578919"/>
              <a:gd name="connsiteY4" fmla="*/ 1528718 h 1626732"/>
              <a:gd name="connsiteX5" fmla="*/ 3668357 w 4578919"/>
              <a:gd name="connsiteY5" fmla="*/ 1528718 h 1626732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75207"/>
              <a:gd name="connsiteY0" fmla="*/ 1164566 h 1553037"/>
              <a:gd name="connsiteX1" fmla="*/ 763792 w 4675207"/>
              <a:gd name="connsiteY1" fmla="*/ 164104 h 1553037"/>
              <a:gd name="connsiteX2" fmla="*/ 4335331 w 4675207"/>
              <a:gd name="connsiteY2" fmla="*/ 131832 h 1553037"/>
              <a:gd name="connsiteX3" fmla="*/ 4453666 w 4675207"/>
              <a:gd name="connsiteY3" fmla="*/ 1455023 h 1553037"/>
              <a:gd name="connsiteX4" fmla="*/ 3668357 w 4675207"/>
              <a:gd name="connsiteY4" fmla="*/ 1455023 h 1553037"/>
              <a:gd name="connsiteX5" fmla="*/ 3668357 w 4675207"/>
              <a:gd name="connsiteY5" fmla="*/ 1455023 h 155303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642934"/>
              <a:gd name="connsiteY0" fmla="*/ 1391559 h 1564877"/>
              <a:gd name="connsiteX1" fmla="*/ 731519 w 4642934"/>
              <a:gd name="connsiteY1" fmla="*/ 175944 h 1564877"/>
              <a:gd name="connsiteX2" fmla="*/ 4303058 w 4642934"/>
              <a:gd name="connsiteY2" fmla="*/ 143672 h 1564877"/>
              <a:gd name="connsiteX3" fmla="*/ 4421393 w 4642934"/>
              <a:gd name="connsiteY3" fmla="*/ 1466863 h 1564877"/>
              <a:gd name="connsiteX4" fmla="*/ 3636084 w 4642934"/>
              <a:gd name="connsiteY4" fmla="*/ 1466863 h 1564877"/>
              <a:gd name="connsiteX5" fmla="*/ 3636084 w 4642934"/>
              <a:gd name="connsiteY5" fmla="*/ 1466863 h 1564877"/>
              <a:gd name="connsiteX0" fmla="*/ 0 w 4423581"/>
              <a:gd name="connsiteY0" fmla="*/ 1490134 h 1673811"/>
              <a:gd name="connsiteX1" fmla="*/ 731519 w 4423581"/>
              <a:gd name="connsiteY1" fmla="*/ 274519 h 1673811"/>
              <a:gd name="connsiteX2" fmla="*/ 3743660 w 4423581"/>
              <a:gd name="connsiteY2" fmla="*/ 102398 h 1673811"/>
              <a:gd name="connsiteX3" fmla="*/ 4421393 w 4423581"/>
              <a:gd name="connsiteY3" fmla="*/ 1565438 h 1673811"/>
              <a:gd name="connsiteX4" fmla="*/ 3636084 w 4423581"/>
              <a:gd name="connsiteY4" fmla="*/ 1565438 h 1673811"/>
              <a:gd name="connsiteX5" fmla="*/ 3636084 w 4423581"/>
              <a:gd name="connsiteY5" fmla="*/ 1565438 h 1673811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5" fmla="*/ 3636084 w 4402417"/>
              <a:gd name="connsiteY5" fmla="*/ 1550298 h 1550298"/>
              <a:gd name="connsiteX0" fmla="*/ 0 w 4402417"/>
              <a:gd name="connsiteY0" fmla="*/ 1474994 h 1550298"/>
              <a:gd name="connsiteX1" fmla="*/ 731519 w 4402417"/>
              <a:gd name="connsiteY1" fmla="*/ 259379 h 1550298"/>
              <a:gd name="connsiteX2" fmla="*/ 3743660 w 4402417"/>
              <a:gd name="connsiteY2" fmla="*/ 87258 h 1550298"/>
              <a:gd name="connsiteX3" fmla="*/ 4399877 w 4402417"/>
              <a:gd name="connsiteY3" fmla="*/ 1345903 h 1550298"/>
              <a:gd name="connsiteX4" fmla="*/ 3636084 w 4402417"/>
              <a:gd name="connsiteY4" fmla="*/ 1550298 h 1550298"/>
              <a:gd name="connsiteX0" fmla="*/ 0 w 4402417"/>
              <a:gd name="connsiteY0" fmla="*/ 1474994 h 1474994"/>
              <a:gd name="connsiteX1" fmla="*/ 731519 w 4402417"/>
              <a:gd name="connsiteY1" fmla="*/ 259379 h 1474994"/>
              <a:gd name="connsiteX2" fmla="*/ 3743660 w 4402417"/>
              <a:gd name="connsiteY2" fmla="*/ 87258 h 1474994"/>
              <a:gd name="connsiteX3" fmla="*/ 4399877 w 4402417"/>
              <a:gd name="connsiteY3" fmla="*/ 1345903 h 1474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2417" h="1474994">
                <a:moveTo>
                  <a:pt x="0" y="1474994"/>
                </a:moveTo>
                <a:cubicBezTo>
                  <a:pt x="133573" y="1060824"/>
                  <a:pt x="107576" y="490668"/>
                  <a:pt x="731519" y="259379"/>
                </a:cubicBezTo>
                <a:cubicBezTo>
                  <a:pt x="1355462" y="28090"/>
                  <a:pt x="3132267" y="-93829"/>
                  <a:pt x="3743660" y="87258"/>
                </a:cubicBezTo>
                <a:cubicBezTo>
                  <a:pt x="4355053" y="268345"/>
                  <a:pt x="4417806" y="1102063"/>
                  <a:pt x="4399877" y="1345903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675847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1860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28463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5909" y="23468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72786" y="39305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16916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964406" y="48720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47795" y="319493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1" name="Полилиния 20"/>
          <p:cNvSpPr/>
          <p:nvPr/>
        </p:nvSpPr>
        <p:spPr>
          <a:xfrm>
            <a:off x="3042138" y="3104987"/>
            <a:ext cx="4070839" cy="2961705"/>
          </a:xfrm>
          <a:custGeom>
            <a:avLst/>
            <a:gdLst>
              <a:gd name="connsiteX0" fmla="*/ 0 w 4070839"/>
              <a:gd name="connsiteY0" fmla="*/ 2900159 h 2961705"/>
              <a:gd name="connsiteX1" fmla="*/ 545124 w 4070839"/>
              <a:gd name="connsiteY1" fmla="*/ 192128 h 2961705"/>
              <a:gd name="connsiteX2" fmla="*/ 1899139 w 4070839"/>
              <a:gd name="connsiteY2" fmla="*/ 411936 h 2961705"/>
              <a:gd name="connsiteX3" fmla="*/ 2391508 w 4070839"/>
              <a:gd name="connsiteY3" fmla="*/ 1941798 h 2961705"/>
              <a:gd name="connsiteX4" fmla="*/ 3710354 w 4070839"/>
              <a:gd name="connsiteY4" fmla="*/ 1924213 h 2961705"/>
              <a:gd name="connsiteX5" fmla="*/ 4070839 w 4070839"/>
              <a:gd name="connsiteY5" fmla="*/ 2961705 h 2961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0839" h="2961705">
                <a:moveTo>
                  <a:pt x="0" y="2900159"/>
                </a:moveTo>
                <a:cubicBezTo>
                  <a:pt x="114300" y="1753495"/>
                  <a:pt x="228601" y="606832"/>
                  <a:pt x="545124" y="192128"/>
                </a:cubicBezTo>
                <a:cubicBezTo>
                  <a:pt x="861647" y="-222576"/>
                  <a:pt x="1591408" y="120324"/>
                  <a:pt x="1899139" y="411936"/>
                </a:cubicBezTo>
                <a:cubicBezTo>
                  <a:pt x="2206870" y="703548"/>
                  <a:pt x="2089639" y="1689752"/>
                  <a:pt x="2391508" y="1941798"/>
                </a:cubicBezTo>
                <a:cubicBezTo>
                  <a:pt x="2693377" y="2193844"/>
                  <a:pt x="3430466" y="1754229"/>
                  <a:pt x="3710354" y="1924213"/>
                </a:cubicBezTo>
                <a:cubicBezTo>
                  <a:pt x="3990242" y="2094197"/>
                  <a:pt x="4030540" y="2527951"/>
                  <a:pt x="4070839" y="2961705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37181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1860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5909" y="23468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43634" y="400466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964406" y="48720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47795" y="319493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" name="Полилиния 1"/>
          <p:cNvSpPr/>
          <p:nvPr/>
        </p:nvSpPr>
        <p:spPr>
          <a:xfrm>
            <a:off x="1035870" y="1602379"/>
            <a:ext cx="6291196" cy="4574016"/>
          </a:xfrm>
          <a:custGeom>
            <a:avLst/>
            <a:gdLst>
              <a:gd name="connsiteX0" fmla="*/ 2050230 w 6291196"/>
              <a:gd name="connsiteY0" fmla="*/ 4464313 h 4574016"/>
              <a:gd name="connsiteX1" fmla="*/ 1689745 w 6291196"/>
              <a:gd name="connsiteY1" fmla="*/ 2169521 h 4574016"/>
              <a:gd name="connsiteX2" fmla="*/ 450030 w 6291196"/>
              <a:gd name="connsiteY2" fmla="*/ 1729906 h 4574016"/>
              <a:gd name="connsiteX3" fmla="*/ 45584 w 6291196"/>
              <a:gd name="connsiteY3" fmla="*/ 613283 h 4574016"/>
              <a:gd name="connsiteX4" fmla="*/ 1408392 w 6291196"/>
              <a:gd name="connsiteY4" fmla="*/ 32990 h 4574016"/>
              <a:gd name="connsiteX5" fmla="*/ 2568976 w 6291196"/>
              <a:gd name="connsiteY5" fmla="*/ 1571644 h 4574016"/>
              <a:gd name="connsiteX6" fmla="*/ 3879030 w 6291196"/>
              <a:gd name="connsiteY6" fmla="*/ 1844206 h 4574016"/>
              <a:gd name="connsiteX7" fmla="*/ 4353815 w 6291196"/>
              <a:gd name="connsiteY7" fmla="*/ 3374067 h 4574016"/>
              <a:gd name="connsiteX8" fmla="*/ 5672661 w 6291196"/>
              <a:gd name="connsiteY8" fmla="*/ 3435613 h 4574016"/>
              <a:gd name="connsiteX9" fmla="*/ 6244161 w 6291196"/>
              <a:gd name="connsiteY9" fmla="*/ 4490690 h 4574016"/>
              <a:gd name="connsiteX10" fmla="*/ 6217784 w 6291196"/>
              <a:gd name="connsiteY10" fmla="*/ 4429144 h 4574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91196" h="4574016">
                <a:moveTo>
                  <a:pt x="2050230" y="4464313"/>
                </a:moveTo>
                <a:cubicBezTo>
                  <a:pt x="2003337" y="3544784"/>
                  <a:pt x="1956445" y="2625255"/>
                  <a:pt x="1689745" y="2169521"/>
                </a:cubicBezTo>
                <a:cubicBezTo>
                  <a:pt x="1423045" y="1713786"/>
                  <a:pt x="724057" y="1989279"/>
                  <a:pt x="450030" y="1729906"/>
                </a:cubicBezTo>
                <a:cubicBezTo>
                  <a:pt x="176003" y="1470533"/>
                  <a:pt x="-114143" y="896102"/>
                  <a:pt x="45584" y="613283"/>
                </a:cubicBezTo>
                <a:cubicBezTo>
                  <a:pt x="205311" y="330464"/>
                  <a:pt x="987827" y="-126737"/>
                  <a:pt x="1408392" y="32990"/>
                </a:cubicBezTo>
                <a:cubicBezTo>
                  <a:pt x="1828957" y="192717"/>
                  <a:pt x="2157203" y="1269775"/>
                  <a:pt x="2568976" y="1571644"/>
                </a:cubicBezTo>
                <a:cubicBezTo>
                  <a:pt x="2980749" y="1873513"/>
                  <a:pt x="3581557" y="1543802"/>
                  <a:pt x="3879030" y="1844206"/>
                </a:cubicBezTo>
                <a:cubicBezTo>
                  <a:pt x="4176503" y="2144610"/>
                  <a:pt x="4054877" y="3108832"/>
                  <a:pt x="4353815" y="3374067"/>
                </a:cubicBezTo>
                <a:cubicBezTo>
                  <a:pt x="4652754" y="3639301"/>
                  <a:pt x="5357603" y="3249509"/>
                  <a:pt x="5672661" y="3435613"/>
                </a:cubicBezTo>
                <a:cubicBezTo>
                  <a:pt x="5987719" y="3621717"/>
                  <a:pt x="6153307" y="4325102"/>
                  <a:pt x="6244161" y="4490690"/>
                </a:cubicBezTo>
                <a:cubicBezTo>
                  <a:pt x="6335015" y="4656278"/>
                  <a:pt x="6276399" y="4542711"/>
                  <a:pt x="6217784" y="4429144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0067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5015738" y="2329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964406" y="48720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47795" y="319493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1" name="Полилиния 20"/>
          <p:cNvSpPr/>
          <p:nvPr/>
        </p:nvSpPr>
        <p:spPr>
          <a:xfrm>
            <a:off x="888504" y="1692370"/>
            <a:ext cx="6356358" cy="4383115"/>
          </a:xfrm>
          <a:custGeom>
            <a:avLst/>
            <a:gdLst>
              <a:gd name="connsiteX0" fmla="*/ 2206388 w 6356358"/>
              <a:gd name="connsiteY0" fmla="*/ 4277607 h 4383115"/>
              <a:gd name="connsiteX1" fmla="*/ 2021750 w 6356358"/>
              <a:gd name="connsiteY1" fmla="*/ 2677407 h 4383115"/>
              <a:gd name="connsiteX2" fmla="*/ 1608511 w 6356358"/>
              <a:gd name="connsiteY2" fmla="*/ 1815761 h 4383115"/>
              <a:gd name="connsiteX3" fmla="*/ 289665 w 6356358"/>
              <a:gd name="connsiteY3" fmla="*/ 1675084 h 4383115"/>
              <a:gd name="connsiteX4" fmla="*/ 122611 w 6356358"/>
              <a:gd name="connsiteY4" fmla="*/ 479330 h 4383115"/>
              <a:gd name="connsiteX5" fmla="*/ 1784358 w 6356358"/>
              <a:gd name="connsiteY5" fmla="*/ 13338 h 4383115"/>
              <a:gd name="connsiteX6" fmla="*/ 4114319 w 6356358"/>
              <a:gd name="connsiteY6" fmla="*/ 321068 h 4383115"/>
              <a:gd name="connsiteX7" fmla="*/ 4017604 w 6356358"/>
              <a:gd name="connsiteY7" fmla="*/ 2158661 h 4383115"/>
              <a:gd name="connsiteX8" fmla="*/ 4712196 w 6356358"/>
              <a:gd name="connsiteY8" fmla="*/ 3310453 h 4383115"/>
              <a:gd name="connsiteX9" fmla="*/ 5951911 w 6356358"/>
              <a:gd name="connsiteY9" fmla="*/ 3398376 h 4383115"/>
              <a:gd name="connsiteX10" fmla="*/ 6356358 w 6356358"/>
              <a:gd name="connsiteY10" fmla="*/ 4383115 h 438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56358" h="4383115">
                <a:moveTo>
                  <a:pt x="2206388" y="4277607"/>
                </a:moveTo>
                <a:cubicBezTo>
                  <a:pt x="2163892" y="3682661"/>
                  <a:pt x="2121396" y="3087715"/>
                  <a:pt x="2021750" y="2677407"/>
                </a:cubicBezTo>
                <a:cubicBezTo>
                  <a:pt x="1922104" y="2267099"/>
                  <a:pt x="1897192" y="1982815"/>
                  <a:pt x="1608511" y="1815761"/>
                </a:cubicBezTo>
                <a:cubicBezTo>
                  <a:pt x="1319830" y="1648707"/>
                  <a:pt x="537315" y="1897822"/>
                  <a:pt x="289665" y="1675084"/>
                </a:cubicBezTo>
                <a:cubicBezTo>
                  <a:pt x="42015" y="1452346"/>
                  <a:pt x="-126505" y="756288"/>
                  <a:pt x="122611" y="479330"/>
                </a:cubicBezTo>
                <a:cubicBezTo>
                  <a:pt x="371726" y="202372"/>
                  <a:pt x="1119073" y="39715"/>
                  <a:pt x="1784358" y="13338"/>
                </a:cubicBezTo>
                <a:cubicBezTo>
                  <a:pt x="2449643" y="-13039"/>
                  <a:pt x="3742111" y="-36486"/>
                  <a:pt x="4114319" y="321068"/>
                </a:cubicBezTo>
                <a:cubicBezTo>
                  <a:pt x="4486527" y="678622"/>
                  <a:pt x="3917958" y="1660430"/>
                  <a:pt x="4017604" y="2158661"/>
                </a:cubicBezTo>
                <a:cubicBezTo>
                  <a:pt x="4117250" y="2656892"/>
                  <a:pt x="4389812" y="3103834"/>
                  <a:pt x="4712196" y="3310453"/>
                </a:cubicBezTo>
                <a:cubicBezTo>
                  <a:pt x="5034581" y="3517072"/>
                  <a:pt x="5677884" y="3219599"/>
                  <a:pt x="5951911" y="3398376"/>
                </a:cubicBezTo>
                <a:cubicBezTo>
                  <a:pt x="6225938" y="3577153"/>
                  <a:pt x="6291148" y="3980134"/>
                  <a:pt x="6356358" y="4383115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94944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5015738" y="2329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964406" y="48720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47795" y="319493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6" name="Полилиния 25"/>
          <p:cNvSpPr/>
          <p:nvPr/>
        </p:nvSpPr>
        <p:spPr>
          <a:xfrm>
            <a:off x="921148" y="1580035"/>
            <a:ext cx="6288544" cy="4504242"/>
          </a:xfrm>
          <a:custGeom>
            <a:avLst/>
            <a:gdLst>
              <a:gd name="connsiteX0" fmla="*/ 2279252 w 6288544"/>
              <a:gd name="connsiteY0" fmla="*/ 4460280 h 4504242"/>
              <a:gd name="connsiteX1" fmla="*/ 1716544 w 6288544"/>
              <a:gd name="connsiteY1" fmla="*/ 3519503 h 4504242"/>
              <a:gd name="connsiteX2" fmla="*/ 520790 w 6288544"/>
              <a:gd name="connsiteY2" fmla="*/ 3537088 h 4504242"/>
              <a:gd name="connsiteX3" fmla="*/ 2044 w 6288544"/>
              <a:gd name="connsiteY3" fmla="*/ 1550027 h 4504242"/>
              <a:gd name="connsiteX4" fmla="*/ 687844 w 6288544"/>
              <a:gd name="connsiteY4" fmla="*/ 213596 h 4504242"/>
              <a:gd name="connsiteX5" fmla="*/ 3932206 w 6288544"/>
              <a:gd name="connsiteY5" fmla="*/ 196011 h 4504242"/>
              <a:gd name="connsiteX6" fmla="*/ 4011337 w 6288544"/>
              <a:gd name="connsiteY6" fmla="*/ 2095150 h 4504242"/>
              <a:gd name="connsiteX7" fmla="*/ 4635590 w 6288544"/>
              <a:gd name="connsiteY7" fmla="*/ 3510711 h 4504242"/>
              <a:gd name="connsiteX8" fmla="*/ 5963229 w 6288544"/>
              <a:gd name="connsiteY8" fmla="*/ 3370034 h 4504242"/>
              <a:gd name="connsiteX9" fmla="*/ 6288544 w 6288544"/>
              <a:gd name="connsiteY9" fmla="*/ 4504242 h 4504242"/>
              <a:gd name="connsiteX10" fmla="*/ 6288544 w 6288544"/>
              <a:gd name="connsiteY10" fmla="*/ 4504242 h 4504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88544" h="4504242">
                <a:moveTo>
                  <a:pt x="2279252" y="4460280"/>
                </a:moveTo>
                <a:cubicBezTo>
                  <a:pt x="2144436" y="4066824"/>
                  <a:pt x="2009621" y="3673368"/>
                  <a:pt x="1716544" y="3519503"/>
                </a:cubicBezTo>
                <a:cubicBezTo>
                  <a:pt x="1423467" y="3365638"/>
                  <a:pt x="806540" y="3865334"/>
                  <a:pt x="520790" y="3537088"/>
                </a:cubicBezTo>
                <a:cubicBezTo>
                  <a:pt x="235040" y="3208842"/>
                  <a:pt x="-25798" y="2103942"/>
                  <a:pt x="2044" y="1550027"/>
                </a:cubicBezTo>
                <a:cubicBezTo>
                  <a:pt x="29886" y="996112"/>
                  <a:pt x="32817" y="439265"/>
                  <a:pt x="687844" y="213596"/>
                </a:cubicBezTo>
                <a:cubicBezTo>
                  <a:pt x="1342871" y="-12073"/>
                  <a:pt x="3378291" y="-117581"/>
                  <a:pt x="3932206" y="196011"/>
                </a:cubicBezTo>
                <a:cubicBezTo>
                  <a:pt x="4486121" y="509603"/>
                  <a:pt x="3894106" y="1542700"/>
                  <a:pt x="4011337" y="2095150"/>
                </a:cubicBezTo>
                <a:cubicBezTo>
                  <a:pt x="4128568" y="2647600"/>
                  <a:pt x="4310275" y="3298230"/>
                  <a:pt x="4635590" y="3510711"/>
                </a:cubicBezTo>
                <a:cubicBezTo>
                  <a:pt x="4960905" y="3723192"/>
                  <a:pt x="5687737" y="3204445"/>
                  <a:pt x="5963229" y="3370034"/>
                </a:cubicBezTo>
                <a:cubicBezTo>
                  <a:pt x="6238721" y="3535622"/>
                  <a:pt x="6288544" y="4504242"/>
                  <a:pt x="6288544" y="4504242"/>
                </a:cubicBezTo>
                <a:lnTo>
                  <a:pt x="6288544" y="4504242"/>
                </a:ln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29478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5015738" y="2329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964406" y="48720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47795" y="319493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1" name="Полилиния 20"/>
          <p:cNvSpPr/>
          <p:nvPr/>
        </p:nvSpPr>
        <p:spPr>
          <a:xfrm>
            <a:off x="4780060" y="1784838"/>
            <a:ext cx="2490763" cy="4510454"/>
          </a:xfrm>
          <a:custGeom>
            <a:avLst/>
            <a:gdLst>
              <a:gd name="connsiteX0" fmla="*/ 29332 w 2490763"/>
              <a:gd name="connsiteY0" fmla="*/ 0 h 4510454"/>
              <a:gd name="connsiteX1" fmla="*/ 126048 w 2490763"/>
              <a:gd name="connsiteY1" fmla="*/ 2444262 h 4510454"/>
              <a:gd name="connsiteX2" fmla="*/ 1031655 w 2490763"/>
              <a:gd name="connsiteY2" fmla="*/ 3182816 h 4510454"/>
              <a:gd name="connsiteX3" fmla="*/ 2306540 w 2490763"/>
              <a:gd name="connsiteY3" fmla="*/ 3640016 h 4510454"/>
              <a:gd name="connsiteX4" fmla="*/ 2456009 w 2490763"/>
              <a:gd name="connsiteY4" fmla="*/ 4510454 h 4510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0763" h="4510454">
                <a:moveTo>
                  <a:pt x="29332" y="0"/>
                </a:moveTo>
                <a:cubicBezTo>
                  <a:pt x="-5837" y="956896"/>
                  <a:pt x="-41006" y="1913793"/>
                  <a:pt x="126048" y="2444262"/>
                </a:cubicBezTo>
                <a:cubicBezTo>
                  <a:pt x="293102" y="2974731"/>
                  <a:pt x="668240" y="2983524"/>
                  <a:pt x="1031655" y="3182816"/>
                </a:cubicBezTo>
                <a:cubicBezTo>
                  <a:pt x="1395070" y="3382108"/>
                  <a:pt x="2069148" y="3418743"/>
                  <a:pt x="2306540" y="3640016"/>
                </a:cubicBezTo>
                <a:cubicBezTo>
                  <a:pt x="2543932" y="3861289"/>
                  <a:pt x="2499970" y="4185871"/>
                  <a:pt x="2456009" y="4510454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12182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9491" y="232736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964406" y="48720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47795" y="319493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3" name="Полилиния 22"/>
          <p:cNvSpPr/>
          <p:nvPr/>
        </p:nvSpPr>
        <p:spPr>
          <a:xfrm>
            <a:off x="4747846" y="1749669"/>
            <a:ext cx="2391508" cy="4290646"/>
          </a:xfrm>
          <a:custGeom>
            <a:avLst/>
            <a:gdLst>
              <a:gd name="connsiteX0" fmla="*/ 0 w 2391508"/>
              <a:gd name="connsiteY0" fmla="*/ 0 h 4290646"/>
              <a:gd name="connsiteX1" fmla="*/ 342900 w 2391508"/>
              <a:gd name="connsiteY1" fmla="*/ 1503485 h 4290646"/>
              <a:gd name="connsiteX2" fmla="*/ 1907931 w 2391508"/>
              <a:gd name="connsiteY2" fmla="*/ 1608993 h 4290646"/>
              <a:gd name="connsiteX3" fmla="*/ 2391508 w 2391508"/>
              <a:gd name="connsiteY3" fmla="*/ 4290646 h 429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1508" h="4290646">
                <a:moveTo>
                  <a:pt x="0" y="0"/>
                </a:moveTo>
                <a:cubicBezTo>
                  <a:pt x="12455" y="617659"/>
                  <a:pt x="24911" y="1235319"/>
                  <a:pt x="342900" y="1503485"/>
                </a:cubicBezTo>
                <a:cubicBezTo>
                  <a:pt x="660889" y="1771651"/>
                  <a:pt x="1566496" y="1144466"/>
                  <a:pt x="1907931" y="1608993"/>
                </a:cubicBezTo>
                <a:cubicBezTo>
                  <a:pt x="2249366" y="2073520"/>
                  <a:pt x="2320437" y="3182083"/>
                  <a:pt x="2391508" y="4290646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2624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9491" y="232736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990564" y="22865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788068" y="498028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47795" y="319493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3" name="Полилиния 22"/>
          <p:cNvSpPr/>
          <p:nvPr/>
        </p:nvSpPr>
        <p:spPr>
          <a:xfrm>
            <a:off x="6840415" y="1705708"/>
            <a:ext cx="545264" cy="4528038"/>
          </a:xfrm>
          <a:custGeom>
            <a:avLst/>
            <a:gdLst>
              <a:gd name="connsiteX0" fmla="*/ 0 w 545264"/>
              <a:gd name="connsiteY0" fmla="*/ 0 h 4528038"/>
              <a:gd name="connsiteX1" fmla="*/ 527539 w 545264"/>
              <a:gd name="connsiteY1" fmla="*/ 2233246 h 4528038"/>
              <a:gd name="connsiteX2" fmla="*/ 369277 w 545264"/>
              <a:gd name="connsiteY2" fmla="*/ 4528038 h 452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264" h="4528038">
                <a:moveTo>
                  <a:pt x="0" y="0"/>
                </a:moveTo>
                <a:cubicBezTo>
                  <a:pt x="232996" y="739286"/>
                  <a:pt x="465993" y="1478573"/>
                  <a:pt x="527539" y="2233246"/>
                </a:cubicBezTo>
                <a:cubicBezTo>
                  <a:pt x="589085" y="2987919"/>
                  <a:pt x="479181" y="3757978"/>
                  <a:pt x="369277" y="4528038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1295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9491" y="232736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914880" y="40167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788068" y="498028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026462" y="23507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23685" y="310085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6" name="Полилиния 25"/>
          <p:cNvSpPr/>
          <p:nvPr/>
        </p:nvSpPr>
        <p:spPr>
          <a:xfrm>
            <a:off x="7025054" y="1863969"/>
            <a:ext cx="2338754" cy="4149969"/>
          </a:xfrm>
          <a:custGeom>
            <a:avLst/>
            <a:gdLst>
              <a:gd name="connsiteX0" fmla="*/ 2338754 w 2338754"/>
              <a:gd name="connsiteY0" fmla="*/ 0 h 4149969"/>
              <a:gd name="connsiteX1" fmla="*/ 1705708 w 2338754"/>
              <a:gd name="connsiteY1" fmla="*/ 1494693 h 4149969"/>
              <a:gd name="connsiteX2" fmla="*/ 448408 w 2338754"/>
              <a:gd name="connsiteY2" fmla="*/ 1749669 h 4149969"/>
              <a:gd name="connsiteX3" fmla="*/ 0 w 2338754"/>
              <a:gd name="connsiteY3" fmla="*/ 4149969 h 4149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8754" h="4149969">
                <a:moveTo>
                  <a:pt x="2338754" y="0"/>
                </a:moveTo>
                <a:cubicBezTo>
                  <a:pt x="2179760" y="601541"/>
                  <a:pt x="2020766" y="1203082"/>
                  <a:pt x="1705708" y="1494693"/>
                </a:cubicBezTo>
                <a:cubicBezTo>
                  <a:pt x="1390650" y="1786304"/>
                  <a:pt x="732693" y="1307123"/>
                  <a:pt x="448408" y="1749669"/>
                </a:cubicBezTo>
                <a:cubicBezTo>
                  <a:pt x="164123" y="2192215"/>
                  <a:pt x="82061" y="3171092"/>
                  <a:pt x="0" y="4149969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42863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9491" y="232736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7037941" y="404096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7015994" y="47872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123686" y="225147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23685" y="310085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7024" y="479678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6" name="Полилиния 25"/>
          <p:cNvSpPr/>
          <p:nvPr/>
        </p:nvSpPr>
        <p:spPr>
          <a:xfrm>
            <a:off x="7050062" y="1899138"/>
            <a:ext cx="4236310" cy="4026877"/>
          </a:xfrm>
          <a:custGeom>
            <a:avLst/>
            <a:gdLst>
              <a:gd name="connsiteX0" fmla="*/ 1891715 w 4236310"/>
              <a:gd name="connsiteY0" fmla="*/ 0 h 4026877"/>
              <a:gd name="connsiteX1" fmla="*/ 2726984 w 4236310"/>
              <a:gd name="connsiteY1" fmla="*/ 1415562 h 4026877"/>
              <a:gd name="connsiteX2" fmla="*/ 4195300 w 4236310"/>
              <a:gd name="connsiteY2" fmla="*/ 1899139 h 4026877"/>
              <a:gd name="connsiteX3" fmla="*/ 3676553 w 4236310"/>
              <a:gd name="connsiteY3" fmla="*/ 3103685 h 4026877"/>
              <a:gd name="connsiteX4" fmla="*/ 2093938 w 4236310"/>
              <a:gd name="connsiteY4" fmla="*/ 2945424 h 4026877"/>
              <a:gd name="connsiteX5" fmla="*/ 1698284 w 4236310"/>
              <a:gd name="connsiteY5" fmla="*/ 1556239 h 4026877"/>
              <a:gd name="connsiteX6" fmla="*/ 273930 w 4236310"/>
              <a:gd name="connsiteY6" fmla="*/ 1916724 h 4026877"/>
              <a:gd name="connsiteX7" fmla="*/ 1369 w 4236310"/>
              <a:gd name="connsiteY7" fmla="*/ 4026877 h 4026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36310" h="4026877">
                <a:moveTo>
                  <a:pt x="1891715" y="0"/>
                </a:moveTo>
                <a:cubicBezTo>
                  <a:pt x="2117384" y="549519"/>
                  <a:pt x="2343053" y="1099039"/>
                  <a:pt x="2726984" y="1415562"/>
                </a:cubicBezTo>
                <a:cubicBezTo>
                  <a:pt x="3110915" y="1732085"/>
                  <a:pt x="4037039" y="1617785"/>
                  <a:pt x="4195300" y="1899139"/>
                </a:cubicBezTo>
                <a:cubicBezTo>
                  <a:pt x="4353562" y="2180493"/>
                  <a:pt x="4026780" y="2929304"/>
                  <a:pt x="3676553" y="3103685"/>
                </a:cubicBezTo>
                <a:cubicBezTo>
                  <a:pt x="3326326" y="3278066"/>
                  <a:pt x="2423649" y="3203331"/>
                  <a:pt x="2093938" y="2945424"/>
                </a:cubicBezTo>
                <a:cubicBezTo>
                  <a:pt x="1764227" y="2687517"/>
                  <a:pt x="2001619" y="1727689"/>
                  <a:pt x="1698284" y="1556239"/>
                </a:cubicBezTo>
                <a:cubicBezTo>
                  <a:pt x="1394949" y="1384789"/>
                  <a:pt x="556749" y="1504951"/>
                  <a:pt x="273930" y="1916724"/>
                </a:cubicBezTo>
                <a:cubicBezTo>
                  <a:pt x="-8889" y="2328497"/>
                  <a:pt x="-3760" y="3177687"/>
                  <a:pt x="1369" y="4026877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20591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9491" y="232736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81162" y="40239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7015994" y="47872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123686" y="225147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25826" y="303545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6664" y="480181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2890" y="47872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" name="Полилиния 1"/>
          <p:cNvSpPr/>
          <p:nvPr/>
        </p:nvSpPr>
        <p:spPr>
          <a:xfrm>
            <a:off x="7069113" y="3494831"/>
            <a:ext cx="3631223" cy="2584924"/>
          </a:xfrm>
          <a:custGeom>
            <a:avLst/>
            <a:gdLst>
              <a:gd name="connsiteX0" fmla="*/ 3631223 w 3631223"/>
              <a:gd name="connsiteY0" fmla="*/ 1696901 h 2584924"/>
              <a:gd name="connsiteX1" fmla="*/ 2092570 w 3631223"/>
              <a:gd name="connsiteY1" fmla="*/ 1239701 h 2584924"/>
              <a:gd name="connsiteX2" fmla="*/ 1547447 w 3631223"/>
              <a:gd name="connsiteY2" fmla="*/ 87909 h 2584924"/>
              <a:gd name="connsiteX3" fmla="*/ 325316 w 3631223"/>
              <a:gd name="connsiteY3" fmla="*/ 360470 h 2584924"/>
              <a:gd name="connsiteX4" fmla="*/ 0 w 3631223"/>
              <a:gd name="connsiteY4" fmla="*/ 2584924 h 258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1223" h="2584924">
                <a:moveTo>
                  <a:pt x="3631223" y="1696901"/>
                </a:moveTo>
                <a:cubicBezTo>
                  <a:pt x="3035544" y="1602383"/>
                  <a:pt x="2439866" y="1507866"/>
                  <a:pt x="2092570" y="1239701"/>
                </a:cubicBezTo>
                <a:cubicBezTo>
                  <a:pt x="1745274" y="971536"/>
                  <a:pt x="1841989" y="234447"/>
                  <a:pt x="1547447" y="87909"/>
                </a:cubicBezTo>
                <a:cubicBezTo>
                  <a:pt x="1252905" y="-58629"/>
                  <a:pt x="583224" y="-55699"/>
                  <a:pt x="325316" y="360470"/>
                </a:cubicBezTo>
                <a:cubicBezTo>
                  <a:pt x="67408" y="776639"/>
                  <a:pt x="33704" y="1680781"/>
                  <a:pt x="0" y="2584924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8020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9491" y="232736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81162" y="40239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7015994" y="47872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123686" y="225147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25826" y="303545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5826" y="477943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2890" y="47872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1" name="Полилиния 20"/>
          <p:cNvSpPr/>
          <p:nvPr/>
        </p:nvSpPr>
        <p:spPr>
          <a:xfrm>
            <a:off x="7231443" y="4940554"/>
            <a:ext cx="3873242" cy="1073384"/>
          </a:xfrm>
          <a:custGeom>
            <a:avLst/>
            <a:gdLst>
              <a:gd name="connsiteX0" fmla="*/ 22211 w 3873242"/>
              <a:gd name="connsiteY0" fmla="*/ 1073384 h 1073384"/>
              <a:gd name="connsiteX1" fmla="*/ 356319 w 3873242"/>
              <a:gd name="connsiteY1" fmla="*/ 255700 h 1073384"/>
              <a:gd name="connsiteX2" fmla="*/ 2484057 w 3873242"/>
              <a:gd name="connsiteY2" fmla="*/ 9515 h 1073384"/>
              <a:gd name="connsiteX3" fmla="*/ 3618265 w 3873242"/>
              <a:gd name="connsiteY3" fmla="*/ 519469 h 1073384"/>
              <a:gd name="connsiteX4" fmla="*/ 3873242 w 3873242"/>
              <a:gd name="connsiteY4" fmla="*/ 1064592 h 107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3242" h="1073384">
                <a:moveTo>
                  <a:pt x="22211" y="1073384"/>
                </a:moveTo>
                <a:cubicBezTo>
                  <a:pt x="-15889" y="753198"/>
                  <a:pt x="-53989" y="433012"/>
                  <a:pt x="356319" y="255700"/>
                </a:cubicBezTo>
                <a:cubicBezTo>
                  <a:pt x="766627" y="78388"/>
                  <a:pt x="1940399" y="-34447"/>
                  <a:pt x="2484057" y="9515"/>
                </a:cubicBezTo>
                <a:cubicBezTo>
                  <a:pt x="3027715" y="53477"/>
                  <a:pt x="3386734" y="343623"/>
                  <a:pt x="3618265" y="519469"/>
                </a:cubicBezTo>
                <a:cubicBezTo>
                  <a:pt x="3849796" y="695315"/>
                  <a:pt x="3861519" y="879953"/>
                  <a:pt x="3873242" y="1064592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13526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9491" y="232736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81162" y="40239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7015994" y="47872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123686" y="225147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25826" y="303545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5826" y="477943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2890" y="47872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2" name="Полилиния 1"/>
          <p:cNvSpPr/>
          <p:nvPr/>
        </p:nvSpPr>
        <p:spPr>
          <a:xfrm>
            <a:off x="7104185" y="5067479"/>
            <a:ext cx="2461846" cy="1131098"/>
          </a:xfrm>
          <a:custGeom>
            <a:avLst/>
            <a:gdLst>
              <a:gd name="connsiteX0" fmla="*/ 0 w 2461846"/>
              <a:gd name="connsiteY0" fmla="*/ 884913 h 1131098"/>
              <a:gd name="connsiteX1" fmla="*/ 580292 w 2461846"/>
              <a:gd name="connsiteY1" fmla="*/ 49644 h 1131098"/>
              <a:gd name="connsiteX2" fmla="*/ 1828800 w 2461846"/>
              <a:gd name="connsiteY2" fmla="*/ 207906 h 1131098"/>
              <a:gd name="connsiteX3" fmla="*/ 2461846 w 2461846"/>
              <a:gd name="connsiteY3" fmla="*/ 1131098 h 113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1846" h="1131098">
                <a:moveTo>
                  <a:pt x="0" y="884913"/>
                </a:moveTo>
                <a:cubicBezTo>
                  <a:pt x="137746" y="523695"/>
                  <a:pt x="275492" y="162478"/>
                  <a:pt x="580292" y="49644"/>
                </a:cubicBezTo>
                <a:cubicBezTo>
                  <a:pt x="885092" y="-63190"/>
                  <a:pt x="1515208" y="27664"/>
                  <a:pt x="1828800" y="207906"/>
                </a:cubicBezTo>
                <a:cubicBezTo>
                  <a:pt x="2142392" y="388148"/>
                  <a:pt x="2302119" y="759623"/>
                  <a:pt x="2461846" y="1131098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6545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525299" y="4509120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463946" y="2842713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164452" y="2981532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164452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518751" y="2779253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148228" y="4692017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655840" y="2513480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554672" y="4554928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14822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97515" y="2513480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205366" y="3006021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871986" y="479667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918538" y="39418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83804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929491" y="232736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4285" y="392176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94976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81162" y="40239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7015994" y="47872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123686" y="225147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925826" y="303545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925826" y="477943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947024" y="314695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942890" y="47872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59904621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487488" y="260648"/>
            <a:ext cx="97541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ctr"/>
            <a:r>
              <a:rPr lang="ru-RU" sz="32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Стандартный алгоритм построения минимальных покрывающих деревьев</a:t>
            </a:r>
            <a:endParaRPr lang="ru-RU" sz="32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969640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08479" y="2751542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96400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96400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80176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8017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8017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661411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663952" y="375898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663952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719736" y="530395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719736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719736" y="204542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662390" y="5303817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664931" y="375591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664931" y="2043698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132983" y="2979802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98494" y="2689175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130442" y="4692017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87788" y="4692017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601035" y="2511750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655840" y="5771869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600056" y="422396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626787" y="2537653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626787" y="5771869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139604" y="2991751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462967" y="2622128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461611" y="2913529"/>
            <a:ext cx="1289352" cy="26208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129463" y="4695088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910320" y="314908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913020" y="47978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78163" y="308445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88803" y="231206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963684" y="480025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925254" y="318375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907701" y="475954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97077" y="557181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73821" y="305904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81162" y="40239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9123686" y="2251472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5" name="TextBox 94"/>
          <p:cNvSpPr txBox="1"/>
          <p:nvPr/>
        </p:nvSpPr>
        <p:spPr>
          <a:xfrm>
            <a:off x="8884725" y="398796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9026461" y="317513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902125" y="556586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1127448" y="1389911"/>
            <a:ext cx="11305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000" dirty="0" smtClean="0">
                <a:latin typeface="+mj-lt"/>
                <a:ea typeface="Times New Roman" panose="02020603050405020304" pitchFamily="18" charset="0"/>
              </a:rPr>
              <a:t>Сумма длин ребер дерева равна 42</a:t>
            </a:r>
            <a:endParaRPr lang="be-BY" sz="2000" dirty="0">
              <a:latin typeface="+mj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344817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941467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48763"/>
      </p:ext>
    </p:extLst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27878491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615712071"/>
      </p:ext>
    </p:extLst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87646555"/>
      </p:ext>
    </p:extLst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76131062"/>
      </p:ext>
    </p:extLst>
  </p:cSld>
  <p:clrMapOvr>
    <a:masterClrMapping/>
  </p:clrMapOvr>
  <p:transition spd="slow">
    <p:push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48877363"/>
      </p:ext>
    </p:extLst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5347516" y="3151187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3166" y="334319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65234911"/>
      </p:ext>
    </p:extLst>
  </p:cSld>
  <p:clrMapOvr>
    <a:masterClrMapping/>
  </p:clrMapOvr>
  <p:transition spd="slow">
    <p:push dir="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5347516" y="3151187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3166" y="334319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3395700" y="4851453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71596" y="49596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58716537"/>
      </p:ext>
    </p:extLst>
  </p:cSld>
  <p:clrMapOvr>
    <a:masterClrMapping/>
  </p:clrMapOvr>
  <p:transition spd="slow">
    <p:push dir="u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5347516" y="3151187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3166" y="334319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3395700" y="4851453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71596" y="49596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 flipH="1">
            <a:off x="5670879" y="2781564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81733" y="321848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4252369"/>
      </p:ext>
    </p:extLst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5347516" y="3151187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3166" y="334319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3395700" y="4851453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71596" y="49596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 flipH="1">
            <a:off x="5670879" y="2781564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81733" y="321848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 flipH="1">
            <a:off x="7834699" y="593130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10037" y="57252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68268770"/>
      </p:ext>
    </p:extLst>
  </p:cSld>
  <p:clrMapOvr>
    <a:masterClrMapping/>
  </p:clrMapOvr>
  <p:transition spd="slow">
    <p:push dir="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5347516" y="3151187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3166" y="334319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3395700" y="4851453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71596" y="49596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 flipH="1">
            <a:off x="5670879" y="2781564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81733" y="321848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 flipH="1">
            <a:off x="7834699" y="593130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10037" y="57252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flipH="1">
            <a:off x="5807968" y="4383401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2792" y="417614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32088324"/>
      </p:ext>
    </p:extLst>
  </p:cSld>
  <p:clrMapOvr>
    <a:masterClrMapping/>
  </p:clrMapOvr>
  <p:transition spd="slow">
    <p:push dir="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5347516" y="3151187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3166" y="334319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3395700" y="4851453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71596" y="49596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 flipH="1">
            <a:off x="5670879" y="2781564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81733" y="321848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 flipH="1">
            <a:off x="7834699" y="593130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10037" y="57252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flipH="1">
            <a:off x="5807968" y="4383401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2792" y="417614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 flipH="1">
            <a:off x="7834699" y="2697089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34374" y="251017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550362461"/>
      </p:ext>
    </p:extLst>
  </p:cSld>
  <p:clrMapOvr>
    <a:masterClrMapping/>
  </p:clrMapOvr>
  <p:transition spd="slow">
    <p:push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5347516" y="3151187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3166" y="334319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3395700" y="4851453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71596" y="49596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 flipH="1">
            <a:off x="5670879" y="2781564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81733" y="321848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 flipH="1">
            <a:off x="7834699" y="593130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10037" y="57252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flipH="1">
            <a:off x="5807968" y="4383401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2792" y="417614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 flipH="1">
            <a:off x="7834699" y="2697089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34374" y="251017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1340895" y="3139238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19772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34883521"/>
      </p:ext>
    </p:extLst>
  </p:cSld>
  <p:clrMapOvr>
    <a:masterClrMapping/>
  </p:clrMapOvr>
  <p:transition spd="slow">
    <p:push dir="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5347516" y="3151187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3166" y="334319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3395700" y="4851453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71596" y="49596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 flipH="1">
            <a:off x="5670879" y="2781564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81733" y="321848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 flipH="1">
            <a:off x="7834699" y="593130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10037" y="57252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flipH="1">
            <a:off x="5807968" y="4383401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2792" y="417614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 flipH="1">
            <a:off x="7834699" y="2697089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34374" y="251017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1340895" y="3139238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19772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 flipH="1">
            <a:off x="5337375" y="4854524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124828" y="495622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53760952"/>
      </p:ext>
    </p:extLst>
  </p:cSld>
  <p:clrMapOvr>
    <a:masterClrMapping/>
  </p:clrMapOvr>
  <p:transition spd="slow">
    <p:push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890431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8904312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904312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6888088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88808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688808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4869323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4871864" y="391842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71864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27648" y="546339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927648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2927648" y="220486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870302" y="5463253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872843" y="391534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872843" y="2203134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-56447" y="235267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</a:t>
            </a:r>
            <a:r>
              <a:rPr lang="ru-RU" sz="3200" b="1" dirty="0" err="1" smtClean="0">
                <a:solidFill>
                  <a:srgbClr val="0070C0"/>
                </a:solidFill>
                <a:cs typeface="Times New Roman" panose="02020603050405020304" pitchFamily="18" charset="0"/>
              </a:rPr>
              <a:t>Краскала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555" y="167208"/>
            <a:ext cx="3941146" cy="183920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1806406" y="2848611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86075" y="324388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7716391" y="2910978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34373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 flipV="1">
            <a:off x="3863752" y="5931305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04989" y="573125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 flipH="1" flipV="1">
            <a:off x="1808947" y="2671186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96715" y="24714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28" name="Прямая соединительная линия 27"/>
          <p:cNvCxnSpPr/>
          <p:nvPr/>
        </p:nvCxnSpPr>
        <p:spPr>
          <a:xfrm flipH="1">
            <a:off x="1338354" y="4851453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932" y="495729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5347516" y="3151187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33166" y="334319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cxnSp>
        <p:nvCxnSpPr>
          <p:cNvPr id="32" name="Прямая соединительная линия 31"/>
          <p:cNvCxnSpPr/>
          <p:nvPr/>
        </p:nvCxnSpPr>
        <p:spPr>
          <a:xfrm>
            <a:off x="3395700" y="4851453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171596" y="495969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 flipH="1">
            <a:off x="5670879" y="2781564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81733" y="321848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 flipH="1">
            <a:off x="7834699" y="593130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10037" y="57252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flipH="1">
            <a:off x="5807968" y="4383401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2792" y="417614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cxnSp>
        <p:nvCxnSpPr>
          <p:cNvPr id="40" name="Прямая соединительная линия 39"/>
          <p:cNvCxnSpPr/>
          <p:nvPr/>
        </p:nvCxnSpPr>
        <p:spPr>
          <a:xfrm flipH="1">
            <a:off x="7834699" y="2697089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34374" y="251017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1340895" y="3139238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19772" y="333457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cxnSp>
        <p:nvCxnSpPr>
          <p:cNvPr id="44" name="Прямая соединительная линия 43"/>
          <p:cNvCxnSpPr/>
          <p:nvPr/>
        </p:nvCxnSpPr>
        <p:spPr>
          <a:xfrm flipH="1">
            <a:off x="5337375" y="4854524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124828" y="4956220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cxnSp>
        <p:nvCxnSpPr>
          <p:cNvPr id="46" name="Прямая соединительная линия 45"/>
          <p:cNvCxnSpPr/>
          <p:nvPr/>
        </p:nvCxnSpPr>
        <p:spPr>
          <a:xfrm>
            <a:off x="7669523" y="3072965"/>
            <a:ext cx="1289352" cy="26208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092637" y="414740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913287" y="1093730"/>
            <a:ext cx="11305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000" dirty="0" smtClean="0">
                <a:latin typeface="+mj-lt"/>
                <a:ea typeface="Times New Roman" panose="02020603050405020304" pitchFamily="18" charset="0"/>
              </a:rPr>
              <a:t>Сумма длин ребер дерева равна 42</a:t>
            </a:r>
            <a:endParaRPr lang="be-BY" sz="2000" dirty="0">
              <a:latin typeface="+mj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605539"/>
      </p:ext>
    </p:extLst>
  </p:cSld>
  <p:clrMapOvr>
    <a:masterClrMapping/>
  </p:clrMapOvr>
  <p:transition spd="slow">
    <p:push dir="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753735"/>
      </p:ext>
    </p:extLst>
  </p:cSld>
  <p:clrMapOvr>
    <a:masterClrMapping/>
  </p:clrMapOvr>
  <p:transition spd="slow">
    <p:push dir="u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848131"/>
      </p:ext>
    </p:extLst>
  </p:cSld>
  <p:clrMapOvr>
    <a:masterClrMapping/>
  </p:clrMapOvr>
  <p:transition spd="slow">
    <p:push dir="u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247043"/>
      </p:ext>
    </p:extLst>
  </p:cSld>
  <p:clrMapOvr>
    <a:masterClrMapping/>
  </p:clrMapOvr>
  <p:transition spd="slow">
    <p:push dir="u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033632"/>
      </p:ext>
    </p:extLst>
  </p:cSld>
  <p:clrMapOvr>
    <a:masterClrMapping/>
  </p:clrMapOvr>
  <p:transition spd="slow">
    <p:push dir="u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174134"/>
      </p:ext>
    </p:extLst>
  </p:cSld>
  <p:clrMapOvr>
    <a:masterClrMapping/>
  </p:clrMapOvr>
  <p:transition spd="slow">
    <p:push dir="u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50011"/>
      </p:ext>
    </p:extLst>
  </p:cSld>
  <p:clrMapOvr>
    <a:masterClrMapping/>
  </p:clrMapOvr>
  <p:transition spd="slow">
    <p:push dir="u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160284"/>
      </p:ext>
    </p:extLst>
  </p:cSld>
  <p:clrMapOvr>
    <a:masterClrMapping/>
  </p:clrMapOvr>
  <p:transition spd="slow">
    <p:push dir="u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181062"/>
      </p:ext>
    </p:extLst>
  </p:cSld>
  <p:clrMapOvr>
    <a:masterClrMapping/>
  </p:clrMapOvr>
  <p:transition spd="slow">
    <p:push dir="u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415013"/>
      </p:ext>
    </p:extLst>
  </p:cSld>
  <p:clrMapOvr>
    <a:masterClrMapping/>
  </p:clrMapOvr>
  <p:transition spd="slow">
    <p:push dir="u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816745"/>
      </p:ext>
    </p:extLst>
  </p:cSld>
  <p:clrMapOvr>
    <a:masterClrMapping/>
  </p:clrMapOvr>
  <p:transition spd="slow">
    <p:push dir="u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285367"/>
      </p:ext>
    </p:extLst>
  </p:cSld>
  <p:clrMapOvr>
    <a:masterClrMapping/>
  </p:clrMapOvr>
  <p:transition spd="slow">
    <p:push dir="u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952851"/>
      </p:ext>
    </p:extLst>
  </p:cSld>
  <p:clrMapOvr>
    <a:masterClrMapping/>
  </p:clrMapOvr>
  <p:transition spd="slow">
    <p:push dir="u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142157"/>
      </p:ext>
    </p:extLst>
  </p:cSld>
  <p:clrMapOvr>
    <a:masterClrMapping/>
  </p:clrMapOvr>
  <p:transition spd="slow">
    <p:push dir="u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194723"/>
      </p:ext>
    </p:extLst>
  </p:cSld>
  <p:clrMapOvr>
    <a:masterClrMapping/>
  </p:clrMapOvr>
  <p:transition spd="slow">
    <p:push dir="u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836875"/>
      </p:ext>
    </p:extLst>
  </p:cSld>
  <p:clrMapOvr>
    <a:masterClrMapping/>
  </p:clrMapOvr>
  <p:transition spd="slow">
    <p:push dir="u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2453291" y="4092492"/>
            <a:ext cx="1266445" cy="10801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stCxn id="19" idx="5"/>
            <a:endCxn id="14" idx="1"/>
          </p:cNvCxnSpPr>
          <p:nvPr/>
        </p:nvCxnSpPr>
        <p:spPr>
          <a:xfrm>
            <a:off x="2391938" y="2426085"/>
            <a:ext cx="1392879" cy="25983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stCxn id="7" idx="4"/>
          </p:cNvCxnSpPr>
          <p:nvPr/>
        </p:nvCxnSpPr>
        <p:spPr>
          <a:xfrm>
            <a:off x="10092444" y="2564904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6" idx="4"/>
            <a:endCxn id="4" idx="0"/>
          </p:cNvCxnSpPr>
          <p:nvPr/>
        </p:nvCxnSpPr>
        <p:spPr>
          <a:xfrm>
            <a:off x="10092444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>
            <a:endCxn id="14" idx="7"/>
          </p:cNvCxnSpPr>
          <p:nvPr/>
        </p:nvCxnSpPr>
        <p:spPr>
          <a:xfrm flipH="1">
            <a:off x="4446743" y="2362625"/>
            <a:ext cx="1217210" cy="2661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>
            <a:stCxn id="9" idx="4"/>
            <a:endCxn id="8" idx="0"/>
          </p:cNvCxnSpPr>
          <p:nvPr/>
        </p:nvCxnSpPr>
        <p:spPr>
          <a:xfrm>
            <a:off x="8076220" y="4275389"/>
            <a:ext cx="0" cy="611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>
            <a:stCxn id="13" idx="2"/>
          </p:cNvCxnSpPr>
          <p:nvPr/>
        </p:nvCxnSpPr>
        <p:spPr>
          <a:xfrm flipH="1">
            <a:off x="4583832" y="2096852"/>
            <a:ext cx="10081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9" idx="3"/>
          </p:cNvCxnSpPr>
          <p:nvPr/>
        </p:nvCxnSpPr>
        <p:spPr>
          <a:xfrm flipH="1">
            <a:off x="6482664" y="4138300"/>
            <a:ext cx="1262593" cy="1034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807621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H="1">
            <a:off x="6525507" y="2096852"/>
            <a:ext cx="108012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>
            <a:off x="4133358" y="2589393"/>
            <a:ext cx="1" cy="7779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2756455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2846530" y="352519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1" name="TextBox 80"/>
          <p:cNvSpPr txBox="1"/>
          <p:nvPr/>
        </p:nvSpPr>
        <p:spPr>
          <a:xfrm>
            <a:off x="3911796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3" name="TextBox 82"/>
          <p:cNvSpPr txBox="1"/>
          <p:nvPr/>
        </p:nvSpPr>
        <p:spPr>
          <a:xfrm>
            <a:off x="4853901" y="19302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778" y="3513928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8" name="TextBox 87"/>
          <p:cNvSpPr txBox="1"/>
          <p:nvPr/>
        </p:nvSpPr>
        <p:spPr>
          <a:xfrm>
            <a:off x="6822968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6892398" y="445540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7875787" y="277830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7</a:t>
            </a:r>
            <a:endParaRPr lang="ru-RU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7854656" y="438518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8" name="TextBox 97"/>
          <p:cNvSpPr txBox="1"/>
          <p:nvPr/>
        </p:nvSpPr>
        <p:spPr>
          <a:xfrm>
            <a:off x="9875016" y="2730325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99" name="TextBox 98"/>
          <p:cNvSpPr txBox="1"/>
          <p:nvPr/>
        </p:nvSpPr>
        <p:spPr>
          <a:xfrm>
            <a:off x="9875016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9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05920"/>
      </p:ext>
    </p:extLst>
  </p:cSld>
  <p:clrMapOvr>
    <a:masterClrMapping/>
  </p:clrMapOvr>
  <p:transition spd="slow">
    <p:push dir="u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9624392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15</a:t>
            </a:r>
            <a:endParaRPr lang="ru-RU" sz="40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436471" y="2334914"/>
            <a:ext cx="1316737" cy="11748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9624392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10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9624392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Овал 7"/>
          <p:cNvSpPr/>
          <p:nvPr/>
        </p:nvSpPr>
        <p:spPr>
          <a:xfrm>
            <a:off x="7608168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14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760816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Овал 9"/>
          <p:cNvSpPr/>
          <p:nvPr/>
        </p:nvSpPr>
        <p:spPr>
          <a:xfrm>
            <a:off x="760816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Овал 10"/>
          <p:cNvSpPr/>
          <p:nvPr/>
        </p:nvSpPr>
        <p:spPr>
          <a:xfrm>
            <a:off x="5589403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solidFill>
                  <a:schemeClr val="tx1"/>
                </a:solidFill>
              </a:rPr>
              <a:t>13</a:t>
            </a:r>
            <a:endParaRPr lang="ru-RU" sz="4000" dirty="0">
              <a:solidFill>
                <a:schemeClr val="tx1"/>
              </a:solidFill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5591944" y="3342356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Овал 12"/>
          <p:cNvSpPr/>
          <p:nvPr/>
        </p:nvSpPr>
        <p:spPr>
          <a:xfrm>
            <a:off x="5591944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Овал 13"/>
          <p:cNvSpPr/>
          <p:nvPr/>
        </p:nvSpPr>
        <p:spPr>
          <a:xfrm>
            <a:off x="3647728" y="488733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 smtClean="0">
                <a:solidFill>
                  <a:schemeClr val="tx1"/>
                </a:solidFill>
              </a:rPr>
              <a:t>12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3647728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Овал 15"/>
          <p:cNvSpPr/>
          <p:nvPr/>
        </p:nvSpPr>
        <p:spPr>
          <a:xfrm>
            <a:off x="3647728" y="162880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Овал 16"/>
          <p:cNvSpPr/>
          <p:nvPr/>
        </p:nvSpPr>
        <p:spPr>
          <a:xfrm>
            <a:off x="1590382" y="4887189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>
                <a:solidFill>
                  <a:schemeClr val="tx1"/>
                </a:solidFill>
              </a:rPr>
              <a:t>11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1592923" y="3339285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Овал 18"/>
          <p:cNvSpPr/>
          <p:nvPr/>
        </p:nvSpPr>
        <p:spPr>
          <a:xfrm>
            <a:off x="1592923" y="1627070"/>
            <a:ext cx="936104" cy="9361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2" name="Прямая соединительная линия 21"/>
          <p:cNvCxnSpPr>
            <a:stCxn id="19" idx="4"/>
            <a:endCxn id="18" idx="0"/>
          </p:cNvCxnSpPr>
          <p:nvPr/>
        </p:nvCxnSpPr>
        <p:spPr>
          <a:xfrm>
            <a:off x="2060975" y="2563174"/>
            <a:ext cx="0" cy="77611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>
            <a:endCxn id="15" idx="1"/>
          </p:cNvCxnSpPr>
          <p:nvPr/>
        </p:nvCxnSpPr>
        <p:spPr>
          <a:xfrm>
            <a:off x="2526486" y="2272547"/>
            <a:ext cx="1258331" cy="120382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endCxn id="17" idx="0"/>
          </p:cNvCxnSpPr>
          <p:nvPr/>
        </p:nvCxnSpPr>
        <p:spPr>
          <a:xfrm flipH="1">
            <a:off x="2058434" y="4275389"/>
            <a:ext cx="1" cy="611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15" idx="4"/>
            <a:endCxn id="14" idx="0"/>
          </p:cNvCxnSpPr>
          <p:nvPr/>
        </p:nvCxnSpPr>
        <p:spPr>
          <a:xfrm>
            <a:off x="4115780" y="4275389"/>
            <a:ext cx="0" cy="6119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>
            <a:stCxn id="16" idx="2"/>
            <a:endCxn id="19" idx="6"/>
          </p:cNvCxnSpPr>
          <p:nvPr/>
        </p:nvCxnSpPr>
        <p:spPr>
          <a:xfrm flipH="1" flipV="1">
            <a:off x="2529027" y="2095122"/>
            <a:ext cx="1118701" cy="1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stCxn id="14" idx="6"/>
            <a:endCxn id="11" idx="2"/>
          </p:cNvCxnSpPr>
          <p:nvPr/>
        </p:nvCxnSpPr>
        <p:spPr>
          <a:xfrm flipV="1">
            <a:off x="4583832" y="5355241"/>
            <a:ext cx="1005571" cy="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/>
          <p:cNvCxnSpPr/>
          <p:nvPr/>
        </p:nvCxnSpPr>
        <p:spPr>
          <a:xfrm flipH="1">
            <a:off x="6528048" y="3807337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 flipH="1">
            <a:off x="8554779" y="2121025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/>
          <p:nvPr/>
        </p:nvCxnSpPr>
        <p:spPr>
          <a:xfrm flipH="1">
            <a:off x="8554779" y="5355241"/>
            <a:ext cx="108012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6067596" y="2575123"/>
            <a:ext cx="1" cy="7779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>
            <a:endCxn id="12" idx="7"/>
          </p:cNvCxnSpPr>
          <p:nvPr/>
        </p:nvCxnSpPr>
        <p:spPr>
          <a:xfrm flipH="1">
            <a:off x="6390959" y="2205500"/>
            <a:ext cx="1217209" cy="127394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>
            <a:off x="8389603" y="2496901"/>
            <a:ext cx="1289352" cy="26208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12" idx="4"/>
            <a:endCxn id="11" idx="0"/>
          </p:cNvCxnSpPr>
          <p:nvPr/>
        </p:nvCxnSpPr>
        <p:spPr>
          <a:xfrm flipH="1">
            <a:off x="6057455" y="4278460"/>
            <a:ext cx="2541" cy="6087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839852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76" name="TextBox 75"/>
          <p:cNvSpPr txBox="1"/>
          <p:nvPr/>
        </p:nvSpPr>
        <p:spPr>
          <a:xfrm>
            <a:off x="1841012" y="43812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3006155" y="266782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0" name="TextBox 79"/>
          <p:cNvSpPr txBox="1"/>
          <p:nvPr/>
        </p:nvSpPr>
        <p:spPr>
          <a:xfrm>
            <a:off x="2916795" y="1895434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2" name="TextBox 81"/>
          <p:cNvSpPr txBox="1"/>
          <p:nvPr/>
        </p:nvSpPr>
        <p:spPr>
          <a:xfrm>
            <a:off x="3891676" y="438362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853246" y="276712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2</a:t>
            </a:r>
            <a:endParaRPr lang="ru-RU" sz="2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44908" y="438015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5</a:t>
            </a:r>
            <a:endParaRPr lang="ru-RU" sz="2000" dirty="0"/>
          </a:p>
        </p:txBody>
      </p:sp>
      <p:sp>
        <p:nvSpPr>
          <p:cNvPr id="87" name="TextBox 86"/>
          <p:cNvSpPr txBox="1"/>
          <p:nvPr/>
        </p:nvSpPr>
        <p:spPr>
          <a:xfrm>
            <a:off x="4825069" y="515518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89" name="TextBox 88"/>
          <p:cNvSpPr txBox="1"/>
          <p:nvPr/>
        </p:nvSpPr>
        <p:spPr>
          <a:xfrm>
            <a:off x="6801813" y="2642417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6842872" y="360007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8954454" y="1934106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4</a:t>
            </a:r>
            <a:endParaRPr lang="ru-RU" sz="2000" dirty="0"/>
          </a:p>
        </p:txBody>
      </p:sp>
      <p:sp>
        <p:nvSpPr>
          <p:cNvPr id="95" name="TextBox 94"/>
          <p:cNvSpPr txBox="1"/>
          <p:nvPr/>
        </p:nvSpPr>
        <p:spPr>
          <a:xfrm>
            <a:off x="8812717" y="3571341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6</a:t>
            </a:r>
            <a:endParaRPr lang="ru-RU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8954453" y="2758509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1</a:t>
            </a:r>
            <a:endParaRPr lang="ru-RU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8830117" y="5149233"/>
            <a:ext cx="4431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3</a:t>
            </a:r>
            <a:endParaRPr lang="ru-RU" sz="2000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2711624" y="215170"/>
            <a:ext cx="6400800" cy="5372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Font typeface="Arial" panose="020B0604020202020204" pitchFamily="34" charset="0"/>
              <a:buNone/>
            </a:pPr>
            <a:r>
              <a:rPr lang="ru-RU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Алгоритм Прима</a:t>
            </a:r>
            <a:endParaRPr lang="be-BY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69" name="Прямоугольник 68"/>
          <p:cNvSpPr/>
          <p:nvPr/>
        </p:nvSpPr>
        <p:spPr>
          <a:xfrm>
            <a:off x="242159" y="632127"/>
            <a:ext cx="11665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23850" algn="just"/>
            <a:r>
              <a:rPr lang="ru-RU" sz="2400" dirty="0" smtClean="0">
                <a:ea typeface="Times New Roman" panose="02020603050405020304" pitchFamily="18" charset="0"/>
              </a:rPr>
              <a:t>Суммарная </a:t>
            </a:r>
            <a:r>
              <a:rPr lang="ru-RU" sz="2400" dirty="0">
                <a:ea typeface="Times New Roman" panose="02020603050405020304" pitchFamily="18" charset="0"/>
              </a:rPr>
              <a:t>длина всех ребер сформированного остовного дерева равна </a:t>
            </a:r>
            <a:r>
              <a:rPr lang="ru-RU" sz="2400" dirty="0" smtClean="0">
                <a:ea typeface="Times New Roman" panose="02020603050405020304" pitchFamily="18" charset="0"/>
              </a:rPr>
              <a:t>42, </a:t>
            </a:r>
            <a:r>
              <a:rPr lang="ru-RU" sz="2400" dirty="0">
                <a:ea typeface="Times New Roman" panose="02020603050405020304" pitchFamily="18" charset="0"/>
              </a:rPr>
              <a:t>что совпадает с результатами, полученными с помощью других алгоритмов.</a:t>
            </a:r>
            <a:endParaRPr lang="be-BY" sz="24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8131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МП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2631</TotalTime>
  <Words>3220</Words>
  <Application>Microsoft Office PowerPoint</Application>
  <PresentationFormat>Широкоэкранный</PresentationFormat>
  <Paragraphs>2451</Paragraphs>
  <Slides>92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92</vt:i4>
      </vt:variant>
    </vt:vector>
  </HeadingPairs>
  <TitlesOfParts>
    <vt:vector size="99" baseType="lpstr">
      <vt:lpstr>Arial</vt:lpstr>
      <vt:lpstr>Bahnschrift</vt:lpstr>
      <vt:lpstr>Calibri</vt:lpstr>
      <vt:lpstr>Georgia</vt:lpstr>
      <vt:lpstr>Symbol</vt:lpstr>
      <vt:lpstr>Times New Roman</vt:lpstr>
      <vt:lpstr>Тема Office</vt:lpstr>
      <vt:lpstr>  МИНИМАЛЬНЫЕ ПОКРЫВАЮЩИЕ ДЕРЕВЬЯ </vt:lpstr>
      <vt:lpstr>МИНИМАЛЬНЫЕ ПОКРЫВАЮЩИЕ ДЕРЕВЬЯ </vt:lpstr>
      <vt:lpstr>План лекции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ПРОГРАММИРОВАНИЕ</dc:title>
  <dc:creator>Brakovich</dc:creator>
  <cp:lastModifiedBy>User</cp:lastModifiedBy>
  <cp:revision>84</cp:revision>
  <cp:lastPrinted>2023-04-12T09:28:53Z</cp:lastPrinted>
  <dcterms:created xsi:type="dcterms:W3CDTF">2010-12-02T13:55:43Z</dcterms:created>
  <dcterms:modified xsi:type="dcterms:W3CDTF">2026-04-29T14:58:53Z</dcterms:modified>
</cp:coreProperties>
</file>