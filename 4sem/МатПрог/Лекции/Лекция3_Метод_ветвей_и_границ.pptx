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3" r:id="rId2"/>
    <p:sldId id="285" r:id="rId3"/>
    <p:sldId id="286" r:id="rId4"/>
    <p:sldId id="295" r:id="rId5"/>
    <p:sldId id="271" r:id="rId6"/>
    <p:sldId id="275" r:id="rId7"/>
    <p:sldId id="291" r:id="rId8"/>
    <p:sldId id="276" r:id="rId9"/>
    <p:sldId id="269" r:id="rId10"/>
    <p:sldId id="282" r:id="rId11"/>
    <p:sldId id="259" r:id="rId12"/>
    <p:sldId id="284" r:id="rId13"/>
    <p:sldId id="287" r:id="rId14"/>
    <p:sldId id="288" r:id="rId15"/>
    <p:sldId id="260" r:id="rId16"/>
    <p:sldId id="283" r:id="rId17"/>
    <p:sldId id="268" r:id="rId18"/>
    <p:sldId id="277" r:id="rId19"/>
    <p:sldId id="289" r:id="rId20"/>
    <p:sldId id="278" r:id="rId21"/>
    <p:sldId id="262" r:id="rId22"/>
    <p:sldId id="261" r:id="rId23"/>
    <p:sldId id="281" r:id="rId24"/>
    <p:sldId id="290" r:id="rId25"/>
    <p:sldId id="274" r:id="rId26"/>
    <p:sldId id="265" r:id="rId27"/>
    <p:sldId id="279" r:id="rId28"/>
    <p:sldId id="266" r:id="rId29"/>
    <p:sldId id="280" r:id="rId30"/>
    <p:sldId id="267" r:id="rId31"/>
    <p:sldId id="292" r:id="rId32"/>
    <p:sldId id="300" r:id="rId33"/>
    <p:sldId id="302" r:id="rId34"/>
    <p:sldId id="301" r:id="rId35"/>
    <p:sldId id="303" r:id="rId36"/>
    <p:sldId id="304" r:id="rId37"/>
    <p:sldId id="305" r:id="rId38"/>
    <p:sldId id="306" r:id="rId39"/>
    <p:sldId id="307" r:id="rId40"/>
    <p:sldId id="383" r:id="rId41"/>
    <p:sldId id="297" r:id="rId42"/>
    <p:sldId id="298" r:id="rId43"/>
    <p:sldId id="310" r:id="rId44"/>
    <p:sldId id="311" r:id="rId45"/>
    <p:sldId id="309" r:id="rId46"/>
    <p:sldId id="312" r:id="rId47"/>
    <p:sldId id="313" r:id="rId48"/>
  </p:sldIdLst>
  <p:sldSz cx="12192000" cy="6858000"/>
  <p:notesSz cx="6858000" cy="9144000"/>
  <p:defaultTextStyle>
    <a:defPPr>
      <a:defRPr lang="be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41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-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14664081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64200561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6197834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99503751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12100713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6601056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38865735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969136885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65848682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050030125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35629592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C61C8-9B01-4390-BFEC-BFC4D09FF6CC}" type="datetimeFigureOut">
              <a:rPr lang="be-BY" smtClean="0"/>
              <a:t>27.02.26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725235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2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055440" y="2276872"/>
            <a:ext cx="10081120" cy="2151112"/>
          </a:xfrm>
        </p:spPr>
        <p:txBody>
          <a:bodyPr>
            <a:noAutofit/>
          </a:bodyPr>
          <a:lstStyle/>
          <a:p>
            <a:pPr algn="ctr"/>
            <a:r>
              <a:rPr lang="ru-RU" sz="4800" dirty="0">
                <a:solidFill>
                  <a:srgbClr val="7030A0"/>
                </a:solidFill>
                <a:latin typeface="Bahnschrift" panose="020B0502040204020203" pitchFamily="34" charset="0"/>
              </a:rPr>
              <a:t>Общие принципы решения задач оптимизации </a:t>
            </a:r>
            <a:br>
              <a:rPr lang="ru-RU" sz="4800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ru-RU" sz="4800" dirty="0">
                <a:solidFill>
                  <a:srgbClr val="7030A0"/>
                </a:solidFill>
                <a:latin typeface="Bahnschrift" panose="020B0502040204020203" pitchFamily="34" charset="0"/>
              </a:rPr>
              <a:t>методом ветвей и границ</a:t>
            </a:r>
            <a:endParaRPr lang="be-BY" sz="48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750637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3432" y="908720"/>
            <a:ext cx="10585176" cy="347472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ru-RU" sz="3600" dirty="0">
                <a:solidFill>
                  <a:srgbClr val="7030A0"/>
                </a:solidFill>
                <a:latin typeface="Bahnschrift" panose="020B0502040204020203" pitchFamily="34" charset="0"/>
              </a:rPr>
              <a:t>Цель: </a:t>
            </a:r>
            <a:r>
              <a:rPr lang="ru-RU" sz="3600" dirty="0">
                <a:latin typeface="Bahnschrift" panose="020B0502040204020203" pitchFamily="34" charset="0"/>
              </a:rPr>
              <a:t>освоение навыков решения оптимизационных задач методом ветвей и границ.</a:t>
            </a:r>
          </a:p>
          <a:p>
            <a:pPr marL="45720" indent="0">
              <a:buNone/>
            </a:pPr>
            <a:r>
              <a:rPr lang="ru-RU" sz="3600" dirty="0">
                <a:solidFill>
                  <a:srgbClr val="7030A0"/>
                </a:solidFill>
                <a:latin typeface="Bahnschrift" panose="020B0502040204020203" pitchFamily="34" charset="0"/>
              </a:rPr>
              <a:t>Задачи: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600" dirty="0">
                <a:latin typeface="Bahnschrift" panose="020B0502040204020203" pitchFamily="34" charset="0"/>
              </a:rPr>
              <a:t>изучение теоретических основ метода ветвей и границ;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600" dirty="0">
                <a:latin typeface="Bahnschrift" panose="020B0502040204020203" pitchFamily="34" charset="0"/>
              </a:rPr>
              <a:t>освоить практическое применение метода ветвей и границ на примере решения задачи коммивояжера.</a:t>
            </a:r>
          </a:p>
          <a:p>
            <a:pPr marL="45720" indent="0">
              <a:buNone/>
            </a:pPr>
            <a:endParaRPr lang="be-BY" sz="2800" dirty="0"/>
          </a:p>
        </p:txBody>
      </p:sp>
    </p:spTree>
    <p:extLst>
      <p:ext uri="{BB962C8B-B14F-4D97-AF65-F5344CB8AC3E}">
        <p14:creationId xmlns:p14="http://schemas.microsoft.com/office/powerpoint/2010/main" val="388611108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159159" y="1772816"/>
            <a:ext cx="992479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i="1" dirty="0">
                <a:solidFill>
                  <a:srgbClr val="00B05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Метод ветвей и границ</a:t>
            </a:r>
            <a:r>
              <a:rPr lang="ru-RU" sz="2800" dirty="0">
                <a:solidFill>
                  <a:srgbClr val="00B05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– это общий алгоритмический метод решения задач комбинаторной оптимизации. </a:t>
            </a:r>
          </a:p>
          <a:p>
            <a:pPr indent="323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М</a:t>
            </a:r>
            <a:r>
              <a:rPr lang="ru-RU" alt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етод ветвей и границ был предложен  для решения общей задачи целочисленного линейного программирования. </a:t>
            </a:r>
          </a:p>
          <a:p>
            <a:pPr indent="323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Метод является вариацией полного перебора с отсевом подмножеств допустимых решений, заведомо не содержащих оптимальных решений. </a:t>
            </a:r>
            <a:endParaRPr lang="ru-RU" sz="2800" dirty="0">
              <a:latin typeface="Bahnschrift" panose="020B0502040204020203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446142" y="548680"/>
            <a:ext cx="53508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rgbClr val="00B050"/>
                </a:solidFill>
              </a:rPr>
              <a:t>Метод ветвей и границ</a:t>
            </a:r>
          </a:p>
        </p:txBody>
      </p:sp>
    </p:spTree>
    <p:extLst>
      <p:ext uri="{BB962C8B-B14F-4D97-AF65-F5344CB8AC3E}">
        <p14:creationId xmlns:p14="http://schemas.microsoft.com/office/powerpoint/2010/main" val="424358320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  <a:latin typeface="Bahnschrift" panose="020B0502040204020203" pitchFamily="34" charset="0"/>
              </a:rPr>
              <a:t>Область применения </a:t>
            </a:r>
            <a:br>
              <a:rPr lang="ru-RU" dirty="0">
                <a:solidFill>
                  <a:srgbClr val="00B050"/>
                </a:solidFill>
                <a:latin typeface="Bahnschrift" panose="020B0502040204020203" pitchFamily="34" charset="0"/>
              </a:rPr>
            </a:br>
            <a:r>
              <a:rPr lang="ru-RU" dirty="0">
                <a:solidFill>
                  <a:srgbClr val="00B050"/>
                </a:solidFill>
                <a:latin typeface="Bahnschrift" panose="020B0502040204020203" pitchFamily="34" charset="0"/>
              </a:rPr>
              <a:t>метода ветвей и границ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420887"/>
            <a:ext cx="10515600" cy="37560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Bahnschrift" panose="020B0502040204020203" pitchFamily="34" charset="0"/>
              </a:rPr>
              <a:t>Задача о коммивояжере</a:t>
            </a:r>
          </a:p>
          <a:p>
            <a:r>
              <a:rPr lang="ru-RU" sz="3600" dirty="0">
                <a:latin typeface="Bahnschrift" panose="020B0502040204020203" pitchFamily="34" charset="0"/>
              </a:rPr>
              <a:t>Минимаксные задачи о назначениях</a:t>
            </a:r>
          </a:p>
          <a:p>
            <a:r>
              <a:rPr lang="ru-RU" sz="3600" dirty="0">
                <a:latin typeface="Bahnschrift" panose="020B0502040204020203" pitchFamily="34" charset="0"/>
              </a:rPr>
              <a:t>Задачи календарного планирования</a:t>
            </a:r>
          </a:p>
          <a:p>
            <a:r>
              <a:rPr lang="ru-RU" sz="3600" dirty="0">
                <a:latin typeface="Bahnschrift" panose="020B0502040204020203" pitchFamily="34" charset="0"/>
              </a:rPr>
              <a:t>Вероятностные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350954035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262626" y="406758"/>
            <a:ext cx="48333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00B050"/>
                </a:solidFill>
              </a:rPr>
              <a:t>Метод ветвей и границ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82969" y="1556792"/>
            <a:ext cx="5945079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В основе метода лежат две процедуры: </a:t>
            </a:r>
          </a:p>
          <a:p>
            <a:pPr algn="just"/>
            <a:endParaRPr lang="ru-RU" sz="1200" b="1" i="1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процедура ветвления (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BR</a:t>
            </a:r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), позволяющая разбивать множество допустимых решений на непересекающиеся подмножества, </a:t>
            </a:r>
          </a:p>
          <a:p>
            <a:pPr algn="just"/>
            <a:endParaRPr lang="ru-RU" sz="1000" b="1" i="1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процедура вычисления  нижней или верхней границы (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EV</a:t>
            </a:r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). 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7264" y="5579367"/>
            <a:ext cx="76328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К сожалению, далеко не для всех задач комбинаторной оптимизации найдены процедуры ветвления и оценки, позволяющие их решить методом ветвей и границ. </a:t>
            </a:r>
          </a:p>
        </p:txBody>
      </p:sp>
      <p:pic>
        <p:nvPicPr>
          <p:cNvPr id="23554" name="Picture 2" descr="DM2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5" r="19069" b="6719"/>
          <a:stretch/>
        </p:blipFill>
        <p:spPr bwMode="auto">
          <a:xfrm>
            <a:off x="7464152" y="220945"/>
            <a:ext cx="4392488" cy="634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Прямая соединительная линия 21"/>
          <p:cNvCxnSpPr/>
          <p:nvPr/>
        </p:nvCxnSpPr>
        <p:spPr>
          <a:xfrm>
            <a:off x="8686204" y="1196752"/>
            <a:ext cx="1944216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8112224" y="2204864"/>
            <a:ext cx="108012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0090360" y="2187104"/>
            <a:ext cx="108012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9575960" y="3068960"/>
            <a:ext cx="108012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>
            <a:off x="9120336" y="3933056"/>
            <a:ext cx="108012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>
            <a:off x="8495840" y="4797152"/>
            <a:ext cx="108012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9230432" y="476672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8137884" y="1475278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10207072" y="1504285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/>
          <p:cNvSpPr/>
          <p:nvPr/>
        </p:nvSpPr>
        <p:spPr>
          <a:xfrm>
            <a:off x="7688876" y="2339373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/>
        </p:nvSpPr>
        <p:spPr>
          <a:xfrm>
            <a:off x="8730322" y="2360128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9641352" y="2349751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/>
          <p:cNvSpPr/>
          <p:nvPr/>
        </p:nvSpPr>
        <p:spPr>
          <a:xfrm>
            <a:off x="10748996" y="2349751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/>
          <p:cNvSpPr/>
          <p:nvPr/>
        </p:nvSpPr>
        <p:spPr>
          <a:xfrm>
            <a:off x="9114671" y="3212976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/>
          <p:cNvSpPr/>
          <p:nvPr/>
        </p:nvSpPr>
        <p:spPr>
          <a:xfrm>
            <a:off x="10207072" y="3212976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/>
        </p:nvSpPr>
        <p:spPr>
          <a:xfrm>
            <a:off x="8646095" y="4077071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9739097" y="4089269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/>
        </p:nvSpPr>
        <p:spPr>
          <a:xfrm>
            <a:off x="7968208" y="4952604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9095103" y="4964121"/>
            <a:ext cx="898016" cy="574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/>
        </p:nvSpPr>
        <p:spPr>
          <a:xfrm>
            <a:off x="7896200" y="5682378"/>
            <a:ext cx="1122064" cy="84122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7360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Прямая соединительная линия 48"/>
          <p:cNvCxnSpPr>
            <a:stCxn id="13" idx="7"/>
            <a:endCxn id="10" idx="3"/>
          </p:cNvCxnSpPr>
          <p:nvPr/>
        </p:nvCxnSpPr>
        <p:spPr>
          <a:xfrm flipV="1">
            <a:off x="9984237" y="1711706"/>
            <a:ext cx="1400467" cy="307671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>
            <a:stCxn id="11" idx="6"/>
            <a:endCxn id="12" idx="2"/>
          </p:cNvCxnSpPr>
          <p:nvPr/>
        </p:nvCxnSpPr>
        <p:spPr>
          <a:xfrm flipV="1">
            <a:off x="9831485" y="3150544"/>
            <a:ext cx="1709997" cy="6243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>
            <a:stCxn id="11" idx="5"/>
            <a:endCxn id="14" idx="0"/>
          </p:cNvCxnSpPr>
          <p:nvPr/>
        </p:nvCxnSpPr>
        <p:spPr>
          <a:xfrm>
            <a:off x="9768213" y="3365728"/>
            <a:ext cx="1290713" cy="236752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>
            <a:stCxn id="2" idx="4"/>
            <a:endCxn id="12" idx="1"/>
          </p:cNvCxnSpPr>
          <p:nvPr/>
        </p:nvCxnSpPr>
        <p:spPr>
          <a:xfrm>
            <a:off x="10560496" y="980728"/>
            <a:ext cx="1044258" cy="2017064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/>
          <p:cNvCxnSpPr>
            <a:stCxn id="9" idx="0"/>
            <a:endCxn id="2" idx="4"/>
          </p:cNvCxnSpPr>
          <p:nvPr/>
        </p:nvCxnSpPr>
        <p:spPr>
          <a:xfrm flipV="1">
            <a:off x="9912424" y="980728"/>
            <a:ext cx="648072" cy="570384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10" idx="0"/>
            <a:endCxn id="2" idx="4"/>
          </p:cNvCxnSpPr>
          <p:nvPr/>
        </p:nvCxnSpPr>
        <p:spPr>
          <a:xfrm flipH="1" flipV="1">
            <a:off x="10560496" y="980728"/>
            <a:ext cx="976960" cy="36220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10" idx="2"/>
            <a:endCxn id="11" idx="0"/>
          </p:cNvCxnSpPr>
          <p:nvPr/>
        </p:nvCxnSpPr>
        <p:spPr>
          <a:xfrm flipH="1">
            <a:off x="9615461" y="1558954"/>
            <a:ext cx="1705971" cy="143799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0" idx="4"/>
            <a:endCxn id="12" idx="0"/>
          </p:cNvCxnSpPr>
          <p:nvPr/>
        </p:nvCxnSpPr>
        <p:spPr>
          <a:xfrm>
            <a:off x="11537456" y="1774978"/>
            <a:ext cx="220050" cy="115954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11" idx="4"/>
            <a:endCxn id="13" idx="0"/>
          </p:cNvCxnSpPr>
          <p:nvPr/>
        </p:nvCxnSpPr>
        <p:spPr>
          <a:xfrm>
            <a:off x="9615461" y="3429000"/>
            <a:ext cx="216024" cy="1296144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1" idx="4"/>
            <a:endCxn id="15" idx="0"/>
          </p:cNvCxnSpPr>
          <p:nvPr/>
        </p:nvCxnSpPr>
        <p:spPr>
          <a:xfrm>
            <a:off x="9615461" y="3429000"/>
            <a:ext cx="1932964" cy="97635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15" idx="4"/>
            <a:endCxn id="14" idx="0"/>
          </p:cNvCxnSpPr>
          <p:nvPr/>
        </p:nvCxnSpPr>
        <p:spPr>
          <a:xfrm flipH="1">
            <a:off x="11058926" y="4837398"/>
            <a:ext cx="489499" cy="89585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13" idx="5"/>
            <a:endCxn id="14" idx="0"/>
          </p:cNvCxnSpPr>
          <p:nvPr/>
        </p:nvCxnSpPr>
        <p:spPr>
          <a:xfrm>
            <a:off x="9984237" y="5093920"/>
            <a:ext cx="1074689" cy="63933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13" idx="5"/>
            <a:endCxn id="12" idx="4"/>
          </p:cNvCxnSpPr>
          <p:nvPr/>
        </p:nvCxnSpPr>
        <p:spPr>
          <a:xfrm flipV="1">
            <a:off x="9984237" y="3366568"/>
            <a:ext cx="1773269" cy="172735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9" idx="4"/>
            <a:endCxn id="12" idx="2"/>
          </p:cNvCxnSpPr>
          <p:nvPr/>
        </p:nvCxnSpPr>
        <p:spPr>
          <a:xfrm>
            <a:off x="9912424" y="1983160"/>
            <a:ext cx="1629058" cy="1167384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9" idx="4"/>
            <a:endCxn id="11" idx="0"/>
          </p:cNvCxnSpPr>
          <p:nvPr/>
        </p:nvCxnSpPr>
        <p:spPr>
          <a:xfrm flipH="1">
            <a:off x="9615461" y="1983160"/>
            <a:ext cx="296963" cy="101379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983432" y="834971"/>
            <a:ext cx="61926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Процедура </a:t>
            </a:r>
            <a:r>
              <a:rPr lang="en-US" sz="32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BR</a:t>
            </a:r>
            <a:r>
              <a:rPr lang="ru-RU" sz="32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 (ветвления) 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191344" y="1484784"/>
            <a:ext cx="8568952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Пусть полный взвешенный ориентированный граф </a:t>
            </a:r>
            <a:r>
              <a:rPr lang="en-US" sz="24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= (</a:t>
            </a:r>
            <a:r>
              <a:rPr lang="en-US" sz="24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V</a:t>
            </a:r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 </a:t>
            </a:r>
            <a:r>
              <a:rPr lang="en-US" sz="24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E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 с весовой функцией </a:t>
            </a:r>
            <a:r>
              <a:rPr lang="en-US" sz="24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w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моделирует города (множество вершин </a:t>
            </a:r>
            <a:r>
              <a:rPr lang="en-US" sz="2400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V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 и расстояния между ними (взвешенные дуги </a:t>
            </a:r>
            <a:r>
              <a:rPr lang="en-US" sz="2400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E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 в задаче коммивояжера. </a:t>
            </a:r>
          </a:p>
          <a:p>
            <a:pPr indent="323850" algn="just"/>
            <a:endParaRPr lang="en-US" sz="10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Решение этой задачи сводится к отысканию кольцевого маршрута 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r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проходящего через все вершины графа и имеющего минимальную сумму весов дуг, составляющих  кольцевой маршрут (кратчайший кольцевой маршрут). </a:t>
            </a:r>
          </a:p>
          <a:p>
            <a:pPr indent="323850" algn="just"/>
            <a:endParaRPr lang="ru-RU" sz="10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Пусть</a:t>
            </a:r>
            <a:r>
              <a:rPr lang="ru-RU" sz="2400" dirty="0">
                <a:solidFill>
                  <a:srgbClr val="FF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R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– множество всех гамильтоновых циклов графа. Очевидно, что множество </a:t>
            </a:r>
            <a:r>
              <a:rPr lang="en-US" sz="24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R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соответствует множеству всех допустимых решений задачи коммивояжера.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54614" y="188640"/>
            <a:ext cx="48333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</a:rPr>
              <a:t>Метод ветвей и границ</a:t>
            </a:r>
          </a:p>
        </p:txBody>
      </p:sp>
      <p:sp>
        <p:nvSpPr>
          <p:cNvPr id="2" name="Овал 1"/>
          <p:cNvSpPr/>
          <p:nvPr/>
        </p:nvSpPr>
        <p:spPr>
          <a:xfrm>
            <a:off x="10344472" y="548680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9696400" y="1551112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11321432" y="1342930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9399437" y="2996952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11541482" y="2934520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9615461" y="4725144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10842902" y="5733256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11332401" y="4405350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9322660" y="940996"/>
            <a:ext cx="567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V</a:t>
            </a:r>
            <a:endParaRPr lang="ru-RU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069212" y="477525"/>
            <a:ext cx="567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C000"/>
                </a:solidFill>
                <a:latin typeface="Bahnschrift" panose="020B0502040204020203" pitchFamily="34" charset="0"/>
              </a:rPr>
              <a:t>E</a:t>
            </a:r>
            <a:endParaRPr lang="ru-RU" b="1" dirty="0">
              <a:solidFill>
                <a:srgbClr val="FFC0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9213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7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Прямая соединительная линия 31"/>
          <p:cNvCxnSpPr>
            <a:stCxn id="12" idx="4"/>
            <a:endCxn id="15" idx="0"/>
          </p:cNvCxnSpPr>
          <p:nvPr/>
        </p:nvCxnSpPr>
        <p:spPr>
          <a:xfrm flipH="1">
            <a:off x="11108392" y="3315337"/>
            <a:ext cx="209081" cy="103878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>
            <a:stCxn id="13" idx="7"/>
            <a:endCxn id="10" idx="3"/>
          </p:cNvCxnSpPr>
          <p:nvPr/>
        </p:nvCxnSpPr>
        <p:spPr>
          <a:xfrm flipV="1">
            <a:off x="9544204" y="1660475"/>
            <a:ext cx="1400467" cy="307671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>
            <a:stCxn id="11" idx="6"/>
            <a:endCxn id="12" idx="2"/>
          </p:cNvCxnSpPr>
          <p:nvPr/>
        </p:nvCxnSpPr>
        <p:spPr>
          <a:xfrm flipV="1">
            <a:off x="9391452" y="3099313"/>
            <a:ext cx="1709997" cy="6243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>
            <a:stCxn id="11" idx="5"/>
            <a:endCxn id="14" idx="0"/>
          </p:cNvCxnSpPr>
          <p:nvPr/>
        </p:nvCxnSpPr>
        <p:spPr>
          <a:xfrm>
            <a:off x="9328180" y="3314497"/>
            <a:ext cx="1290713" cy="236752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>
            <a:stCxn id="2" idx="4"/>
            <a:endCxn id="12" idx="1"/>
          </p:cNvCxnSpPr>
          <p:nvPr/>
        </p:nvCxnSpPr>
        <p:spPr>
          <a:xfrm>
            <a:off x="10120463" y="929497"/>
            <a:ext cx="1044258" cy="2017064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/>
          <p:cNvCxnSpPr>
            <a:stCxn id="9" idx="0"/>
            <a:endCxn id="2" idx="4"/>
          </p:cNvCxnSpPr>
          <p:nvPr/>
        </p:nvCxnSpPr>
        <p:spPr>
          <a:xfrm flipV="1">
            <a:off x="9472391" y="929497"/>
            <a:ext cx="648072" cy="570384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10" idx="0"/>
            <a:endCxn id="2" idx="4"/>
          </p:cNvCxnSpPr>
          <p:nvPr/>
        </p:nvCxnSpPr>
        <p:spPr>
          <a:xfrm flipH="1" flipV="1">
            <a:off x="10120463" y="929497"/>
            <a:ext cx="976960" cy="36220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10" idx="2"/>
            <a:endCxn id="11" idx="0"/>
          </p:cNvCxnSpPr>
          <p:nvPr/>
        </p:nvCxnSpPr>
        <p:spPr>
          <a:xfrm flipH="1">
            <a:off x="9175428" y="1507723"/>
            <a:ext cx="1705971" cy="143799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0" idx="4"/>
            <a:endCxn id="12" idx="0"/>
          </p:cNvCxnSpPr>
          <p:nvPr/>
        </p:nvCxnSpPr>
        <p:spPr>
          <a:xfrm>
            <a:off x="11097423" y="1723747"/>
            <a:ext cx="220050" cy="115954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11" idx="4"/>
            <a:endCxn id="13" idx="0"/>
          </p:cNvCxnSpPr>
          <p:nvPr/>
        </p:nvCxnSpPr>
        <p:spPr>
          <a:xfrm>
            <a:off x="9175428" y="3377769"/>
            <a:ext cx="216024" cy="1296144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1" idx="4"/>
            <a:endCxn id="15" idx="0"/>
          </p:cNvCxnSpPr>
          <p:nvPr/>
        </p:nvCxnSpPr>
        <p:spPr>
          <a:xfrm>
            <a:off x="9175428" y="3377769"/>
            <a:ext cx="1932964" cy="97635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15" idx="4"/>
            <a:endCxn id="14" idx="0"/>
          </p:cNvCxnSpPr>
          <p:nvPr/>
        </p:nvCxnSpPr>
        <p:spPr>
          <a:xfrm flipH="1">
            <a:off x="10618893" y="4786167"/>
            <a:ext cx="489499" cy="89585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13" idx="5"/>
            <a:endCxn id="14" idx="0"/>
          </p:cNvCxnSpPr>
          <p:nvPr/>
        </p:nvCxnSpPr>
        <p:spPr>
          <a:xfrm>
            <a:off x="9544204" y="5042689"/>
            <a:ext cx="1074689" cy="63933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13" idx="5"/>
            <a:endCxn id="12" idx="4"/>
          </p:cNvCxnSpPr>
          <p:nvPr/>
        </p:nvCxnSpPr>
        <p:spPr>
          <a:xfrm flipV="1">
            <a:off x="9544204" y="3315337"/>
            <a:ext cx="1773269" cy="172735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9" idx="4"/>
            <a:endCxn id="12" idx="2"/>
          </p:cNvCxnSpPr>
          <p:nvPr/>
        </p:nvCxnSpPr>
        <p:spPr>
          <a:xfrm>
            <a:off x="9472391" y="1931929"/>
            <a:ext cx="1629058" cy="1167384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9" idx="4"/>
            <a:endCxn id="11" idx="0"/>
          </p:cNvCxnSpPr>
          <p:nvPr/>
        </p:nvCxnSpPr>
        <p:spPr>
          <a:xfrm flipH="1">
            <a:off x="9175428" y="1931929"/>
            <a:ext cx="296963" cy="101379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1454357" y="821729"/>
            <a:ext cx="489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Гамильтонов цикл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191344" y="1484784"/>
            <a:ext cx="85689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485942" y="201760"/>
            <a:ext cx="48333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</a:rPr>
              <a:t>Метод ветвей и границ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01093" y="1393261"/>
            <a:ext cx="720707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rgbClr val="7030A0"/>
                </a:solidFill>
                <a:latin typeface="Bahnschrift" panose="020B0502040204020203" pitchFamily="34" charset="0"/>
              </a:rPr>
              <a:t>Гамильтоновым циклом </a:t>
            </a:r>
            <a:r>
              <a:rPr lang="ru-RU" sz="2400" dirty="0">
                <a:latin typeface="Bahnschrift" panose="020B0502040204020203" pitchFamily="34" charset="0"/>
              </a:rPr>
              <a:t>является такой цикл (замкнутый путь), который проходит через каждую вершину данного графа ровно по одному разу; то есть простой цикл, в который входят все вершины графа.</a:t>
            </a:r>
          </a:p>
          <a:p>
            <a:pPr algn="just"/>
            <a:endParaRPr lang="ru-RU" sz="2400" dirty="0">
              <a:latin typeface="Bahnschrift" panose="020B0502040204020203" pitchFamily="34" charset="0"/>
            </a:endParaRPr>
          </a:p>
          <a:p>
            <a:pPr algn="just"/>
            <a:r>
              <a:rPr lang="ru-RU" sz="2400" dirty="0">
                <a:latin typeface="Bahnschrift" panose="020B0502040204020203" pitchFamily="34" charset="0"/>
              </a:rPr>
              <a:t>Также с гамильтоновым графом тесно связано понятие </a:t>
            </a:r>
            <a:r>
              <a:rPr lang="ru-RU" sz="2400" dirty="0">
                <a:solidFill>
                  <a:srgbClr val="7030A0"/>
                </a:solidFill>
                <a:latin typeface="Bahnschrift" panose="020B0502040204020203" pitchFamily="34" charset="0"/>
              </a:rPr>
              <a:t>гамильтонова пути</a:t>
            </a:r>
            <a:r>
              <a:rPr lang="ru-RU" sz="2400" dirty="0">
                <a:latin typeface="Bahnschrift" panose="020B0502040204020203" pitchFamily="34" charset="0"/>
              </a:rPr>
              <a:t>, который является простым путём (путём без петель), проходящим через каждую вершину графа ровно один раз. Гамильтонов путь отличается от цикла тем, что у пути начальные и конечные точки могут не совпадать, в отличие от цикла. Гамильтонов цикл является гамильтоновым путём.</a:t>
            </a:r>
          </a:p>
        </p:txBody>
      </p:sp>
      <p:cxnSp>
        <p:nvCxnSpPr>
          <p:cNvPr id="60" name="Прямая соединительная линия 59"/>
          <p:cNvCxnSpPr/>
          <p:nvPr/>
        </p:nvCxnSpPr>
        <p:spPr>
          <a:xfrm flipH="1">
            <a:off x="11143503" y="3315337"/>
            <a:ext cx="209081" cy="103878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9507502" y="929497"/>
            <a:ext cx="648072" cy="5703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H="1" flipV="1">
            <a:off x="10155574" y="929497"/>
            <a:ext cx="976960" cy="36220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11132534" y="1723747"/>
            <a:ext cx="220050" cy="115954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9210539" y="3377769"/>
            <a:ext cx="216024" cy="129614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10654004" y="4786167"/>
            <a:ext cx="489499" cy="89585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>
            <a:off x="9579315" y="5042689"/>
            <a:ext cx="1074689" cy="639336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H="1">
            <a:off x="9210539" y="1931929"/>
            <a:ext cx="296963" cy="101379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/>
          <p:cNvCxnSpPr/>
          <p:nvPr/>
        </p:nvCxnSpPr>
        <p:spPr>
          <a:xfrm flipH="1">
            <a:off x="9172385" y="1507723"/>
            <a:ext cx="1705971" cy="14379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/>
          <p:nvPr/>
        </p:nvCxnSpPr>
        <p:spPr>
          <a:xfrm>
            <a:off x="9172385" y="3377769"/>
            <a:ext cx="1932964" cy="9763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/>
          <p:nvPr/>
        </p:nvCxnSpPr>
        <p:spPr>
          <a:xfrm flipV="1">
            <a:off x="9541161" y="3315337"/>
            <a:ext cx="1773269" cy="172735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/>
          <p:cNvCxnSpPr/>
          <p:nvPr/>
        </p:nvCxnSpPr>
        <p:spPr>
          <a:xfrm>
            <a:off x="9469348" y="1931929"/>
            <a:ext cx="1629058" cy="11673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 flipV="1">
            <a:off x="9504459" y="929497"/>
            <a:ext cx="648072" cy="5703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/>
          <p:cNvCxnSpPr/>
          <p:nvPr/>
        </p:nvCxnSpPr>
        <p:spPr>
          <a:xfrm flipH="1" flipV="1">
            <a:off x="10152531" y="929497"/>
            <a:ext cx="976960" cy="36220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/>
          <p:cNvCxnSpPr/>
          <p:nvPr/>
        </p:nvCxnSpPr>
        <p:spPr>
          <a:xfrm flipH="1">
            <a:off x="10650961" y="4786167"/>
            <a:ext cx="489499" cy="89585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/>
          <p:cNvCxnSpPr/>
          <p:nvPr/>
        </p:nvCxnSpPr>
        <p:spPr>
          <a:xfrm>
            <a:off x="9576272" y="5042689"/>
            <a:ext cx="1074689" cy="639336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/>
          <p:cNvCxnSpPr/>
          <p:nvPr/>
        </p:nvCxnSpPr>
        <p:spPr>
          <a:xfrm flipV="1">
            <a:off x="9541794" y="1702646"/>
            <a:ext cx="1400467" cy="307671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/>
          <p:cNvCxnSpPr/>
          <p:nvPr/>
        </p:nvCxnSpPr>
        <p:spPr>
          <a:xfrm>
            <a:off x="9325770" y="3356668"/>
            <a:ext cx="1290713" cy="236752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единительная линия 85"/>
          <p:cNvCxnSpPr/>
          <p:nvPr/>
        </p:nvCxnSpPr>
        <p:spPr>
          <a:xfrm flipH="1">
            <a:off x="11141093" y="3357508"/>
            <a:ext cx="209081" cy="103878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/>
          <p:cNvCxnSpPr/>
          <p:nvPr/>
        </p:nvCxnSpPr>
        <p:spPr>
          <a:xfrm>
            <a:off x="9169975" y="3419940"/>
            <a:ext cx="1932964" cy="9763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/>
          <p:cNvCxnSpPr/>
          <p:nvPr/>
        </p:nvCxnSpPr>
        <p:spPr>
          <a:xfrm>
            <a:off x="9466938" y="1974100"/>
            <a:ext cx="1629058" cy="11673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единительная линия 88"/>
          <p:cNvCxnSpPr/>
          <p:nvPr/>
        </p:nvCxnSpPr>
        <p:spPr>
          <a:xfrm flipV="1">
            <a:off x="9502049" y="971668"/>
            <a:ext cx="648072" cy="57038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единительная линия 89"/>
          <p:cNvCxnSpPr/>
          <p:nvPr/>
        </p:nvCxnSpPr>
        <p:spPr>
          <a:xfrm flipH="1" flipV="1">
            <a:off x="10150121" y="971668"/>
            <a:ext cx="976960" cy="36220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единительная линия 90"/>
          <p:cNvCxnSpPr/>
          <p:nvPr/>
        </p:nvCxnSpPr>
        <p:spPr>
          <a:xfrm>
            <a:off x="9573862" y="5084860"/>
            <a:ext cx="1074689" cy="639336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вал 1"/>
          <p:cNvSpPr/>
          <p:nvPr/>
        </p:nvSpPr>
        <p:spPr>
          <a:xfrm>
            <a:off x="9904439" y="497449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9256367" y="1499881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10881399" y="1291699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8959404" y="2945721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11101449" y="2883289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9175428" y="4673913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10402869" y="5682025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10892368" y="4354119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4062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3021823" y="924546"/>
            <a:ext cx="61926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Процедура </a:t>
            </a:r>
            <a:r>
              <a:rPr lang="en-US" sz="32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EV</a:t>
            </a:r>
            <a:r>
              <a:rPr lang="ru-RU" sz="32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 (вычисления  нижней или верхней границы ). 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37547" y="2348880"/>
            <a:ext cx="111612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Основывается на двух утверждениях: </a:t>
            </a:r>
          </a:p>
          <a:p>
            <a:pPr algn="just"/>
            <a:endParaRPr lang="ru-RU" sz="2400" b="1" i="1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i="1" dirty="0">
                <a:latin typeface="Bahnschrift" panose="020B0502040204020203" pitchFamily="34" charset="0"/>
                <a:cs typeface="Times New Roman" panose="02020603050405020304" pitchFamily="18" charset="0"/>
              </a:rPr>
              <a:t>Утверждение 1.</a:t>
            </a:r>
            <a:r>
              <a:rPr lang="ru-RU" sz="2400" dirty="0">
                <a:latin typeface="Bahnschrift" panose="020B0502040204020203" pitchFamily="34" charset="0"/>
                <a:cs typeface="Times New Roman" panose="02020603050405020304" pitchFamily="18" charset="0"/>
              </a:rPr>
              <a:t>  Изменение всех элементов строки матрицы расстояний на одно и то же число не влияет на выбор оптимального маршрута коммивояжера.</a:t>
            </a:r>
          </a:p>
          <a:p>
            <a:pPr algn="just"/>
            <a:endParaRPr lang="be-BY" sz="24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i="1" dirty="0">
                <a:latin typeface="Bahnschrift" panose="020B0502040204020203" pitchFamily="34" charset="0"/>
                <a:cs typeface="Times New Roman" panose="02020603050405020304" pitchFamily="18" charset="0"/>
              </a:rPr>
              <a:t>Утверждение 2.</a:t>
            </a:r>
            <a:r>
              <a:rPr lang="ru-RU" sz="2400" dirty="0">
                <a:latin typeface="Bahnschrift" panose="020B0502040204020203" pitchFamily="34" charset="0"/>
                <a:cs typeface="Times New Roman" panose="02020603050405020304" pitchFamily="18" charset="0"/>
              </a:rPr>
              <a:t> Изменение всех элементов столбца матрицы расстояний на одно и то же число не влияет на выбор оптимального маршрута коммивояжера.</a:t>
            </a:r>
            <a:endParaRPr lang="be-BY" sz="24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701480" y="147124"/>
            <a:ext cx="48333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</a:rPr>
              <a:t>Метод ветвей и границ</a:t>
            </a:r>
          </a:p>
        </p:txBody>
      </p:sp>
    </p:spTree>
    <p:extLst>
      <p:ext uri="{BB962C8B-B14F-4D97-AF65-F5344CB8AC3E}">
        <p14:creationId xmlns:p14="http://schemas.microsoft.com/office/powerpoint/2010/main" val="39125320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64" name="Picture 2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21" y="2420888"/>
            <a:ext cx="11606198" cy="3025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991544" y="692696"/>
            <a:ext cx="856895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Процедура вычисления  нижней или верхней границы (</a:t>
            </a:r>
            <a:r>
              <a:rPr lang="en-US" sz="32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EV</a:t>
            </a:r>
            <a:r>
              <a:rPr lang="ru-RU" sz="32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).  </a:t>
            </a:r>
          </a:p>
        </p:txBody>
      </p:sp>
    </p:spTree>
    <p:extLst>
      <p:ext uri="{BB962C8B-B14F-4D97-AF65-F5344CB8AC3E}">
        <p14:creationId xmlns:p14="http://schemas.microsoft.com/office/powerpoint/2010/main" val="398202855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 стрелкой 6"/>
          <p:cNvCxnSpPr/>
          <p:nvPr/>
        </p:nvCxnSpPr>
        <p:spPr>
          <a:xfrm>
            <a:off x="7608168" y="3933056"/>
            <a:ext cx="1944216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V="1">
            <a:off x="9624392" y="2852936"/>
            <a:ext cx="0" cy="108012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7626648" y="5013176"/>
            <a:ext cx="3581920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V="1">
            <a:off x="11208568" y="2852936"/>
            <a:ext cx="0" cy="216024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3575720" y="176847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775520" y="757714"/>
            <a:ext cx="856895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Пример решения задачи коммивояжера методом ветвей и границ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35360" y="2045402"/>
            <a:ext cx="626469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Для простоты города пронумеруем и будем их обозначать с помощью номера. Таблица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содержит расстояния между каждой парой из пяти городов. </a:t>
            </a: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Например, расстояние из города 2 в город 3 равно 4 единицам, а из города 4 в город 5 – 8 единицам. По диагонали таблицы установлены символы, обозначающие бесконечность, что свидетельствует о невозможности такого передвижения коммивояжера.   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154099"/>
              </p:ext>
            </p:extLst>
          </p:nvPr>
        </p:nvGraphicFramePr>
        <p:xfrm>
          <a:off x="6888088" y="2415799"/>
          <a:ext cx="5041290" cy="339551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4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23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Г.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9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8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10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8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0071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799740"/>
              </p:ext>
            </p:extLst>
          </p:nvPr>
        </p:nvGraphicFramePr>
        <p:xfrm>
          <a:off x="1558768" y="1844824"/>
          <a:ext cx="9144000" cy="454679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20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Город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9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9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8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10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9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9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9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8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9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041198" y="1044605"/>
            <a:ext cx="6408712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23850" fontAlgn="base">
              <a:spcBef>
                <a:spcPct val="0"/>
              </a:spcBef>
              <a:spcAft>
                <a:spcPct val="0"/>
              </a:spcAft>
            </a:pPr>
            <a:r>
              <a:rPr lang="ru-RU" sz="2800" b="1" dirty="0">
                <a:latin typeface="Bahnschrift" panose="020B0502040204020203" pitchFamily="34" charset="0"/>
                <a:ea typeface="Times New Roman" pitchFamily="18" charset="0"/>
                <a:cs typeface="Arial" pitchFamily="34" charset="0"/>
              </a:rPr>
              <a:t>Расстояния между городами, км </a:t>
            </a:r>
            <a:endParaRPr lang="be-BY" sz="2800" dirty="0">
              <a:latin typeface="Bahnschrift" panose="020B0502040204020203" pitchFamily="34" charset="0"/>
              <a:cs typeface="Arial" pitchFamily="34" charset="0"/>
            </a:endParaRPr>
          </a:p>
          <a:p>
            <a:pPr indent="323850" eaLnBrk="0" fontAlgn="base" hangingPunct="0">
              <a:spcBef>
                <a:spcPct val="0"/>
              </a:spcBef>
              <a:spcAft>
                <a:spcPct val="0"/>
              </a:spcAft>
            </a:pPr>
            <a:endParaRPr lang="be-BY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647727" y="287895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064552" y="2636912"/>
            <a:ext cx="864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7030A0"/>
                </a:solidFill>
                <a:latin typeface="Bahnschrift" panose="020B0502040204020203" pitchFamily="34" charset="0"/>
              </a:rPr>
              <a:t>-4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558768" y="2636912"/>
            <a:ext cx="9144000" cy="720080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4660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335360" y="1412776"/>
            <a:ext cx="511256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В соответствии с </a:t>
            </a:r>
            <a:r>
              <a:rPr lang="ru-RU" sz="2400" u="sng" dirty="0">
                <a:latin typeface="Bahnschrift" panose="020B0502040204020203" pitchFamily="34" charset="0"/>
                <a:ea typeface="Times New Roman" panose="02020603050405020304" pitchFamily="18" charset="0"/>
              </a:rPr>
              <a:t>утверждением 1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: </a:t>
            </a:r>
          </a:p>
          <a:p>
            <a:pPr algn="just"/>
            <a:r>
              <a:rPr lang="ru-RU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если все элементы первой строки таблицы уменьшить на 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4</a:t>
            </a:r>
            <a:r>
              <a:rPr lang="ru-RU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(наименьшее значение в строке), то это не повлияет на порядок городов в кратчайшем кольцевом маршруте, проходящем через все города по одному разу, а лишь сократит его длину на 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4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  <a:r>
              <a:rPr lang="en-US" sz="2400" smtClean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Операция называется 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приведением таблицы по строке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, а число 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4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– 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константой приведения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.  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549265" y="367790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773975"/>
              </p:ext>
            </p:extLst>
          </p:nvPr>
        </p:nvGraphicFramePr>
        <p:xfrm>
          <a:off x="5879976" y="1916832"/>
          <a:ext cx="5041290" cy="339551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4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23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Г.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8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152249"/>
              </p:ext>
            </p:extLst>
          </p:nvPr>
        </p:nvGraphicFramePr>
        <p:xfrm>
          <a:off x="11353314" y="2564906"/>
          <a:ext cx="503326" cy="27536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326">
                  <a:extLst>
                    <a:ext uri="{9D8B030D-6E8A-4147-A177-3AD203B41FA5}">
                      <a16:colId xmlns:a16="http://schemas.microsoft.com/office/drawing/2014/main" val="48460612"/>
                    </a:ext>
                  </a:extLst>
                </a:gridCol>
              </a:tblGrid>
              <a:tr h="572941">
                <a:tc>
                  <a:txBody>
                    <a:bodyPr/>
                    <a:lstStyle/>
                    <a:p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179886"/>
                  </a:ext>
                </a:extLst>
              </a:tr>
              <a:tr h="543626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4356"/>
                  </a:ext>
                </a:extLst>
              </a:tr>
              <a:tr h="543626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326497"/>
                  </a:ext>
                </a:extLst>
              </a:tr>
              <a:tr h="543626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11913"/>
                  </a:ext>
                </a:extLst>
              </a:tr>
              <a:tr h="54362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9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26045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3" name="Прямоугольник 2"/>
          <p:cNvSpPr/>
          <p:nvPr/>
        </p:nvSpPr>
        <p:spPr>
          <a:xfrm>
            <a:off x="545141" y="1340768"/>
            <a:ext cx="519081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Аналогично  можно поступить со всеми строками таблицы. </a:t>
            </a:r>
          </a:p>
          <a:p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На изображена таблица до приведения ее по всем строкам.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Столбец справа, содержит константы приведения для каждой строки, а под столбцом сумма этих констант (число 13).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549265" y="367790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480828"/>
              </p:ext>
            </p:extLst>
          </p:nvPr>
        </p:nvGraphicFramePr>
        <p:xfrm>
          <a:off x="5879976" y="1916832"/>
          <a:ext cx="5041290" cy="339551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4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23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Г.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142595"/>
              </p:ext>
            </p:extLst>
          </p:nvPr>
        </p:nvGraphicFramePr>
        <p:xfrm>
          <a:off x="11352584" y="2492896"/>
          <a:ext cx="503326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326">
                  <a:extLst>
                    <a:ext uri="{9D8B030D-6E8A-4147-A177-3AD203B41FA5}">
                      <a16:colId xmlns:a16="http://schemas.microsoft.com/office/drawing/2014/main" val="48460612"/>
                    </a:ext>
                  </a:extLst>
                </a:gridCol>
              </a:tblGrid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179886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4356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326497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11913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999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47269"/>
              </p:ext>
            </p:extLst>
          </p:nvPr>
        </p:nvGraphicFramePr>
        <p:xfrm>
          <a:off x="11300439" y="5805264"/>
          <a:ext cx="607616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616">
                  <a:extLst>
                    <a:ext uri="{9D8B030D-6E8A-4147-A177-3AD203B41FA5}">
                      <a16:colId xmlns:a16="http://schemas.microsoft.com/office/drawing/2014/main" val="20085926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3200" b="1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13</a:t>
                      </a:r>
                      <a:endParaRPr lang="ru-RU" b="1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27202"/>
                  </a:ext>
                </a:extLst>
              </a:tr>
            </a:tbl>
          </a:graphicData>
        </a:graphic>
      </p:graphicFrame>
      <p:cxnSp>
        <p:nvCxnSpPr>
          <p:cNvPr id="15" name="Прямая со стрелкой 14"/>
          <p:cNvCxnSpPr>
            <a:endCxn id="11" idx="0"/>
          </p:cNvCxnSpPr>
          <p:nvPr/>
        </p:nvCxnSpPr>
        <p:spPr>
          <a:xfrm>
            <a:off x="11604247" y="5388496"/>
            <a:ext cx="0" cy="416768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7341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Прямоугольник 7"/>
          <p:cNvSpPr/>
          <p:nvPr/>
        </p:nvSpPr>
        <p:spPr>
          <a:xfrm>
            <a:off x="342678" y="1196752"/>
            <a:ext cx="5004556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В соответствии с утверждением 2: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если все элементы второго столбца таблицы уменьшить на 1 (наименьшее значение в столбце), то это не повлияет на порядок городов в кратчайшем кольцевом маршруте, проходящем через все города по одному разу, а лишь сократит его длину на 1.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647728" y="248408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933630"/>
              </p:ext>
            </p:extLst>
          </p:nvPr>
        </p:nvGraphicFramePr>
        <p:xfrm>
          <a:off x="5879976" y="1340768"/>
          <a:ext cx="5041290" cy="339551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4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23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Г.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5-1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1-1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6-1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2-1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016768"/>
              </p:ext>
            </p:extLst>
          </p:nvPr>
        </p:nvGraphicFramePr>
        <p:xfrm>
          <a:off x="11352584" y="1916832"/>
          <a:ext cx="503326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326">
                  <a:extLst>
                    <a:ext uri="{9D8B030D-6E8A-4147-A177-3AD203B41FA5}">
                      <a16:colId xmlns:a16="http://schemas.microsoft.com/office/drawing/2014/main" val="48460612"/>
                    </a:ext>
                  </a:extLst>
                </a:gridCol>
              </a:tblGrid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179886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4356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326497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11913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9990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235235"/>
              </p:ext>
            </p:extLst>
          </p:nvPr>
        </p:nvGraphicFramePr>
        <p:xfrm>
          <a:off x="6744071" y="5170915"/>
          <a:ext cx="4177195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5439">
                  <a:extLst>
                    <a:ext uri="{9D8B030D-6E8A-4147-A177-3AD203B41FA5}">
                      <a16:colId xmlns:a16="http://schemas.microsoft.com/office/drawing/2014/main" val="3873411072"/>
                    </a:ext>
                  </a:extLst>
                </a:gridCol>
                <a:gridCol w="835439">
                  <a:extLst>
                    <a:ext uri="{9D8B030D-6E8A-4147-A177-3AD203B41FA5}">
                      <a16:colId xmlns:a16="http://schemas.microsoft.com/office/drawing/2014/main" val="2340316916"/>
                    </a:ext>
                  </a:extLst>
                </a:gridCol>
                <a:gridCol w="835439">
                  <a:extLst>
                    <a:ext uri="{9D8B030D-6E8A-4147-A177-3AD203B41FA5}">
                      <a16:colId xmlns:a16="http://schemas.microsoft.com/office/drawing/2014/main" val="1450351626"/>
                    </a:ext>
                  </a:extLst>
                </a:gridCol>
                <a:gridCol w="835439">
                  <a:extLst>
                    <a:ext uri="{9D8B030D-6E8A-4147-A177-3AD203B41FA5}">
                      <a16:colId xmlns:a16="http://schemas.microsoft.com/office/drawing/2014/main" val="2943769746"/>
                    </a:ext>
                  </a:extLst>
                </a:gridCol>
                <a:gridCol w="835439">
                  <a:extLst>
                    <a:ext uri="{9D8B030D-6E8A-4147-A177-3AD203B41FA5}">
                      <a16:colId xmlns:a16="http://schemas.microsoft.com/office/drawing/2014/main" val="2961145023"/>
                    </a:ext>
                  </a:extLst>
                </a:gridCol>
              </a:tblGrid>
              <a:tr h="490333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343781"/>
                  </a:ext>
                </a:extLst>
              </a:tr>
            </a:tbl>
          </a:graphicData>
        </a:graphic>
      </p:graphicFrame>
      <p:cxnSp>
        <p:nvCxnSpPr>
          <p:cNvPr id="14" name="Прямая со стрелкой 13"/>
          <p:cNvCxnSpPr>
            <a:endCxn id="15" idx="1"/>
          </p:cNvCxnSpPr>
          <p:nvPr/>
        </p:nvCxnSpPr>
        <p:spPr>
          <a:xfrm>
            <a:off x="10776520" y="5460475"/>
            <a:ext cx="52391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541326"/>
              </p:ext>
            </p:extLst>
          </p:nvPr>
        </p:nvGraphicFramePr>
        <p:xfrm>
          <a:off x="11300439" y="5170915"/>
          <a:ext cx="607616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616">
                  <a:extLst>
                    <a:ext uri="{9D8B030D-6E8A-4147-A177-3AD203B41FA5}">
                      <a16:colId xmlns:a16="http://schemas.microsoft.com/office/drawing/2014/main" val="20085926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  <a:endParaRPr lang="ru-RU" b="1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27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3163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Прямоугольник 7"/>
          <p:cNvSpPr/>
          <p:nvPr/>
        </p:nvSpPr>
        <p:spPr>
          <a:xfrm>
            <a:off x="335360" y="1196752"/>
            <a:ext cx="55446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Будем называть эту операцию </a:t>
            </a:r>
            <a:r>
              <a:rPr lang="ru-RU" sz="28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приведением таблицы по столбцу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, а число </a:t>
            </a:r>
            <a:r>
              <a:rPr lang="ru-RU" sz="2800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1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– </a:t>
            </a:r>
            <a:r>
              <a:rPr lang="ru-RU" sz="28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константой приведения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Аналогично  можно поступить со всеми столбцами таблицы. 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Столбец снизу, помеченный символом β</a:t>
            </a:r>
            <a:r>
              <a:rPr lang="en-US" sz="2800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j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содержит константы приведения для каждого столбца, а в правом нижнем углу указана сумма этих констант.</a:t>
            </a:r>
            <a:endParaRPr lang="ru-RU" sz="2800" dirty="0">
              <a:latin typeface="Bahnschrift" panose="020B0502040204020203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647728" y="248408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26893"/>
              </p:ext>
            </p:extLst>
          </p:nvPr>
        </p:nvGraphicFramePr>
        <p:xfrm>
          <a:off x="6096730" y="1340768"/>
          <a:ext cx="5041290" cy="339551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4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23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Г.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5-1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1-1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6-1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2-1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999182"/>
              </p:ext>
            </p:extLst>
          </p:nvPr>
        </p:nvGraphicFramePr>
        <p:xfrm>
          <a:off x="11569338" y="1916832"/>
          <a:ext cx="503326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326">
                  <a:extLst>
                    <a:ext uri="{9D8B030D-6E8A-4147-A177-3AD203B41FA5}">
                      <a16:colId xmlns:a16="http://schemas.microsoft.com/office/drawing/2014/main" val="48460612"/>
                    </a:ext>
                  </a:extLst>
                </a:gridCol>
              </a:tblGrid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179886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4356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326497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11913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999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455181"/>
              </p:ext>
            </p:extLst>
          </p:nvPr>
        </p:nvGraphicFramePr>
        <p:xfrm>
          <a:off x="6960825" y="5170915"/>
          <a:ext cx="4177195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5439">
                  <a:extLst>
                    <a:ext uri="{9D8B030D-6E8A-4147-A177-3AD203B41FA5}">
                      <a16:colId xmlns:a16="http://schemas.microsoft.com/office/drawing/2014/main" val="3873411072"/>
                    </a:ext>
                  </a:extLst>
                </a:gridCol>
                <a:gridCol w="835439">
                  <a:extLst>
                    <a:ext uri="{9D8B030D-6E8A-4147-A177-3AD203B41FA5}">
                      <a16:colId xmlns:a16="http://schemas.microsoft.com/office/drawing/2014/main" val="2340316916"/>
                    </a:ext>
                  </a:extLst>
                </a:gridCol>
                <a:gridCol w="835439">
                  <a:extLst>
                    <a:ext uri="{9D8B030D-6E8A-4147-A177-3AD203B41FA5}">
                      <a16:colId xmlns:a16="http://schemas.microsoft.com/office/drawing/2014/main" val="1450351626"/>
                    </a:ext>
                  </a:extLst>
                </a:gridCol>
                <a:gridCol w="835439">
                  <a:extLst>
                    <a:ext uri="{9D8B030D-6E8A-4147-A177-3AD203B41FA5}">
                      <a16:colId xmlns:a16="http://schemas.microsoft.com/office/drawing/2014/main" val="2943769746"/>
                    </a:ext>
                  </a:extLst>
                </a:gridCol>
                <a:gridCol w="835439">
                  <a:extLst>
                    <a:ext uri="{9D8B030D-6E8A-4147-A177-3AD203B41FA5}">
                      <a16:colId xmlns:a16="http://schemas.microsoft.com/office/drawing/2014/main" val="2961145023"/>
                    </a:ext>
                  </a:extLst>
                </a:gridCol>
              </a:tblGrid>
              <a:tr h="490333">
                <a:tc>
                  <a:txBody>
                    <a:bodyPr/>
                    <a:lstStyle/>
                    <a:p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343781"/>
                  </a:ext>
                </a:extLst>
              </a:tr>
            </a:tbl>
          </a:graphicData>
        </a:graphic>
      </p:graphicFrame>
      <p:cxnSp>
        <p:nvCxnSpPr>
          <p:cNvPr id="13" name="Прямая со стрелкой 12"/>
          <p:cNvCxnSpPr/>
          <p:nvPr/>
        </p:nvCxnSpPr>
        <p:spPr>
          <a:xfrm>
            <a:off x="8184962" y="4754147"/>
            <a:ext cx="0" cy="416768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630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5231904" y="1611009"/>
            <a:ext cx="224421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361660"/>
              </p:ext>
            </p:extLst>
          </p:nvPr>
        </p:nvGraphicFramePr>
        <p:xfrm>
          <a:off x="5484440" y="1882534"/>
          <a:ext cx="467544" cy="584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1" name="Уравнение" r:id="rId3" imgW="190417" imgH="241195" progId="Equation.3">
                  <p:embed/>
                </p:oleObj>
              </mc:Choice>
              <mc:Fallback>
                <p:oleObj name="Уравнение" r:id="rId3" imgW="190417" imgH="2411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440" y="1882534"/>
                        <a:ext cx="467544" cy="5844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706560" y="1166279"/>
            <a:ext cx="5693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en-US" sz="3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3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032104" y="1331838"/>
            <a:ext cx="570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</a:t>
            </a:r>
            <a:r>
              <a:rPr lang="en-US" sz="3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36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462678" y="507624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192323"/>
              </p:ext>
            </p:extLst>
          </p:nvPr>
        </p:nvGraphicFramePr>
        <p:xfrm>
          <a:off x="837336" y="2114277"/>
          <a:ext cx="4392486" cy="339551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732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20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20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23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Г.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333569"/>
              </p:ext>
            </p:extLst>
          </p:nvPr>
        </p:nvGraphicFramePr>
        <p:xfrm>
          <a:off x="5448658" y="2708920"/>
          <a:ext cx="575334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5334">
                  <a:extLst>
                    <a:ext uri="{9D8B030D-6E8A-4147-A177-3AD203B41FA5}">
                      <a16:colId xmlns:a16="http://schemas.microsoft.com/office/drawing/2014/main" val="48460612"/>
                    </a:ext>
                  </a:extLst>
                </a:gridCol>
              </a:tblGrid>
              <a:tr h="555291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179886"/>
                  </a:ext>
                </a:extLst>
              </a:tr>
              <a:tr h="5552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4356"/>
                  </a:ext>
                </a:extLst>
              </a:tr>
              <a:tr h="555291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326497"/>
                  </a:ext>
                </a:extLst>
              </a:tr>
              <a:tr h="555291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11913"/>
                  </a:ext>
                </a:extLst>
              </a:tr>
              <a:tr h="555291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999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616426"/>
              </p:ext>
            </p:extLst>
          </p:nvPr>
        </p:nvGraphicFramePr>
        <p:xfrm>
          <a:off x="5448658" y="5775562"/>
          <a:ext cx="57533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5334">
                  <a:extLst>
                    <a:ext uri="{9D8B030D-6E8A-4147-A177-3AD203B41FA5}">
                      <a16:colId xmlns:a16="http://schemas.microsoft.com/office/drawing/2014/main" val="2008592669"/>
                    </a:ext>
                  </a:extLst>
                </a:gridCol>
              </a:tblGrid>
              <a:tr h="555291">
                <a:tc>
                  <a:txBody>
                    <a:bodyPr/>
                    <a:lstStyle/>
                    <a:p>
                      <a:r>
                        <a:rPr lang="ru-RU" sz="3200" b="1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13</a:t>
                      </a:r>
                      <a:endParaRPr lang="ru-RU" b="1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27202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939528"/>
              </p:ext>
            </p:extLst>
          </p:nvPr>
        </p:nvGraphicFramePr>
        <p:xfrm>
          <a:off x="7392142" y="2085718"/>
          <a:ext cx="3888432" cy="339551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23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Г.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875181"/>
              </p:ext>
            </p:extLst>
          </p:nvPr>
        </p:nvGraphicFramePr>
        <p:xfrm>
          <a:off x="8040215" y="5658261"/>
          <a:ext cx="324036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387341107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34031691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45035162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94376974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961145023"/>
                    </a:ext>
                  </a:extLst>
                </a:gridCol>
              </a:tblGrid>
              <a:tr h="490333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34378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533917"/>
              </p:ext>
            </p:extLst>
          </p:nvPr>
        </p:nvGraphicFramePr>
        <p:xfrm>
          <a:off x="11496600" y="5658261"/>
          <a:ext cx="47134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344">
                  <a:extLst>
                    <a:ext uri="{9D8B030D-6E8A-4147-A177-3AD203B41FA5}">
                      <a16:colId xmlns:a16="http://schemas.microsoft.com/office/drawing/2014/main" val="20085926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  <a:endParaRPr lang="ru-RU" b="1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27202"/>
                  </a:ext>
                </a:extLst>
              </a:tr>
            </a:tbl>
          </a:graphicData>
        </a:graphic>
      </p:graphicFrame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563557"/>
              </p:ext>
            </p:extLst>
          </p:nvPr>
        </p:nvGraphicFramePr>
        <p:xfrm>
          <a:off x="7421563" y="5668963"/>
          <a:ext cx="4064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2" name="Уравнение" r:id="rId5" imgW="164880" imgH="228600" progId="Equation.3">
                  <p:embed/>
                </p:oleObj>
              </mc:Choice>
              <mc:Fallback>
                <p:oleObj name="Уравнение" r:id="rId5" imgW="164880" imgH="228600" progId="Equation.3">
                  <p:embed/>
                  <p:pic>
                    <p:nvPicPr>
                      <p:cNvPr id="8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1563" y="5668963"/>
                        <a:ext cx="406400" cy="552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3897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-171400"/>
            <a:ext cx="8784976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792" y="4293097"/>
            <a:ext cx="2592288" cy="145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703512" y="5877273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Эту величину можно принять в качестве нижней границы длины кратчайшего кольцевого маршрута.</a:t>
            </a:r>
          </a:p>
        </p:txBody>
      </p:sp>
    </p:spTree>
    <p:extLst>
      <p:ext uri="{BB962C8B-B14F-4D97-AF65-F5344CB8AC3E}">
        <p14:creationId xmlns:p14="http://schemas.microsoft.com/office/powerpoint/2010/main" val="103590765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15380" y="836712"/>
            <a:ext cx="626469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Прежде чем будет применена процедура ветвления </a:t>
            </a:r>
            <a:r>
              <a:rPr lang="en-US" sz="2800" b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BR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, оценим, как будет изменяться нижняя граница подмножеств, полученных после применения процедуры </a:t>
            </a:r>
            <a:r>
              <a:rPr lang="en-US" sz="2800" b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BR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в зависимости от выбора дуги, которая  используется для разбиения. 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Наибольший интерес представляет та дуга, которая наиболее сильно может повлиять на нижнюю границу длины допустимых кольцевых маршрутов.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863752" y="125835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44141"/>
              </p:ext>
            </p:extLst>
          </p:nvPr>
        </p:nvGraphicFramePr>
        <p:xfrm>
          <a:off x="7032104" y="1628800"/>
          <a:ext cx="4752528" cy="339551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23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Г.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64830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23392" y="1124744"/>
            <a:ext cx="604867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Анализировать, прежде всего, следует дуги, имеющие нулевой вес, так как только их удаление может повлиять на нижнюю границу.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Таблица на рисунке является таблицей, приведенной по строкам и по столбцам. Далее будем называть такие таблицы </a:t>
            </a:r>
            <a:r>
              <a:rPr lang="ru-RU" sz="28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полностью приведенными таблицами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647728" y="188640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105278"/>
              </p:ext>
            </p:extLst>
          </p:nvPr>
        </p:nvGraphicFramePr>
        <p:xfrm>
          <a:off x="7032104" y="1628800"/>
          <a:ext cx="4752528" cy="339551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23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Г.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1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0200456" y="2276872"/>
            <a:ext cx="792088" cy="576064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408368" y="2831566"/>
            <a:ext cx="792088" cy="576064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616280" y="3376464"/>
            <a:ext cx="792088" cy="576064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843936" y="3911566"/>
            <a:ext cx="792088" cy="576064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0967692" y="3366668"/>
            <a:ext cx="792088" cy="576064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7824192" y="4446668"/>
            <a:ext cx="792088" cy="576064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10200456" y="4458243"/>
            <a:ext cx="792088" cy="576064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09660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73862" y="1526711"/>
            <a:ext cx="47525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Полностью приведенная таблица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369515" y="1103080"/>
            <a:ext cx="47525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Удаление дуги может быть промоделировано установкой ее веса равного бесконечности.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550126" y="284456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8101"/>
              </p:ext>
            </p:extLst>
          </p:nvPr>
        </p:nvGraphicFramePr>
        <p:xfrm>
          <a:off x="1271464" y="2562041"/>
          <a:ext cx="4752528" cy="339552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574901"/>
              </p:ext>
            </p:extLst>
          </p:nvPr>
        </p:nvGraphicFramePr>
        <p:xfrm>
          <a:off x="6369515" y="2562041"/>
          <a:ext cx="4752528" cy="339552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36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9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36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36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36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9480376" y="3068960"/>
            <a:ext cx="864096" cy="648072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411751"/>
              </p:ext>
            </p:extLst>
          </p:nvPr>
        </p:nvGraphicFramePr>
        <p:xfrm>
          <a:off x="11208568" y="6093296"/>
          <a:ext cx="57606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496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79376" y="332656"/>
            <a:ext cx="496855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Аналогично исследуются все дуги таблицы, имеющие нулевую длину. </a:t>
            </a:r>
          </a:p>
          <a:p>
            <a:pPr algn="just"/>
            <a:endParaRPr lang="en-US" sz="20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Вычисления показывают, что удаление дуги (1, 4) позволяет получить самую большую сумму констант приведения (4), а значит, выбор этой дуги для ветвления с помощью процедуры </a:t>
            </a:r>
            <a:r>
              <a:rPr lang="en-US" sz="2000" b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BR</a:t>
            </a:r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 даст самое большое увеличение нижней границы длины кольцевых маршрутов. </a:t>
            </a:r>
            <a:endParaRPr lang="ru-RU" sz="2000" dirty="0">
              <a:latin typeface="Bahnschrift" panose="020B0502040204020203" pitchFamily="34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11449"/>
              </p:ext>
            </p:extLst>
          </p:nvPr>
        </p:nvGraphicFramePr>
        <p:xfrm>
          <a:off x="6093169" y="550136"/>
          <a:ext cx="2592288" cy="203515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b="0" dirty="0">
                        <a:solidFill>
                          <a:schemeClr val="tx1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852520"/>
              </p:ext>
            </p:extLst>
          </p:nvPr>
        </p:nvGraphicFramePr>
        <p:xfrm>
          <a:off x="8682626" y="2585288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7389314" y="1217136"/>
            <a:ext cx="432048" cy="360040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765215"/>
              </p:ext>
            </p:extLst>
          </p:nvPr>
        </p:nvGraphicFramePr>
        <p:xfrm>
          <a:off x="9117507" y="559600"/>
          <a:ext cx="2592288" cy="203515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b="0" dirty="0">
                        <a:solidFill>
                          <a:schemeClr val="tx1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b="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20158"/>
              </p:ext>
            </p:extLst>
          </p:nvPr>
        </p:nvGraphicFramePr>
        <p:xfrm>
          <a:off x="11706964" y="2594752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9981602" y="1545973"/>
            <a:ext cx="432048" cy="360040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88141"/>
              </p:ext>
            </p:extLst>
          </p:nvPr>
        </p:nvGraphicFramePr>
        <p:xfrm>
          <a:off x="6096000" y="3486782"/>
          <a:ext cx="2592288" cy="203515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b="0" dirty="0">
                        <a:solidFill>
                          <a:schemeClr val="tx1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b="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224422"/>
              </p:ext>
            </p:extLst>
          </p:nvPr>
        </p:nvGraphicFramePr>
        <p:xfrm>
          <a:off x="8685457" y="5521934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sp>
        <p:nvSpPr>
          <p:cNvPr id="16" name="Прямоугольник 15"/>
          <p:cNvSpPr/>
          <p:nvPr/>
        </p:nvSpPr>
        <p:spPr>
          <a:xfrm>
            <a:off x="8253409" y="4504358"/>
            <a:ext cx="432048" cy="360040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865942"/>
              </p:ext>
            </p:extLst>
          </p:nvPr>
        </p:nvGraphicFramePr>
        <p:xfrm>
          <a:off x="9105907" y="3500407"/>
          <a:ext cx="2592288" cy="203515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b="0" dirty="0">
                        <a:solidFill>
                          <a:schemeClr val="tx1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b="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651042"/>
              </p:ext>
            </p:extLst>
          </p:nvPr>
        </p:nvGraphicFramePr>
        <p:xfrm>
          <a:off x="11695364" y="5535559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sp>
        <p:nvSpPr>
          <p:cNvPr id="19" name="Прямоугольник 18"/>
          <p:cNvSpPr/>
          <p:nvPr/>
        </p:nvSpPr>
        <p:spPr>
          <a:xfrm>
            <a:off x="9555216" y="4864398"/>
            <a:ext cx="432048" cy="360040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907587"/>
              </p:ext>
            </p:extLst>
          </p:nvPr>
        </p:nvGraphicFramePr>
        <p:xfrm>
          <a:off x="205095" y="4202502"/>
          <a:ext cx="2592288" cy="203515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b="0" dirty="0">
                        <a:solidFill>
                          <a:schemeClr val="tx1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b="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322764"/>
              </p:ext>
            </p:extLst>
          </p:nvPr>
        </p:nvGraphicFramePr>
        <p:xfrm>
          <a:off x="2797383" y="6242019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sp>
        <p:nvSpPr>
          <p:cNvPr id="22" name="Прямоугольник 21"/>
          <p:cNvSpPr/>
          <p:nvPr/>
        </p:nvSpPr>
        <p:spPr>
          <a:xfrm>
            <a:off x="601687" y="5900590"/>
            <a:ext cx="432048" cy="360040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884636"/>
              </p:ext>
            </p:extLst>
          </p:nvPr>
        </p:nvGraphicFramePr>
        <p:xfrm>
          <a:off x="3193975" y="4221088"/>
          <a:ext cx="2592288" cy="203515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b="0" dirty="0">
                        <a:solidFill>
                          <a:schemeClr val="tx1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b="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771105"/>
              </p:ext>
            </p:extLst>
          </p:nvPr>
        </p:nvGraphicFramePr>
        <p:xfrm>
          <a:off x="5786263" y="6260605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sp>
        <p:nvSpPr>
          <p:cNvPr id="25" name="Прямоугольник 24"/>
          <p:cNvSpPr/>
          <p:nvPr/>
        </p:nvSpPr>
        <p:spPr>
          <a:xfrm>
            <a:off x="4887425" y="5930898"/>
            <a:ext cx="432048" cy="360040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2567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 animBg="1"/>
      <p:bldP spid="19" grpId="0" animBg="1"/>
      <p:bldP spid="22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723024"/>
              </p:ext>
            </p:extLst>
          </p:nvPr>
        </p:nvGraphicFramePr>
        <p:xfrm>
          <a:off x="6888088" y="1722852"/>
          <a:ext cx="4824536" cy="4704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8" name="Visio" r:id="rId3" imgW="1918890" imgH="1869775" progId="Visio.Drawing.11">
                  <p:embed/>
                </p:oleObj>
              </mc:Choice>
              <mc:Fallback>
                <p:oleObj name="Visio" r:id="rId3" imgW="1918890" imgH="1869775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088" y="1722852"/>
                        <a:ext cx="4824536" cy="47045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623392" y="1052736"/>
            <a:ext cx="5544616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Все допустимые кольцевые маршруты не будут включать путь из города 1 в город 4, а длина этих кольцевых маршрутов не будет меньше, чем нижняя граница, построенная для </a:t>
            </a:r>
            <a:r>
              <a:rPr lang="ru-RU" sz="28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 полностью приведенной таблицы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увеличенная на 4.</a:t>
            </a:r>
          </a:p>
          <a:p>
            <a:pPr indent="323850" algn="just"/>
            <a:r>
              <a:rPr lang="ru-RU" sz="2400" i="1" dirty="0">
                <a:latin typeface="Bahnschrift" panose="020B0502040204020203" pitchFamily="34" charset="0"/>
                <a:cs typeface="Times New Roman" panose="02020603050405020304" pitchFamily="18" charset="0"/>
              </a:rPr>
              <a:t>Кроме того, очевидно, что допустимый кольцевой маршрут, содержащий дугу (1, 4), не может содержать дугу (4, 1).</a:t>
            </a:r>
            <a:endParaRPr lang="ru-RU" sz="2400" i="1" dirty="0"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896200" y="1056826"/>
            <a:ext cx="35698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Фрагмент графа 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endParaRPr lang="ru-RU" sz="2400" i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3359696" y="185904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</p:spTree>
    <p:extLst>
      <p:ext uri="{BB962C8B-B14F-4D97-AF65-F5344CB8AC3E}">
        <p14:creationId xmlns:p14="http://schemas.microsoft.com/office/powerpoint/2010/main" val="3922520866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263352" y="1120676"/>
            <a:ext cx="482453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На рисунке слева изображена таблица, полученная вычеркиванием первой строки, четвертого столбца и заменой значения в первом столбце четвертой строки на символ бесконечности. Сумма констант приведения, подсчитанная для этой таблицы, равна 1. </a:t>
            </a:r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Далее справа изображена таблица, которая получена после приведения таблицы слева.          </a:t>
            </a:r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282729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47580"/>
              </p:ext>
            </p:extLst>
          </p:nvPr>
        </p:nvGraphicFramePr>
        <p:xfrm>
          <a:off x="5807968" y="692696"/>
          <a:ext cx="2460275" cy="21038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964535"/>
              </p:ext>
            </p:extLst>
          </p:nvPr>
        </p:nvGraphicFramePr>
        <p:xfrm>
          <a:off x="8988323" y="692696"/>
          <a:ext cx="2460275" cy="21038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820652"/>
              </p:ext>
            </p:extLst>
          </p:nvPr>
        </p:nvGraphicFramePr>
        <p:xfrm>
          <a:off x="8284880" y="2796496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3" t="53858" r="9248"/>
          <a:stretch/>
        </p:blipFill>
        <p:spPr>
          <a:xfrm>
            <a:off x="6168009" y="3226030"/>
            <a:ext cx="4968552" cy="347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89414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191344" y="1196752"/>
            <a:ext cx="518457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Также изображен фрагмент графа 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T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, имеющий две ветви. Нижняя граница дочерних узлов, вычисляется как сумма, нижней границы родительского узла и суммы констант приведения соответствующей таблицы.</a:t>
            </a:r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Согласно алгоритму дальнейший поиск решения следует осуществлять во множестве 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R</a:t>
            </a:r>
            <a:r>
              <a:rPr lang="ru-RU" sz="2400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(1,4)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, поскольку именно здесь на текущий момент нижняя граница является меньшей.</a:t>
            </a:r>
            <a:endParaRPr lang="ru-RU" sz="2400" dirty="0">
              <a:latin typeface="Bahnschrift" panose="020B0502040204020203" pitchFamily="34" charset="0"/>
            </a:endParaRPr>
          </a:p>
          <a:p>
            <a:pPr indent="323850"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23392" y="137359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841594"/>
              </p:ext>
            </p:extLst>
          </p:nvPr>
        </p:nvGraphicFramePr>
        <p:xfrm>
          <a:off x="5807968" y="692696"/>
          <a:ext cx="2460275" cy="21038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7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312064"/>
              </p:ext>
            </p:extLst>
          </p:nvPr>
        </p:nvGraphicFramePr>
        <p:xfrm>
          <a:off x="8988323" y="692696"/>
          <a:ext cx="2460275" cy="21038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434880"/>
              </p:ext>
            </p:extLst>
          </p:nvPr>
        </p:nvGraphicFramePr>
        <p:xfrm>
          <a:off x="8284880" y="2796496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3" t="53858" r="9248"/>
          <a:stretch/>
        </p:blipFill>
        <p:spPr>
          <a:xfrm>
            <a:off x="6168009" y="3226030"/>
            <a:ext cx="4968552" cy="347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84435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3352" y="734981"/>
            <a:ext cx="5040560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Bahnschrift" panose="020B0502040204020203" pitchFamily="34" charset="0"/>
                <a:ea typeface="Times New Roman" panose="02020603050405020304" pitchFamily="18" charset="0"/>
              </a:rPr>
              <a:t>Удаление дуги (4, 3) позволит получить наибольшую сумму констант приведения (</a:t>
            </a:r>
            <a:r>
              <a:rPr lang="en-US" dirty="0">
                <a:latin typeface="Bahnschrift" panose="020B0502040204020203" pitchFamily="34" charset="0"/>
                <a:ea typeface="Times New Roman" panose="02020603050405020304" pitchFamily="18" charset="0"/>
              </a:rPr>
              <a:t>g=</a:t>
            </a:r>
            <a:r>
              <a:rPr lang="ru-RU" dirty="0">
                <a:latin typeface="Bahnschrift" panose="020B0502040204020203" pitchFamily="34" charset="0"/>
                <a:ea typeface="Times New Roman" panose="02020603050405020304" pitchFamily="18" charset="0"/>
              </a:rPr>
              <a:t>4). </a:t>
            </a:r>
          </a:p>
          <a:p>
            <a:pPr algn="just"/>
            <a:endParaRPr lang="ru-RU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Bahnschrift" panose="020B0502040204020203" pitchFamily="34" charset="0"/>
                <a:ea typeface="Times New Roman" panose="02020603050405020304" pitchFamily="18" charset="0"/>
              </a:rPr>
              <a:t>Далее на рисунках изображены таблицы: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alphaUcParenR"/>
            </a:pPr>
            <a:r>
              <a:rPr lang="ru-RU" dirty="0">
                <a:latin typeface="Bahnschrift" panose="020B0502040204020203" pitchFamily="34" charset="0"/>
                <a:ea typeface="Times New Roman" panose="02020603050405020304" pitchFamily="18" charset="0"/>
              </a:rPr>
              <a:t>Таблица, полученная заменой нулевого значения в четвертой строке третьего столбца на символ бесконечности. Сумма констант приведения для этой таблицы равна 4. </a:t>
            </a:r>
            <a:endParaRPr lang="en-US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alphaUcParenR"/>
            </a:pPr>
            <a:r>
              <a:rPr lang="ru-RU" dirty="0">
                <a:latin typeface="Bahnschrift" panose="020B0502040204020203" pitchFamily="34" charset="0"/>
                <a:ea typeface="Times New Roman" panose="02020603050405020304" pitchFamily="18" charset="0"/>
              </a:rPr>
              <a:t>Таблица, полученная из таблицы</a:t>
            </a:r>
            <a:r>
              <a:rPr lang="en-US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Bahnschrift" panose="020B0502040204020203" pitchFamily="34" charset="0"/>
                <a:ea typeface="Times New Roman" panose="02020603050405020304" pitchFamily="18" charset="0"/>
              </a:rPr>
              <a:t>на рис.</a:t>
            </a:r>
            <a:r>
              <a:rPr lang="en-US" dirty="0">
                <a:latin typeface="Bahnschrift" panose="020B0502040204020203" pitchFamily="34" charset="0"/>
                <a:ea typeface="Times New Roman" panose="02020603050405020304" pitchFamily="18" charset="0"/>
              </a:rPr>
              <a:t>A</a:t>
            </a:r>
            <a:r>
              <a:rPr lang="ru-RU" dirty="0">
                <a:latin typeface="Bahnschrift" panose="020B0502040204020203" pitchFamily="34" charset="0"/>
                <a:ea typeface="Times New Roman" panose="02020603050405020304" pitchFamily="18" charset="0"/>
              </a:rPr>
              <a:t> путем полного ее приведения. </a:t>
            </a:r>
            <a:endParaRPr lang="en-US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alphaUcParenR"/>
            </a:pPr>
            <a:r>
              <a:rPr lang="ru-RU" dirty="0">
                <a:latin typeface="Bahnschrift" panose="020B0502040204020203" pitchFamily="34" charset="0"/>
                <a:ea typeface="Times New Roman" panose="02020603050405020304" pitchFamily="18" charset="0"/>
              </a:rPr>
              <a:t>Таблица получена путем вычеркивания четвертой строки и третьего столбца. Сумма констант приведения этой таблицы равна 2. </a:t>
            </a:r>
            <a:endParaRPr lang="en-US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alphaUcParenR"/>
            </a:pPr>
            <a:r>
              <a:rPr lang="ru-RU" dirty="0">
                <a:latin typeface="Bahnschrift" panose="020B0502040204020203" pitchFamily="34" charset="0"/>
                <a:ea typeface="Times New Roman" panose="02020603050405020304" pitchFamily="18" charset="0"/>
              </a:rPr>
              <a:t>Таблица, полученная из таблицы</a:t>
            </a:r>
            <a:r>
              <a:rPr lang="en-US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Bahnschrift" panose="020B0502040204020203" pitchFamily="34" charset="0"/>
                <a:ea typeface="Times New Roman" panose="02020603050405020304" pitchFamily="18" charset="0"/>
              </a:rPr>
              <a:t>на рис.</a:t>
            </a:r>
            <a:r>
              <a:rPr lang="en-US" dirty="0"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ru-RU" dirty="0">
                <a:latin typeface="Bahnschrift" panose="020B0502040204020203" pitchFamily="34" charset="0"/>
                <a:ea typeface="Times New Roman" panose="02020603050405020304" pitchFamily="18" charset="0"/>
              </a:rPr>
              <a:t> путем полного ее приведения. </a:t>
            </a:r>
            <a:endParaRPr lang="en-US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31178" y="54724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16061"/>
              </p:ext>
            </p:extLst>
          </p:nvPr>
        </p:nvGraphicFramePr>
        <p:xfrm>
          <a:off x="6011989" y="893152"/>
          <a:ext cx="2460275" cy="21038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6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7452149" y="2094172"/>
            <a:ext cx="504056" cy="432048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790145"/>
              </p:ext>
            </p:extLst>
          </p:nvPr>
        </p:nvGraphicFramePr>
        <p:xfrm>
          <a:off x="8472264" y="2996952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88135"/>
              </p:ext>
            </p:extLst>
          </p:nvPr>
        </p:nvGraphicFramePr>
        <p:xfrm>
          <a:off x="9302295" y="893152"/>
          <a:ext cx="2460275" cy="21038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105155"/>
              </p:ext>
            </p:extLst>
          </p:nvPr>
        </p:nvGraphicFramePr>
        <p:xfrm>
          <a:off x="6258016" y="4094719"/>
          <a:ext cx="1968220" cy="16830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849890"/>
              </p:ext>
            </p:extLst>
          </p:nvPr>
        </p:nvGraphicFramePr>
        <p:xfrm>
          <a:off x="8226236" y="5777759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122896"/>
              </p:ext>
            </p:extLst>
          </p:nvPr>
        </p:nvGraphicFramePr>
        <p:xfrm>
          <a:off x="9548322" y="4094719"/>
          <a:ext cx="1968220" cy="16830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987972" y="171230"/>
            <a:ext cx="438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A</a:t>
            </a:r>
            <a:endParaRPr lang="ru-RU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13407" y="152179"/>
            <a:ext cx="438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B</a:t>
            </a:r>
            <a:endParaRPr lang="ru-RU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84639" y="3426486"/>
            <a:ext cx="438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endParaRPr lang="ru-RU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13407" y="3426485"/>
            <a:ext cx="438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D</a:t>
            </a:r>
            <a:endParaRPr lang="ru-RU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2219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147843"/>
              </p:ext>
            </p:extLst>
          </p:nvPr>
        </p:nvGraphicFramePr>
        <p:xfrm>
          <a:off x="1238157" y="1181744"/>
          <a:ext cx="9144000" cy="3627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8" name="Visio" r:id="rId3" imgW="4654800" imgH="1848749" progId="Visio.Drawing.11">
                  <p:embed/>
                </p:oleObj>
              </mc:Choice>
              <mc:Fallback>
                <p:oleObj name="Visio" r:id="rId3" imgW="4654800" imgH="184874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157" y="1181744"/>
                        <a:ext cx="9144000" cy="36276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474996" y="699369"/>
            <a:ext cx="2887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Фрагмент графа 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T</a:t>
            </a:r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  <a:endParaRPr lang="ru-RU" sz="2400" b="1" i="1" dirty="0">
              <a:latin typeface="Bahnschrift" panose="020B0502040204020203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79376" y="4796986"/>
            <a:ext cx="1058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Две добавленные ветви соответствуют множествам</a:t>
            </a:r>
            <a:endParaRPr lang="ru-RU" sz="2400" dirty="0"/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1775520" y="5258651"/>
            <a:ext cx="148890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074282"/>
              </p:ext>
            </p:extLst>
          </p:nvPr>
        </p:nvGraphicFramePr>
        <p:xfrm>
          <a:off x="7459772" y="4793925"/>
          <a:ext cx="1296144" cy="618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9" name="Уравнение" r:id="rId5" imgW="622030" imgH="291973" progId="Equation.3">
                  <p:embed/>
                </p:oleObj>
              </mc:Choice>
              <mc:Fallback>
                <p:oleObj name="Уравнение" r:id="rId5" imgW="622030" imgH="291973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9772" y="4793925"/>
                        <a:ext cx="1296144" cy="6181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474996" y="5204059"/>
            <a:ext cx="114536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(множество допустимых кольцевых маршрутов, содержащих дуги (1, 4) и не содержащих дуги (4, 3)) и </a:t>
            </a:r>
            <a:endParaRPr lang="ru-RU" sz="2400" dirty="0"/>
          </a:p>
        </p:txBody>
      </p:sp>
      <p:sp>
        <p:nvSpPr>
          <p:cNvPr id="10" name="Rectangle 21"/>
          <p:cNvSpPr>
            <a:spLocks noChangeArrowheads="1"/>
          </p:cNvSpPr>
          <p:nvPr/>
        </p:nvSpPr>
        <p:spPr bwMode="auto">
          <a:xfrm>
            <a:off x="7727818" y="5529285"/>
            <a:ext cx="1457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356755"/>
              </p:ext>
            </p:extLst>
          </p:nvPr>
        </p:nvGraphicFramePr>
        <p:xfrm>
          <a:off x="4076433" y="5570705"/>
          <a:ext cx="1248503" cy="546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0" name="Уравнение" r:id="rId7" imgW="609336" imgH="266584" progId="Equation.3">
                  <p:embed/>
                </p:oleObj>
              </mc:Choice>
              <mc:Fallback>
                <p:oleObj name="Уравнение" r:id="rId7" imgW="609336" imgH="266584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433" y="5570705"/>
                        <a:ext cx="1248503" cy="5462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488486" y="5940037"/>
            <a:ext cx="107920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(множество допустимых кольцевых маршрутов, содержащих одновременно дуги (1, 4) и (4, 3)). </a:t>
            </a:r>
            <a:endParaRPr lang="ru-RU" sz="24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212331" y="4050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</p:spTree>
    <p:extLst>
      <p:ext uri="{BB962C8B-B14F-4D97-AF65-F5344CB8AC3E}">
        <p14:creationId xmlns:p14="http://schemas.microsoft.com/office/powerpoint/2010/main" val="1290335293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631504" y="2060848"/>
            <a:ext cx="873239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таблицы позволяет выявить дугу (2, 1), удаление которой приводит к максимальной сумме констант приведения (1).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Следует отметить, что удаление дуги (5, 1) тоже даст такую же сумму констант приведения. </a:t>
            </a: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этом случае может быть выбрана любая из дуг.  </a:t>
            </a:r>
          </a:p>
          <a:p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Граф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содержит три вершины, которым соответствует одинаковое значение нижней границы (18). В этом случае целесообразно продолжать наращивать ветви графа, начиная с вершин, наиболее удаленных от корня. </a:t>
            </a:r>
          </a:p>
          <a:p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нашем случае была выбрана вершина </a:t>
            </a:r>
            <a:endParaRPr lang="ru-RU" sz="24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 flipV="1">
            <a:off x="7392144" y="4972004"/>
            <a:ext cx="181141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039049"/>
              </p:ext>
            </p:extLst>
          </p:nvPr>
        </p:nvGraphicFramePr>
        <p:xfrm>
          <a:off x="7123539" y="6101223"/>
          <a:ext cx="1735936" cy="528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5" name="Уравнение" r:id="rId3" imgW="875920" imgH="266584" progId="Equation.3">
                  <p:embed/>
                </p:oleObj>
              </mc:Choice>
              <mc:Fallback>
                <p:oleObj name="Уравнение" r:id="rId3" imgW="875920" imgH="266584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3539" y="6101223"/>
                        <a:ext cx="1735936" cy="5283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631504" y="799462"/>
            <a:ext cx="83164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Дальнейший поиск решения целесообразно осуществлять во множестве </a:t>
            </a:r>
            <a:endParaRPr lang="ru-RU" sz="2400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3403416" y="953937"/>
            <a:ext cx="121634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623366"/>
              </p:ext>
            </p:extLst>
          </p:nvPr>
        </p:nvGraphicFramePr>
        <p:xfrm>
          <a:off x="3289176" y="1209140"/>
          <a:ext cx="10033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6" name="Уравнение" r:id="rId5" imgW="558720" imgH="241200" progId="Equation.3">
                  <p:embed/>
                </p:oleObj>
              </mc:Choice>
              <mc:Fallback>
                <p:oleObj name="Уравнение" r:id="rId5" imgW="558720" imgH="24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176" y="1209140"/>
                        <a:ext cx="1003300" cy="430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4445097" y="1182442"/>
            <a:ext cx="46079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так как здесь на текущий момент </a:t>
            </a:r>
            <a:endParaRPr lang="ru-RU" sz="2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631504" y="1526070"/>
            <a:ext cx="49148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нижняя граница является меньшей. </a:t>
            </a:r>
            <a:endParaRPr lang="ru-RU" sz="2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605677" y="116609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</p:spTree>
    <p:extLst>
      <p:ext uri="{BB962C8B-B14F-4D97-AF65-F5344CB8AC3E}">
        <p14:creationId xmlns:p14="http://schemas.microsoft.com/office/powerpoint/2010/main" val="3782876124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7" name="Прямоугольник 6"/>
          <p:cNvSpPr/>
          <p:nvPr/>
        </p:nvSpPr>
        <p:spPr>
          <a:xfrm>
            <a:off x="3359696" y="0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047912"/>
              </p:ext>
            </p:extLst>
          </p:nvPr>
        </p:nvGraphicFramePr>
        <p:xfrm>
          <a:off x="1136312" y="995849"/>
          <a:ext cx="1968220" cy="16830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148861"/>
              </p:ext>
            </p:extLst>
          </p:nvPr>
        </p:nvGraphicFramePr>
        <p:xfrm>
          <a:off x="4079776" y="995849"/>
          <a:ext cx="1968220" cy="16830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582327"/>
              </p:ext>
            </p:extLst>
          </p:nvPr>
        </p:nvGraphicFramePr>
        <p:xfrm>
          <a:off x="3104532" y="2678889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19854"/>
              </p:ext>
            </p:extLst>
          </p:nvPr>
        </p:nvGraphicFramePr>
        <p:xfrm>
          <a:off x="7023240" y="1206229"/>
          <a:ext cx="1476165" cy="12622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1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769086"/>
              </p:ext>
            </p:extLst>
          </p:nvPr>
        </p:nvGraphicFramePr>
        <p:xfrm>
          <a:off x="8499405" y="2468509"/>
          <a:ext cx="361850" cy="429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50">
                  <a:extLst>
                    <a:ext uri="{9D8B030D-6E8A-4147-A177-3AD203B41FA5}">
                      <a16:colId xmlns:a16="http://schemas.microsoft.com/office/drawing/2014/main" val="1546887663"/>
                    </a:ext>
                  </a:extLst>
                </a:gridCol>
              </a:tblGrid>
              <a:tr h="42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198958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843526"/>
              </p:ext>
            </p:extLst>
          </p:nvPr>
        </p:nvGraphicFramePr>
        <p:xfrm>
          <a:off x="9507575" y="1206229"/>
          <a:ext cx="1476165" cy="12622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be-BY" sz="20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2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  <a:endParaRPr lang="be-BY" sz="1800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  <a:endParaRPr lang="be-BY" sz="2000" dirty="0"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1800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e-BY" sz="2000" dirty="0"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7030A0"/>
                          </a:solidFill>
                          <a:effectLst/>
                          <a:latin typeface="Bahnschrift" panose="020B0502040204020203" pitchFamily="34" charset="0"/>
                          <a:ea typeface="Times New Roman"/>
                        </a:rPr>
                        <a:t>∞</a:t>
                      </a:r>
                      <a:endParaRPr lang="be-BY" sz="2000" b="1" dirty="0">
                        <a:solidFill>
                          <a:srgbClr val="7030A0"/>
                        </a:solidFill>
                        <a:effectLst/>
                        <a:latin typeface="Bahnschrift" panose="020B0502040204020203" pitchFamily="34" charset="0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08"/>
          <a:stretch/>
        </p:blipFill>
        <p:spPr>
          <a:xfrm>
            <a:off x="1369884" y="3429000"/>
            <a:ext cx="9175275" cy="309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31508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 flipV="1">
            <a:off x="7392144" y="4972004"/>
            <a:ext cx="181141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623392" y="1196752"/>
            <a:ext cx="1116124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Анализ таблицы позволяет выявить два последних звена кольцевого маршрута: </a:t>
            </a:r>
            <a:r>
              <a:rPr lang="ru-RU" sz="2800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(3, 5)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и </a:t>
            </a:r>
            <a:r>
              <a:rPr lang="ru-RU" sz="2800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(5, 2)</a:t>
            </a:r>
            <a: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.</a:t>
            </a:r>
            <a:r>
              <a:rPr lang="ru-RU" sz="2800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Эта таблица не может быть приведена, т. е. сумма констант приведения будет равной 0.    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 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 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Для получения окончательного решения следует расставить выбранные дуги в правильном порядке: </a:t>
            </a:r>
            <a:r>
              <a:rPr lang="ru-RU" sz="2800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(1, 4), (4, 3), (3, 5), (5, 2), (2, 1)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Сложив расстояния, соответствующие дугам кольцевого маршрута, получим </a:t>
            </a:r>
            <a:r>
              <a:rPr lang="ru-RU" sz="2800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18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, что совпадает с нижней границей, приписанной последнему узлу графа </a:t>
            </a:r>
            <a:r>
              <a:rPr lang="en-US" sz="2800" b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T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  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606185" y="260648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</p:spTree>
    <p:extLst>
      <p:ext uri="{BB962C8B-B14F-4D97-AF65-F5344CB8AC3E}">
        <p14:creationId xmlns:p14="http://schemas.microsoft.com/office/powerpoint/2010/main" val="865322512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708994"/>
              </p:ext>
            </p:extLst>
          </p:nvPr>
        </p:nvGraphicFramePr>
        <p:xfrm>
          <a:off x="263353" y="1268760"/>
          <a:ext cx="11449272" cy="3456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" name="Visio" r:id="rId3" imgW="7075350" imgH="2156873" progId="Visio.Drawing.11">
                  <p:embed/>
                </p:oleObj>
              </mc:Choice>
              <mc:Fallback>
                <p:oleObj name="Visio" r:id="rId3" imgW="7075350" imgH="215687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53" y="1268760"/>
                        <a:ext cx="11449272" cy="34563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914421" y="719278"/>
            <a:ext cx="636315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Bahnschrift" panose="020B0502040204020203" pitchFamily="34" charset="0"/>
                <a:ea typeface="Times New Roman" panose="02020603050405020304" pitchFamily="18" charset="0"/>
              </a:rPr>
              <a:t>Окончательный вид графа </a:t>
            </a:r>
            <a:r>
              <a:rPr lang="en-US" sz="32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T</a:t>
            </a:r>
            <a:r>
              <a:rPr lang="ru-RU" sz="32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551383" y="5024408"/>
            <a:ext cx="110892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Следует обратить внимание на несколько листовых вершин дерева, которым тоже соответствует нижняя граница, равная 18. Продолжение вычислений для этих ветвей в лучшем случае приведет к получению гамильтонова цикла такой же длины (18), но никогда меньшей.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498173" y="2148"/>
            <a:ext cx="5195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ветвей и границ</a:t>
            </a:r>
          </a:p>
        </p:txBody>
      </p:sp>
    </p:spTree>
    <p:extLst>
      <p:ext uri="{BB962C8B-B14F-4D97-AF65-F5344CB8AC3E}">
        <p14:creationId xmlns:p14="http://schemas.microsoft.com/office/powerpoint/2010/main" val="529162619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368" y="188640"/>
            <a:ext cx="7130008" cy="1325563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accent2">
                    <a:lumMod val="75000"/>
                  </a:schemeClr>
                </a:solidFill>
                <a:latin typeface="Bahnschrift" panose="020B0502040204020203" pitchFamily="34" charset="0"/>
              </a:rPr>
              <a:t>Немного больше о задаче коммивояжера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9844" y="2132856"/>
            <a:ext cx="561784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>
                <a:latin typeface="Bahnschrift" panose="020B0502040204020203" pitchFamily="34" charset="0"/>
              </a:rPr>
              <a:t>Задача коммивояжера является одной из классических задач комбинаторной оптимизации. Она была сформулирована еще в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Bahnschrift" panose="020B0502040204020203" pitchFamily="34" charset="0"/>
              </a:rPr>
              <a:t>1832</a:t>
            </a:r>
            <a:r>
              <a:rPr lang="ru-RU" dirty="0">
                <a:latin typeface="Bahnschrift" panose="020B0502040204020203" pitchFamily="34" charset="0"/>
              </a:rPr>
              <a:t> году и состоит в том, чтобы найти кратчайший маршрут для посещения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Bahnschrift" panose="020B0502040204020203" pitchFamily="34" charset="0"/>
              </a:rPr>
              <a:t>n</a:t>
            </a:r>
            <a:r>
              <a:rPr lang="ru-RU" dirty="0">
                <a:latin typeface="Bahnschrift" panose="020B0502040204020203" pitchFamily="34" charset="0"/>
              </a:rPr>
              <a:t> городов ровно по одному разу и возвращения в исходный город</a:t>
            </a:r>
            <a:r>
              <a:rPr lang="ru-RU" sz="3200" dirty="0">
                <a:latin typeface="Bahnschrift" panose="020B0502040204020203" pitchFamily="34" charset="0"/>
              </a:rPr>
              <a:t>. </a:t>
            </a:r>
          </a:p>
        </p:txBody>
      </p:sp>
      <p:pic>
        <p:nvPicPr>
          <p:cNvPr id="23558" name="Picture 6" descr="Карта Средиземья | Middle earth map, Middle earth, Lord of the ring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" r="37788"/>
          <a:stretch/>
        </p:blipFill>
        <p:spPr bwMode="auto">
          <a:xfrm>
            <a:off x="6791400" y="0"/>
            <a:ext cx="5400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697578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368" y="188640"/>
            <a:ext cx="7130008" cy="1325563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accent2">
                    <a:lumMod val="75000"/>
                  </a:schemeClr>
                </a:solidFill>
                <a:latin typeface="Bahnschrift" panose="020B0502040204020203" pitchFamily="34" charset="0"/>
              </a:rPr>
              <a:t>Немного больше о задаче коммивояжера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8160" y="1772816"/>
            <a:ext cx="5617840" cy="4351338"/>
          </a:xfrm>
        </p:spPr>
        <p:txBody>
          <a:bodyPr>
            <a:noAutofit/>
          </a:bodyPr>
          <a:lstStyle/>
          <a:p>
            <a:pPr lvl="1"/>
            <a:r>
              <a:rPr lang="ru-RU" sz="2800" dirty="0">
                <a:latin typeface="Bahnschrift" panose="020B0502040204020203" pitchFamily="34" charset="0"/>
              </a:rPr>
              <a:t>Полный перебор</a:t>
            </a:r>
          </a:p>
          <a:p>
            <a:pPr lvl="1"/>
            <a:r>
              <a:rPr lang="ru-RU" sz="2800" dirty="0">
                <a:latin typeface="Bahnschrift" panose="020B0502040204020203" pitchFamily="34" charset="0"/>
              </a:rPr>
              <a:t>Случайный перебор</a:t>
            </a:r>
          </a:p>
          <a:p>
            <a:pPr lvl="1"/>
            <a:r>
              <a:rPr lang="ru-RU" sz="2800" dirty="0">
                <a:latin typeface="Bahnschrift" panose="020B0502040204020203" pitchFamily="34" charset="0"/>
              </a:rPr>
              <a:t>Метод ветвей и границ</a:t>
            </a:r>
          </a:p>
          <a:p>
            <a:pPr lvl="1"/>
            <a:r>
              <a:rPr lang="ru-RU" sz="2800" dirty="0">
                <a:latin typeface="Bahnschrift" panose="020B0502040204020203" pitchFamily="34" charset="0"/>
              </a:rPr>
              <a:t>Жадный алгоритм</a:t>
            </a:r>
          </a:p>
          <a:p>
            <a:pPr lvl="1"/>
            <a:r>
              <a:rPr lang="ru-RU" sz="2800" dirty="0">
                <a:latin typeface="Bahnschrift" panose="020B0502040204020203" pitchFamily="34" charset="0"/>
              </a:rPr>
              <a:t>Метод шнурка</a:t>
            </a:r>
          </a:p>
          <a:p>
            <a:pPr lvl="1"/>
            <a:r>
              <a:rPr lang="ru-RU" sz="2800" dirty="0">
                <a:latin typeface="Bahnschrift" panose="020B0502040204020203" pitchFamily="34" charset="0"/>
              </a:rPr>
              <a:t>Метод отжига</a:t>
            </a:r>
          </a:p>
          <a:p>
            <a:pPr lvl="1"/>
            <a:r>
              <a:rPr lang="ru-RU" sz="2800" dirty="0">
                <a:latin typeface="Bahnschrift" panose="020B0502040204020203" pitchFamily="34" charset="0"/>
              </a:rPr>
              <a:t>Метод минимального </a:t>
            </a:r>
            <a:r>
              <a:rPr lang="ru-RU" sz="2800" dirty="0" err="1">
                <a:latin typeface="Bahnschrift" panose="020B0502040204020203" pitchFamily="34" charset="0"/>
              </a:rPr>
              <a:t>остовного</a:t>
            </a:r>
            <a:r>
              <a:rPr lang="ru-RU" sz="2800" dirty="0">
                <a:latin typeface="Bahnschrift" panose="020B0502040204020203" pitchFamily="34" charset="0"/>
              </a:rPr>
              <a:t> дерева</a:t>
            </a:r>
          </a:p>
          <a:p>
            <a:pPr lvl="1"/>
            <a:r>
              <a:rPr lang="ru-RU" sz="2800" dirty="0">
                <a:latin typeface="Bahnschrift" panose="020B0502040204020203" pitchFamily="34" charset="0"/>
              </a:rPr>
              <a:t>Муравьиный алгоритм</a:t>
            </a:r>
          </a:p>
          <a:p>
            <a:pPr lvl="1"/>
            <a:r>
              <a:rPr lang="ru-RU" sz="2800" dirty="0">
                <a:latin typeface="Bahnschrift" panose="020B0502040204020203" pitchFamily="34" charset="0"/>
              </a:rPr>
              <a:t>Генетический алгоритм</a:t>
            </a:r>
          </a:p>
        </p:txBody>
      </p:sp>
      <p:pic>
        <p:nvPicPr>
          <p:cNvPr id="23558" name="Picture 6" descr="Карта Средиземья | Middle earth map, Middle earth, Lord of the ring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" r="37788"/>
          <a:stretch/>
        </p:blipFill>
        <p:spPr bwMode="auto">
          <a:xfrm>
            <a:off x="6791400" y="0"/>
            <a:ext cx="5400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070320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B3C02-5B6B-4CFC-AF8B-39DE7826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2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Полный перебор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CD8D7-FABD-4354-97DF-7CFA73200788}"/>
              </a:ext>
            </a:extLst>
          </p:cNvPr>
          <p:cNvSpPr txBox="1"/>
          <p:nvPr/>
        </p:nvSpPr>
        <p:spPr>
          <a:xfrm>
            <a:off x="399524" y="1196752"/>
            <a:ext cx="113772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solidFill>
                  <a:srgbClr val="1B2B4C"/>
                </a:solidFill>
                <a:latin typeface="Yandex Sans Text"/>
              </a:rPr>
              <a:t>       Полный перебор для пяти городов: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1B2B4C"/>
                </a:solidFill>
                <a:latin typeface="Yandex Sans Text"/>
              </a:rPr>
              <a:t>С помощью 5 вложенных циклов мы сможем перебрать все варианты маршрутов.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1B2B4C"/>
                </a:solidFill>
                <a:latin typeface="Yandex Sans Text"/>
              </a:rPr>
              <a:t>В каждом цикле проходим от 0 до 4, чтобы перебрать все возможные расстояния для этого города.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1B2B4C"/>
                </a:solidFill>
                <a:latin typeface="Yandex Sans Text"/>
              </a:rPr>
              <a:t>На каждом шаге проверяем, чтобы у нас не повторялись города в маршруте, потому что в каждом можно побывать только один раз.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1B2B4C"/>
                </a:solidFill>
                <a:latin typeface="Yandex Sans Text"/>
              </a:rPr>
              <a:t>Если это условие выполняется, то запоминаем очередной маршрут и считаем его длину.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1B2B4C"/>
                </a:solidFill>
                <a:latin typeface="Yandex Sans Text"/>
              </a:rPr>
              <a:t>Если длина получилась меньше, чем наименьшая до этого — значит, сейчас у нас получился самый короткий маршрут. Возможно, на следующих шагах цикла мы найдём маршрут ещё короче, но пока минимальный — этот. Делаем эту длину наименьшей и запоминаем номер маршрута.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1B2B4C"/>
                </a:solidFill>
                <a:latin typeface="Yandex Sans Text"/>
              </a:rPr>
              <a:t>Так прогоняем все комбинации городов.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1B2B4C"/>
                </a:solidFill>
                <a:latin typeface="Yandex Sans Text"/>
              </a:rPr>
              <a:t>Находим минимальный маршрут и его длину.</a:t>
            </a:r>
          </a:p>
        </p:txBody>
      </p:sp>
    </p:spTree>
    <p:extLst>
      <p:ext uri="{BB962C8B-B14F-4D97-AF65-F5344CB8AC3E}">
        <p14:creationId xmlns:p14="http://schemas.microsoft.com/office/powerpoint/2010/main" val="4273105888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B3C02-5B6B-4CFC-AF8B-39DE7826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2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Случайный перебор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CD8D7-FABD-4354-97DF-7CFA73200788}"/>
              </a:ext>
            </a:extLst>
          </p:cNvPr>
          <p:cNvSpPr txBox="1"/>
          <p:nvPr/>
        </p:nvSpPr>
        <p:spPr>
          <a:xfrm>
            <a:off x="622784" y="1844824"/>
            <a:ext cx="109464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>
                <a:solidFill>
                  <a:srgbClr val="1B2B4C"/>
                </a:solidFill>
                <a:latin typeface="Yandex Sans Text"/>
              </a:rPr>
              <a:t>	В этом случае вычисляются не все возможные варианты маршрута, а лишь некоторые выбранные в случайном порядке (например, с помощью генератора случайных чисел). Из рассмотренных вариантов затем выбирается наилучший. Конечно, вероятнее всего полученное решение не будет оптимальным (впрочем, оно не будет и самым худшим), но зато данный метод требует меньших затрат времени и вычислительных ресурсов, а потому в некоторых случаях его применение оправдано.</a:t>
            </a:r>
          </a:p>
        </p:txBody>
      </p:sp>
      <p:sp>
        <p:nvSpPr>
          <p:cNvPr id="4" name="AutoShape 2" descr="Picture background">
            <a:extLst>
              <a:ext uri="{FF2B5EF4-FFF2-40B4-BE49-F238E27FC236}">
                <a16:creationId xmlns:a16="http://schemas.microsoft.com/office/drawing/2014/main" id="{D7ACF88B-27AE-43BB-88CA-A8B9A236CC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168633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B3C02-5B6B-4CFC-AF8B-39DE7826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2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Жадные алгоритмы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CD8D7-FABD-4354-97DF-7CFA73200788}"/>
              </a:ext>
            </a:extLst>
          </p:cNvPr>
          <p:cNvSpPr txBox="1"/>
          <p:nvPr/>
        </p:nvSpPr>
        <p:spPr>
          <a:xfrm>
            <a:off x="622784" y="1556792"/>
            <a:ext cx="1094643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1B2B4C"/>
                </a:solidFill>
                <a:latin typeface="Yandex Sans Text"/>
              </a:rPr>
              <a:t>	Основаны на нахождении локально оптимальных решений на каждом этапе вычислений и допущении, что найденное таким образом итоговое решение будет глобально оптимальным. Т. е. на каждой итерации выбирается лучший участок пути, который включается в итоговый маршрут. </a:t>
            </a:r>
          </a:p>
          <a:p>
            <a:pPr algn="just"/>
            <a:r>
              <a:rPr lang="ru-RU" sz="3200" dirty="0">
                <a:solidFill>
                  <a:srgbClr val="1B2B4C"/>
                </a:solidFill>
                <a:latin typeface="Yandex Sans Text"/>
              </a:rPr>
              <a:t>	К жадным алгоритмам относится метод ближайшего соседа (англ. «</a:t>
            </a:r>
            <a:r>
              <a:rPr lang="ru-RU" sz="3200" dirty="0" err="1">
                <a:solidFill>
                  <a:srgbClr val="1B2B4C"/>
                </a:solidFill>
                <a:latin typeface="Yandex Sans Text"/>
              </a:rPr>
              <a:t>Nearest</a:t>
            </a:r>
            <a:r>
              <a:rPr lang="ru-RU" sz="3200" dirty="0">
                <a:solidFill>
                  <a:srgbClr val="1B2B4C"/>
                </a:solidFill>
                <a:latin typeface="Yandex Sans Text"/>
              </a:rPr>
              <a:t> </a:t>
            </a:r>
            <a:r>
              <a:rPr lang="ru-RU" sz="3200" dirty="0" err="1">
                <a:solidFill>
                  <a:srgbClr val="1B2B4C"/>
                </a:solidFill>
                <a:latin typeface="Yandex Sans Text"/>
              </a:rPr>
              <a:t>Neighbour</a:t>
            </a:r>
            <a:r>
              <a:rPr lang="ru-RU" sz="3200" dirty="0">
                <a:solidFill>
                  <a:srgbClr val="1B2B4C"/>
                </a:solidFill>
                <a:latin typeface="Yandex Sans Text"/>
              </a:rPr>
              <a:t>»)</a:t>
            </a:r>
          </a:p>
        </p:txBody>
      </p:sp>
    </p:spTree>
    <p:extLst>
      <p:ext uri="{BB962C8B-B14F-4D97-AF65-F5344CB8AC3E}">
        <p14:creationId xmlns:p14="http://schemas.microsoft.com/office/powerpoint/2010/main" val="1331929080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B3C02-5B6B-4CFC-AF8B-39DE7826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2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Жадные алгоритмы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CD8D7-FABD-4354-97DF-7CFA73200788}"/>
              </a:ext>
            </a:extLst>
          </p:cNvPr>
          <p:cNvSpPr txBox="1"/>
          <p:nvPr/>
        </p:nvSpPr>
        <p:spPr>
          <a:xfrm>
            <a:off x="30290" y="1090313"/>
            <a:ext cx="662473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>
                <a:solidFill>
                  <a:srgbClr val="1B2B4C"/>
                </a:solidFill>
                <a:latin typeface="Yandex Sans Text"/>
              </a:rPr>
              <a:t>      Метод ближайшего соседа: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B2B4C"/>
                </a:solidFill>
                <a:latin typeface="Yandex Sans Text"/>
              </a:rPr>
              <a:t>начинаем маршрут с первого города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B2B4C"/>
                </a:solidFill>
                <a:latin typeface="Yandex Sans Text"/>
              </a:rPr>
              <a:t>помечаем его как посещённый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B2B4C"/>
                </a:solidFill>
                <a:latin typeface="Yandex Sans Text"/>
              </a:rPr>
              <a:t>находим ближайший </a:t>
            </a:r>
            <a:r>
              <a:rPr lang="ru-RU" sz="2800" dirty="0" err="1">
                <a:solidFill>
                  <a:srgbClr val="1B2B4C"/>
                </a:solidFill>
                <a:latin typeface="Yandex Sans Text"/>
              </a:rPr>
              <a:t>непосещённый</a:t>
            </a:r>
            <a:r>
              <a:rPr lang="ru-RU" sz="2800" dirty="0">
                <a:solidFill>
                  <a:srgbClr val="1B2B4C"/>
                </a:solidFill>
                <a:latin typeface="Yandex Sans Text"/>
              </a:rPr>
              <a:t> город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B2B4C"/>
                </a:solidFill>
                <a:latin typeface="Yandex Sans Text"/>
              </a:rPr>
              <a:t>добавляем его в маршрут и помечаем как посещённый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B2B4C"/>
                </a:solidFill>
                <a:latin typeface="Yandex Sans Text"/>
              </a:rPr>
              <a:t>проходим таким образом по всем городам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B2B4C"/>
                </a:solidFill>
                <a:latin typeface="Yandex Sans Text"/>
              </a:rPr>
              <a:t>в конце возвращаемся в стартовый город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B2B4C"/>
                </a:solidFill>
                <a:latin typeface="Yandex Sans Text"/>
              </a:rPr>
              <a:t>вычисляем общее расстояние маршрута</a:t>
            </a:r>
          </a:p>
          <a:p>
            <a:pPr algn="just"/>
            <a:endParaRPr lang="ru-RU" sz="3200" dirty="0">
              <a:solidFill>
                <a:srgbClr val="1B2B4C"/>
              </a:solidFill>
              <a:latin typeface="Yandex Sans Tex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06A573-45FB-4A19-A058-4BE58AA5B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81" y="1090313"/>
            <a:ext cx="5375920" cy="576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91384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B3C02-5B6B-4CFC-AF8B-39DE7826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2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Жадные алгоритмы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CD8D7-FABD-4354-97DF-7CFA73200788}"/>
              </a:ext>
            </a:extLst>
          </p:cNvPr>
          <p:cNvSpPr txBox="1"/>
          <p:nvPr/>
        </p:nvSpPr>
        <p:spPr>
          <a:xfrm>
            <a:off x="479376" y="1772816"/>
            <a:ext cx="58496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>
                <a:solidFill>
                  <a:srgbClr val="1B2B4C"/>
                </a:solidFill>
                <a:latin typeface="Yandex Sans Text"/>
              </a:rPr>
              <a:t>      Метод простой, но его большой недостаток в том, что может возникнуть ситуация, когда окажется, что начальная и конечная точки маршрута разнесены далеко друг от друга и их придется соединять длинным отрезком пути, что значительно снизит эффективность решения.</a:t>
            </a:r>
            <a:endParaRPr lang="ru-RU" sz="3200" dirty="0">
              <a:solidFill>
                <a:srgbClr val="1B2B4C"/>
              </a:solidFill>
              <a:latin typeface="Yandex Sans Tex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06A573-45FB-4A19-A058-4BE58AA5B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81" y="1090313"/>
            <a:ext cx="5375920" cy="576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08491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B3C02-5B6B-4CFC-AF8B-39DE7826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2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шнурка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CD8D7-FABD-4354-97DF-7CFA73200788}"/>
              </a:ext>
            </a:extLst>
          </p:cNvPr>
          <p:cNvSpPr txBox="1"/>
          <p:nvPr/>
        </p:nvSpPr>
        <p:spPr>
          <a:xfrm>
            <a:off x="1127448" y="1659285"/>
            <a:ext cx="993710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1B2B4C"/>
                </a:solidFill>
                <a:latin typeface="Yandex Sans Text"/>
              </a:rPr>
              <a:t>      Похож на метод ближайшего соседа, но есть отличие: метод шнурка строит маршрут, выбирая ближайший не посещённый город, но может учитывать возврат в исходный город в процессе построения. </a:t>
            </a:r>
          </a:p>
          <a:p>
            <a:pPr algn="just"/>
            <a:endParaRPr lang="ru-RU" sz="3200" dirty="0">
              <a:solidFill>
                <a:srgbClr val="1B2B4C"/>
              </a:solidFill>
              <a:latin typeface="Yandex Sans Text"/>
            </a:endParaRPr>
          </a:p>
          <a:p>
            <a:pPr algn="just"/>
            <a:r>
              <a:rPr lang="ru-RU" sz="3200" dirty="0">
                <a:solidFill>
                  <a:srgbClr val="1B2B4C"/>
                </a:solidFill>
                <a:latin typeface="Yandex Sans Text"/>
              </a:rPr>
              <a:t>     Он строит путь, стараясь учитывать не только текущие расстояния, но и общую структуру маршрута.</a:t>
            </a:r>
            <a:endParaRPr lang="ru-RU" sz="3600" dirty="0">
              <a:solidFill>
                <a:srgbClr val="1B2B4C"/>
              </a:solidFill>
              <a:latin typeface="Yandex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283704920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B3C02-5B6B-4CFC-AF8B-39DE7826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2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отжига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CD8D7-FABD-4354-97DF-7CFA73200788}"/>
              </a:ext>
            </a:extLst>
          </p:cNvPr>
          <p:cNvSpPr txBox="1"/>
          <p:nvPr/>
        </p:nvSpPr>
        <p:spPr>
          <a:xfrm>
            <a:off x="407368" y="908720"/>
            <a:ext cx="736078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1B2B4C"/>
                </a:solidFill>
                <a:latin typeface="Yandex Sans Text"/>
              </a:rPr>
              <a:t>      </a:t>
            </a:r>
            <a:r>
              <a:rPr lang="ru-RU" sz="2800" dirty="0">
                <a:solidFill>
                  <a:srgbClr val="1B2B4C"/>
                </a:solidFill>
                <a:latin typeface="Yandex Sans Text"/>
              </a:rPr>
              <a:t>Основан на имитации реального физического отжига металлов, когда атомы вещества почти выстроены в кристаллическую решётку, но ещё допустимы переходы отдельных атомов из одной ячейки в другую. Их активность зависит от t, ее постепенно понижают, что уменьшает вероятность переходов в состояние с большей энергией. Устойчивая кристаллическая решётка соответствует минимуму энергии атомов, поэтому атом либо переходит в состояние с меньшим уровнем энергии, либо остаётся на месте.</a:t>
            </a:r>
            <a:endParaRPr lang="ru-RU" sz="3600" dirty="0">
              <a:solidFill>
                <a:srgbClr val="1B2B4C"/>
              </a:solidFill>
              <a:latin typeface="Yandex Sans Tex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EF1AC-FAC2-40F2-8E90-147747190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168" y="1277692"/>
            <a:ext cx="4279832" cy="474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612809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B3C02-5B6B-4CFC-AF8B-39DE7826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2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Метод минимального </a:t>
            </a:r>
            <a:r>
              <a:rPr lang="ru-RU" sz="3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остовного</a:t>
            </a:r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 дерева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CD8D7-FABD-4354-97DF-7CFA73200788}"/>
              </a:ext>
            </a:extLst>
          </p:cNvPr>
          <p:cNvSpPr txBox="1"/>
          <p:nvPr/>
        </p:nvSpPr>
        <p:spPr>
          <a:xfrm>
            <a:off x="443372" y="980728"/>
            <a:ext cx="113052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1B2B4C"/>
                </a:solidFill>
                <a:latin typeface="Yandex Sans Text"/>
              </a:rPr>
              <a:t>      </a:t>
            </a:r>
            <a:r>
              <a:rPr lang="ru-RU" sz="2800" dirty="0">
                <a:solidFill>
                  <a:srgbClr val="1B2B4C"/>
                </a:solidFill>
                <a:latin typeface="Yandex Sans Text"/>
              </a:rPr>
              <a:t>Поиск маршрута ведется на графе. Для нахождения оптимального пути применяются различные инструменты: алгоритм Прима, алгоритм </a:t>
            </a:r>
            <a:r>
              <a:rPr lang="ru-RU" sz="2800" dirty="0" err="1">
                <a:solidFill>
                  <a:srgbClr val="1B2B4C"/>
                </a:solidFill>
                <a:latin typeface="Yandex Sans Text"/>
              </a:rPr>
              <a:t>Краскала</a:t>
            </a:r>
            <a:r>
              <a:rPr lang="ru-RU" sz="2800" dirty="0">
                <a:solidFill>
                  <a:srgbClr val="1B2B4C"/>
                </a:solidFill>
                <a:latin typeface="Yandex Sans Text"/>
              </a:rPr>
              <a:t>.</a:t>
            </a:r>
            <a:endParaRPr lang="ru-RU" sz="3600" dirty="0">
              <a:solidFill>
                <a:srgbClr val="1B2B4C"/>
              </a:solidFill>
              <a:latin typeface="Yandex Sans Tex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395EE9-99F7-49AE-94BE-E65AF1A32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32" y="2564904"/>
            <a:ext cx="10920536" cy="402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88459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479376" y="-65906"/>
            <a:ext cx="114763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Муравьиный алгоритм. Интеллект роя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35360" y="980728"/>
            <a:ext cx="11620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202122"/>
                </a:solidFill>
                <a:latin typeface="Bahnschrift" panose="020B0502040204020203" pitchFamily="34" charset="0"/>
              </a:rPr>
              <a:t>Модель такого поведения заключается в следующем: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02122"/>
                </a:solidFill>
                <a:latin typeface="Bahnschrift" panose="020B0502040204020203" pitchFamily="34" charset="0"/>
              </a:rPr>
              <a:t>Муравей проходит случайным образом от колонии.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02122"/>
                </a:solidFill>
                <a:latin typeface="Bahnschrift" panose="020B0502040204020203" pitchFamily="34" charset="0"/>
              </a:rPr>
              <a:t>Если он находит источник пищи, то возвращается в гнездо, оставляя за собой след из </a:t>
            </a:r>
            <a:r>
              <a:rPr lang="ru-RU" sz="2400" dirty="0" err="1">
                <a:solidFill>
                  <a:srgbClr val="202122"/>
                </a:solidFill>
                <a:latin typeface="Bahnschrift" panose="020B0502040204020203" pitchFamily="34" charset="0"/>
              </a:rPr>
              <a:t>феромона</a:t>
            </a:r>
            <a:r>
              <a:rPr lang="ru-RU" sz="2400" dirty="0">
                <a:solidFill>
                  <a:srgbClr val="202122"/>
                </a:solidFill>
                <a:latin typeface="Bahnschrift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02122"/>
                </a:solidFill>
                <a:latin typeface="Bahnschrift" panose="020B0502040204020203" pitchFamily="34" charset="0"/>
              </a:rPr>
              <a:t>Эти феромоны привлекают других муравьёв, находящихся вблизи, которые вероятнее всего пойдут по этому маршруту.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02122"/>
                </a:solidFill>
                <a:latin typeface="Bahnschrift" panose="020B0502040204020203" pitchFamily="34" charset="0"/>
              </a:rPr>
              <a:t>Вернувшись в гнездо, они укрепят </a:t>
            </a:r>
            <a:r>
              <a:rPr lang="ru-RU" sz="2400" dirty="0" err="1">
                <a:solidFill>
                  <a:srgbClr val="202122"/>
                </a:solidFill>
                <a:latin typeface="Bahnschrift" panose="020B0502040204020203" pitchFamily="34" charset="0"/>
              </a:rPr>
              <a:t>феромонную</a:t>
            </a:r>
            <a:r>
              <a:rPr lang="ru-RU" sz="2400" dirty="0">
                <a:solidFill>
                  <a:srgbClr val="202122"/>
                </a:solidFill>
                <a:latin typeface="Bahnschrift" panose="020B0502040204020203" pitchFamily="34" charset="0"/>
              </a:rPr>
              <a:t> тропу.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61CF472-5A17-4FD4-8966-BE1553203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066" y="3796148"/>
            <a:ext cx="5323934" cy="29249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75AE7B-83F6-4D87-B49F-63CE2741FBBD}"/>
              </a:ext>
            </a:extLst>
          </p:cNvPr>
          <p:cNvSpPr txBox="1"/>
          <p:nvPr/>
        </p:nvSpPr>
        <p:spPr>
          <a:xfrm>
            <a:off x="335360" y="3582119"/>
            <a:ext cx="67958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02122"/>
                </a:solidFill>
                <a:latin typeface="Bahnschrift" panose="020B0502040204020203" pitchFamily="34" charset="0"/>
              </a:rPr>
              <a:t>Если существует 2 маршрута, то по более короткому, за то же время, успеют пройти больше муравьёв, чем по длинному.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02122"/>
                </a:solidFill>
                <a:latin typeface="Bahnschrift" panose="020B0502040204020203" pitchFamily="34" charset="0"/>
              </a:rPr>
              <a:t>Короткий маршрут станет более привлекательным.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02122"/>
                </a:solidFill>
                <a:latin typeface="Bahnschrift" panose="020B0502040204020203" pitchFamily="34" charset="0"/>
              </a:rPr>
              <a:t>Длинные пути, в конечном итоге, исчезнут из-за испарения феромонов.</a:t>
            </a:r>
          </a:p>
        </p:txBody>
      </p:sp>
    </p:spTree>
    <p:extLst>
      <p:ext uri="{BB962C8B-B14F-4D97-AF65-F5344CB8AC3E}">
        <p14:creationId xmlns:p14="http://schemas.microsoft.com/office/powerpoint/2010/main" val="3741438335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9336" y="260648"/>
            <a:ext cx="8352928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Генетический </a:t>
            </a:r>
            <a:b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алгоритм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9376" y="1772816"/>
            <a:ext cx="7632848" cy="45227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Bahnschrift" panose="020B0502040204020203" pitchFamily="34" charset="0"/>
              </a:rPr>
              <a:t>Это метод оптимизации, который основан на принципах естественного отбора и генетики. </a:t>
            </a:r>
          </a:p>
          <a:p>
            <a:pPr marL="0" indent="0" algn="just">
              <a:buNone/>
            </a:pPr>
            <a:endParaRPr lang="ru-RU" sz="2400" dirty="0">
              <a:latin typeface="Bahnschrift" panose="020B0502040204020203" pitchFamily="34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Bahnschrift" panose="020B0502040204020203" pitchFamily="34" charset="0"/>
              </a:rPr>
              <a:t>Основные шаги генетического алгоритма:</a:t>
            </a:r>
          </a:p>
          <a:p>
            <a:pPr algn="just">
              <a:buFont typeface="+mj-lt"/>
              <a:buAutoNum type="arabicPeriod"/>
            </a:pPr>
            <a:r>
              <a:rPr lang="ru-RU" sz="2400" b="1" dirty="0">
                <a:latin typeface="Bahnschrift" panose="020B0502040204020203" pitchFamily="34" charset="0"/>
              </a:rPr>
              <a:t>Инициализация популяции</a:t>
            </a:r>
            <a:r>
              <a:rPr lang="ru-RU" sz="2400" dirty="0">
                <a:latin typeface="Bahnschrift" panose="020B0502040204020203" pitchFamily="34" charset="0"/>
              </a:rPr>
              <a:t>: создается начальная популяция случайных маршрутов (индивидов), каждый из которых представляет собой последовательность городов.</a:t>
            </a:r>
          </a:p>
          <a:p>
            <a:pPr algn="just">
              <a:buFont typeface="+mj-lt"/>
              <a:buAutoNum type="arabicPeriod"/>
            </a:pPr>
            <a:r>
              <a:rPr lang="ru-RU" sz="2400" b="1" dirty="0">
                <a:latin typeface="Bahnschrift" panose="020B0502040204020203" pitchFamily="34" charset="0"/>
              </a:rPr>
              <a:t>Оценка приспособленности: </a:t>
            </a:r>
            <a:r>
              <a:rPr lang="ru-RU" sz="2400" dirty="0">
                <a:latin typeface="Bahnschrift" panose="020B0502040204020203" pitchFamily="34" charset="0"/>
              </a:rPr>
              <a:t>для каждого индивида вычисляется длина маршрута. Чем короче маршрут, тем выше приспособленность.</a:t>
            </a:r>
          </a:p>
          <a:p>
            <a:pPr marL="0" indent="0">
              <a:buNone/>
            </a:pPr>
            <a:endParaRPr lang="ru-RU" sz="3200" dirty="0">
              <a:latin typeface="Bahnschrift" panose="020B0502040204020203" pitchFamily="34" charset="0"/>
            </a:endParaRPr>
          </a:p>
        </p:txBody>
      </p:sp>
      <p:pic>
        <p:nvPicPr>
          <p:cNvPr id="27650" name="Picture 2" descr="Как гены влияют на гомосексуальность: исследование - новости Украины, Мир -  LIGA.n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2" t="-510" r="12542" b="510"/>
          <a:stretch/>
        </p:blipFill>
        <p:spPr bwMode="auto">
          <a:xfrm>
            <a:off x="8544271" y="0"/>
            <a:ext cx="36477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05777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9336" y="260648"/>
            <a:ext cx="8352928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Генетический </a:t>
            </a:r>
            <a:b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алгоритм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9376" y="1844824"/>
            <a:ext cx="7632848" cy="45227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>
                <a:latin typeface="Bahnschrift" panose="020B0502040204020203" pitchFamily="34" charset="0"/>
              </a:rPr>
              <a:t>3. Выбор: </a:t>
            </a:r>
            <a:r>
              <a:rPr lang="ru-RU" sz="2400" dirty="0">
                <a:latin typeface="Bahnschrift" panose="020B0502040204020203" pitchFamily="34" charset="0"/>
              </a:rPr>
              <a:t>выбираются индивиды для скрещивания на основе их приспособленности. Более приспособленные особи имеют больший шанс быть отобранными.</a:t>
            </a:r>
          </a:p>
          <a:p>
            <a:pPr marL="0" indent="0" algn="just">
              <a:buNone/>
            </a:pPr>
            <a:r>
              <a:rPr lang="ru-RU" sz="2400" b="1" dirty="0">
                <a:latin typeface="Bahnschrift" panose="020B0502040204020203" pitchFamily="34" charset="0"/>
              </a:rPr>
              <a:t>4. Скрещивание: </a:t>
            </a:r>
            <a:r>
              <a:rPr lang="ru-RU" sz="2400" dirty="0">
                <a:latin typeface="Bahnschrift" panose="020B0502040204020203" pitchFamily="34" charset="0"/>
              </a:rPr>
              <a:t>создаются новые индивиды (потомки) с использованием методов скрещивания.</a:t>
            </a:r>
          </a:p>
          <a:p>
            <a:pPr marL="0" indent="0" algn="just">
              <a:buNone/>
            </a:pPr>
            <a:r>
              <a:rPr lang="ru-RU" sz="2400" dirty="0">
                <a:latin typeface="Bahnschrift" panose="020B0502040204020203" pitchFamily="34" charset="0"/>
              </a:rPr>
              <a:t> - Одноточечное скрещивание: выбирается точка на маршруте и обмениваются сегменты между двумя родительскими маршрутами.</a:t>
            </a:r>
          </a:p>
          <a:p>
            <a:pPr marL="0" indent="0" algn="just">
              <a:buNone/>
            </a:pPr>
            <a:r>
              <a:rPr lang="ru-RU" sz="2400" dirty="0">
                <a:latin typeface="Bahnschrift" panose="020B0502040204020203" pitchFamily="34" charset="0"/>
              </a:rPr>
              <a:t>-Двухточечное скрещивание: выбирается две точки и обмениваются сегменты между ними.</a:t>
            </a:r>
          </a:p>
          <a:p>
            <a:pPr marL="0" indent="0">
              <a:buNone/>
            </a:pPr>
            <a:endParaRPr lang="ru-RU" sz="3200" dirty="0">
              <a:latin typeface="Bahnschrift" panose="020B0502040204020203" pitchFamily="34" charset="0"/>
            </a:endParaRPr>
          </a:p>
        </p:txBody>
      </p:sp>
      <p:pic>
        <p:nvPicPr>
          <p:cNvPr id="27650" name="Picture 2" descr="Как гены влияют на гомосексуальность: исследование - новости Украины, Мир -  LIGA.n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2" t="-510" r="12542" b="510"/>
          <a:stretch/>
        </p:blipFill>
        <p:spPr bwMode="auto">
          <a:xfrm>
            <a:off x="8544271" y="0"/>
            <a:ext cx="36477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413000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9336" y="260648"/>
            <a:ext cx="8352928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Генетический </a:t>
            </a:r>
            <a:b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алгоритм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9376" y="1844824"/>
            <a:ext cx="7632848" cy="45227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>
                <a:latin typeface="Bahnschrift" panose="020B0502040204020203" pitchFamily="34" charset="0"/>
              </a:rPr>
              <a:t>5. Мутация: </a:t>
            </a:r>
            <a:r>
              <a:rPr lang="ru-RU" sz="2400" dirty="0">
                <a:latin typeface="Bahnschrift" panose="020B0502040204020203" pitchFamily="34" charset="0"/>
              </a:rPr>
              <a:t>применяется мутация, чтобы внести случайные изменения в потомков (например, поменять местами два города в маршруте). Это помогает избежать локальных минимумов.</a:t>
            </a:r>
          </a:p>
          <a:p>
            <a:pPr marL="0" indent="0" algn="just">
              <a:buNone/>
            </a:pPr>
            <a:r>
              <a:rPr lang="ru-RU" sz="2400" b="1" dirty="0">
                <a:latin typeface="Bahnschrift" panose="020B0502040204020203" pitchFamily="34" charset="0"/>
              </a:rPr>
              <a:t>6. Создание новой популяции: </a:t>
            </a:r>
            <a:r>
              <a:rPr lang="ru-RU" sz="2400" dirty="0">
                <a:latin typeface="Bahnschrift" panose="020B0502040204020203" pitchFamily="34" charset="0"/>
              </a:rPr>
              <a:t>комбинируются отобранные и мутировавшие особи для формирования новой популяции.</a:t>
            </a:r>
          </a:p>
          <a:p>
            <a:pPr marL="0" indent="0" algn="just">
              <a:buNone/>
            </a:pPr>
            <a:r>
              <a:rPr lang="ru-RU" sz="2400" b="1" dirty="0">
                <a:latin typeface="Bahnschrift" panose="020B0502040204020203" pitchFamily="34" charset="0"/>
              </a:rPr>
              <a:t>7. Проверка критерия остановки: </a:t>
            </a:r>
            <a:r>
              <a:rPr lang="ru-RU" sz="2400" dirty="0">
                <a:latin typeface="Bahnschrift" panose="020B0502040204020203" pitchFamily="34" charset="0"/>
              </a:rPr>
              <a:t>процесс повторяется, пока не будет достигнуто заданное количество поколений или уровень приспособленности.</a:t>
            </a:r>
          </a:p>
          <a:p>
            <a:pPr marL="0" indent="0" algn="just">
              <a:buNone/>
            </a:pPr>
            <a:endParaRPr lang="ru-RU" sz="3200" dirty="0">
              <a:latin typeface="Bahnschrift" panose="020B0502040204020203" pitchFamily="34" charset="0"/>
            </a:endParaRPr>
          </a:p>
        </p:txBody>
      </p:sp>
      <p:pic>
        <p:nvPicPr>
          <p:cNvPr id="27650" name="Picture 2" descr="Как гены влияют на гомосексуальность: исследование - новости Украины, Мир -  LIGA.n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2" t="-510" r="12542" b="510"/>
          <a:stretch/>
        </p:blipFill>
        <p:spPr bwMode="auto">
          <a:xfrm>
            <a:off x="8544271" y="0"/>
            <a:ext cx="36477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813395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1404" y="1700808"/>
            <a:ext cx="7128792" cy="460851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3200" dirty="0">
                <a:latin typeface="Bahnschrift" panose="020B0502040204020203" pitchFamily="34" charset="0"/>
              </a:rPr>
              <a:t>Поскольку алгоритм самообучающийся, то спектр применения крайне широк:</a:t>
            </a:r>
          </a:p>
          <a:p>
            <a:pPr marL="0" indent="0">
              <a:buNone/>
            </a:pPr>
            <a:endParaRPr lang="ru-RU" sz="3200" dirty="0">
              <a:latin typeface="Bahnschrift" panose="020B0502040204020203" pitchFamily="34" charset="0"/>
            </a:endParaRPr>
          </a:p>
          <a:p>
            <a:r>
              <a:rPr lang="ru-RU" sz="3200" dirty="0">
                <a:latin typeface="Bahnschrift" panose="020B0502040204020203" pitchFamily="34" charset="0"/>
              </a:rPr>
              <a:t>Задача коммивояжера</a:t>
            </a:r>
          </a:p>
          <a:p>
            <a:r>
              <a:rPr lang="ru-RU" sz="3200" dirty="0">
                <a:latin typeface="Bahnschrift" panose="020B0502040204020203" pitchFamily="34" charset="0"/>
              </a:rPr>
              <a:t>Задачи на графы</a:t>
            </a:r>
          </a:p>
          <a:p>
            <a:r>
              <a:rPr lang="ru-RU" sz="3200" dirty="0">
                <a:latin typeface="Bahnschrift" panose="020B0502040204020203" pitchFamily="34" charset="0"/>
              </a:rPr>
              <a:t>Задачи компоновки</a:t>
            </a:r>
          </a:p>
          <a:p>
            <a:r>
              <a:rPr lang="ru-RU" sz="3200" dirty="0">
                <a:latin typeface="Bahnschrift" panose="020B0502040204020203" pitchFamily="34" charset="0"/>
              </a:rPr>
              <a:t>Составление расписаний</a:t>
            </a:r>
          </a:p>
          <a:p>
            <a:r>
              <a:rPr lang="ru-RU" sz="3200" dirty="0">
                <a:latin typeface="Bahnschrift" panose="020B0502040204020203" pitchFamily="34" charset="0"/>
              </a:rPr>
              <a:t>Обучение искусственного интеллекта</a:t>
            </a:r>
          </a:p>
        </p:txBody>
      </p:sp>
      <p:pic>
        <p:nvPicPr>
          <p:cNvPr id="27650" name="Picture 2" descr="Как гены влияют на гомосексуальность: исследование - новости Украины, Мир -  LIGA.n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2" t="-510" r="12542" b="510"/>
          <a:stretch/>
        </p:blipFill>
        <p:spPr bwMode="auto">
          <a:xfrm>
            <a:off x="8544271" y="0"/>
            <a:ext cx="36477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A3FB73F-3C33-4E30-88C8-DA9996904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260648"/>
            <a:ext cx="8352928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Генетический </a:t>
            </a:r>
            <a:b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ru-RU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алгоритм</a:t>
            </a:r>
          </a:p>
        </p:txBody>
      </p:sp>
    </p:spTree>
    <p:extLst>
      <p:ext uri="{BB962C8B-B14F-4D97-AF65-F5344CB8AC3E}">
        <p14:creationId xmlns:p14="http://schemas.microsoft.com/office/powerpoint/2010/main" val="2784494375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D43DC4F-3C82-491C-BFFF-9075681C3424}"/>
              </a:ext>
            </a:extLst>
          </p:cNvPr>
          <p:cNvSpPr txBox="1">
            <a:spLocks/>
          </p:cNvSpPr>
          <p:nvPr/>
        </p:nvSpPr>
        <p:spPr>
          <a:xfrm>
            <a:off x="479376" y="-65906"/>
            <a:ext cx="114763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Актуальность задачи коммивояжера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C5032-47D9-4136-A2CC-1353EF4405C1}"/>
              </a:ext>
            </a:extLst>
          </p:cNvPr>
          <p:cNvSpPr txBox="1"/>
          <p:nvPr/>
        </p:nvSpPr>
        <p:spPr>
          <a:xfrm>
            <a:off x="306016" y="1124744"/>
            <a:ext cx="11620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latin typeface="Bahnschrift" panose="020B0502040204020203" pitchFamily="34" charset="0"/>
              </a:rPr>
              <a:t>	Туристические приложения</a:t>
            </a:r>
          </a:p>
          <a:p>
            <a:pPr algn="just"/>
            <a:r>
              <a:rPr lang="ru-RU" sz="2400" dirty="0">
                <a:latin typeface="Bahnschrift" panose="020B0502040204020203" pitchFamily="34" charset="0"/>
              </a:rPr>
              <a:t>Это больше всего похоже на задачу коммивояжёра, только здесь путешествует не торговый представитель, а турист. Его задача — обойти как можно больше достопримечательностей на карте.</a:t>
            </a:r>
          </a:p>
          <a:p>
            <a:pPr algn="just"/>
            <a:r>
              <a:rPr lang="ru-RU" sz="2400" b="1" dirty="0">
                <a:latin typeface="Bahnschrift" panose="020B0502040204020203" pitchFamily="34" charset="0"/>
              </a:rPr>
              <a:t>	Конвейер на заводе</a:t>
            </a:r>
          </a:p>
          <a:p>
            <a:pPr algn="just"/>
            <a:r>
              <a:rPr lang="ru-RU" sz="2400" dirty="0">
                <a:latin typeface="Bahnschrift" panose="020B0502040204020203" pitchFamily="34" charset="0"/>
              </a:rPr>
              <a:t>Другой пример использования задачи — это оптимизация конвейера на заводе, то есть маршрута перемещения деталей между станками или участками.</a:t>
            </a:r>
          </a:p>
          <a:p>
            <a:pPr algn="just"/>
            <a:r>
              <a:rPr lang="ru-RU" sz="2400" b="1" dirty="0">
                <a:latin typeface="Bahnschrift" panose="020B0502040204020203" pitchFamily="34" charset="0"/>
              </a:rPr>
              <a:t>	Маршруты курьеров</a:t>
            </a:r>
          </a:p>
          <a:p>
            <a:pPr algn="just"/>
            <a:r>
              <a:rPr lang="ru-RU" sz="2400" dirty="0">
                <a:latin typeface="Bahnschrift" panose="020B0502040204020203" pitchFamily="34" charset="0"/>
              </a:rPr>
              <a:t>Ещё одно применение — это логистика и доставка, то есть раздача заданий курьерам и планирование их маршрутов. Это прямая задача для курьерских служб и служб доставки. Например, такая система строит маршрут для конкретного курьера, чтобы он посетил все точки с минимальными затратами времени и топлива.</a:t>
            </a:r>
          </a:p>
        </p:txBody>
      </p:sp>
    </p:spTree>
    <p:extLst>
      <p:ext uri="{BB962C8B-B14F-4D97-AF65-F5344CB8AC3E}">
        <p14:creationId xmlns:p14="http://schemas.microsoft.com/office/powerpoint/2010/main" val="1132282238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B0857A7-371B-46FC-8B50-631E6994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27180"/>
            <a:ext cx="526329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DCC282-1486-4236-A96C-C0FB8E97C554}"/>
              </a:ext>
            </a:extLst>
          </p:cNvPr>
          <p:cNvSpPr txBox="1"/>
          <p:nvPr/>
        </p:nvSpPr>
        <p:spPr>
          <a:xfrm>
            <a:off x="7536160" y="2548239"/>
            <a:ext cx="40324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" panose="020B0502040204020203" pitchFamily="34" charset="0"/>
              </a:rPr>
              <a:t>Задача оптимального маршрута по 15 112 городам Германии (решена в 2001 году)</a:t>
            </a:r>
          </a:p>
        </p:txBody>
      </p:sp>
    </p:spTree>
    <p:extLst>
      <p:ext uri="{BB962C8B-B14F-4D97-AF65-F5344CB8AC3E}">
        <p14:creationId xmlns:p14="http://schemas.microsoft.com/office/powerpoint/2010/main" val="38153999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2954</TotalTime>
  <Words>3047</Words>
  <Application>Microsoft Office PowerPoint</Application>
  <PresentationFormat>Широкоэкранный</PresentationFormat>
  <Paragraphs>1127</Paragraphs>
  <Slides>47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47</vt:i4>
      </vt:variant>
    </vt:vector>
  </HeadingPairs>
  <TitlesOfParts>
    <vt:vector size="56" baseType="lpstr">
      <vt:lpstr>Arial</vt:lpstr>
      <vt:lpstr>Bahnschrift</vt:lpstr>
      <vt:lpstr>Calibri</vt:lpstr>
      <vt:lpstr>Calibri Light</vt:lpstr>
      <vt:lpstr>Times New Roman</vt:lpstr>
      <vt:lpstr>Yandex Sans Text</vt:lpstr>
      <vt:lpstr>Тема Office</vt:lpstr>
      <vt:lpstr>Уравнение</vt:lpstr>
      <vt:lpstr>Visio</vt:lpstr>
      <vt:lpstr>Общие принципы решения задач оптимизации  методом ветвей и границ</vt:lpstr>
      <vt:lpstr>Презентация PowerPoint</vt:lpstr>
      <vt:lpstr>Презентация PowerPoint</vt:lpstr>
      <vt:lpstr>Область применения  метода ветвей и границ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Немного больше о задаче коммивояжера</vt:lpstr>
      <vt:lpstr>Немного больше о задаче коммивояжера</vt:lpstr>
      <vt:lpstr>Полный перебор</vt:lpstr>
      <vt:lpstr>Случайный перебор</vt:lpstr>
      <vt:lpstr>Жадные алгоритмы</vt:lpstr>
      <vt:lpstr>Жадные алгоритмы</vt:lpstr>
      <vt:lpstr>Жадные алгоритмы</vt:lpstr>
      <vt:lpstr>Метод шнурка</vt:lpstr>
      <vt:lpstr>Метод отжига</vt:lpstr>
      <vt:lpstr>Метод минимального остовного дерева</vt:lpstr>
      <vt:lpstr>Презентация PowerPoint</vt:lpstr>
      <vt:lpstr>Генетический  алгоритм</vt:lpstr>
      <vt:lpstr>Генетический  алгоритм</vt:lpstr>
      <vt:lpstr>Генетический  алгоритм</vt:lpstr>
      <vt:lpstr>Генетический  алгоритм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ПРОГРАММИРОВАНИЕ</dc:title>
  <dc:creator>Brakovich</dc:creator>
  <cp:lastModifiedBy>User</cp:lastModifiedBy>
  <cp:revision>110</cp:revision>
  <dcterms:created xsi:type="dcterms:W3CDTF">2010-12-02T13:55:43Z</dcterms:created>
  <dcterms:modified xsi:type="dcterms:W3CDTF">2026-02-27T08:06:26Z</dcterms:modified>
</cp:coreProperties>
</file>