
<file path=[Content_Types].xml><?xml version="1.0" encoding="utf-8"?>
<Types xmlns="http://schemas.openxmlformats.org/package/2006/content-types">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notesMasterIdLst>
    <p:notesMasterId r:id="rId34"/>
  </p:notesMasterIdLst>
  <p:handoutMasterIdLst>
    <p:handoutMasterId r:id="rId35"/>
  </p:handoutMasterIdLst>
  <p:sldIdLst>
    <p:sldId id="281" r:id="rId2"/>
    <p:sldId id="280" r:id="rId3"/>
    <p:sldId id="279" r:id="rId4"/>
    <p:sldId id="256" r:id="rId5"/>
    <p:sldId id="257" r:id="rId6"/>
    <p:sldId id="258" r:id="rId7"/>
    <p:sldId id="259" r:id="rId8"/>
    <p:sldId id="289" r:id="rId9"/>
    <p:sldId id="260" r:id="rId10"/>
    <p:sldId id="261" r:id="rId11"/>
    <p:sldId id="262" r:id="rId12"/>
    <p:sldId id="263" r:id="rId13"/>
    <p:sldId id="264" r:id="rId14"/>
    <p:sldId id="265" r:id="rId15"/>
    <p:sldId id="266" r:id="rId16"/>
    <p:sldId id="267" r:id="rId17"/>
    <p:sldId id="282" r:id="rId18"/>
    <p:sldId id="283" r:id="rId19"/>
    <p:sldId id="269" r:id="rId20"/>
    <p:sldId id="284" r:id="rId21"/>
    <p:sldId id="285" r:id="rId22"/>
    <p:sldId id="286" r:id="rId23"/>
    <p:sldId id="287" r:id="rId24"/>
    <p:sldId id="288" r:id="rId25"/>
    <p:sldId id="271" r:id="rId26"/>
    <p:sldId id="272" r:id="rId27"/>
    <p:sldId id="273" r:id="rId28"/>
    <p:sldId id="274" r:id="rId29"/>
    <p:sldId id="275" r:id="rId30"/>
    <p:sldId id="276" r:id="rId31"/>
    <p:sldId id="277" r:id="rId32"/>
    <p:sldId id="278" r:id="rId33"/>
  </p:sldIdLst>
  <p:sldSz cx="12192000" cy="6858000"/>
  <p:notesSz cx="6858000" cy="9144000"/>
  <p:defaultTex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54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Светлый стиль 3 - акцент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5" autoAdjust="0"/>
    <p:restoredTop sz="94660"/>
  </p:normalViewPr>
  <p:slideViewPr>
    <p:cSldViewPr>
      <p:cViewPr varScale="1">
        <p:scale>
          <a:sx n="115" d="100"/>
          <a:sy n="115" d="100"/>
        </p:scale>
        <p:origin x="258"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08998C-D685-4069-932C-2A3C0ABD556B}" type="datetimeFigureOut">
              <a:rPr lang="ru-RU" smtClean="0"/>
              <a:t>06.05.2026</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75798A-7648-473B-8C48-3168FC0F1D79}" type="slidenum">
              <a:rPr lang="ru-RU" smtClean="0"/>
              <a:t>‹#›</a:t>
            </a:fld>
            <a:endParaRPr lang="ru-RU"/>
          </a:p>
        </p:txBody>
      </p:sp>
    </p:spTree>
    <p:extLst>
      <p:ext uri="{BB962C8B-B14F-4D97-AF65-F5344CB8AC3E}">
        <p14:creationId xmlns:p14="http://schemas.microsoft.com/office/powerpoint/2010/main" val="16971953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928BCB-A890-40CF-9D29-B0B56C3E1D7A}" type="datetimeFigureOut">
              <a:rPr lang="ru-RU" smtClean="0"/>
              <a:t>06.05.2026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BA9A5-E032-434D-BCD2-0B3224D50AFA}" type="slidenum">
              <a:rPr lang="ru-RU" smtClean="0"/>
              <a:t>‹#›</a:t>
            </a:fld>
            <a:endParaRPr lang="ru-RU"/>
          </a:p>
        </p:txBody>
      </p:sp>
    </p:spTree>
    <p:extLst>
      <p:ext uri="{BB962C8B-B14F-4D97-AF65-F5344CB8AC3E}">
        <p14:creationId xmlns:p14="http://schemas.microsoft.com/office/powerpoint/2010/main" val="819283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16A961B9-FC53-46D5-BBE3-6B21AE7BC90A}" type="slidenum">
              <a:rPr lang="ru-RU" smtClean="0"/>
              <a:t>1</a:t>
            </a:fld>
            <a:endParaRPr lang="ru-RU"/>
          </a:p>
        </p:txBody>
      </p:sp>
    </p:spTree>
    <p:extLst>
      <p:ext uri="{BB962C8B-B14F-4D97-AF65-F5344CB8AC3E}">
        <p14:creationId xmlns:p14="http://schemas.microsoft.com/office/powerpoint/2010/main" val="2846167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344488635"/>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007869859"/>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496928415"/>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6C6C61C8-9B01-4390-BFEC-BFC4D09FF6CC}" type="datetimeFigureOut">
              <a:rPr lang="be-BY" smtClean="0"/>
              <a:pPr/>
              <a:t>06.05.26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62783599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6C6C61C8-9B01-4390-BFEC-BFC4D09FF6CC}" type="datetimeFigureOut">
              <a:rPr lang="be-BY" smtClean="0"/>
              <a:pPr/>
              <a:t>06.05.26</a:t>
            </a:fld>
            <a:endParaRPr lang="be-BY"/>
          </a:p>
        </p:txBody>
      </p:sp>
      <p:sp>
        <p:nvSpPr>
          <p:cNvPr id="8" name="Нижний колонтитул 7"/>
          <p:cNvSpPr>
            <a:spLocks noGrp="1"/>
          </p:cNvSpPr>
          <p:nvPr>
            <p:ph type="ftr" sz="quarter" idx="11"/>
          </p:nvPr>
        </p:nvSpPr>
        <p:spPr/>
        <p:txBody>
          <a:bodyPr/>
          <a:lstStyle/>
          <a:p>
            <a:endParaRPr lang="be-BY"/>
          </a:p>
        </p:txBody>
      </p:sp>
      <p:sp>
        <p:nvSpPr>
          <p:cNvPr id="9" name="Номер слайда 8"/>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889060881"/>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6C6C61C8-9B01-4390-BFEC-BFC4D09FF6CC}" type="datetimeFigureOut">
              <a:rPr lang="be-BY" smtClean="0"/>
              <a:pPr/>
              <a:t>06.05.26</a:t>
            </a:fld>
            <a:endParaRPr lang="be-BY"/>
          </a:p>
        </p:txBody>
      </p:sp>
      <p:sp>
        <p:nvSpPr>
          <p:cNvPr id="4" name="Нижний колонтитул 3"/>
          <p:cNvSpPr>
            <a:spLocks noGrp="1"/>
          </p:cNvSpPr>
          <p:nvPr>
            <p:ph type="ftr" sz="quarter" idx="11"/>
          </p:nvPr>
        </p:nvSpPr>
        <p:spPr/>
        <p:txBody>
          <a:bodyPr/>
          <a:lstStyle/>
          <a:p>
            <a:endParaRPr lang="be-BY"/>
          </a:p>
        </p:txBody>
      </p:sp>
      <p:sp>
        <p:nvSpPr>
          <p:cNvPr id="5" name="Номер слайда 4"/>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980621065"/>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6C6C61C8-9B01-4390-BFEC-BFC4D09FF6CC}" type="datetimeFigureOut">
              <a:rPr lang="be-BY" smtClean="0"/>
              <a:pPr/>
              <a:t>06.05.26</a:t>
            </a:fld>
            <a:endParaRPr lang="be-BY"/>
          </a:p>
        </p:txBody>
      </p:sp>
      <p:sp>
        <p:nvSpPr>
          <p:cNvPr id="3" name="Нижний колонтитул 2"/>
          <p:cNvSpPr>
            <a:spLocks noGrp="1"/>
          </p:cNvSpPr>
          <p:nvPr>
            <p:ph type="ftr" sz="quarter" idx="11"/>
          </p:nvPr>
        </p:nvSpPr>
        <p:spPr/>
        <p:txBody>
          <a:bodyPr/>
          <a:lstStyle/>
          <a:p>
            <a:endParaRPr lang="be-BY"/>
          </a:p>
        </p:txBody>
      </p:sp>
      <p:sp>
        <p:nvSpPr>
          <p:cNvPr id="4" name="Номер слайда 3"/>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223630738"/>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6C6C61C8-9B01-4390-BFEC-BFC4D09FF6CC}" type="datetimeFigureOut">
              <a:rPr lang="be-BY" smtClean="0"/>
              <a:pPr/>
              <a:t>06.05.26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86266547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6C6C61C8-9B01-4390-BFEC-BFC4D09FF6CC}" type="datetimeFigureOut">
              <a:rPr lang="be-BY" smtClean="0"/>
              <a:pPr/>
              <a:t>06.05.26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53445031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452463669"/>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236317075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6C61C8-9B01-4390-BFEC-BFC4D09FF6CC}" type="datetimeFigureOut">
              <a:rPr lang="be-BY" smtClean="0"/>
              <a:pPr/>
              <a:t>06.05.26</a:t>
            </a:fld>
            <a:endParaRPr lang="be-BY"/>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e-BY"/>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943C8-F4B5-45BD-9696-606291EBDE38}" type="slidenum">
              <a:rPr lang="be-BY" smtClean="0"/>
              <a:pPr/>
              <a:t>‹#›</a:t>
            </a:fld>
            <a:endParaRPr lang="be-BY"/>
          </a:p>
        </p:txBody>
      </p:sp>
    </p:spTree>
    <p:extLst>
      <p:ext uri="{BB962C8B-B14F-4D97-AF65-F5344CB8AC3E}">
        <p14:creationId xmlns:p14="http://schemas.microsoft.com/office/powerpoint/2010/main" val="37443468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sh dir="u"/>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15480" y="2492896"/>
            <a:ext cx="9361040" cy="1143000"/>
          </a:xfrm>
        </p:spPr>
        <p:txBody>
          <a:bodyPr>
            <a:noAutofit/>
          </a:bodyPr>
          <a:lstStyle/>
          <a:p>
            <a:pPr algn="ctr"/>
            <a:r>
              <a:rPr lang="ru-RU" sz="6600" b="1" dirty="0">
                <a:solidFill>
                  <a:srgbClr val="7030A0"/>
                </a:solidFill>
              </a:rPr>
              <a:t>ПОТОКИ В СЕТЯХ</a:t>
            </a:r>
            <a:endParaRPr lang="be-BY" b="1" dirty="0">
              <a:solidFill>
                <a:srgbClr val="0070C0"/>
              </a:solidFill>
            </a:endParaRPr>
          </a:p>
        </p:txBody>
      </p:sp>
    </p:spTree>
    <p:extLst>
      <p:ext uri="{BB962C8B-B14F-4D97-AF65-F5344CB8AC3E}">
        <p14:creationId xmlns:p14="http://schemas.microsoft.com/office/powerpoint/2010/main" val="183811018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ctrTitle"/>
          </p:nvPr>
        </p:nvSpPr>
        <p:spPr>
          <a:xfrm>
            <a:off x="2495600" y="332656"/>
            <a:ext cx="7175351" cy="1001080"/>
          </a:xfrm>
        </p:spPr>
        <p:txBody>
          <a:bodyPr/>
          <a:lstStyle/>
          <a:p>
            <a:r>
              <a:rPr lang="ru-RU" dirty="0">
                <a:solidFill>
                  <a:srgbClr val="7030A0"/>
                </a:solidFill>
                <a:effectLst/>
              </a:rPr>
              <a:t>ПОТОКИ В СЕТЯХ</a:t>
            </a:r>
            <a:endParaRPr lang="be-BY" dirty="0">
              <a:solidFill>
                <a:srgbClr val="7030A0"/>
              </a:solidFill>
            </a:endParaRPr>
          </a:p>
        </p:txBody>
      </p:sp>
      <p:sp>
        <p:nvSpPr>
          <p:cNvPr id="4" name="Объект 2"/>
          <p:cNvSpPr txBox="1">
            <a:spLocks/>
          </p:cNvSpPr>
          <p:nvPr/>
        </p:nvSpPr>
        <p:spPr>
          <a:xfrm>
            <a:off x="1847528" y="1556792"/>
            <a:ext cx="8640960" cy="3474720"/>
          </a:xfrm>
          <a:prstGeom prst="rect">
            <a:avLst/>
          </a:prstGeom>
        </p:spPr>
        <p:txBody>
          <a:bodyPr>
            <a:no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a:lstStyle>
          <a:p>
            <a:pPr marL="45720" indent="0">
              <a:buNone/>
            </a:pPr>
            <a:r>
              <a:rPr lang="ru-RU" sz="4000" dirty="0">
                <a:solidFill>
                  <a:srgbClr val="7030A0"/>
                </a:solidFill>
              </a:rPr>
              <a:t>Цель: </a:t>
            </a:r>
            <a:r>
              <a:rPr lang="ru-RU" sz="4000" dirty="0">
                <a:solidFill>
                  <a:schemeClr val="tx1"/>
                </a:solidFill>
              </a:rPr>
              <a:t>освоение навыков решения задач построения потоков в сетях.</a:t>
            </a:r>
          </a:p>
          <a:p>
            <a:pPr marL="45720" indent="0">
              <a:buNone/>
            </a:pPr>
            <a:r>
              <a:rPr lang="ru-RU" sz="4000" dirty="0">
                <a:solidFill>
                  <a:srgbClr val="7030A0"/>
                </a:solidFill>
              </a:rPr>
              <a:t>Задачи: </a:t>
            </a:r>
          </a:p>
          <a:p>
            <a:pPr>
              <a:buClr>
                <a:srgbClr val="7030A0"/>
              </a:buClr>
              <a:buFont typeface="Wingdings" panose="05000000000000000000" pitchFamily="2" charset="2"/>
              <a:buChar char="v"/>
            </a:pPr>
            <a:r>
              <a:rPr lang="ru-RU" sz="4000" dirty="0">
                <a:solidFill>
                  <a:schemeClr val="tx1"/>
                </a:solidFill>
              </a:rPr>
              <a:t>изучение основных понятий;</a:t>
            </a:r>
          </a:p>
          <a:p>
            <a:pPr>
              <a:buClr>
                <a:srgbClr val="7030A0"/>
              </a:buClr>
              <a:buFont typeface="Wingdings" panose="05000000000000000000" pitchFamily="2" charset="2"/>
              <a:buChar char="v"/>
            </a:pPr>
            <a:r>
              <a:rPr lang="ru-RU" sz="4000" dirty="0">
                <a:solidFill>
                  <a:schemeClr val="tx1"/>
                </a:solidFill>
              </a:rPr>
              <a:t>освоение навыков решения задачи о максимальном потоке.</a:t>
            </a:r>
          </a:p>
          <a:p>
            <a:pPr marL="45720" indent="0">
              <a:buNone/>
            </a:pPr>
            <a:endParaRPr lang="be-BY" sz="4000" dirty="0"/>
          </a:p>
        </p:txBody>
      </p:sp>
    </p:spTree>
    <p:extLst>
      <p:ext uri="{BB962C8B-B14F-4D97-AF65-F5344CB8AC3E}">
        <p14:creationId xmlns:p14="http://schemas.microsoft.com/office/powerpoint/2010/main" val="401857449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бъект 2"/>
          <p:cNvSpPr txBox="1">
            <a:spLocks/>
          </p:cNvSpPr>
          <p:nvPr/>
        </p:nvSpPr>
        <p:spPr>
          <a:xfrm>
            <a:off x="1359368" y="1340768"/>
            <a:ext cx="9505056" cy="3474720"/>
          </a:xfrm>
          <a:prstGeom prst="rect">
            <a:avLst/>
          </a:prstGeom>
        </p:spPr>
        <p:txBody>
          <a:bodyPr>
            <a:no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a:lstStyle>
          <a:p>
            <a:pPr marL="502920" indent="-457200">
              <a:buClr>
                <a:srgbClr val="7030A0"/>
              </a:buClr>
              <a:buFont typeface="+mj-lt"/>
              <a:buAutoNum type="arabicPeriod"/>
            </a:pPr>
            <a:r>
              <a:rPr lang="ru-RU" sz="4000" dirty="0">
                <a:solidFill>
                  <a:schemeClr val="tx1"/>
                </a:solidFill>
              </a:rPr>
              <a:t> Основные понятия;</a:t>
            </a:r>
          </a:p>
          <a:p>
            <a:pPr marL="502920" indent="-457200">
              <a:buClr>
                <a:srgbClr val="7030A0"/>
              </a:buClr>
              <a:buFont typeface="+mj-lt"/>
              <a:buAutoNum type="arabicPeriod"/>
            </a:pPr>
            <a:r>
              <a:rPr lang="ru-RU" sz="4000" dirty="0">
                <a:solidFill>
                  <a:schemeClr val="tx1"/>
                </a:solidFill>
              </a:rPr>
              <a:t> Постановка задачи о максимальном потоке</a:t>
            </a:r>
            <a:r>
              <a:rPr lang="en-US" sz="4000" dirty="0">
                <a:solidFill>
                  <a:schemeClr val="tx1"/>
                </a:solidFill>
              </a:rPr>
              <a:t>;</a:t>
            </a:r>
            <a:endParaRPr lang="ru-RU" sz="4000" dirty="0">
              <a:solidFill>
                <a:schemeClr val="tx1"/>
              </a:solidFill>
            </a:endParaRPr>
          </a:p>
          <a:p>
            <a:pPr marL="502920" indent="-457200">
              <a:buClr>
                <a:srgbClr val="7030A0"/>
              </a:buClr>
              <a:buFont typeface="+mj-lt"/>
              <a:buAutoNum type="arabicPeriod"/>
            </a:pPr>
            <a:r>
              <a:rPr lang="ru-RU" sz="4000" dirty="0">
                <a:solidFill>
                  <a:schemeClr val="tx1"/>
                </a:solidFill>
              </a:rPr>
              <a:t> Решение задачи на основе теоремы Форда-</a:t>
            </a:r>
            <a:r>
              <a:rPr lang="ru-RU" sz="4000" dirty="0" err="1">
                <a:solidFill>
                  <a:schemeClr val="tx1"/>
                </a:solidFill>
              </a:rPr>
              <a:t>Фалкерсона</a:t>
            </a:r>
            <a:r>
              <a:rPr lang="ru-RU" sz="4000" dirty="0">
                <a:solidFill>
                  <a:schemeClr val="tx1"/>
                </a:solidFill>
              </a:rPr>
              <a:t>;</a:t>
            </a:r>
          </a:p>
          <a:p>
            <a:pPr marL="502920" indent="-457200">
              <a:buClr>
                <a:srgbClr val="7030A0"/>
              </a:buClr>
              <a:buFont typeface="+mj-lt"/>
              <a:buAutoNum type="arabicPeriod"/>
            </a:pPr>
            <a:r>
              <a:rPr lang="en-US" sz="4000" dirty="0">
                <a:solidFill>
                  <a:schemeClr val="tx1"/>
                </a:solidFill>
              </a:rPr>
              <a:t> </a:t>
            </a:r>
            <a:r>
              <a:rPr lang="ru-RU" sz="4000" dirty="0">
                <a:solidFill>
                  <a:schemeClr val="tx1"/>
                </a:solidFill>
              </a:rPr>
              <a:t>Решение задачи на основе алгоритма Форда-</a:t>
            </a:r>
            <a:r>
              <a:rPr lang="ru-RU" sz="4000" dirty="0" err="1">
                <a:solidFill>
                  <a:schemeClr val="tx1"/>
                </a:solidFill>
              </a:rPr>
              <a:t>Фалкерсона</a:t>
            </a:r>
            <a:r>
              <a:rPr lang="en-US" sz="4000" dirty="0">
                <a:solidFill>
                  <a:schemeClr val="tx1"/>
                </a:solidFill>
              </a:rPr>
              <a:t>.</a:t>
            </a:r>
            <a:endParaRPr lang="ru-RU" sz="4000" dirty="0">
              <a:solidFill>
                <a:schemeClr val="tx1"/>
              </a:solidFill>
            </a:endParaRPr>
          </a:p>
          <a:p>
            <a:pPr marL="45720" indent="0">
              <a:buNone/>
            </a:pPr>
            <a:endParaRPr lang="be-BY" sz="4000" dirty="0">
              <a:solidFill>
                <a:schemeClr val="tx1"/>
              </a:solidFill>
            </a:endParaRPr>
          </a:p>
          <a:p>
            <a:pPr marL="502920" indent="-457200">
              <a:buFont typeface="Georgia" pitchFamily="18" charset="0"/>
              <a:buAutoNum type="arabicPeriod"/>
            </a:pPr>
            <a:endParaRPr lang="be-BY" sz="2800" dirty="0">
              <a:solidFill>
                <a:schemeClr val="tx1"/>
              </a:solidFill>
            </a:endParaRPr>
          </a:p>
          <a:p>
            <a:pPr marL="502920" indent="-457200">
              <a:buFont typeface="Georgia" pitchFamily="18" charset="0"/>
              <a:buAutoNum type="arabicPeriod"/>
            </a:pPr>
            <a:endParaRPr lang="be-BY" sz="2800" dirty="0">
              <a:solidFill>
                <a:schemeClr val="tx1"/>
              </a:solidFill>
            </a:endParaRPr>
          </a:p>
          <a:p>
            <a:pPr marL="502920" indent="-457200">
              <a:buFont typeface="Georgia" pitchFamily="18" charset="0"/>
              <a:buAutoNum type="arabicPeriod"/>
            </a:pPr>
            <a:endParaRPr lang="be-BY" sz="2800" dirty="0">
              <a:solidFill>
                <a:schemeClr val="tx1"/>
              </a:solidFill>
            </a:endParaRPr>
          </a:p>
        </p:txBody>
      </p:sp>
      <p:sp>
        <p:nvSpPr>
          <p:cNvPr id="7" name="Заголовок 1"/>
          <p:cNvSpPr txBox="1">
            <a:spLocks/>
          </p:cNvSpPr>
          <p:nvPr/>
        </p:nvSpPr>
        <p:spPr>
          <a:xfrm>
            <a:off x="2855641" y="21704"/>
            <a:ext cx="6512511" cy="1143000"/>
          </a:xfrm>
          <a:prstGeom prst="rect">
            <a:avLst/>
          </a:prstGeom>
          <a:effectLst/>
        </p:spPr>
        <p:txBody>
          <a:bodyPr vert="horz" lIns="91440" tIns="45720" rIns="91440" bIns="45720" rtlCol="0" anchor="t" anchorCtr="0">
            <a:noAutofit/>
          </a:bodyPr>
          <a:lstStyle>
            <a:lvl1pPr marL="640080" indent="-457200" algn="l" defTabSz="914400" rtl="0" eaLnBrk="1" latinLnBrk="0" hangingPunct="1">
              <a:spcBef>
                <a:spcPct val="0"/>
              </a:spcBef>
              <a:buClr>
                <a:schemeClr val="accent6">
                  <a:lumMod val="75000"/>
                </a:schemeClr>
              </a:buClr>
              <a:buSzPct val="128000"/>
              <a:buFont typeface="Georgia" pitchFamily="18" charset="0"/>
              <a:buChar char="*"/>
              <a:defRPr sz="54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None/>
            </a:pPr>
            <a:r>
              <a:rPr lang="ru-RU" b="0" dirty="0">
                <a:solidFill>
                  <a:schemeClr val="tx1"/>
                </a:solidFill>
                <a:effectLst/>
              </a:rPr>
              <a:t>План лекции</a:t>
            </a:r>
            <a:endParaRPr lang="be-BY" b="0" dirty="0">
              <a:solidFill>
                <a:schemeClr val="tx1"/>
              </a:solidFill>
              <a:effectLst/>
            </a:endParaRPr>
          </a:p>
        </p:txBody>
      </p:sp>
    </p:spTree>
    <p:extLst>
      <p:ext uri="{BB962C8B-B14F-4D97-AF65-F5344CB8AC3E}">
        <p14:creationId xmlns:p14="http://schemas.microsoft.com/office/powerpoint/2010/main" val="399324213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26004" y="188641"/>
            <a:ext cx="8290477" cy="1200329"/>
          </a:xfrm>
          <a:prstGeom prst="rect">
            <a:avLst/>
          </a:prstGeom>
        </p:spPr>
        <p:txBody>
          <a:bodyPr wrap="square">
            <a:spAutoFit/>
          </a:bodyPr>
          <a:lstStyle/>
          <a:p>
            <a:pPr algn="ctr"/>
            <a:r>
              <a:rPr lang="ru-RU" sz="3600" b="1" dirty="0">
                <a:solidFill>
                  <a:srgbClr val="7030A0"/>
                </a:solidFill>
              </a:rPr>
              <a:t>ПОТОКИ В СЕТЯХ</a:t>
            </a:r>
            <a:endParaRPr lang="be-BY" sz="3600" dirty="0">
              <a:solidFill>
                <a:srgbClr val="7030A0"/>
              </a:solidFill>
            </a:endParaRPr>
          </a:p>
          <a:p>
            <a:pPr algn="ctr"/>
            <a:r>
              <a:rPr lang="ru-RU" sz="3600" b="1" dirty="0"/>
              <a:t> Основные понятия</a:t>
            </a:r>
            <a:endParaRPr lang="be-BY" sz="3600"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3512" y="1700808"/>
            <a:ext cx="8914050" cy="4535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129454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3472" y="1484784"/>
            <a:ext cx="9734607"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656791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be-BY"/>
          </a:p>
        </p:txBody>
      </p:sp>
      <p:graphicFrame>
        <p:nvGraphicFramePr>
          <p:cNvPr id="87" name="Объект 86"/>
          <p:cNvGraphicFramePr>
            <a:graphicFrameLocks noChangeAspect="1"/>
          </p:cNvGraphicFramePr>
          <p:nvPr>
            <p:extLst>
              <p:ext uri="{D42A27DB-BD31-4B8C-83A1-F6EECF244321}">
                <p14:modId xmlns:p14="http://schemas.microsoft.com/office/powerpoint/2010/main" val="3759771710"/>
              </p:ext>
            </p:extLst>
          </p:nvPr>
        </p:nvGraphicFramePr>
        <p:xfrm>
          <a:off x="7768856" y="2285612"/>
          <a:ext cx="4073654" cy="712553"/>
        </p:xfrm>
        <a:graphic>
          <a:graphicData uri="http://schemas.openxmlformats.org/presentationml/2006/ole">
            <mc:AlternateContent xmlns:mc="http://schemas.openxmlformats.org/markup-compatibility/2006">
              <mc:Choice xmlns:v="urn:schemas-microsoft-com:vml" Requires="v">
                <p:oleObj spid="_x0000_s3098" name="Формула" r:id="rId3" imgW="2882900" imgH="508000" progId="Equation.3">
                  <p:embed/>
                </p:oleObj>
              </mc:Choice>
              <mc:Fallback>
                <p:oleObj name="Формула" r:id="rId3" imgW="2882900" imgH="5080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8856" y="2285612"/>
                        <a:ext cx="4073654" cy="712553"/>
                      </a:xfrm>
                      <a:prstGeom prst="rect">
                        <a:avLst/>
                      </a:prstGeom>
                      <a:noFill/>
                      <a:extLst/>
                    </p:spPr>
                  </p:pic>
                </p:oleObj>
              </mc:Fallback>
            </mc:AlternateContent>
          </a:graphicData>
        </a:graphic>
      </p:graphicFrame>
      <p:sp>
        <p:nvSpPr>
          <p:cNvPr id="2" name="Овал 1"/>
          <p:cNvSpPr/>
          <p:nvPr/>
        </p:nvSpPr>
        <p:spPr>
          <a:xfrm>
            <a:off x="69105" y="1268402"/>
            <a:ext cx="720080" cy="720080"/>
          </a:xfrm>
          <a:prstGeom prst="ellipse">
            <a:avLst/>
          </a:prstGeom>
          <a:solidFill>
            <a:schemeClr val="accent5">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88" name="Овал 87"/>
          <p:cNvSpPr/>
          <p:nvPr/>
        </p:nvSpPr>
        <p:spPr>
          <a:xfrm>
            <a:off x="2173402" y="10395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89" name="Овал 88"/>
          <p:cNvSpPr/>
          <p:nvPr/>
        </p:nvSpPr>
        <p:spPr>
          <a:xfrm>
            <a:off x="7105474" y="1268402"/>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90" name="Овал 89"/>
          <p:cNvSpPr/>
          <p:nvPr/>
        </p:nvSpPr>
        <p:spPr>
          <a:xfrm>
            <a:off x="5229216" y="10721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91" name="Овал 90"/>
          <p:cNvSpPr/>
          <p:nvPr/>
        </p:nvSpPr>
        <p:spPr>
          <a:xfrm>
            <a:off x="2169751" y="251551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2" name="Овал 91"/>
          <p:cNvSpPr/>
          <p:nvPr/>
        </p:nvSpPr>
        <p:spPr>
          <a:xfrm>
            <a:off x="5229216" y="251551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4" name="Прямая со стрелкой 3"/>
          <p:cNvCxnSpPr>
            <a:stCxn id="2" idx="7"/>
            <a:endCxn id="88" idx="2"/>
          </p:cNvCxnSpPr>
          <p:nvPr/>
        </p:nvCxnSpPr>
        <p:spPr>
          <a:xfrm flipV="1">
            <a:off x="683732" y="463997"/>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Прямая со стрелкой 92"/>
          <p:cNvCxnSpPr>
            <a:stCxn id="2" idx="5"/>
            <a:endCxn id="91" idx="2"/>
          </p:cNvCxnSpPr>
          <p:nvPr/>
        </p:nvCxnSpPr>
        <p:spPr>
          <a:xfrm>
            <a:off x="683732" y="1883029"/>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Прямая со стрелкой 93"/>
          <p:cNvCxnSpPr>
            <a:stCxn id="88" idx="3"/>
            <a:endCxn id="91" idx="1"/>
          </p:cNvCxnSpPr>
          <p:nvPr/>
        </p:nvCxnSpPr>
        <p:spPr>
          <a:xfrm flipH="1">
            <a:off x="2275204" y="71858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Прямая со стрелкой 94"/>
          <p:cNvCxnSpPr>
            <a:stCxn id="91" idx="7"/>
            <a:endCxn id="88" idx="5"/>
          </p:cNvCxnSpPr>
          <p:nvPr/>
        </p:nvCxnSpPr>
        <p:spPr>
          <a:xfrm flipV="1">
            <a:off x="2784378" y="71858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Прямая со стрелкой 95"/>
          <p:cNvCxnSpPr>
            <a:stCxn id="88" idx="6"/>
            <a:endCxn id="90" idx="2"/>
          </p:cNvCxnSpPr>
          <p:nvPr/>
        </p:nvCxnSpPr>
        <p:spPr>
          <a:xfrm>
            <a:off x="2893482" y="463997"/>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Прямая со стрелкой 96"/>
          <p:cNvCxnSpPr>
            <a:stCxn id="92" idx="0"/>
            <a:endCxn id="90" idx="4"/>
          </p:cNvCxnSpPr>
          <p:nvPr/>
        </p:nvCxnSpPr>
        <p:spPr>
          <a:xfrm flipV="1">
            <a:off x="5589256" y="827295"/>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Прямая со стрелкой 97"/>
          <p:cNvCxnSpPr>
            <a:stCxn id="91" idx="6"/>
            <a:endCxn id="92" idx="2"/>
          </p:cNvCxnSpPr>
          <p:nvPr/>
        </p:nvCxnSpPr>
        <p:spPr>
          <a:xfrm>
            <a:off x="2889831" y="2875556"/>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Прямая со стрелкой 98"/>
          <p:cNvCxnSpPr>
            <a:stCxn id="90" idx="3"/>
            <a:endCxn id="91" idx="7"/>
          </p:cNvCxnSpPr>
          <p:nvPr/>
        </p:nvCxnSpPr>
        <p:spPr>
          <a:xfrm flipH="1">
            <a:off x="2784378" y="721842"/>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Прямая со стрелкой 99"/>
          <p:cNvCxnSpPr>
            <a:stCxn id="90" idx="6"/>
            <a:endCxn id="89" idx="1"/>
          </p:cNvCxnSpPr>
          <p:nvPr/>
        </p:nvCxnSpPr>
        <p:spPr>
          <a:xfrm>
            <a:off x="5949296" y="467255"/>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Прямая со стрелкой 100"/>
          <p:cNvCxnSpPr>
            <a:stCxn id="92" idx="6"/>
            <a:endCxn id="89" idx="3"/>
          </p:cNvCxnSpPr>
          <p:nvPr/>
        </p:nvCxnSpPr>
        <p:spPr>
          <a:xfrm flipV="1">
            <a:off x="5949296" y="1883029"/>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1098408" y="657316"/>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03" name="TextBox 102"/>
          <p:cNvSpPr txBox="1"/>
          <p:nvPr/>
        </p:nvSpPr>
        <p:spPr>
          <a:xfrm>
            <a:off x="1098536" y="2097749"/>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04" name="TextBox 103"/>
          <p:cNvSpPr txBox="1"/>
          <p:nvPr/>
        </p:nvSpPr>
        <p:spPr>
          <a:xfrm>
            <a:off x="2017027" y="1050589"/>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05" name="TextBox 104"/>
          <p:cNvSpPr txBox="1"/>
          <p:nvPr/>
        </p:nvSpPr>
        <p:spPr>
          <a:xfrm>
            <a:off x="2556951" y="160339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06" name="TextBox 105"/>
          <p:cNvSpPr txBox="1"/>
          <p:nvPr/>
        </p:nvSpPr>
        <p:spPr>
          <a:xfrm>
            <a:off x="3751752" y="139878"/>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07" name="TextBox 106"/>
          <p:cNvSpPr txBox="1"/>
          <p:nvPr/>
        </p:nvSpPr>
        <p:spPr>
          <a:xfrm>
            <a:off x="3790219" y="1390998"/>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08" name="TextBox 107"/>
          <p:cNvSpPr txBox="1"/>
          <p:nvPr/>
        </p:nvSpPr>
        <p:spPr>
          <a:xfrm>
            <a:off x="3844191" y="2599949"/>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09" name="TextBox 108"/>
          <p:cNvSpPr txBox="1"/>
          <p:nvPr/>
        </p:nvSpPr>
        <p:spPr>
          <a:xfrm>
            <a:off x="5327428" y="1508718"/>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10" name="TextBox 109"/>
          <p:cNvSpPr txBox="1"/>
          <p:nvPr/>
        </p:nvSpPr>
        <p:spPr>
          <a:xfrm>
            <a:off x="6251964" y="552399"/>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11" name="TextBox 110"/>
          <p:cNvSpPr txBox="1"/>
          <p:nvPr/>
        </p:nvSpPr>
        <p:spPr>
          <a:xfrm>
            <a:off x="6349172" y="216236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12" name="Овал 111"/>
          <p:cNvSpPr/>
          <p:nvPr/>
        </p:nvSpPr>
        <p:spPr>
          <a:xfrm>
            <a:off x="70088" y="4788062"/>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113" name="Овал 112"/>
          <p:cNvSpPr/>
          <p:nvPr/>
        </p:nvSpPr>
        <p:spPr>
          <a:xfrm>
            <a:off x="2174385" y="362361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114" name="Овал 113"/>
          <p:cNvSpPr/>
          <p:nvPr/>
        </p:nvSpPr>
        <p:spPr>
          <a:xfrm>
            <a:off x="7106457" y="4788062"/>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115" name="Овал 114"/>
          <p:cNvSpPr/>
          <p:nvPr/>
        </p:nvSpPr>
        <p:spPr>
          <a:xfrm>
            <a:off x="5230199" y="362687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116" name="Овал 115"/>
          <p:cNvSpPr/>
          <p:nvPr/>
        </p:nvSpPr>
        <p:spPr>
          <a:xfrm>
            <a:off x="2170734" y="603517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117" name="Овал 116"/>
          <p:cNvSpPr/>
          <p:nvPr/>
        </p:nvSpPr>
        <p:spPr>
          <a:xfrm>
            <a:off x="5230199" y="603517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18" name="Прямая со стрелкой 117"/>
          <p:cNvCxnSpPr>
            <a:stCxn id="112" idx="7"/>
            <a:endCxn id="113" idx="2"/>
          </p:cNvCxnSpPr>
          <p:nvPr/>
        </p:nvCxnSpPr>
        <p:spPr>
          <a:xfrm flipV="1">
            <a:off x="684715" y="3983657"/>
            <a:ext cx="1489670" cy="909858"/>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Прямая со стрелкой 118"/>
          <p:cNvCxnSpPr>
            <a:stCxn id="112" idx="5"/>
            <a:endCxn id="116" idx="2"/>
          </p:cNvCxnSpPr>
          <p:nvPr/>
        </p:nvCxnSpPr>
        <p:spPr>
          <a:xfrm>
            <a:off x="684715" y="5402689"/>
            <a:ext cx="1486019" cy="9925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Прямая со стрелкой 120"/>
          <p:cNvCxnSpPr>
            <a:stCxn id="116" idx="7"/>
            <a:endCxn id="113" idx="5"/>
          </p:cNvCxnSpPr>
          <p:nvPr/>
        </p:nvCxnSpPr>
        <p:spPr>
          <a:xfrm flipV="1">
            <a:off x="2785361" y="4238244"/>
            <a:ext cx="3651" cy="1902385"/>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Прямая со стрелкой 121"/>
          <p:cNvCxnSpPr>
            <a:stCxn id="113" idx="6"/>
            <a:endCxn id="115" idx="2"/>
          </p:cNvCxnSpPr>
          <p:nvPr/>
        </p:nvCxnSpPr>
        <p:spPr>
          <a:xfrm>
            <a:off x="2894465" y="3983657"/>
            <a:ext cx="2335734" cy="3258"/>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Прямая со стрелкой 122"/>
          <p:cNvCxnSpPr>
            <a:stCxn id="117" idx="0"/>
            <a:endCxn id="115" idx="4"/>
          </p:cNvCxnSpPr>
          <p:nvPr/>
        </p:nvCxnSpPr>
        <p:spPr>
          <a:xfrm flipV="1">
            <a:off x="5590239" y="4346955"/>
            <a:ext cx="0" cy="1688221"/>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Прямая со стрелкой 123"/>
          <p:cNvCxnSpPr>
            <a:stCxn id="116" idx="6"/>
            <a:endCxn id="117" idx="2"/>
          </p:cNvCxnSpPr>
          <p:nvPr/>
        </p:nvCxnSpPr>
        <p:spPr>
          <a:xfrm>
            <a:off x="2890814" y="6395216"/>
            <a:ext cx="2339385" cy="0"/>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Прямая со стрелкой 124"/>
          <p:cNvCxnSpPr>
            <a:stCxn id="115" idx="3"/>
            <a:endCxn id="116" idx="7"/>
          </p:cNvCxnSpPr>
          <p:nvPr/>
        </p:nvCxnSpPr>
        <p:spPr>
          <a:xfrm flipH="1">
            <a:off x="2785361" y="4241502"/>
            <a:ext cx="2550291" cy="18991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Прямая со стрелкой 125"/>
          <p:cNvCxnSpPr>
            <a:stCxn id="115" idx="6"/>
            <a:endCxn id="114" idx="1"/>
          </p:cNvCxnSpPr>
          <p:nvPr/>
        </p:nvCxnSpPr>
        <p:spPr>
          <a:xfrm>
            <a:off x="5950279" y="3986915"/>
            <a:ext cx="1261631" cy="906600"/>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Прямая со стрелкой 126"/>
          <p:cNvCxnSpPr>
            <a:stCxn id="117" idx="6"/>
            <a:endCxn id="114" idx="3"/>
          </p:cNvCxnSpPr>
          <p:nvPr/>
        </p:nvCxnSpPr>
        <p:spPr>
          <a:xfrm flipV="1">
            <a:off x="5950279" y="5402689"/>
            <a:ext cx="1261631" cy="9925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1099391" y="4176976"/>
            <a:ext cx="511787" cy="523220"/>
          </a:xfrm>
          <a:prstGeom prst="rect">
            <a:avLst/>
          </a:prstGeom>
          <a:solidFill>
            <a:schemeClr val="bg1"/>
          </a:solidFill>
        </p:spPr>
        <p:txBody>
          <a:bodyPr wrap="square" rtlCol="0">
            <a:spAutoFit/>
          </a:bodyPr>
          <a:lstStyle/>
          <a:p>
            <a:pPr algn="ctr"/>
            <a:r>
              <a:rPr lang="ru-RU" sz="2800" dirty="0"/>
              <a:t>11</a:t>
            </a:r>
            <a:endParaRPr lang="ru-RU" dirty="0"/>
          </a:p>
        </p:txBody>
      </p:sp>
      <p:sp>
        <p:nvSpPr>
          <p:cNvPr id="129" name="TextBox 128"/>
          <p:cNvSpPr txBox="1"/>
          <p:nvPr/>
        </p:nvSpPr>
        <p:spPr>
          <a:xfrm>
            <a:off x="1099519" y="5617409"/>
            <a:ext cx="511787" cy="523220"/>
          </a:xfrm>
          <a:prstGeom prst="rect">
            <a:avLst/>
          </a:prstGeom>
          <a:solidFill>
            <a:schemeClr val="bg1"/>
          </a:solidFill>
        </p:spPr>
        <p:txBody>
          <a:bodyPr wrap="square" rtlCol="0">
            <a:spAutoFit/>
          </a:bodyPr>
          <a:lstStyle/>
          <a:p>
            <a:pPr algn="ctr"/>
            <a:r>
              <a:rPr lang="ru-RU" sz="2800" dirty="0"/>
              <a:t>8</a:t>
            </a:r>
            <a:endParaRPr lang="ru-RU" dirty="0"/>
          </a:p>
        </p:txBody>
      </p:sp>
      <p:sp>
        <p:nvSpPr>
          <p:cNvPr id="131" name="TextBox 130"/>
          <p:cNvSpPr txBox="1"/>
          <p:nvPr/>
        </p:nvSpPr>
        <p:spPr>
          <a:xfrm>
            <a:off x="2557934" y="5123053"/>
            <a:ext cx="511787" cy="523220"/>
          </a:xfrm>
          <a:prstGeom prst="rect">
            <a:avLst/>
          </a:prstGeom>
          <a:solidFill>
            <a:schemeClr val="bg1"/>
          </a:solidFill>
        </p:spPr>
        <p:txBody>
          <a:bodyPr wrap="square" rtlCol="0">
            <a:spAutoFit/>
          </a:bodyPr>
          <a:lstStyle/>
          <a:p>
            <a:pPr algn="ctr"/>
            <a:r>
              <a:rPr lang="ru-RU" sz="2800" dirty="0"/>
              <a:t>1</a:t>
            </a:r>
            <a:endParaRPr lang="ru-RU" dirty="0"/>
          </a:p>
        </p:txBody>
      </p:sp>
      <p:sp>
        <p:nvSpPr>
          <p:cNvPr id="132" name="TextBox 131"/>
          <p:cNvSpPr txBox="1"/>
          <p:nvPr/>
        </p:nvSpPr>
        <p:spPr>
          <a:xfrm>
            <a:off x="3752735" y="3659538"/>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33" name="TextBox 132"/>
          <p:cNvSpPr txBox="1"/>
          <p:nvPr/>
        </p:nvSpPr>
        <p:spPr>
          <a:xfrm>
            <a:off x="3791202" y="491065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34" name="TextBox 133"/>
          <p:cNvSpPr txBox="1"/>
          <p:nvPr/>
        </p:nvSpPr>
        <p:spPr>
          <a:xfrm>
            <a:off x="3845174" y="6119609"/>
            <a:ext cx="511787" cy="523220"/>
          </a:xfrm>
          <a:prstGeom prst="rect">
            <a:avLst/>
          </a:prstGeom>
          <a:solidFill>
            <a:schemeClr val="bg1"/>
          </a:solidFill>
        </p:spPr>
        <p:txBody>
          <a:bodyPr wrap="square" rtlCol="0">
            <a:spAutoFit/>
          </a:bodyPr>
          <a:lstStyle/>
          <a:p>
            <a:pPr algn="ctr"/>
            <a:r>
              <a:rPr lang="ru-RU" sz="2800" dirty="0"/>
              <a:t>11</a:t>
            </a:r>
            <a:endParaRPr lang="ru-RU" dirty="0"/>
          </a:p>
        </p:txBody>
      </p:sp>
      <p:sp>
        <p:nvSpPr>
          <p:cNvPr id="135" name="TextBox 134"/>
          <p:cNvSpPr txBox="1"/>
          <p:nvPr/>
        </p:nvSpPr>
        <p:spPr>
          <a:xfrm>
            <a:off x="5328411" y="5028378"/>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36" name="TextBox 135"/>
          <p:cNvSpPr txBox="1"/>
          <p:nvPr/>
        </p:nvSpPr>
        <p:spPr>
          <a:xfrm>
            <a:off x="6252947" y="4072059"/>
            <a:ext cx="663009" cy="523220"/>
          </a:xfrm>
          <a:prstGeom prst="rect">
            <a:avLst/>
          </a:prstGeom>
          <a:solidFill>
            <a:schemeClr val="bg1"/>
          </a:solidFill>
        </p:spPr>
        <p:txBody>
          <a:bodyPr wrap="square" rtlCol="0">
            <a:spAutoFit/>
          </a:bodyPr>
          <a:lstStyle/>
          <a:p>
            <a:pPr algn="ctr"/>
            <a:r>
              <a:rPr lang="ru-RU" sz="2800" dirty="0"/>
              <a:t>15</a:t>
            </a:r>
            <a:endParaRPr lang="ru-RU" dirty="0"/>
          </a:p>
        </p:txBody>
      </p:sp>
      <p:sp>
        <p:nvSpPr>
          <p:cNvPr id="137" name="TextBox 136"/>
          <p:cNvSpPr txBox="1"/>
          <p:nvPr/>
        </p:nvSpPr>
        <p:spPr>
          <a:xfrm>
            <a:off x="6350155" y="568202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3" name="TextBox 2">
            <a:extLst>
              <a:ext uri="{FF2B5EF4-FFF2-40B4-BE49-F238E27FC236}">
                <a16:creationId xmlns:a16="http://schemas.microsoft.com/office/drawing/2014/main" id="{C72514A1-F7C7-43ED-B170-2253F1E63F71}"/>
              </a:ext>
            </a:extLst>
          </p:cNvPr>
          <p:cNvSpPr txBox="1"/>
          <p:nvPr/>
        </p:nvSpPr>
        <p:spPr>
          <a:xfrm>
            <a:off x="6890322" y="432882"/>
            <a:ext cx="5379480" cy="400110"/>
          </a:xfrm>
          <a:prstGeom prst="rect">
            <a:avLst/>
          </a:prstGeom>
          <a:noFill/>
        </p:spPr>
        <p:txBody>
          <a:bodyPr wrap="square" rtlCol="0">
            <a:spAutoFit/>
          </a:bodyPr>
          <a:lstStyle/>
          <a:p>
            <a:pPr algn="ctr"/>
            <a:r>
              <a:rPr lang="ru-RU" sz="2000" dirty="0"/>
              <a:t>Сеть и пропускная способность сети</a:t>
            </a:r>
          </a:p>
        </p:txBody>
      </p:sp>
      <p:sp>
        <p:nvSpPr>
          <p:cNvPr id="55" name="TextBox 54">
            <a:extLst>
              <a:ext uri="{FF2B5EF4-FFF2-40B4-BE49-F238E27FC236}">
                <a16:creationId xmlns:a16="http://schemas.microsoft.com/office/drawing/2014/main" id="{1002EAB8-F832-4A39-9BBF-AB60C88E6CF3}"/>
              </a:ext>
            </a:extLst>
          </p:cNvPr>
          <p:cNvSpPr txBox="1"/>
          <p:nvPr/>
        </p:nvSpPr>
        <p:spPr>
          <a:xfrm>
            <a:off x="8188604" y="1075619"/>
            <a:ext cx="3653906" cy="923330"/>
          </a:xfrm>
          <a:prstGeom prst="rect">
            <a:avLst/>
          </a:prstGeom>
          <a:noFill/>
        </p:spPr>
        <p:txBody>
          <a:bodyPr wrap="square" rtlCol="0">
            <a:spAutoFit/>
          </a:bodyPr>
          <a:lstStyle/>
          <a:p>
            <a:pPr algn="just"/>
            <a:r>
              <a:rPr lang="ru-RU" dirty="0"/>
              <a:t>Определим величину потока 19, пропускная способность ребер позволяет это сделать.</a:t>
            </a:r>
          </a:p>
        </p:txBody>
      </p:sp>
      <p:sp>
        <p:nvSpPr>
          <p:cNvPr id="57" name="TextBox 56">
            <a:extLst>
              <a:ext uri="{FF2B5EF4-FFF2-40B4-BE49-F238E27FC236}">
                <a16:creationId xmlns:a16="http://schemas.microsoft.com/office/drawing/2014/main" id="{33FB9CB5-6D34-443E-A4D8-FB27BF3723E3}"/>
              </a:ext>
            </a:extLst>
          </p:cNvPr>
          <p:cNvSpPr txBox="1"/>
          <p:nvPr/>
        </p:nvSpPr>
        <p:spPr>
          <a:xfrm>
            <a:off x="7931990" y="3079902"/>
            <a:ext cx="4012396" cy="3416320"/>
          </a:xfrm>
          <a:prstGeom prst="rect">
            <a:avLst/>
          </a:prstGeom>
          <a:noFill/>
        </p:spPr>
        <p:txBody>
          <a:bodyPr wrap="square" rtlCol="0">
            <a:spAutoFit/>
          </a:bodyPr>
          <a:lstStyle/>
          <a:p>
            <a:pPr algn="just"/>
            <a:r>
              <a:rPr lang="ru-RU" dirty="0"/>
              <a:t>Распределение потоков по ребрам графа определяется по следующим законам:</a:t>
            </a:r>
          </a:p>
          <a:p>
            <a:pPr marL="342900" indent="-342900" algn="just">
              <a:buAutoNum type="arabicPeriod"/>
            </a:pPr>
            <a:r>
              <a:rPr lang="ru-RU" dirty="0"/>
              <a:t>Величина вошедшего через исток в сеть потока должна равняться величине потока, попавшего на сток.</a:t>
            </a:r>
          </a:p>
          <a:p>
            <a:pPr marL="342900" indent="-342900" algn="just">
              <a:buAutoNum type="arabicPeriod"/>
            </a:pPr>
            <a:r>
              <a:rPr lang="ru-RU" dirty="0"/>
              <a:t>Для каждого внутреннего узла величины потоков, вошедших в этот узел, равны величине потоков, вышедших из этого узла.</a:t>
            </a:r>
          </a:p>
        </p:txBody>
      </p:sp>
    </p:spTree>
    <p:extLst>
      <p:ext uri="{BB962C8B-B14F-4D97-AF65-F5344CB8AC3E}">
        <p14:creationId xmlns:p14="http://schemas.microsoft.com/office/powerpoint/2010/main" val="23745755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2688FC-8C67-407B-9AC5-098AE4CB2DB3}"/>
              </a:ext>
            </a:extLst>
          </p:cNvPr>
          <p:cNvSpPr txBox="1"/>
          <p:nvPr/>
        </p:nvSpPr>
        <p:spPr>
          <a:xfrm>
            <a:off x="1199456" y="982176"/>
            <a:ext cx="10009112" cy="4893647"/>
          </a:xfrm>
          <a:prstGeom prst="rect">
            <a:avLst/>
          </a:prstGeom>
          <a:noFill/>
        </p:spPr>
        <p:txBody>
          <a:bodyPr wrap="square" rtlCol="0">
            <a:spAutoFit/>
          </a:bodyPr>
          <a:lstStyle/>
          <a:p>
            <a:pPr algn="just"/>
            <a:r>
              <a:rPr lang="ru-RU" sz="2000" dirty="0"/>
              <a:t>	</a:t>
            </a:r>
            <a:r>
              <a:rPr lang="ru-RU" sz="2400" dirty="0"/>
              <a:t>Для каждого графа, который определяет какую-то транспортную сеть, очень важной характеристикой является </a:t>
            </a:r>
            <a:r>
              <a:rPr lang="ru-RU" sz="2400" b="1" i="1" dirty="0"/>
              <a:t>максимальная пропускная способность</a:t>
            </a:r>
            <a:r>
              <a:rPr lang="ru-RU" sz="2400" dirty="0"/>
              <a:t>, то есть максимальное количество вещества, которое по этой сети можно передать.	</a:t>
            </a:r>
          </a:p>
          <a:p>
            <a:pPr algn="just"/>
            <a:r>
              <a:rPr lang="ru-RU" sz="2400" dirty="0"/>
              <a:t>	Для определения максимальной пропускной способности необходимо снова вспомнить такое понятие как </a:t>
            </a:r>
            <a:r>
              <a:rPr lang="ru-RU" sz="2400" b="1" i="1" dirty="0"/>
              <a:t>разрез</a:t>
            </a:r>
            <a:r>
              <a:rPr lang="ru-RU" sz="2400" dirty="0"/>
              <a:t>.</a:t>
            </a:r>
          </a:p>
          <a:p>
            <a:pPr algn="just"/>
            <a:endParaRPr lang="ru-RU" sz="2400" dirty="0"/>
          </a:p>
          <a:p>
            <a:pPr algn="just"/>
            <a:r>
              <a:rPr lang="ru-RU" sz="2400" dirty="0"/>
              <a:t>	Любое подмножество транспортных вершин, содержащих исток и не содержащих сток, определяет сечение или разрез, отделяющий исток от стока.</a:t>
            </a:r>
          </a:p>
          <a:p>
            <a:pPr algn="just"/>
            <a:r>
              <a:rPr lang="ru-RU" sz="2400" dirty="0"/>
              <a:t>	Разрез состоит из всех вершин тех ребер, которые имеют свое начало в вершинах множества </a:t>
            </a:r>
            <a:r>
              <a:rPr lang="en-US" sz="2400" dirty="0"/>
              <a:t>S</a:t>
            </a:r>
            <a:r>
              <a:rPr lang="ru-RU" sz="2400" dirty="0"/>
              <a:t>, а концы в дополнении к этому множеству. </a:t>
            </a:r>
          </a:p>
        </p:txBody>
      </p:sp>
    </p:spTree>
    <p:extLst>
      <p:ext uri="{BB962C8B-B14F-4D97-AF65-F5344CB8AC3E}">
        <p14:creationId xmlns:p14="http://schemas.microsoft.com/office/powerpoint/2010/main" val="18199543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366" y="1484784"/>
            <a:ext cx="11419267" cy="3423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5503692"/>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Овал 32"/>
          <p:cNvSpPr/>
          <p:nvPr/>
        </p:nvSpPr>
        <p:spPr>
          <a:xfrm>
            <a:off x="1944001" y="1547944"/>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4" name="Овал 33"/>
          <p:cNvSpPr/>
          <p:nvPr/>
        </p:nvSpPr>
        <p:spPr>
          <a:xfrm>
            <a:off x="4048298" y="38349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5" name="Овал 34"/>
          <p:cNvSpPr/>
          <p:nvPr/>
        </p:nvSpPr>
        <p:spPr>
          <a:xfrm>
            <a:off x="8980370" y="1547944"/>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6" name="Овал 35"/>
          <p:cNvSpPr/>
          <p:nvPr/>
        </p:nvSpPr>
        <p:spPr>
          <a:xfrm>
            <a:off x="7104112" y="38675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7" name="Овал 36"/>
          <p:cNvSpPr/>
          <p:nvPr/>
        </p:nvSpPr>
        <p:spPr>
          <a:xfrm>
            <a:off x="4044647" y="279505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38" name="Овал 37"/>
          <p:cNvSpPr/>
          <p:nvPr/>
        </p:nvSpPr>
        <p:spPr>
          <a:xfrm>
            <a:off x="7104112" y="279505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39" name="Прямая со стрелкой 38"/>
          <p:cNvCxnSpPr>
            <a:stCxn id="33" idx="7"/>
            <a:endCxn id="34" idx="2"/>
          </p:cNvCxnSpPr>
          <p:nvPr/>
        </p:nvCxnSpPr>
        <p:spPr>
          <a:xfrm flipV="1">
            <a:off x="2558628" y="743539"/>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stCxn id="33" idx="5"/>
            <a:endCxn id="37" idx="2"/>
          </p:cNvCxnSpPr>
          <p:nvPr/>
        </p:nvCxnSpPr>
        <p:spPr>
          <a:xfrm>
            <a:off x="2558628" y="2162571"/>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a:stCxn id="34" idx="3"/>
            <a:endCxn id="37" idx="1"/>
          </p:cNvCxnSpPr>
          <p:nvPr/>
        </p:nvCxnSpPr>
        <p:spPr>
          <a:xfrm flipH="1">
            <a:off x="4150100" y="998126"/>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7" idx="7"/>
            <a:endCxn id="34" idx="5"/>
          </p:cNvCxnSpPr>
          <p:nvPr/>
        </p:nvCxnSpPr>
        <p:spPr>
          <a:xfrm flipV="1">
            <a:off x="4659274" y="998126"/>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4" idx="6"/>
            <a:endCxn id="36" idx="2"/>
          </p:cNvCxnSpPr>
          <p:nvPr/>
        </p:nvCxnSpPr>
        <p:spPr>
          <a:xfrm>
            <a:off x="4768378" y="743539"/>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8" idx="0"/>
            <a:endCxn id="36" idx="4"/>
          </p:cNvCxnSpPr>
          <p:nvPr/>
        </p:nvCxnSpPr>
        <p:spPr>
          <a:xfrm flipV="1">
            <a:off x="7464152" y="1106837"/>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7" idx="6"/>
            <a:endCxn id="38" idx="2"/>
          </p:cNvCxnSpPr>
          <p:nvPr/>
        </p:nvCxnSpPr>
        <p:spPr>
          <a:xfrm>
            <a:off x="4764727" y="3155098"/>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a:stCxn id="36" idx="3"/>
            <a:endCxn id="37" idx="7"/>
          </p:cNvCxnSpPr>
          <p:nvPr/>
        </p:nvCxnSpPr>
        <p:spPr>
          <a:xfrm flipH="1">
            <a:off x="4659274" y="1001384"/>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stCxn id="36" idx="6"/>
            <a:endCxn id="35" idx="1"/>
          </p:cNvCxnSpPr>
          <p:nvPr/>
        </p:nvCxnSpPr>
        <p:spPr>
          <a:xfrm>
            <a:off x="7824192" y="746797"/>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a:stCxn id="38" idx="6"/>
            <a:endCxn id="35" idx="3"/>
          </p:cNvCxnSpPr>
          <p:nvPr/>
        </p:nvCxnSpPr>
        <p:spPr>
          <a:xfrm flipV="1">
            <a:off x="7824192" y="2162571"/>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973304" y="936858"/>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50" name="TextBox 49"/>
          <p:cNvSpPr txBox="1"/>
          <p:nvPr/>
        </p:nvSpPr>
        <p:spPr>
          <a:xfrm>
            <a:off x="2973432" y="2377291"/>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51" name="TextBox 50"/>
          <p:cNvSpPr txBox="1"/>
          <p:nvPr/>
        </p:nvSpPr>
        <p:spPr>
          <a:xfrm>
            <a:off x="3891923" y="1330131"/>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52" name="TextBox 51"/>
          <p:cNvSpPr txBox="1"/>
          <p:nvPr/>
        </p:nvSpPr>
        <p:spPr>
          <a:xfrm>
            <a:off x="4431847" y="1882935"/>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3" name="TextBox 52"/>
          <p:cNvSpPr txBox="1"/>
          <p:nvPr/>
        </p:nvSpPr>
        <p:spPr>
          <a:xfrm>
            <a:off x="5626648" y="419420"/>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4" name="TextBox 53"/>
          <p:cNvSpPr txBox="1"/>
          <p:nvPr/>
        </p:nvSpPr>
        <p:spPr>
          <a:xfrm>
            <a:off x="5665115" y="167054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55" name="TextBox 54"/>
          <p:cNvSpPr txBox="1"/>
          <p:nvPr/>
        </p:nvSpPr>
        <p:spPr>
          <a:xfrm>
            <a:off x="5719087" y="287949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56" name="TextBox 55"/>
          <p:cNvSpPr txBox="1"/>
          <p:nvPr/>
        </p:nvSpPr>
        <p:spPr>
          <a:xfrm>
            <a:off x="7202324" y="1788260"/>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7" name="TextBox 56"/>
          <p:cNvSpPr txBox="1"/>
          <p:nvPr/>
        </p:nvSpPr>
        <p:spPr>
          <a:xfrm>
            <a:off x="8126860" y="831941"/>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58" name="TextBox 57"/>
          <p:cNvSpPr txBox="1"/>
          <p:nvPr/>
        </p:nvSpPr>
        <p:spPr>
          <a:xfrm>
            <a:off x="8224068" y="2441902"/>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3" name="Полилиния 2"/>
          <p:cNvSpPr/>
          <p:nvPr/>
        </p:nvSpPr>
        <p:spPr>
          <a:xfrm>
            <a:off x="6413843" y="167607"/>
            <a:ext cx="458132" cy="3563471"/>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Lst>
            <a:ahLst/>
            <a:cxnLst>
              <a:cxn ang="0">
                <a:pos x="connsiteX0" y="connsiteY0"/>
              </a:cxn>
              <a:cxn ang="0">
                <a:pos x="connsiteX1" y="connsiteY1"/>
              </a:cxn>
              <a:cxn ang="0">
                <a:pos x="connsiteX2" y="connsiteY2"/>
              </a:cxn>
            </a:cxnLst>
            <a:rect l="l" t="t" r="r" b="b"/>
            <a:pathLst>
              <a:path w="458132" h="3563471">
                <a:moveTo>
                  <a:pt x="14366" y="0"/>
                </a:moveTo>
                <a:cubicBezTo>
                  <a:pt x="156681" y="509867"/>
                  <a:pt x="460361" y="1060076"/>
                  <a:pt x="458120" y="1653988"/>
                </a:cubicBezTo>
                <a:cubicBezTo>
                  <a:pt x="455879" y="2247900"/>
                  <a:pt x="-23734" y="3222812"/>
                  <a:pt x="919" y="3563471"/>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p:cNvSpPr txBox="1"/>
          <p:nvPr/>
        </p:nvSpPr>
        <p:spPr>
          <a:xfrm>
            <a:off x="1235460" y="3850258"/>
            <a:ext cx="9721080" cy="2000548"/>
          </a:xfrm>
          <a:prstGeom prst="rect">
            <a:avLst/>
          </a:prstGeom>
          <a:noFill/>
        </p:spPr>
        <p:txBody>
          <a:bodyPr wrap="square" rtlCol="0">
            <a:spAutoFit/>
          </a:bodyPr>
          <a:lstStyle/>
          <a:p>
            <a:pPr algn="just"/>
            <a:r>
              <a:rPr lang="ru-RU" sz="2400" dirty="0"/>
              <a:t>	Пропускной способностью сечения называется сумма пропускных способностей всех ребер этого сечения. </a:t>
            </a:r>
          </a:p>
          <a:p>
            <a:pPr algn="just"/>
            <a:r>
              <a:rPr lang="ru-RU" sz="2400" dirty="0"/>
              <a:t>	Пропускная способность этого сечения равна сумме пропускных способностей ребер в направлении от истока к стоку.</a:t>
            </a:r>
          </a:p>
          <a:p>
            <a:pPr algn="just"/>
            <a:r>
              <a:rPr lang="ru-RU" sz="2800" dirty="0"/>
              <a:t> </a:t>
            </a:r>
            <a:endParaRPr lang="en-US" sz="2800" dirty="0"/>
          </a:p>
        </p:txBody>
      </p:sp>
      <p:sp>
        <p:nvSpPr>
          <p:cNvPr id="30" name="TextBox 29">
            <a:extLst>
              <a:ext uri="{FF2B5EF4-FFF2-40B4-BE49-F238E27FC236}">
                <a16:creationId xmlns:a16="http://schemas.microsoft.com/office/drawing/2014/main" id="{DA6F0DF3-DB1A-4253-827D-3FB8DEFB0AE9}"/>
              </a:ext>
            </a:extLst>
          </p:cNvPr>
          <p:cNvSpPr txBox="1"/>
          <p:nvPr/>
        </p:nvSpPr>
        <p:spPr>
          <a:xfrm>
            <a:off x="1114440" y="5549005"/>
            <a:ext cx="9721080" cy="954107"/>
          </a:xfrm>
          <a:prstGeom prst="rect">
            <a:avLst/>
          </a:prstGeom>
          <a:noFill/>
        </p:spPr>
        <p:txBody>
          <a:bodyPr wrap="square" rtlCol="0">
            <a:spAutoFit/>
          </a:bodyPr>
          <a:lstStyle/>
          <a:p>
            <a:pPr algn="ctr"/>
            <a:r>
              <a:rPr lang="ru-RU" sz="2800" dirty="0"/>
              <a:t>Разрез (</a:t>
            </a:r>
            <a:r>
              <a:rPr lang="en-US" sz="2800" dirty="0"/>
              <a:t>{0,1,4},{2,3,5}</a:t>
            </a:r>
            <a:r>
              <a:rPr lang="ru-RU" sz="2800" dirty="0"/>
              <a:t>)</a:t>
            </a:r>
            <a:endParaRPr lang="en-US" sz="2800" dirty="0"/>
          </a:p>
          <a:p>
            <a:pPr algn="ctr"/>
            <a:r>
              <a:rPr lang="en-US" sz="2800" dirty="0"/>
              <a:t>c</a:t>
            </a:r>
            <a:r>
              <a:rPr lang="ru-RU" sz="2800" dirty="0"/>
              <a:t>(</a:t>
            </a:r>
            <a:r>
              <a:rPr lang="en-US" sz="2800" dirty="0"/>
              <a:t>{0,1,4},{2,3,5}</a:t>
            </a:r>
            <a:r>
              <a:rPr lang="ru-RU" sz="2800" dirty="0"/>
              <a:t>)</a:t>
            </a:r>
            <a:r>
              <a:rPr lang="en-US" sz="2800" dirty="0"/>
              <a:t>=c(1,2)+c(4,3)=12+14=26</a:t>
            </a:r>
          </a:p>
        </p:txBody>
      </p:sp>
    </p:spTree>
    <p:extLst>
      <p:ext uri="{BB962C8B-B14F-4D97-AF65-F5344CB8AC3E}">
        <p14:creationId xmlns:p14="http://schemas.microsoft.com/office/powerpoint/2010/main" val="21849610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Овал 30"/>
          <p:cNvSpPr/>
          <p:nvPr/>
        </p:nvSpPr>
        <p:spPr>
          <a:xfrm>
            <a:off x="2073381" y="1345750"/>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2" name="Овал 31"/>
          <p:cNvSpPr/>
          <p:nvPr/>
        </p:nvSpPr>
        <p:spPr>
          <a:xfrm>
            <a:off x="4177678" y="18130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3" name="Овал 32"/>
          <p:cNvSpPr/>
          <p:nvPr/>
        </p:nvSpPr>
        <p:spPr>
          <a:xfrm>
            <a:off x="9109750" y="1345750"/>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4" name="Овал 33"/>
          <p:cNvSpPr/>
          <p:nvPr/>
        </p:nvSpPr>
        <p:spPr>
          <a:xfrm>
            <a:off x="7233492" y="18456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5" name="Овал 34"/>
          <p:cNvSpPr/>
          <p:nvPr/>
        </p:nvSpPr>
        <p:spPr>
          <a:xfrm>
            <a:off x="4174027" y="259286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36" name="Овал 35"/>
          <p:cNvSpPr/>
          <p:nvPr/>
        </p:nvSpPr>
        <p:spPr>
          <a:xfrm>
            <a:off x="7233492" y="259286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37" name="Прямая со стрелкой 36"/>
          <p:cNvCxnSpPr>
            <a:stCxn id="31" idx="7"/>
            <a:endCxn id="32" idx="2"/>
          </p:cNvCxnSpPr>
          <p:nvPr/>
        </p:nvCxnSpPr>
        <p:spPr>
          <a:xfrm flipV="1">
            <a:off x="2688008" y="541345"/>
            <a:ext cx="1489670" cy="909858"/>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Прямая со стрелкой 37"/>
          <p:cNvCxnSpPr>
            <a:stCxn id="31" idx="5"/>
            <a:endCxn id="35" idx="2"/>
          </p:cNvCxnSpPr>
          <p:nvPr/>
        </p:nvCxnSpPr>
        <p:spPr>
          <a:xfrm>
            <a:off x="2688008" y="1960377"/>
            <a:ext cx="1486019" cy="9925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Прямая со стрелкой 38"/>
          <p:cNvCxnSpPr>
            <a:stCxn id="35" idx="7"/>
            <a:endCxn id="32" idx="5"/>
          </p:cNvCxnSpPr>
          <p:nvPr/>
        </p:nvCxnSpPr>
        <p:spPr>
          <a:xfrm flipV="1">
            <a:off x="4788654" y="795932"/>
            <a:ext cx="3651" cy="1902385"/>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stCxn id="32" idx="6"/>
            <a:endCxn id="34" idx="2"/>
          </p:cNvCxnSpPr>
          <p:nvPr/>
        </p:nvCxnSpPr>
        <p:spPr>
          <a:xfrm>
            <a:off x="4897758" y="541345"/>
            <a:ext cx="2335734" cy="3258"/>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a:stCxn id="36" idx="0"/>
            <a:endCxn id="34" idx="4"/>
          </p:cNvCxnSpPr>
          <p:nvPr/>
        </p:nvCxnSpPr>
        <p:spPr>
          <a:xfrm flipV="1">
            <a:off x="7593532" y="904643"/>
            <a:ext cx="0" cy="1688221"/>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5" idx="6"/>
            <a:endCxn id="36" idx="2"/>
          </p:cNvCxnSpPr>
          <p:nvPr/>
        </p:nvCxnSpPr>
        <p:spPr>
          <a:xfrm>
            <a:off x="4894107" y="2952904"/>
            <a:ext cx="2339385" cy="0"/>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4" idx="3"/>
            <a:endCxn id="35" idx="7"/>
          </p:cNvCxnSpPr>
          <p:nvPr/>
        </p:nvCxnSpPr>
        <p:spPr>
          <a:xfrm flipH="1">
            <a:off x="4788654" y="799190"/>
            <a:ext cx="2550291" cy="18991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4" idx="6"/>
            <a:endCxn id="33" idx="1"/>
          </p:cNvCxnSpPr>
          <p:nvPr/>
        </p:nvCxnSpPr>
        <p:spPr>
          <a:xfrm>
            <a:off x="7953572" y="544603"/>
            <a:ext cx="1261631" cy="906600"/>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6" idx="6"/>
            <a:endCxn id="33" idx="3"/>
          </p:cNvCxnSpPr>
          <p:nvPr/>
        </p:nvCxnSpPr>
        <p:spPr>
          <a:xfrm flipV="1">
            <a:off x="7953572" y="1960377"/>
            <a:ext cx="1261631" cy="992527"/>
          </a:xfrm>
          <a:prstGeom prst="straightConnector1">
            <a:avLst/>
          </a:prstGeom>
          <a:ln w="571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3102684" y="734664"/>
            <a:ext cx="511787" cy="523220"/>
          </a:xfrm>
          <a:prstGeom prst="rect">
            <a:avLst/>
          </a:prstGeom>
          <a:solidFill>
            <a:schemeClr val="bg1"/>
          </a:solidFill>
        </p:spPr>
        <p:txBody>
          <a:bodyPr wrap="square" rtlCol="0">
            <a:spAutoFit/>
          </a:bodyPr>
          <a:lstStyle/>
          <a:p>
            <a:pPr algn="ctr"/>
            <a:r>
              <a:rPr lang="ru-RU" sz="2800" dirty="0"/>
              <a:t>11</a:t>
            </a:r>
            <a:endParaRPr lang="ru-RU" dirty="0"/>
          </a:p>
        </p:txBody>
      </p:sp>
      <p:sp>
        <p:nvSpPr>
          <p:cNvPr id="47" name="TextBox 46"/>
          <p:cNvSpPr txBox="1"/>
          <p:nvPr/>
        </p:nvSpPr>
        <p:spPr>
          <a:xfrm>
            <a:off x="3102812" y="2175097"/>
            <a:ext cx="511787" cy="523220"/>
          </a:xfrm>
          <a:prstGeom prst="rect">
            <a:avLst/>
          </a:prstGeom>
          <a:solidFill>
            <a:schemeClr val="bg1"/>
          </a:solidFill>
        </p:spPr>
        <p:txBody>
          <a:bodyPr wrap="square" rtlCol="0">
            <a:spAutoFit/>
          </a:bodyPr>
          <a:lstStyle/>
          <a:p>
            <a:pPr algn="ctr"/>
            <a:r>
              <a:rPr lang="ru-RU" sz="2800" dirty="0"/>
              <a:t>8</a:t>
            </a:r>
            <a:endParaRPr lang="ru-RU" dirty="0"/>
          </a:p>
        </p:txBody>
      </p:sp>
      <p:sp>
        <p:nvSpPr>
          <p:cNvPr id="48" name="TextBox 47"/>
          <p:cNvSpPr txBox="1"/>
          <p:nvPr/>
        </p:nvSpPr>
        <p:spPr>
          <a:xfrm>
            <a:off x="4561227" y="1680741"/>
            <a:ext cx="511787" cy="523220"/>
          </a:xfrm>
          <a:prstGeom prst="rect">
            <a:avLst/>
          </a:prstGeom>
          <a:solidFill>
            <a:schemeClr val="bg1"/>
          </a:solidFill>
        </p:spPr>
        <p:txBody>
          <a:bodyPr wrap="square" rtlCol="0">
            <a:spAutoFit/>
          </a:bodyPr>
          <a:lstStyle/>
          <a:p>
            <a:pPr algn="ctr"/>
            <a:r>
              <a:rPr lang="ru-RU" sz="2800" dirty="0"/>
              <a:t>1</a:t>
            </a:r>
            <a:endParaRPr lang="ru-RU" dirty="0"/>
          </a:p>
        </p:txBody>
      </p:sp>
      <p:sp>
        <p:nvSpPr>
          <p:cNvPr id="49" name="TextBox 48"/>
          <p:cNvSpPr txBox="1"/>
          <p:nvPr/>
        </p:nvSpPr>
        <p:spPr>
          <a:xfrm>
            <a:off x="5756028" y="217226"/>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0" name="TextBox 49"/>
          <p:cNvSpPr txBox="1"/>
          <p:nvPr/>
        </p:nvSpPr>
        <p:spPr>
          <a:xfrm>
            <a:off x="5794495" y="1468346"/>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1" name="TextBox 50"/>
          <p:cNvSpPr txBox="1"/>
          <p:nvPr/>
        </p:nvSpPr>
        <p:spPr>
          <a:xfrm>
            <a:off x="5848467" y="2677297"/>
            <a:ext cx="511787" cy="523220"/>
          </a:xfrm>
          <a:prstGeom prst="rect">
            <a:avLst/>
          </a:prstGeom>
          <a:solidFill>
            <a:schemeClr val="bg1"/>
          </a:solidFill>
        </p:spPr>
        <p:txBody>
          <a:bodyPr wrap="square" rtlCol="0">
            <a:spAutoFit/>
          </a:bodyPr>
          <a:lstStyle/>
          <a:p>
            <a:pPr algn="ctr"/>
            <a:r>
              <a:rPr lang="ru-RU" sz="2800" dirty="0"/>
              <a:t>11</a:t>
            </a:r>
            <a:endParaRPr lang="ru-RU" dirty="0"/>
          </a:p>
        </p:txBody>
      </p:sp>
      <p:sp>
        <p:nvSpPr>
          <p:cNvPr id="52" name="TextBox 51"/>
          <p:cNvSpPr txBox="1"/>
          <p:nvPr/>
        </p:nvSpPr>
        <p:spPr>
          <a:xfrm>
            <a:off x="7331704" y="1586066"/>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3" name="TextBox 52"/>
          <p:cNvSpPr txBox="1"/>
          <p:nvPr/>
        </p:nvSpPr>
        <p:spPr>
          <a:xfrm>
            <a:off x="8256240" y="629747"/>
            <a:ext cx="663009" cy="523220"/>
          </a:xfrm>
          <a:prstGeom prst="rect">
            <a:avLst/>
          </a:prstGeom>
          <a:solidFill>
            <a:schemeClr val="bg1"/>
          </a:solidFill>
        </p:spPr>
        <p:txBody>
          <a:bodyPr wrap="square" rtlCol="0">
            <a:spAutoFit/>
          </a:bodyPr>
          <a:lstStyle/>
          <a:p>
            <a:pPr algn="ctr"/>
            <a:r>
              <a:rPr lang="ru-RU" sz="2800" dirty="0"/>
              <a:t>15</a:t>
            </a:r>
            <a:endParaRPr lang="ru-RU" dirty="0"/>
          </a:p>
        </p:txBody>
      </p:sp>
      <p:sp>
        <p:nvSpPr>
          <p:cNvPr id="54" name="TextBox 53"/>
          <p:cNvSpPr txBox="1"/>
          <p:nvPr/>
        </p:nvSpPr>
        <p:spPr>
          <a:xfrm>
            <a:off x="8353448" y="223970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5" name="Полилиния 54"/>
          <p:cNvSpPr/>
          <p:nvPr/>
        </p:nvSpPr>
        <p:spPr>
          <a:xfrm>
            <a:off x="6560869" y="171063"/>
            <a:ext cx="458132" cy="3117785"/>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Lst>
            <a:ahLst/>
            <a:cxnLst>
              <a:cxn ang="0">
                <a:pos x="connsiteX0" y="connsiteY0"/>
              </a:cxn>
              <a:cxn ang="0">
                <a:pos x="connsiteX1" y="connsiteY1"/>
              </a:cxn>
              <a:cxn ang="0">
                <a:pos x="connsiteX2" y="connsiteY2"/>
              </a:cxn>
            </a:cxnLst>
            <a:rect l="l" t="t" r="r" b="b"/>
            <a:pathLst>
              <a:path w="458132" h="3563471">
                <a:moveTo>
                  <a:pt x="14366" y="0"/>
                </a:moveTo>
                <a:cubicBezTo>
                  <a:pt x="156681" y="509867"/>
                  <a:pt x="460361" y="1060076"/>
                  <a:pt x="458120" y="1653988"/>
                </a:cubicBezTo>
                <a:cubicBezTo>
                  <a:pt x="455879" y="2247900"/>
                  <a:pt x="-23734" y="3222812"/>
                  <a:pt x="919" y="3563471"/>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6" name="TextBox 55"/>
          <p:cNvSpPr txBox="1"/>
          <p:nvPr/>
        </p:nvSpPr>
        <p:spPr>
          <a:xfrm>
            <a:off x="1959597" y="5643311"/>
            <a:ext cx="8208404" cy="830997"/>
          </a:xfrm>
          <a:prstGeom prst="rect">
            <a:avLst/>
          </a:prstGeom>
          <a:noFill/>
        </p:spPr>
        <p:txBody>
          <a:bodyPr wrap="square" rtlCol="0">
            <a:spAutoFit/>
          </a:bodyPr>
          <a:lstStyle/>
          <a:p>
            <a:pPr algn="ctr"/>
            <a:r>
              <a:rPr lang="ru-RU" sz="2400" dirty="0"/>
              <a:t>Поток через разрез (</a:t>
            </a:r>
            <a:r>
              <a:rPr lang="en-US" sz="2400" dirty="0"/>
              <a:t>{0,1,4},{2,3,5}</a:t>
            </a:r>
            <a:r>
              <a:rPr lang="ru-RU" sz="2400" dirty="0"/>
              <a:t>)</a:t>
            </a:r>
            <a:endParaRPr lang="en-US" sz="2400" dirty="0"/>
          </a:p>
          <a:p>
            <a:pPr algn="ctr"/>
            <a:r>
              <a:rPr lang="en-US" sz="2400" dirty="0"/>
              <a:t>f(1,2)+f(4,3)+f(2,4)=12+11+(-4)=19</a:t>
            </a:r>
          </a:p>
        </p:txBody>
      </p:sp>
      <p:sp>
        <p:nvSpPr>
          <p:cNvPr id="28" name="TextBox 27">
            <a:extLst>
              <a:ext uri="{FF2B5EF4-FFF2-40B4-BE49-F238E27FC236}">
                <a16:creationId xmlns:a16="http://schemas.microsoft.com/office/drawing/2014/main" id="{498B8534-E795-4F1D-995F-6639ED83153B}"/>
              </a:ext>
            </a:extLst>
          </p:cNvPr>
          <p:cNvSpPr txBox="1"/>
          <p:nvPr/>
        </p:nvSpPr>
        <p:spPr>
          <a:xfrm>
            <a:off x="407368" y="3425895"/>
            <a:ext cx="11377264" cy="2308324"/>
          </a:xfrm>
          <a:prstGeom prst="rect">
            <a:avLst/>
          </a:prstGeom>
          <a:noFill/>
        </p:spPr>
        <p:txBody>
          <a:bodyPr wrap="square" rtlCol="0">
            <a:spAutoFit/>
          </a:bodyPr>
          <a:lstStyle/>
          <a:p>
            <a:pPr algn="just"/>
            <a:r>
              <a:rPr lang="ru-RU" sz="2400" dirty="0"/>
              <a:t>	</a:t>
            </a:r>
            <a:r>
              <a:rPr lang="ru-RU" sz="2000" dirty="0"/>
              <a:t>Величина потока через это сечение будет равна сумме потоков, идущих по ребрам, через которые проходит сечение.</a:t>
            </a:r>
          </a:p>
          <a:p>
            <a:pPr algn="just"/>
            <a:r>
              <a:rPr lang="ru-RU" sz="2000" dirty="0"/>
              <a:t>	В данном случае потоки по ребрам (1,2) и (4,3) берутся со знаком +,      так как они идут в направлении от истока к стоку, а поток по ребру (2,4) со знаком -, так как он идет в противоположном направлении. </a:t>
            </a:r>
          </a:p>
          <a:p>
            <a:pPr algn="just"/>
            <a:r>
              <a:rPr lang="ru-RU" sz="2000" dirty="0"/>
              <a:t>	Мы видим, что суммарный поток через это сечение равен тому потоку, который идет по всей системе.</a:t>
            </a:r>
            <a:endParaRPr lang="en-US" sz="2400" dirty="0"/>
          </a:p>
        </p:txBody>
      </p:sp>
    </p:spTree>
    <p:extLst>
      <p:ext uri="{BB962C8B-B14F-4D97-AF65-F5344CB8AC3E}">
        <p14:creationId xmlns:p14="http://schemas.microsoft.com/office/powerpoint/2010/main" val="139962978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6005" y="2363319"/>
            <a:ext cx="10339990" cy="1110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Прямоугольник 1"/>
          <p:cNvSpPr/>
          <p:nvPr/>
        </p:nvSpPr>
        <p:spPr>
          <a:xfrm>
            <a:off x="3106713" y="109917"/>
            <a:ext cx="6734536" cy="584775"/>
          </a:xfrm>
          <a:prstGeom prst="rect">
            <a:avLst/>
          </a:prstGeom>
        </p:spPr>
        <p:txBody>
          <a:bodyPr wrap="none">
            <a:spAutoFit/>
          </a:bodyPr>
          <a:lstStyle/>
          <a:p>
            <a:r>
              <a:rPr lang="ru-RU" sz="3200" b="1" dirty="0"/>
              <a:t>Задача  о максимальном потоке </a:t>
            </a:r>
            <a:endParaRPr lang="be-BY" sz="3200" dirty="0"/>
          </a:p>
        </p:txBody>
      </p:sp>
      <p:sp>
        <p:nvSpPr>
          <p:cNvPr id="33" name="Овал 32"/>
          <p:cNvSpPr/>
          <p:nvPr/>
        </p:nvSpPr>
        <p:spPr>
          <a:xfrm>
            <a:off x="2187108" y="4679122"/>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4" name="Овал 33"/>
          <p:cNvSpPr/>
          <p:nvPr/>
        </p:nvSpPr>
        <p:spPr>
          <a:xfrm>
            <a:off x="4291405" y="351467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5" name="Овал 34"/>
          <p:cNvSpPr/>
          <p:nvPr/>
        </p:nvSpPr>
        <p:spPr>
          <a:xfrm>
            <a:off x="9223477" y="4679122"/>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6" name="Овал 35"/>
          <p:cNvSpPr/>
          <p:nvPr/>
        </p:nvSpPr>
        <p:spPr>
          <a:xfrm>
            <a:off x="7347219" y="351793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7" name="Овал 36"/>
          <p:cNvSpPr/>
          <p:nvPr/>
        </p:nvSpPr>
        <p:spPr>
          <a:xfrm>
            <a:off x="4287754" y="592623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38" name="Овал 37"/>
          <p:cNvSpPr/>
          <p:nvPr/>
        </p:nvSpPr>
        <p:spPr>
          <a:xfrm>
            <a:off x="7347219" y="592623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39" name="Прямая со стрелкой 38"/>
          <p:cNvCxnSpPr>
            <a:stCxn id="33" idx="7"/>
            <a:endCxn id="34" idx="2"/>
          </p:cNvCxnSpPr>
          <p:nvPr/>
        </p:nvCxnSpPr>
        <p:spPr>
          <a:xfrm flipV="1">
            <a:off x="2801735" y="3874717"/>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stCxn id="33" idx="5"/>
            <a:endCxn id="37" idx="2"/>
          </p:cNvCxnSpPr>
          <p:nvPr/>
        </p:nvCxnSpPr>
        <p:spPr>
          <a:xfrm>
            <a:off x="2801735" y="5293749"/>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a:stCxn id="34" idx="3"/>
            <a:endCxn id="37" idx="1"/>
          </p:cNvCxnSpPr>
          <p:nvPr/>
        </p:nvCxnSpPr>
        <p:spPr>
          <a:xfrm flipH="1">
            <a:off x="4393207" y="412930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7" idx="7"/>
            <a:endCxn id="34" idx="5"/>
          </p:cNvCxnSpPr>
          <p:nvPr/>
        </p:nvCxnSpPr>
        <p:spPr>
          <a:xfrm flipV="1">
            <a:off x="4902381" y="412930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4" idx="6"/>
            <a:endCxn id="36" idx="2"/>
          </p:cNvCxnSpPr>
          <p:nvPr/>
        </p:nvCxnSpPr>
        <p:spPr>
          <a:xfrm>
            <a:off x="5011485" y="3874717"/>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8" idx="0"/>
            <a:endCxn id="36" idx="4"/>
          </p:cNvCxnSpPr>
          <p:nvPr/>
        </p:nvCxnSpPr>
        <p:spPr>
          <a:xfrm flipV="1">
            <a:off x="7707259" y="4238015"/>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7" idx="6"/>
            <a:endCxn id="38" idx="2"/>
          </p:cNvCxnSpPr>
          <p:nvPr/>
        </p:nvCxnSpPr>
        <p:spPr>
          <a:xfrm>
            <a:off x="5007834" y="6286276"/>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a:stCxn id="36" idx="3"/>
            <a:endCxn id="37" idx="7"/>
          </p:cNvCxnSpPr>
          <p:nvPr/>
        </p:nvCxnSpPr>
        <p:spPr>
          <a:xfrm flipH="1">
            <a:off x="4902381" y="4132562"/>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stCxn id="36" idx="6"/>
            <a:endCxn id="35" idx="1"/>
          </p:cNvCxnSpPr>
          <p:nvPr/>
        </p:nvCxnSpPr>
        <p:spPr>
          <a:xfrm>
            <a:off x="8067299" y="3877975"/>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a:stCxn id="38" idx="6"/>
            <a:endCxn id="35" idx="3"/>
          </p:cNvCxnSpPr>
          <p:nvPr/>
        </p:nvCxnSpPr>
        <p:spPr>
          <a:xfrm flipV="1">
            <a:off x="8067299" y="5293749"/>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216411" y="4068036"/>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50" name="TextBox 49"/>
          <p:cNvSpPr txBox="1"/>
          <p:nvPr/>
        </p:nvSpPr>
        <p:spPr>
          <a:xfrm>
            <a:off x="3216539" y="5508469"/>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51" name="TextBox 50"/>
          <p:cNvSpPr txBox="1"/>
          <p:nvPr/>
        </p:nvSpPr>
        <p:spPr>
          <a:xfrm>
            <a:off x="4135030" y="4461309"/>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52" name="TextBox 51"/>
          <p:cNvSpPr txBox="1"/>
          <p:nvPr/>
        </p:nvSpPr>
        <p:spPr>
          <a:xfrm>
            <a:off x="4674954" y="501411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3" name="TextBox 52"/>
          <p:cNvSpPr txBox="1"/>
          <p:nvPr/>
        </p:nvSpPr>
        <p:spPr>
          <a:xfrm>
            <a:off x="5869755" y="3550598"/>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4" name="TextBox 53"/>
          <p:cNvSpPr txBox="1"/>
          <p:nvPr/>
        </p:nvSpPr>
        <p:spPr>
          <a:xfrm>
            <a:off x="5908222" y="4801718"/>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55" name="TextBox 54"/>
          <p:cNvSpPr txBox="1"/>
          <p:nvPr/>
        </p:nvSpPr>
        <p:spPr>
          <a:xfrm>
            <a:off x="5962194" y="6010669"/>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56" name="TextBox 55"/>
          <p:cNvSpPr txBox="1"/>
          <p:nvPr/>
        </p:nvSpPr>
        <p:spPr>
          <a:xfrm>
            <a:off x="7445431" y="4919438"/>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7" name="TextBox 56"/>
          <p:cNvSpPr txBox="1"/>
          <p:nvPr/>
        </p:nvSpPr>
        <p:spPr>
          <a:xfrm>
            <a:off x="8369967" y="3963119"/>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58" name="TextBox 57"/>
          <p:cNvSpPr txBox="1"/>
          <p:nvPr/>
        </p:nvSpPr>
        <p:spPr>
          <a:xfrm>
            <a:off x="8467175" y="557308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30" name="TextBox 29">
            <a:extLst>
              <a:ext uri="{FF2B5EF4-FFF2-40B4-BE49-F238E27FC236}">
                <a16:creationId xmlns:a16="http://schemas.microsoft.com/office/drawing/2014/main" id="{4EE088E8-980B-4979-80B8-B8AB1F8A88D0}"/>
              </a:ext>
            </a:extLst>
          </p:cNvPr>
          <p:cNvSpPr txBox="1"/>
          <p:nvPr/>
        </p:nvSpPr>
        <p:spPr>
          <a:xfrm>
            <a:off x="273562" y="725624"/>
            <a:ext cx="11377264" cy="1631216"/>
          </a:xfrm>
          <a:prstGeom prst="rect">
            <a:avLst/>
          </a:prstGeom>
          <a:noFill/>
        </p:spPr>
        <p:txBody>
          <a:bodyPr wrap="square" rtlCol="0">
            <a:spAutoFit/>
          </a:bodyPr>
          <a:lstStyle/>
          <a:p>
            <a:pPr algn="just"/>
            <a:r>
              <a:rPr lang="ru-RU" sz="2000" dirty="0"/>
              <a:t>	После того как было сформулировано понятие потока транспортной сети возникает вопрос: какой максимальный поток возможен в транспортной сети, в которой известна кроме структуры еще и пропускная способность?</a:t>
            </a:r>
          </a:p>
          <a:p>
            <a:pPr algn="just"/>
            <a:r>
              <a:rPr lang="ru-RU" sz="2000" dirty="0"/>
              <a:t>	Найти максимальный поток, который возможен в транспортной сети, можно в соответствии с теоремой Форда-</a:t>
            </a:r>
            <a:r>
              <a:rPr lang="ru-RU" sz="2000" dirty="0" err="1"/>
              <a:t>Фалкерсона</a:t>
            </a:r>
            <a:r>
              <a:rPr lang="ru-RU" sz="2000" dirty="0"/>
              <a:t>.   </a:t>
            </a:r>
            <a:endParaRPr lang="en-US" sz="2000" dirty="0"/>
          </a:p>
        </p:txBody>
      </p:sp>
    </p:spTree>
    <p:extLst>
      <p:ext uri="{BB962C8B-B14F-4D97-AF65-F5344CB8AC3E}">
        <p14:creationId xmlns:p14="http://schemas.microsoft.com/office/powerpoint/2010/main" val="277859784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Овал 65"/>
          <p:cNvSpPr/>
          <p:nvPr/>
        </p:nvSpPr>
        <p:spPr>
          <a:xfrm>
            <a:off x="546082" y="1518352"/>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67" name="Овал 66"/>
          <p:cNvSpPr/>
          <p:nvPr/>
        </p:nvSpPr>
        <p:spPr>
          <a:xfrm>
            <a:off x="2650379" y="35390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8" name="Овал 67"/>
          <p:cNvSpPr/>
          <p:nvPr/>
        </p:nvSpPr>
        <p:spPr>
          <a:xfrm>
            <a:off x="7582451" y="1518352"/>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69" name="Овал 68"/>
          <p:cNvSpPr/>
          <p:nvPr/>
        </p:nvSpPr>
        <p:spPr>
          <a:xfrm>
            <a:off x="5706193" y="35716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70" name="Овал 69"/>
          <p:cNvSpPr/>
          <p:nvPr/>
        </p:nvSpPr>
        <p:spPr>
          <a:xfrm>
            <a:off x="2646728" y="276546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71" name="Овал 70"/>
          <p:cNvSpPr/>
          <p:nvPr/>
        </p:nvSpPr>
        <p:spPr>
          <a:xfrm>
            <a:off x="5706193" y="276546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72" name="Прямая со стрелкой 71"/>
          <p:cNvCxnSpPr>
            <a:stCxn id="66" idx="7"/>
            <a:endCxn id="67" idx="2"/>
          </p:cNvCxnSpPr>
          <p:nvPr/>
        </p:nvCxnSpPr>
        <p:spPr>
          <a:xfrm flipV="1">
            <a:off x="1160709" y="713947"/>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a:stCxn id="66" idx="5"/>
            <a:endCxn id="70" idx="2"/>
          </p:cNvCxnSpPr>
          <p:nvPr/>
        </p:nvCxnSpPr>
        <p:spPr>
          <a:xfrm>
            <a:off x="1160709" y="2132979"/>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a:stCxn id="67" idx="3"/>
            <a:endCxn id="70" idx="1"/>
          </p:cNvCxnSpPr>
          <p:nvPr/>
        </p:nvCxnSpPr>
        <p:spPr>
          <a:xfrm flipH="1">
            <a:off x="2752181" y="96853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a:stCxn id="70" idx="7"/>
            <a:endCxn id="67" idx="5"/>
          </p:cNvCxnSpPr>
          <p:nvPr/>
        </p:nvCxnSpPr>
        <p:spPr>
          <a:xfrm flipV="1">
            <a:off x="3261355" y="96853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p:cNvCxnSpPr>
            <a:stCxn id="67" idx="6"/>
            <a:endCxn id="69" idx="2"/>
          </p:cNvCxnSpPr>
          <p:nvPr/>
        </p:nvCxnSpPr>
        <p:spPr>
          <a:xfrm>
            <a:off x="3370459" y="713947"/>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a:stCxn id="71" idx="0"/>
            <a:endCxn id="69" idx="4"/>
          </p:cNvCxnSpPr>
          <p:nvPr/>
        </p:nvCxnSpPr>
        <p:spPr>
          <a:xfrm flipV="1">
            <a:off x="6066233" y="1077245"/>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Прямая со стрелкой 77"/>
          <p:cNvCxnSpPr>
            <a:stCxn id="70" idx="6"/>
            <a:endCxn id="71" idx="2"/>
          </p:cNvCxnSpPr>
          <p:nvPr/>
        </p:nvCxnSpPr>
        <p:spPr>
          <a:xfrm>
            <a:off x="3366808" y="3125506"/>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Прямая со стрелкой 78"/>
          <p:cNvCxnSpPr>
            <a:stCxn id="69" idx="3"/>
            <a:endCxn id="70" idx="7"/>
          </p:cNvCxnSpPr>
          <p:nvPr/>
        </p:nvCxnSpPr>
        <p:spPr>
          <a:xfrm flipH="1">
            <a:off x="3261355" y="971792"/>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Прямая со стрелкой 79"/>
          <p:cNvCxnSpPr>
            <a:stCxn id="69" idx="6"/>
            <a:endCxn id="68" idx="1"/>
          </p:cNvCxnSpPr>
          <p:nvPr/>
        </p:nvCxnSpPr>
        <p:spPr>
          <a:xfrm>
            <a:off x="6426273" y="717205"/>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a:stCxn id="71" idx="6"/>
            <a:endCxn id="68" idx="3"/>
          </p:cNvCxnSpPr>
          <p:nvPr/>
        </p:nvCxnSpPr>
        <p:spPr>
          <a:xfrm flipV="1">
            <a:off x="6426273" y="2132979"/>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575385" y="907266"/>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83" name="TextBox 82"/>
          <p:cNvSpPr txBox="1"/>
          <p:nvPr/>
        </p:nvSpPr>
        <p:spPr>
          <a:xfrm>
            <a:off x="1575513" y="2347699"/>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84" name="TextBox 83"/>
          <p:cNvSpPr txBox="1"/>
          <p:nvPr/>
        </p:nvSpPr>
        <p:spPr>
          <a:xfrm>
            <a:off x="2494004" y="1300539"/>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85" name="TextBox 84"/>
          <p:cNvSpPr txBox="1"/>
          <p:nvPr/>
        </p:nvSpPr>
        <p:spPr>
          <a:xfrm>
            <a:off x="3033928" y="185334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6" name="TextBox 85"/>
          <p:cNvSpPr txBox="1"/>
          <p:nvPr/>
        </p:nvSpPr>
        <p:spPr>
          <a:xfrm>
            <a:off x="4228729" y="389828"/>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87" name="TextBox 86"/>
          <p:cNvSpPr txBox="1"/>
          <p:nvPr/>
        </p:nvSpPr>
        <p:spPr>
          <a:xfrm>
            <a:off x="4267196" y="1640948"/>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88" name="TextBox 87"/>
          <p:cNvSpPr txBox="1"/>
          <p:nvPr/>
        </p:nvSpPr>
        <p:spPr>
          <a:xfrm>
            <a:off x="4321168" y="2849899"/>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89" name="TextBox 88"/>
          <p:cNvSpPr txBox="1"/>
          <p:nvPr/>
        </p:nvSpPr>
        <p:spPr>
          <a:xfrm>
            <a:off x="5804405" y="1758668"/>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90" name="TextBox 89"/>
          <p:cNvSpPr txBox="1"/>
          <p:nvPr/>
        </p:nvSpPr>
        <p:spPr>
          <a:xfrm>
            <a:off x="6728941" y="802349"/>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91" name="TextBox 90"/>
          <p:cNvSpPr txBox="1"/>
          <p:nvPr/>
        </p:nvSpPr>
        <p:spPr>
          <a:xfrm>
            <a:off x="6826149" y="241231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92" name="Полилиния 91"/>
          <p:cNvSpPr/>
          <p:nvPr/>
        </p:nvSpPr>
        <p:spPr>
          <a:xfrm>
            <a:off x="2125723" y="487639"/>
            <a:ext cx="295888" cy="2850778"/>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Lst>
            <a:ahLst/>
            <a:cxnLst>
              <a:cxn ang="0">
                <a:pos x="connsiteX0" y="connsiteY0"/>
              </a:cxn>
              <a:cxn ang="0">
                <a:pos x="connsiteX1" y="connsiteY1"/>
              </a:cxn>
              <a:cxn ang="0">
                <a:pos x="connsiteX2" y="connsiteY2"/>
              </a:cxn>
            </a:cxnLst>
            <a:rect l="l" t="t" r="r" b="b"/>
            <a:pathLst>
              <a:path w="295888" h="2850778">
                <a:moveTo>
                  <a:pt x="0" y="0"/>
                </a:moveTo>
                <a:cubicBezTo>
                  <a:pt x="142315" y="509867"/>
                  <a:pt x="291356" y="856129"/>
                  <a:pt x="295838" y="1331259"/>
                </a:cubicBezTo>
                <a:cubicBezTo>
                  <a:pt x="300320" y="1806389"/>
                  <a:pt x="2241" y="2510119"/>
                  <a:pt x="26894" y="2850778"/>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1496141" y="3345676"/>
            <a:ext cx="815154" cy="769441"/>
          </a:xfrm>
          <a:prstGeom prst="rect">
            <a:avLst/>
          </a:prstGeom>
          <a:solidFill>
            <a:schemeClr val="bg1"/>
          </a:solidFill>
        </p:spPr>
        <p:txBody>
          <a:bodyPr wrap="square" rtlCol="0">
            <a:spAutoFit/>
          </a:bodyPr>
          <a:lstStyle/>
          <a:p>
            <a:pPr algn="ctr"/>
            <a:r>
              <a:rPr lang="en-US" sz="4400" dirty="0">
                <a:solidFill>
                  <a:srgbClr val="C00000"/>
                </a:solidFill>
              </a:rPr>
              <a:t>29</a:t>
            </a:r>
            <a:endParaRPr lang="ru-RU" sz="3200" dirty="0">
              <a:solidFill>
                <a:srgbClr val="C00000"/>
              </a:solidFill>
            </a:endParaRPr>
          </a:p>
        </p:txBody>
      </p:sp>
      <p:sp>
        <p:nvSpPr>
          <p:cNvPr id="94" name="Овал 93"/>
          <p:cNvSpPr/>
          <p:nvPr/>
        </p:nvSpPr>
        <p:spPr>
          <a:xfrm>
            <a:off x="4342004" y="4559984"/>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95" name="Овал 94"/>
          <p:cNvSpPr/>
          <p:nvPr/>
        </p:nvSpPr>
        <p:spPr>
          <a:xfrm>
            <a:off x="6446301" y="339553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96" name="Овал 95"/>
          <p:cNvSpPr/>
          <p:nvPr/>
        </p:nvSpPr>
        <p:spPr>
          <a:xfrm>
            <a:off x="11378373" y="4559984"/>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97" name="Овал 96"/>
          <p:cNvSpPr/>
          <p:nvPr/>
        </p:nvSpPr>
        <p:spPr>
          <a:xfrm>
            <a:off x="9502115" y="339879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98" name="Овал 97"/>
          <p:cNvSpPr/>
          <p:nvPr/>
        </p:nvSpPr>
        <p:spPr>
          <a:xfrm>
            <a:off x="6442650" y="580709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9" name="Овал 98"/>
          <p:cNvSpPr/>
          <p:nvPr/>
        </p:nvSpPr>
        <p:spPr>
          <a:xfrm>
            <a:off x="9502115" y="580709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00" name="Прямая со стрелкой 99"/>
          <p:cNvCxnSpPr>
            <a:stCxn id="94" idx="7"/>
            <a:endCxn id="95" idx="2"/>
          </p:cNvCxnSpPr>
          <p:nvPr/>
        </p:nvCxnSpPr>
        <p:spPr>
          <a:xfrm flipV="1">
            <a:off x="4956631" y="3755579"/>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Прямая со стрелкой 100"/>
          <p:cNvCxnSpPr>
            <a:stCxn id="94" idx="5"/>
            <a:endCxn id="98" idx="2"/>
          </p:cNvCxnSpPr>
          <p:nvPr/>
        </p:nvCxnSpPr>
        <p:spPr>
          <a:xfrm>
            <a:off x="4956631" y="5174611"/>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Прямая со стрелкой 101"/>
          <p:cNvCxnSpPr>
            <a:stCxn id="95" idx="3"/>
            <a:endCxn id="98" idx="1"/>
          </p:cNvCxnSpPr>
          <p:nvPr/>
        </p:nvCxnSpPr>
        <p:spPr>
          <a:xfrm flipH="1">
            <a:off x="6548103" y="4010166"/>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Прямая со стрелкой 102"/>
          <p:cNvCxnSpPr>
            <a:stCxn id="98" idx="7"/>
            <a:endCxn id="95" idx="5"/>
          </p:cNvCxnSpPr>
          <p:nvPr/>
        </p:nvCxnSpPr>
        <p:spPr>
          <a:xfrm flipV="1">
            <a:off x="7057277" y="4010166"/>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Прямая со стрелкой 103"/>
          <p:cNvCxnSpPr>
            <a:stCxn id="95" idx="6"/>
            <a:endCxn id="97" idx="2"/>
          </p:cNvCxnSpPr>
          <p:nvPr/>
        </p:nvCxnSpPr>
        <p:spPr>
          <a:xfrm>
            <a:off x="7166381" y="3755579"/>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p:cNvCxnSpPr>
            <a:stCxn id="99" idx="0"/>
            <a:endCxn id="97" idx="4"/>
          </p:cNvCxnSpPr>
          <p:nvPr/>
        </p:nvCxnSpPr>
        <p:spPr>
          <a:xfrm flipV="1">
            <a:off x="9862155" y="4118877"/>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Прямая со стрелкой 105"/>
          <p:cNvCxnSpPr>
            <a:stCxn id="98" idx="6"/>
            <a:endCxn id="99" idx="2"/>
          </p:cNvCxnSpPr>
          <p:nvPr/>
        </p:nvCxnSpPr>
        <p:spPr>
          <a:xfrm>
            <a:off x="7162730" y="6167138"/>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Прямая со стрелкой 106"/>
          <p:cNvCxnSpPr>
            <a:stCxn id="97" idx="3"/>
            <a:endCxn id="98" idx="7"/>
          </p:cNvCxnSpPr>
          <p:nvPr/>
        </p:nvCxnSpPr>
        <p:spPr>
          <a:xfrm flipH="1">
            <a:off x="7057277" y="4013424"/>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Прямая со стрелкой 107"/>
          <p:cNvCxnSpPr>
            <a:stCxn id="97" idx="6"/>
            <a:endCxn id="96" idx="1"/>
          </p:cNvCxnSpPr>
          <p:nvPr/>
        </p:nvCxnSpPr>
        <p:spPr>
          <a:xfrm>
            <a:off x="10222195" y="3758837"/>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Прямая со стрелкой 108"/>
          <p:cNvCxnSpPr>
            <a:stCxn id="99" idx="6"/>
            <a:endCxn id="96" idx="3"/>
          </p:cNvCxnSpPr>
          <p:nvPr/>
        </p:nvCxnSpPr>
        <p:spPr>
          <a:xfrm flipV="1">
            <a:off x="10222195" y="5174611"/>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5371307" y="3948898"/>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11" name="TextBox 110"/>
          <p:cNvSpPr txBox="1"/>
          <p:nvPr/>
        </p:nvSpPr>
        <p:spPr>
          <a:xfrm>
            <a:off x="5371435" y="5389331"/>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12" name="TextBox 111"/>
          <p:cNvSpPr txBox="1"/>
          <p:nvPr/>
        </p:nvSpPr>
        <p:spPr>
          <a:xfrm>
            <a:off x="6289926" y="4342171"/>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13" name="TextBox 112"/>
          <p:cNvSpPr txBox="1"/>
          <p:nvPr/>
        </p:nvSpPr>
        <p:spPr>
          <a:xfrm>
            <a:off x="6829850" y="4894975"/>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14" name="TextBox 113"/>
          <p:cNvSpPr txBox="1"/>
          <p:nvPr/>
        </p:nvSpPr>
        <p:spPr>
          <a:xfrm>
            <a:off x="8024651" y="3431460"/>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15" name="TextBox 114"/>
          <p:cNvSpPr txBox="1"/>
          <p:nvPr/>
        </p:nvSpPr>
        <p:spPr>
          <a:xfrm>
            <a:off x="8063118" y="468258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16" name="TextBox 115"/>
          <p:cNvSpPr txBox="1"/>
          <p:nvPr/>
        </p:nvSpPr>
        <p:spPr>
          <a:xfrm>
            <a:off x="8117090" y="589153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17" name="TextBox 116"/>
          <p:cNvSpPr txBox="1"/>
          <p:nvPr/>
        </p:nvSpPr>
        <p:spPr>
          <a:xfrm>
            <a:off x="9600327" y="4800300"/>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18" name="TextBox 117"/>
          <p:cNvSpPr txBox="1"/>
          <p:nvPr/>
        </p:nvSpPr>
        <p:spPr>
          <a:xfrm>
            <a:off x="10524863" y="3843981"/>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19" name="TextBox 118"/>
          <p:cNvSpPr txBox="1"/>
          <p:nvPr/>
        </p:nvSpPr>
        <p:spPr>
          <a:xfrm>
            <a:off x="10622071" y="5453942"/>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20" name="Полилиния 119"/>
          <p:cNvSpPr/>
          <p:nvPr/>
        </p:nvSpPr>
        <p:spPr>
          <a:xfrm>
            <a:off x="5746833" y="3502376"/>
            <a:ext cx="2003846" cy="2716307"/>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1798834 w 1809209"/>
              <a:gd name="connsiteY0" fmla="*/ 0 h 2877672"/>
              <a:gd name="connsiteX1" fmla="*/ 279319 w 1809209"/>
              <a:gd name="connsiteY1" fmla="*/ 1358153 h 2877672"/>
              <a:gd name="connsiteX2" fmla="*/ 10375 w 1809209"/>
              <a:gd name="connsiteY2" fmla="*/ 2877672 h 2877672"/>
              <a:gd name="connsiteX0" fmla="*/ 1789806 w 1803095"/>
              <a:gd name="connsiteY0" fmla="*/ 0 h 2877672"/>
              <a:gd name="connsiteX1" fmla="*/ 593021 w 1803095"/>
              <a:gd name="connsiteY1" fmla="*/ 1640542 h 2877672"/>
              <a:gd name="connsiteX2" fmla="*/ 1347 w 1803095"/>
              <a:gd name="connsiteY2" fmla="*/ 2877672 h 2877672"/>
              <a:gd name="connsiteX0" fmla="*/ 1897102 w 1910597"/>
              <a:gd name="connsiteY0" fmla="*/ 0 h 2837331"/>
              <a:gd name="connsiteX1" fmla="*/ 700317 w 1910597"/>
              <a:gd name="connsiteY1" fmla="*/ 1640542 h 2837331"/>
              <a:gd name="connsiteX2" fmla="*/ 1066 w 1910597"/>
              <a:gd name="connsiteY2" fmla="*/ 2837331 h 2837331"/>
              <a:gd name="connsiteX0" fmla="*/ 1896036 w 1909531"/>
              <a:gd name="connsiteY0" fmla="*/ 0 h 2837331"/>
              <a:gd name="connsiteX1" fmla="*/ 699251 w 1909531"/>
              <a:gd name="connsiteY1" fmla="*/ 1640542 h 2837331"/>
              <a:gd name="connsiteX2" fmla="*/ 0 w 1909531"/>
              <a:gd name="connsiteY2" fmla="*/ 2837331 h 2837331"/>
              <a:gd name="connsiteX0" fmla="*/ 1990166 w 2003846"/>
              <a:gd name="connsiteY0" fmla="*/ 0 h 2716307"/>
              <a:gd name="connsiteX1" fmla="*/ 793381 w 2003846"/>
              <a:gd name="connsiteY1" fmla="*/ 1640542 h 2716307"/>
              <a:gd name="connsiteX2" fmla="*/ 0 w 2003846"/>
              <a:gd name="connsiteY2" fmla="*/ 2716307 h 2716307"/>
            </a:gdLst>
            <a:ahLst/>
            <a:cxnLst>
              <a:cxn ang="0">
                <a:pos x="connsiteX0" y="connsiteY0"/>
              </a:cxn>
              <a:cxn ang="0">
                <a:pos x="connsiteX1" y="connsiteY1"/>
              </a:cxn>
              <a:cxn ang="0">
                <a:pos x="connsiteX2" y="connsiteY2"/>
              </a:cxn>
            </a:cxnLst>
            <a:rect l="l" t="t" r="r" b="b"/>
            <a:pathLst>
              <a:path w="2003846" h="2716307">
                <a:moveTo>
                  <a:pt x="1990166" y="0"/>
                </a:moveTo>
                <a:cubicBezTo>
                  <a:pt x="2132481" y="509867"/>
                  <a:pt x="1125075" y="1187824"/>
                  <a:pt x="793381" y="1640542"/>
                </a:cubicBezTo>
                <a:cubicBezTo>
                  <a:pt x="461687" y="2093260"/>
                  <a:pt x="244289" y="2523566"/>
                  <a:pt x="0" y="2716307"/>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TextBox 120"/>
          <p:cNvSpPr txBox="1"/>
          <p:nvPr/>
        </p:nvSpPr>
        <p:spPr>
          <a:xfrm>
            <a:off x="4819954" y="5886199"/>
            <a:ext cx="815154" cy="769441"/>
          </a:xfrm>
          <a:prstGeom prst="rect">
            <a:avLst/>
          </a:prstGeom>
          <a:solidFill>
            <a:schemeClr val="bg1"/>
          </a:solidFill>
        </p:spPr>
        <p:txBody>
          <a:bodyPr wrap="square" rtlCol="0">
            <a:spAutoFit/>
          </a:bodyPr>
          <a:lstStyle/>
          <a:p>
            <a:pPr algn="ctr"/>
            <a:r>
              <a:rPr lang="en-US" sz="4400" dirty="0">
                <a:solidFill>
                  <a:srgbClr val="C00000"/>
                </a:solidFill>
              </a:rPr>
              <a:t>35</a:t>
            </a:r>
            <a:endParaRPr lang="ru-RU" sz="3200" dirty="0">
              <a:solidFill>
                <a:srgbClr val="C00000"/>
              </a:solidFill>
            </a:endParaRPr>
          </a:p>
        </p:txBody>
      </p:sp>
      <p:sp>
        <p:nvSpPr>
          <p:cNvPr id="2" name="TextBox 1">
            <a:extLst>
              <a:ext uri="{FF2B5EF4-FFF2-40B4-BE49-F238E27FC236}">
                <a16:creationId xmlns:a16="http://schemas.microsoft.com/office/drawing/2014/main" id="{8148243A-5178-42C4-8AC3-6C852B9FCC4A}"/>
              </a:ext>
            </a:extLst>
          </p:cNvPr>
          <p:cNvSpPr txBox="1"/>
          <p:nvPr/>
        </p:nvSpPr>
        <p:spPr>
          <a:xfrm>
            <a:off x="8574905" y="713947"/>
            <a:ext cx="1261631" cy="369332"/>
          </a:xfrm>
          <a:prstGeom prst="rect">
            <a:avLst/>
          </a:prstGeom>
          <a:noFill/>
        </p:spPr>
        <p:txBody>
          <a:bodyPr wrap="square" rtlCol="0">
            <a:spAutoFit/>
          </a:bodyPr>
          <a:lstStyle/>
          <a:p>
            <a:r>
              <a:rPr lang="en-US" dirty="0"/>
              <a:t>{</a:t>
            </a:r>
            <a:r>
              <a:rPr lang="ru-RU" dirty="0"/>
              <a:t>0</a:t>
            </a:r>
            <a:r>
              <a:rPr lang="en-US" dirty="0"/>
              <a:t>}</a:t>
            </a:r>
            <a:r>
              <a:rPr lang="ru-RU" dirty="0"/>
              <a:t> 16 + 13</a:t>
            </a:r>
          </a:p>
        </p:txBody>
      </p:sp>
      <p:sp>
        <p:nvSpPr>
          <p:cNvPr id="61" name="TextBox 60">
            <a:extLst>
              <a:ext uri="{FF2B5EF4-FFF2-40B4-BE49-F238E27FC236}">
                <a16:creationId xmlns:a16="http://schemas.microsoft.com/office/drawing/2014/main" id="{41EF32FF-8BBC-4F69-BD8E-991D43E989EF}"/>
              </a:ext>
            </a:extLst>
          </p:cNvPr>
          <p:cNvSpPr txBox="1"/>
          <p:nvPr/>
        </p:nvSpPr>
        <p:spPr>
          <a:xfrm>
            <a:off x="892896" y="5573626"/>
            <a:ext cx="2514552" cy="369332"/>
          </a:xfrm>
          <a:prstGeom prst="rect">
            <a:avLst/>
          </a:prstGeom>
          <a:noFill/>
        </p:spPr>
        <p:txBody>
          <a:bodyPr wrap="square" rtlCol="0">
            <a:spAutoFit/>
          </a:bodyPr>
          <a:lstStyle/>
          <a:p>
            <a:r>
              <a:rPr lang="en-US" dirty="0"/>
              <a:t>{</a:t>
            </a:r>
            <a:r>
              <a:rPr lang="ru-RU" dirty="0"/>
              <a:t>0,1</a:t>
            </a:r>
            <a:r>
              <a:rPr lang="en-US" dirty="0"/>
              <a:t>}</a:t>
            </a:r>
            <a:r>
              <a:rPr lang="ru-RU" dirty="0"/>
              <a:t> 13 + 10 + 12</a:t>
            </a:r>
          </a:p>
        </p:txBody>
      </p:sp>
    </p:spTree>
    <p:extLst>
      <p:ext uri="{BB962C8B-B14F-4D97-AF65-F5344CB8AC3E}">
        <p14:creationId xmlns:p14="http://schemas.microsoft.com/office/powerpoint/2010/main" val="3496515495"/>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Овал 127"/>
          <p:cNvSpPr/>
          <p:nvPr/>
        </p:nvSpPr>
        <p:spPr>
          <a:xfrm>
            <a:off x="414961" y="1396875"/>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129" name="Овал 128"/>
          <p:cNvSpPr/>
          <p:nvPr/>
        </p:nvSpPr>
        <p:spPr>
          <a:xfrm>
            <a:off x="2519258" y="232430"/>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130" name="Овал 129"/>
          <p:cNvSpPr/>
          <p:nvPr/>
        </p:nvSpPr>
        <p:spPr>
          <a:xfrm>
            <a:off x="7451330" y="1396875"/>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131" name="Овал 130"/>
          <p:cNvSpPr/>
          <p:nvPr/>
        </p:nvSpPr>
        <p:spPr>
          <a:xfrm>
            <a:off x="5575072" y="23568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132" name="Овал 131"/>
          <p:cNvSpPr/>
          <p:nvPr/>
        </p:nvSpPr>
        <p:spPr>
          <a:xfrm>
            <a:off x="2515607" y="264398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133" name="Овал 132"/>
          <p:cNvSpPr/>
          <p:nvPr/>
        </p:nvSpPr>
        <p:spPr>
          <a:xfrm>
            <a:off x="5575072" y="264398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34" name="Прямая со стрелкой 133"/>
          <p:cNvCxnSpPr>
            <a:stCxn id="128" idx="7"/>
            <a:endCxn id="129" idx="2"/>
          </p:cNvCxnSpPr>
          <p:nvPr/>
        </p:nvCxnSpPr>
        <p:spPr>
          <a:xfrm flipV="1">
            <a:off x="1029588" y="592470"/>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Прямая со стрелкой 134"/>
          <p:cNvCxnSpPr>
            <a:stCxn id="128" idx="5"/>
            <a:endCxn id="132" idx="2"/>
          </p:cNvCxnSpPr>
          <p:nvPr/>
        </p:nvCxnSpPr>
        <p:spPr>
          <a:xfrm>
            <a:off x="1029588" y="2011502"/>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Прямая со стрелкой 135"/>
          <p:cNvCxnSpPr>
            <a:stCxn id="129" idx="3"/>
            <a:endCxn id="132" idx="1"/>
          </p:cNvCxnSpPr>
          <p:nvPr/>
        </p:nvCxnSpPr>
        <p:spPr>
          <a:xfrm flipH="1">
            <a:off x="2621060" y="84705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Прямая со стрелкой 136"/>
          <p:cNvCxnSpPr>
            <a:stCxn id="132" idx="7"/>
            <a:endCxn id="129" idx="5"/>
          </p:cNvCxnSpPr>
          <p:nvPr/>
        </p:nvCxnSpPr>
        <p:spPr>
          <a:xfrm flipV="1">
            <a:off x="3130234" y="84705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Прямая со стрелкой 137"/>
          <p:cNvCxnSpPr>
            <a:stCxn id="129" idx="6"/>
            <a:endCxn id="131" idx="2"/>
          </p:cNvCxnSpPr>
          <p:nvPr/>
        </p:nvCxnSpPr>
        <p:spPr>
          <a:xfrm>
            <a:off x="3239338" y="592470"/>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Прямая со стрелкой 138"/>
          <p:cNvCxnSpPr>
            <a:stCxn id="133" idx="0"/>
            <a:endCxn id="131" idx="4"/>
          </p:cNvCxnSpPr>
          <p:nvPr/>
        </p:nvCxnSpPr>
        <p:spPr>
          <a:xfrm flipV="1">
            <a:off x="5935112" y="955768"/>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Прямая со стрелкой 139"/>
          <p:cNvCxnSpPr>
            <a:stCxn id="132" idx="6"/>
            <a:endCxn id="133" idx="2"/>
          </p:cNvCxnSpPr>
          <p:nvPr/>
        </p:nvCxnSpPr>
        <p:spPr>
          <a:xfrm>
            <a:off x="3235687" y="3004029"/>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Прямая со стрелкой 140"/>
          <p:cNvCxnSpPr>
            <a:stCxn id="131" idx="3"/>
            <a:endCxn id="132" idx="7"/>
          </p:cNvCxnSpPr>
          <p:nvPr/>
        </p:nvCxnSpPr>
        <p:spPr>
          <a:xfrm flipH="1">
            <a:off x="3130234" y="850315"/>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Прямая со стрелкой 141"/>
          <p:cNvCxnSpPr>
            <a:stCxn id="131" idx="6"/>
            <a:endCxn id="130" idx="1"/>
          </p:cNvCxnSpPr>
          <p:nvPr/>
        </p:nvCxnSpPr>
        <p:spPr>
          <a:xfrm>
            <a:off x="6295152" y="595728"/>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Прямая со стрелкой 142"/>
          <p:cNvCxnSpPr>
            <a:stCxn id="133" idx="6"/>
            <a:endCxn id="130" idx="3"/>
          </p:cNvCxnSpPr>
          <p:nvPr/>
        </p:nvCxnSpPr>
        <p:spPr>
          <a:xfrm flipV="1">
            <a:off x="6295152" y="2011502"/>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143"/>
          <p:cNvSpPr txBox="1"/>
          <p:nvPr/>
        </p:nvSpPr>
        <p:spPr>
          <a:xfrm>
            <a:off x="1444264" y="785789"/>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45" name="TextBox 144"/>
          <p:cNvSpPr txBox="1"/>
          <p:nvPr/>
        </p:nvSpPr>
        <p:spPr>
          <a:xfrm>
            <a:off x="1444392" y="2226222"/>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46" name="TextBox 145"/>
          <p:cNvSpPr txBox="1"/>
          <p:nvPr/>
        </p:nvSpPr>
        <p:spPr>
          <a:xfrm>
            <a:off x="2362883" y="1179062"/>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47" name="TextBox 146"/>
          <p:cNvSpPr txBox="1"/>
          <p:nvPr/>
        </p:nvSpPr>
        <p:spPr>
          <a:xfrm>
            <a:off x="2902807" y="1731866"/>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48" name="TextBox 147"/>
          <p:cNvSpPr txBox="1"/>
          <p:nvPr/>
        </p:nvSpPr>
        <p:spPr>
          <a:xfrm>
            <a:off x="4097608" y="268351"/>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49" name="TextBox 148"/>
          <p:cNvSpPr txBox="1"/>
          <p:nvPr/>
        </p:nvSpPr>
        <p:spPr>
          <a:xfrm>
            <a:off x="4136075" y="151947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50" name="TextBox 149"/>
          <p:cNvSpPr txBox="1"/>
          <p:nvPr/>
        </p:nvSpPr>
        <p:spPr>
          <a:xfrm>
            <a:off x="4190047" y="2728422"/>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51" name="TextBox 150"/>
          <p:cNvSpPr txBox="1"/>
          <p:nvPr/>
        </p:nvSpPr>
        <p:spPr>
          <a:xfrm>
            <a:off x="5673284" y="1637191"/>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52" name="TextBox 151"/>
          <p:cNvSpPr txBox="1"/>
          <p:nvPr/>
        </p:nvSpPr>
        <p:spPr>
          <a:xfrm>
            <a:off x="6597820" y="680872"/>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53" name="TextBox 152"/>
          <p:cNvSpPr txBox="1"/>
          <p:nvPr/>
        </p:nvSpPr>
        <p:spPr>
          <a:xfrm>
            <a:off x="6695028" y="229083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54" name="Полилиния 153"/>
          <p:cNvSpPr/>
          <p:nvPr/>
        </p:nvSpPr>
        <p:spPr>
          <a:xfrm>
            <a:off x="1994602" y="106592"/>
            <a:ext cx="4513028" cy="3110347"/>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Lst>
            <a:ahLst/>
            <a:cxnLst>
              <a:cxn ang="0">
                <a:pos x="connsiteX0" y="connsiteY0"/>
              </a:cxn>
              <a:cxn ang="0">
                <a:pos x="connsiteX1" y="connsiteY1"/>
              </a:cxn>
              <a:cxn ang="0">
                <a:pos x="connsiteX2" y="connsiteY2"/>
              </a:cxn>
            </a:cxnLst>
            <a:rect l="l" t="t" r="r" b="b"/>
            <a:pathLst>
              <a:path w="4513028" h="3110347">
                <a:moveTo>
                  <a:pt x="0" y="259569"/>
                </a:moveTo>
                <a:cubicBezTo>
                  <a:pt x="61633" y="2436871"/>
                  <a:pt x="3989297" y="-1076173"/>
                  <a:pt x="4477873" y="353698"/>
                </a:cubicBezTo>
                <a:cubicBezTo>
                  <a:pt x="4966449" y="1783569"/>
                  <a:pt x="203947" y="537476"/>
                  <a:pt x="26894" y="3110347"/>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5" name="TextBox 154"/>
          <p:cNvSpPr txBox="1"/>
          <p:nvPr/>
        </p:nvSpPr>
        <p:spPr>
          <a:xfrm>
            <a:off x="1365020" y="3224199"/>
            <a:ext cx="815154" cy="769441"/>
          </a:xfrm>
          <a:prstGeom prst="rect">
            <a:avLst/>
          </a:prstGeom>
          <a:solidFill>
            <a:schemeClr val="bg1"/>
          </a:solidFill>
        </p:spPr>
        <p:txBody>
          <a:bodyPr wrap="square" rtlCol="0">
            <a:spAutoFit/>
          </a:bodyPr>
          <a:lstStyle/>
          <a:p>
            <a:pPr algn="ctr"/>
            <a:r>
              <a:rPr lang="ru-RU" sz="4400" dirty="0">
                <a:solidFill>
                  <a:srgbClr val="C00000"/>
                </a:solidFill>
              </a:rPr>
              <a:t>58</a:t>
            </a:r>
            <a:endParaRPr lang="ru-RU" sz="3200" dirty="0">
              <a:solidFill>
                <a:srgbClr val="C00000"/>
              </a:solidFill>
            </a:endParaRPr>
          </a:p>
        </p:txBody>
      </p:sp>
      <p:sp>
        <p:nvSpPr>
          <p:cNvPr id="156" name="Овал 155"/>
          <p:cNvSpPr/>
          <p:nvPr/>
        </p:nvSpPr>
        <p:spPr>
          <a:xfrm>
            <a:off x="4019784" y="4564305"/>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157" name="Овал 156"/>
          <p:cNvSpPr/>
          <p:nvPr/>
        </p:nvSpPr>
        <p:spPr>
          <a:xfrm>
            <a:off x="6124081" y="3399860"/>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158" name="Овал 157"/>
          <p:cNvSpPr/>
          <p:nvPr/>
        </p:nvSpPr>
        <p:spPr>
          <a:xfrm>
            <a:off x="11056153" y="4564305"/>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159" name="Овал 158"/>
          <p:cNvSpPr/>
          <p:nvPr/>
        </p:nvSpPr>
        <p:spPr>
          <a:xfrm>
            <a:off x="9179895" y="340311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160" name="Овал 159"/>
          <p:cNvSpPr/>
          <p:nvPr/>
        </p:nvSpPr>
        <p:spPr>
          <a:xfrm>
            <a:off x="6120430" y="581141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161" name="Овал 160"/>
          <p:cNvSpPr/>
          <p:nvPr/>
        </p:nvSpPr>
        <p:spPr>
          <a:xfrm>
            <a:off x="9179895" y="581141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62" name="Прямая со стрелкой 161"/>
          <p:cNvCxnSpPr>
            <a:stCxn id="156" idx="7"/>
            <a:endCxn id="157" idx="2"/>
          </p:cNvCxnSpPr>
          <p:nvPr/>
        </p:nvCxnSpPr>
        <p:spPr>
          <a:xfrm flipV="1">
            <a:off x="4634411" y="3759900"/>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Прямая со стрелкой 162"/>
          <p:cNvCxnSpPr>
            <a:stCxn id="156" idx="5"/>
            <a:endCxn id="160" idx="2"/>
          </p:cNvCxnSpPr>
          <p:nvPr/>
        </p:nvCxnSpPr>
        <p:spPr>
          <a:xfrm>
            <a:off x="4634411" y="5178932"/>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Прямая со стрелкой 163"/>
          <p:cNvCxnSpPr>
            <a:stCxn id="157" idx="3"/>
            <a:endCxn id="160" idx="1"/>
          </p:cNvCxnSpPr>
          <p:nvPr/>
        </p:nvCxnSpPr>
        <p:spPr>
          <a:xfrm flipH="1">
            <a:off x="6225883" y="401448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Прямая со стрелкой 164"/>
          <p:cNvCxnSpPr>
            <a:stCxn id="160" idx="7"/>
            <a:endCxn id="157" idx="5"/>
          </p:cNvCxnSpPr>
          <p:nvPr/>
        </p:nvCxnSpPr>
        <p:spPr>
          <a:xfrm flipV="1">
            <a:off x="6735057" y="401448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Прямая со стрелкой 165"/>
          <p:cNvCxnSpPr>
            <a:stCxn id="157" idx="6"/>
            <a:endCxn id="159" idx="2"/>
          </p:cNvCxnSpPr>
          <p:nvPr/>
        </p:nvCxnSpPr>
        <p:spPr>
          <a:xfrm>
            <a:off x="6844161" y="3759900"/>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Прямая со стрелкой 166"/>
          <p:cNvCxnSpPr>
            <a:stCxn id="161" idx="0"/>
            <a:endCxn id="159" idx="4"/>
          </p:cNvCxnSpPr>
          <p:nvPr/>
        </p:nvCxnSpPr>
        <p:spPr>
          <a:xfrm flipV="1">
            <a:off x="9539935" y="4123198"/>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Прямая со стрелкой 167"/>
          <p:cNvCxnSpPr>
            <a:stCxn id="160" idx="6"/>
            <a:endCxn id="161" idx="2"/>
          </p:cNvCxnSpPr>
          <p:nvPr/>
        </p:nvCxnSpPr>
        <p:spPr>
          <a:xfrm>
            <a:off x="6840510" y="6171459"/>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Прямая со стрелкой 168"/>
          <p:cNvCxnSpPr>
            <a:stCxn id="159" idx="3"/>
            <a:endCxn id="160" idx="7"/>
          </p:cNvCxnSpPr>
          <p:nvPr/>
        </p:nvCxnSpPr>
        <p:spPr>
          <a:xfrm flipH="1">
            <a:off x="6735057" y="4017745"/>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Прямая со стрелкой 169"/>
          <p:cNvCxnSpPr>
            <a:stCxn id="159" idx="6"/>
            <a:endCxn id="158" idx="1"/>
          </p:cNvCxnSpPr>
          <p:nvPr/>
        </p:nvCxnSpPr>
        <p:spPr>
          <a:xfrm>
            <a:off x="9899975" y="3763158"/>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Прямая со стрелкой 170"/>
          <p:cNvCxnSpPr>
            <a:stCxn id="161" idx="6"/>
            <a:endCxn id="158" idx="3"/>
          </p:cNvCxnSpPr>
          <p:nvPr/>
        </p:nvCxnSpPr>
        <p:spPr>
          <a:xfrm flipV="1">
            <a:off x="9899975" y="5178932"/>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2" name="TextBox 171"/>
          <p:cNvSpPr txBox="1"/>
          <p:nvPr/>
        </p:nvSpPr>
        <p:spPr>
          <a:xfrm>
            <a:off x="5049087" y="3953219"/>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73" name="TextBox 172"/>
          <p:cNvSpPr txBox="1"/>
          <p:nvPr/>
        </p:nvSpPr>
        <p:spPr>
          <a:xfrm>
            <a:off x="5049215" y="5393652"/>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74" name="TextBox 173"/>
          <p:cNvSpPr txBox="1"/>
          <p:nvPr/>
        </p:nvSpPr>
        <p:spPr>
          <a:xfrm>
            <a:off x="5967706" y="4346492"/>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75" name="TextBox 174"/>
          <p:cNvSpPr txBox="1"/>
          <p:nvPr/>
        </p:nvSpPr>
        <p:spPr>
          <a:xfrm>
            <a:off x="6507630" y="4899296"/>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76" name="TextBox 175"/>
          <p:cNvSpPr txBox="1"/>
          <p:nvPr/>
        </p:nvSpPr>
        <p:spPr>
          <a:xfrm>
            <a:off x="7702431" y="3435781"/>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77" name="TextBox 176"/>
          <p:cNvSpPr txBox="1"/>
          <p:nvPr/>
        </p:nvSpPr>
        <p:spPr>
          <a:xfrm>
            <a:off x="7740898" y="468690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78" name="TextBox 177"/>
          <p:cNvSpPr txBox="1"/>
          <p:nvPr/>
        </p:nvSpPr>
        <p:spPr>
          <a:xfrm>
            <a:off x="7794870" y="5895852"/>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79" name="TextBox 178"/>
          <p:cNvSpPr txBox="1"/>
          <p:nvPr/>
        </p:nvSpPr>
        <p:spPr>
          <a:xfrm>
            <a:off x="9278107" y="4804621"/>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80" name="TextBox 179"/>
          <p:cNvSpPr txBox="1"/>
          <p:nvPr/>
        </p:nvSpPr>
        <p:spPr>
          <a:xfrm>
            <a:off x="10202643" y="3848302"/>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81" name="TextBox 180"/>
          <p:cNvSpPr txBox="1"/>
          <p:nvPr/>
        </p:nvSpPr>
        <p:spPr>
          <a:xfrm>
            <a:off x="10299851" y="545826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82" name="Полилиния 181"/>
          <p:cNvSpPr/>
          <p:nvPr/>
        </p:nvSpPr>
        <p:spPr>
          <a:xfrm>
            <a:off x="5626319" y="3721849"/>
            <a:ext cx="5109885" cy="2662520"/>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5150224 w 5188707"/>
              <a:gd name="connsiteY0" fmla="*/ 0 h 3805519"/>
              <a:gd name="connsiteX1" fmla="*/ 4450979 w 5188707"/>
              <a:gd name="connsiteY1" fmla="*/ 1048870 h 3805519"/>
              <a:gd name="connsiteX2" fmla="*/ 0 w 5188707"/>
              <a:gd name="connsiteY2" fmla="*/ 3805519 h 3805519"/>
              <a:gd name="connsiteX0" fmla="*/ 4450979 w 4450979"/>
              <a:gd name="connsiteY0" fmla="*/ 0 h 2756649"/>
              <a:gd name="connsiteX1" fmla="*/ 0 w 4450979"/>
              <a:gd name="connsiteY1" fmla="*/ 2756649 h 2756649"/>
              <a:gd name="connsiteX0" fmla="*/ 4450979 w 4450979"/>
              <a:gd name="connsiteY0" fmla="*/ 0 h 2756649"/>
              <a:gd name="connsiteX1" fmla="*/ 0 w 4450979"/>
              <a:gd name="connsiteY1" fmla="*/ 2756649 h 2756649"/>
              <a:gd name="connsiteX0" fmla="*/ 4706473 w 4706473"/>
              <a:gd name="connsiteY0" fmla="*/ 0 h 2474261"/>
              <a:gd name="connsiteX1" fmla="*/ 0 w 4706473"/>
              <a:gd name="connsiteY1" fmla="*/ 2474261 h 2474261"/>
              <a:gd name="connsiteX0" fmla="*/ 5109885 w 5109885"/>
              <a:gd name="connsiteY0" fmla="*/ 0 h 2662520"/>
              <a:gd name="connsiteX1" fmla="*/ 0 w 5109885"/>
              <a:gd name="connsiteY1" fmla="*/ 2662520 h 2662520"/>
              <a:gd name="connsiteX0" fmla="*/ 5109885 w 5109885"/>
              <a:gd name="connsiteY0" fmla="*/ 0 h 2662520"/>
              <a:gd name="connsiteX1" fmla="*/ 0 w 5109885"/>
              <a:gd name="connsiteY1" fmla="*/ 2662520 h 2662520"/>
              <a:gd name="connsiteX0" fmla="*/ 5109885 w 5109885"/>
              <a:gd name="connsiteY0" fmla="*/ 0 h 2662520"/>
              <a:gd name="connsiteX1" fmla="*/ 0 w 5109885"/>
              <a:gd name="connsiteY1" fmla="*/ 2662520 h 2662520"/>
            </a:gdLst>
            <a:ahLst/>
            <a:cxnLst>
              <a:cxn ang="0">
                <a:pos x="connsiteX0" y="connsiteY0"/>
              </a:cxn>
              <a:cxn ang="0">
                <a:pos x="connsiteX1" y="connsiteY1"/>
              </a:cxn>
            </a:cxnLst>
            <a:rect l="l" t="t" r="r" b="b"/>
            <a:pathLst>
              <a:path w="5109885" h="2662520">
                <a:moveTo>
                  <a:pt x="5109885" y="0"/>
                </a:moveTo>
                <a:cubicBezTo>
                  <a:pt x="4022914" y="1064559"/>
                  <a:pt x="311523" y="277907"/>
                  <a:pt x="0" y="2662520"/>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3" name="TextBox 182"/>
          <p:cNvSpPr txBox="1"/>
          <p:nvPr/>
        </p:nvSpPr>
        <p:spPr>
          <a:xfrm>
            <a:off x="4828096" y="6017000"/>
            <a:ext cx="815154" cy="769441"/>
          </a:xfrm>
          <a:prstGeom prst="rect">
            <a:avLst/>
          </a:prstGeom>
          <a:solidFill>
            <a:schemeClr val="bg1"/>
          </a:solidFill>
        </p:spPr>
        <p:txBody>
          <a:bodyPr wrap="square" rtlCol="0">
            <a:spAutoFit/>
          </a:bodyPr>
          <a:lstStyle/>
          <a:p>
            <a:pPr algn="ctr"/>
            <a:r>
              <a:rPr lang="ru-RU" sz="4400" dirty="0">
                <a:solidFill>
                  <a:srgbClr val="C00000"/>
                </a:solidFill>
              </a:rPr>
              <a:t>52</a:t>
            </a:r>
            <a:endParaRPr lang="ru-RU" sz="3200" dirty="0">
              <a:solidFill>
                <a:srgbClr val="C00000"/>
              </a:solidFill>
            </a:endParaRPr>
          </a:p>
        </p:txBody>
      </p:sp>
      <p:sp>
        <p:nvSpPr>
          <p:cNvPr id="60" name="TextBox 59">
            <a:extLst>
              <a:ext uri="{FF2B5EF4-FFF2-40B4-BE49-F238E27FC236}">
                <a16:creationId xmlns:a16="http://schemas.microsoft.com/office/drawing/2014/main" id="{37A95443-F7F7-4862-9F27-097BEF954BA5}"/>
              </a:ext>
            </a:extLst>
          </p:cNvPr>
          <p:cNvSpPr txBox="1"/>
          <p:nvPr/>
        </p:nvSpPr>
        <p:spPr>
          <a:xfrm>
            <a:off x="8574905" y="713947"/>
            <a:ext cx="3281735" cy="369332"/>
          </a:xfrm>
          <a:prstGeom prst="rect">
            <a:avLst/>
          </a:prstGeom>
          <a:noFill/>
        </p:spPr>
        <p:txBody>
          <a:bodyPr wrap="square" rtlCol="0">
            <a:spAutoFit/>
          </a:bodyPr>
          <a:lstStyle/>
          <a:p>
            <a:r>
              <a:rPr lang="en-US" dirty="0"/>
              <a:t>{</a:t>
            </a:r>
            <a:r>
              <a:rPr lang="ru-RU" dirty="0"/>
              <a:t>0,2</a:t>
            </a:r>
            <a:r>
              <a:rPr lang="en-US" dirty="0"/>
              <a:t>}</a:t>
            </a:r>
            <a:r>
              <a:rPr lang="ru-RU" dirty="0"/>
              <a:t> 16 + 13 + 20 + 9 </a:t>
            </a:r>
          </a:p>
        </p:txBody>
      </p:sp>
      <p:sp>
        <p:nvSpPr>
          <p:cNvPr id="61" name="TextBox 60">
            <a:extLst>
              <a:ext uri="{FF2B5EF4-FFF2-40B4-BE49-F238E27FC236}">
                <a16:creationId xmlns:a16="http://schemas.microsoft.com/office/drawing/2014/main" id="{1B4F961A-BDD6-4B7B-A6B0-979CABFA7F58}"/>
              </a:ext>
            </a:extLst>
          </p:cNvPr>
          <p:cNvSpPr txBox="1"/>
          <p:nvPr/>
        </p:nvSpPr>
        <p:spPr>
          <a:xfrm>
            <a:off x="182633" y="5490529"/>
            <a:ext cx="4361059" cy="369332"/>
          </a:xfrm>
          <a:prstGeom prst="rect">
            <a:avLst/>
          </a:prstGeom>
          <a:noFill/>
        </p:spPr>
        <p:txBody>
          <a:bodyPr wrap="square" rtlCol="0">
            <a:spAutoFit/>
          </a:bodyPr>
          <a:lstStyle/>
          <a:p>
            <a:r>
              <a:rPr lang="en-US" dirty="0"/>
              <a:t>{</a:t>
            </a:r>
            <a:r>
              <a:rPr lang="ru-RU" dirty="0"/>
              <a:t>0,1,2</a:t>
            </a:r>
            <a:r>
              <a:rPr lang="en-US" dirty="0"/>
              <a:t>}</a:t>
            </a:r>
            <a:r>
              <a:rPr lang="ru-RU" dirty="0"/>
              <a:t> 13 + 10 + 9 + 20</a:t>
            </a:r>
          </a:p>
        </p:txBody>
      </p:sp>
    </p:spTree>
    <p:extLst>
      <p:ext uri="{BB962C8B-B14F-4D97-AF65-F5344CB8AC3E}">
        <p14:creationId xmlns:p14="http://schemas.microsoft.com/office/powerpoint/2010/main" val="1305355941"/>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Овал 65"/>
          <p:cNvSpPr/>
          <p:nvPr/>
        </p:nvSpPr>
        <p:spPr>
          <a:xfrm>
            <a:off x="263352" y="1289620"/>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67" name="Овал 66"/>
          <p:cNvSpPr/>
          <p:nvPr/>
        </p:nvSpPr>
        <p:spPr>
          <a:xfrm>
            <a:off x="2367649" y="12517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8" name="Овал 67"/>
          <p:cNvSpPr/>
          <p:nvPr/>
        </p:nvSpPr>
        <p:spPr>
          <a:xfrm>
            <a:off x="7299721" y="1289620"/>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69" name="Овал 68"/>
          <p:cNvSpPr/>
          <p:nvPr/>
        </p:nvSpPr>
        <p:spPr>
          <a:xfrm>
            <a:off x="5423463" y="12843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70" name="Овал 69"/>
          <p:cNvSpPr/>
          <p:nvPr/>
        </p:nvSpPr>
        <p:spPr>
          <a:xfrm>
            <a:off x="2363998" y="253673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71" name="Овал 70"/>
          <p:cNvSpPr/>
          <p:nvPr/>
        </p:nvSpPr>
        <p:spPr>
          <a:xfrm>
            <a:off x="5423463" y="253673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72" name="Прямая со стрелкой 71"/>
          <p:cNvCxnSpPr>
            <a:stCxn id="66" idx="7"/>
            <a:endCxn id="67" idx="2"/>
          </p:cNvCxnSpPr>
          <p:nvPr/>
        </p:nvCxnSpPr>
        <p:spPr>
          <a:xfrm flipV="1">
            <a:off x="877979" y="485215"/>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a:stCxn id="66" idx="5"/>
            <a:endCxn id="70" idx="2"/>
          </p:cNvCxnSpPr>
          <p:nvPr/>
        </p:nvCxnSpPr>
        <p:spPr>
          <a:xfrm>
            <a:off x="877979" y="1904247"/>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a:stCxn id="67" idx="3"/>
            <a:endCxn id="70" idx="1"/>
          </p:cNvCxnSpPr>
          <p:nvPr/>
        </p:nvCxnSpPr>
        <p:spPr>
          <a:xfrm flipH="1">
            <a:off x="2469451" y="73980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a:stCxn id="70" idx="7"/>
            <a:endCxn id="67" idx="5"/>
          </p:cNvCxnSpPr>
          <p:nvPr/>
        </p:nvCxnSpPr>
        <p:spPr>
          <a:xfrm flipV="1">
            <a:off x="2978625" y="73980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p:cNvCxnSpPr>
            <a:stCxn id="67" idx="6"/>
            <a:endCxn id="69" idx="2"/>
          </p:cNvCxnSpPr>
          <p:nvPr/>
        </p:nvCxnSpPr>
        <p:spPr>
          <a:xfrm>
            <a:off x="3087729" y="485215"/>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a:stCxn id="71" idx="0"/>
            <a:endCxn id="69" idx="4"/>
          </p:cNvCxnSpPr>
          <p:nvPr/>
        </p:nvCxnSpPr>
        <p:spPr>
          <a:xfrm flipV="1">
            <a:off x="5783503" y="848513"/>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Прямая со стрелкой 77"/>
          <p:cNvCxnSpPr>
            <a:stCxn id="70" idx="6"/>
            <a:endCxn id="71" idx="2"/>
          </p:cNvCxnSpPr>
          <p:nvPr/>
        </p:nvCxnSpPr>
        <p:spPr>
          <a:xfrm>
            <a:off x="3084078" y="2896774"/>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Прямая со стрелкой 78"/>
          <p:cNvCxnSpPr>
            <a:stCxn id="69" idx="3"/>
            <a:endCxn id="70" idx="7"/>
          </p:cNvCxnSpPr>
          <p:nvPr/>
        </p:nvCxnSpPr>
        <p:spPr>
          <a:xfrm flipH="1">
            <a:off x="2978625" y="743060"/>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Прямая со стрелкой 79"/>
          <p:cNvCxnSpPr>
            <a:stCxn id="69" idx="6"/>
            <a:endCxn id="68" idx="1"/>
          </p:cNvCxnSpPr>
          <p:nvPr/>
        </p:nvCxnSpPr>
        <p:spPr>
          <a:xfrm>
            <a:off x="6143543" y="488473"/>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a:stCxn id="71" idx="6"/>
            <a:endCxn id="68" idx="3"/>
          </p:cNvCxnSpPr>
          <p:nvPr/>
        </p:nvCxnSpPr>
        <p:spPr>
          <a:xfrm flipV="1">
            <a:off x="6143543" y="1904247"/>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292655" y="678534"/>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83" name="TextBox 82"/>
          <p:cNvSpPr txBox="1"/>
          <p:nvPr/>
        </p:nvSpPr>
        <p:spPr>
          <a:xfrm>
            <a:off x="1292783" y="2118967"/>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84" name="TextBox 83"/>
          <p:cNvSpPr txBox="1"/>
          <p:nvPr/>
        </p:nvSpPr>
        <p:spPr>
          <a:xfrm>
            <a:off x="2211274" y="1071807"/>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85" name="TextBox 84"/>
          <p:cNvSpPr txBox="1"/>
          <p:nvPr/>
        </p:nvSpPr>
        <p:spPr>
          <a:xfrm>
            <a:off x="2751198" y="1624611"/>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6" name="TextBox 85"/>
          <p:cNvSpPr txBox="1"/>
          <p:nvPr/>
        </p:nvSpPr>
        <p:spPr>
          <a:xfrm>
            <a:off x="3945999" y="161096"/>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87" name="TextBox 86"/>
          <p:cNvSpPr txBox="1"/>
          <p:nvPr/>
        </p:nvSpPr>
        <p:spPr>
          <a:xfrm>
            <a:off x="4318980" y="110139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88" name="TextBox 87"/>
          <p:cNvSpPr txBox="1"/>
          <p:nvPr/>
        </p:nvSpPr>
        <p:spPr>
          <a:xfrm>
            <a:off x="3558202" y="2619337"/>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89" name="TextBox 88"/>
          <p:cNvSpPr txBox="1"/>
          <p:nvPr/>
        </p:nvSpPr>
        <p:spPr>
          <a:xfrm>
            <a:off x="5521675" y="1529936"/>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90" name="TextBox 89"/>
          <p:cNvSpPr txBox="1"/>
          <p:nvPr/>
        </p:nvSpPr>
        <p:spPr>
          <a:xfrm>
            <a:off x="6446211" y="573617"/>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91" name="TextBox 90"/>
          <p:cNvSpPr txBox="1"/>
          <p:nvPr/>
        </p:nvSpPr>
        <p:spPr>
          <a:xfrm>
            <a:off x="6543419" y="218357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92" name="Полилиния 91"/>
          <p:cNvSpPr/>
          <p:nvPr/>
        </p:nvSpPr>
        <p:spPr>
          <a:xfrm>
            <a:off x="1869888" y="-171400"/>
            <a:ext cx="4476210" cy="3491908"/>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Lst>
            <a:ahLst/>
            <a:cxnLst>
              <a:cxn ang="0">
                <a:pos x="connsiteX0" y="connsiteY0"/>
              </a:cxn>
              <a:cxn ang="0">
                <a:pos x="connsiteX1" y="connsiteY1"/>
              </a:cxn>
              <a:cxn ang="0">
                <a:pos x="connsiteX2" y="connsiteY2"/>
              </a:cxn>
            </a:cxnLst>
            <a:rect l="l" t="t" r="r" b="b"/>
            <a:pathLst>
              <a:path w="4476210" h="3491908">
                <a:moveTo>
                  <a:pt x="147918" y="0"/>
                </a:moveTo>
                <a:cubicBezTo>
                  <a:pt x="209551" y="2177302"/>
                  <a:pt x="5094197" y="2129117"/>
                  <a:pt x="4410638" y="3267635"/>
                </a:cubicBezTo>
                <a:cubicBezTo>
                  <a:pt x="3727079" y="4406153"/>
                  <a:pt x="177053" y="708213"/>
                  <a:pt x="0" y="3281084"/>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1213411" y="3116944"/>
            <a:ext cx="815154" cy="769441"/>
          </a:xfrm>
          <a:prstGeom prst="rect">
            <a:avLst/>
          </a:prstGeom>
          <a:solidFill>
            <a:schemeClr val="bg1"/>
          </a:solidFill>
        </p:spPr>
        <p:txBody>
          <a:bodyPr wrap="square" rtlCol="0">
            <a:spAutoFit/>
          </a:bodyPr>
          <a:lstStyle/>
          <a:p>
            <a:pPr algn="ctr"/>
            <a:r>
              <a:rPr lang="ru-RU" sz="4400" dirty="0">
                <a:solidFill>
                  <a:srgbClr val="C00000"/>
                </a:solidFill>
              </a:rPr>
              <a:t>40</a:t>
            </a:r>
            <a:endParaRPr lang="ru-RU" sz="3200" dirty="0">
              <a:solidFill>
                <a:srgbClr val="C00000"/>
              </a:solidFill>
            </a:endParaRPr>
          </a:p>
        </p:txBody>
      </p:sp>
      <p:sp>
        <p:nvSpPr>
          <p:cNvPr id="94" name="Овал 93"/>
          <p:cNvSpPr/>
          <p:nvPr/>
        </p:nvSpPr>
        <p:spPr>
          <a:xfrm>
            <a:off x="4190744" y="4628760"/>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95" name="Овал 94"/>
          <p:cNvSpPr/>
          <p:nvPr/>
        </p:nvSpPr>
        <p:spPr>
          <a:xfrm>
            <a:off x="6295041" y="346431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96" name="Овал 95"/>
          <p:cNvSpPr/>
          <p:nvPr/>
        </p:nvSpPr>
        <p:spPr>
          <a:xfrm>
            <a:off x="11227113" y="4628760"/>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97" name="Овал 96"/>
          <p:cNvSpPr/>
          <p:nvPr/>
        </p:nvSpPr>
        <p:spPr>
          <a:xfrm>
            <a:off x="9350855" y="346757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98" name="Овал 97"/>
          <p:cNvSpPr/>
          <p:nvPr/>
        </p:nvSpPr>
        <p:spPr>
          <a:xfrm>
            <a:off x="6291390" y="587587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9" name="Овал 98"/>
          <p:cNvSpPr/>
          <p:nvPr/>
        </p:nvSpPr>
        <p:spPr>
          <a:xfrm>
            <a:off x="9350855" y="587587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00" name="Прямая со стрелкой 99"/>
          <p:cNvCxnSpPr>
            <a:stCxn id="94" idx="7"/>
            <a:endCxn id="95" idx="2"/>
          </p:cNvCxnSpPr>
          <p:nvPr/>
        </p:nvCxnSpPr>
        <p:spPr>
          <a:xfrm flipV="1">
            <a:off x="4805371" y="3824355"/>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Прямая со стрелкой 100"/>
          <p:cNvCxnSpPr>
            <a:stCxn id="94" idx="5"/>
            <a:endCxn id="98" idx="2"/>
          </p:cNvCxnSpPr>
          <p:nvPr/>
        </p:nvCxnSpPr>
        <p:spPr>
          <a:xfrm>
            <a:off x="4805371" y="5243387"/>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Прямая со стрелкой 101"/>
          <p:cNvCxnSpPr>
            <a:stCxn id="95" idx="3"/>
            <a:endCxn id="98" idx="1"/>
          </p:cNvCxnSpPr>
          <p:nvPr/>
        </p:nvCxnSpPr>
        <p:spPr>
          <a:xfrm flipH="1">
            <a:off x="6396843" y="407894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Прямая со стрелкой 102"/>
          <p:cNvCxnSpPr>
            <a:stCxn id="98" idx="7"/>
            <a:endCxn id="95" idx="5"/>
          </p:cNvCxnSpPr>
          <p:nvPr/>
        </p:nvCxnSpPr>
        <p:spPr>
          <a:xfrm flipV="1">
            <a:off x="6906017" y="407894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Прямая со стрелкой 103"/>
          <p:cNvCxnSpPr>
            <a:stCxn id="95" idx="6"/>
            <a:endCxn id="97" idx="2"/>
          </p:cNvCxnSpPr>
          <p:nvPr/>
        </p:nvCxnSpPr>
        <p:spPr>
          <a:xfrm>
            <a:off x="7015121" y="3824355"/>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p:cNvCxnSpPr>
            <a:stCxn id="99" idx="0"/>
            <a:endCxn id="97" idx="4"/>
          </p:cNvCxnSpPr>
          <p:nvPr/>
        </p:nvCxnSpPr>
        <p:spPr>
          <a:xfrm flipV="1">
            <a:off x="9710895" y="4187653"/>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Прямая со стрелкой 105"/>
          <p:cNvCxnSpPr>
            <a:stCxn id="98" idx="6"/>
            <a:endCxn id="99" idx="2"/>
          </p:cNvCxnSpPr>
          <p:nvPr/>
        </p:nvCxnSpPr>
        <p:spPr>
          <a:xfrm>
            <a:off x="7011470" y="6235914"/>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Прямая со стрелкой 106"/>
          <p:cNvCxnSpPr>
            <a:stCxn id="97" idx="3"/>
            <a:endCxn id="98" idx="7"/>
          </p:cNvCxnSpPr>
          <p:nvPr/>
        </p:nvCxnSpPr>
        <p:spPr>
          <a:xfrm flipH="1">
            <a:off x="6906017" y="4082200"/>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Прямая со стрелкой 107"/>
          <p:cNvCxnSpPr>
            <a:stCxn id="97" idx="6"/>
            <a:endCxn id="96" idx="1"/>
          </p:cNvCxnSpPr>
          <p:nvPr/>
        </p:nvCxnSpPr>
        <p:spPr>
          <a:xfrm>
            <a:off x="10070935" y="3827613"/>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Прямая со стрелкой 108"/>
          <p:cNvCxnSpPr>
            <a:stCxn id="99" idx="6"/>
            <a:endCxn id="96" idx="3"/>
          </p:cNvCxnSpPr>
          <p:nvPr/>
        </p:nvCxnSpPr>
        <p:spPr>
          <a:xfrm flipV="1">
            <a:off x="10070935" y="5243387"/>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5220047" y="4017674"/>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11" name="TextBox 110"/>
          <p:cNvSpPr txBox="1"/>
          <p:nvPr/>
        </p:nvSpPr>
        <p:spPr>
          <a:xfrm>
            <a:off x="5220175" y="5458107"/>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12" name="TextBox 111"/>
          <p:cNvSpPr txBox="1"/>
          <p:nvPr/>
        </p:nvSpPr>
        <p:spPr>
          <a:xfrm>
            <a:off x="6138666" y="4410947"/>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13" name="TextBox 112"/>
          <p:cNvSpPr txBox="1"/>
          <p:nvPr/>
        </p:nvSpPr>
        <p:spPr>
          <a:xfrm>
            <a:off x="6678590" y="4963751"/>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14" name="TextBox 113"/>
          <p:cNvSpPr txBox="1"/>
          <p:nvPr/>
        </p:nvSpPr>
        <p:spPr>
          <a:xfrm>
            <a:off x="8510829" y="3484993"/>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15" name="TextBox 114"/>
          <p:cNvSpPr txBox="1"/>
          <p:nvPr/>
        </p:nvSpPr>
        <p:spPr>
          <a:xfrm>
            <a:off x="8246372" y="444053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16" name="TextBox 115"/>
          <p:cNvSpPr txBox="1"/>
          <p:nvPr/>
        </p:nvSpPr>
        <p:spPr>
          <a:xfrm>
            <a:off x="7485594" y="5958477"/>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17" name="TextBox 116"/>
          <p:cNvSpPr txBox="1"/>
          <p:nvPr/>
        </p:nvSpPr>
        <p:spPr>
          <a:xfrm>
            <a:off x="9449067" y="4869076"/>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18" name="TextBox 117"/>
          <p:cNvSpPr txBox="1"/>
          <p:nvPr/>
        </p:nvSpPr>
        <p:spPr>
          <a:xfrm>
            <a:off x="10373603" y="3912757"/>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19" name="TextBox 118"/>
          <p:cNvSpPr txBox="1"/>
          <p:nvPr/>
        </p:nvSpPr>
        <p:spPr>
          <a:xfrm>
            <a:off x="10470811" y="552271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20" name="Полилиния 119"/>
          <p:cNvSpPr/>
          <p:nvPr/>
        </p:nvSpPr>
        <p:spPr>
          <a:xfrm>
            <a:off x="5797280" y="3329104"/>
            <a:ext cx="4525214" cy="3364639"/>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98450"/>
              <a:gd name="connsiteY0" fmla="*/ 0 h 3491908"/>
              <a:gd name="connsiteX1" fmla="*/ 4410638 w 4498450"/>
              <a:gd name="connsiteY1" fmla="*/ 3267635 h 3491908"/>
              <a:gd name="connsiteX2" fmla="*/ 0 w 4498450"/>
              <a:gd name="connsiteY2" fmla="*/ 3281084 h 3491908"/>
              <a:gd name="connsiteX0" fmla="*/ 699248 w 4414783"/>
              <a:gd name="connsiteY0" fmla="*/ 0 h 3166692"/>
              <a:gd name="connsiteX1" fmla="*/ 4410638 w 4414783"/>
              <a:gd name="connsiteY1" fmla="*/ 3106271 h 3166692"/>
              <a:gd name="connsiteX2" fmla="*/ 0 w 4414783"/>
              <a:gd name="connsiteY2" fmla="*/ 3119720 h 3166692"/>
              <a:gd name="connsiteX0" fmla="*/ 699248 w 4525214"/>
              <a:gd name="connsiteY0" fmla="*/ 0 h 3364639"/>
              <a:gd name="connsiteX1" fmla="*/ 4410638 w 4525214"/>
              <a:gd name="connsiteY1" fmla="*/ 3106271 h 3364639"/>
              <a:gd name="connsiteX2" fmla="*/ 0 w 4525214"/>
              <a:gd name="connsiteY2" fmla="*/ 3119720 h 3364639"/>
            </a:gdLst>
            <a:ahLst/>
            <a:cxnLst>
              <a:cxn ang="0">
                <a:pos x="connsiteX0" y="connsiteY0"/>
              </a:cxn>
              <a:cxn ang="0">
                <a:pos x="connsiteX1" y="connsiteY1"/>
              </a:cxn>
              <a:cxn ang="0">
                <a:pos x="connsiteX2" y="connsiteY2"/>
              </a:cxn>
            </a:cxnLst>
            <a:rect l="l" t="t" r="r" b="b"/>
            <a:pathLst>
              <a:path w="4525214" h="3364639">
                <a:moveTo>
                  <a:pt x="699248" y="0"/>
                </a:moveTo>
                <a:cubicBezTo>
                  <a:pt x="2159375" y="66114"/>
                  <a:pt x="5145744" y="1860177"/>
                  <a:pt x="4410638" y="3106271"/>
                </a:cubicBezTo>
                <a:cubicBezTo>
                  <a:pt x="3675532" y="4352365"/>
                  <a:pt x="177053" y="546849"/>
                  <a:pt x="0" y="3119720"/>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TextBox 120"/>
          <p:cNvSpPr txBox="1"/>
          <p:nvPr/>
        </p:nvSpPr>
        <p:spPr>
          <a:xfrm>
            <a:off x="4980676" y="5985253"/>
            <a:ext cx="815154" cy="769441"/>
          </a:xfrm>
          <a:prstGeom prst="rect">
            <a:avLst/>
          </a:prstGeom>
          <a:solidFill>
            <a:schemeClr val="bg1"/>
          </a:solidFill>
        </p:spPr>
        <p:txBody>
          <a:bodyPr wrap="square" rtlCol="0">
            <a:spAutoFit/>
          </a:bodyPr>
          <a:lstStyle/>
          <a:p>
            <a:pPr algn="ctr"/>
            <a:r>
              <a:rPr lang="ru-RU" sz="4400" dirty="0">
                <a:solidFill>
                  <a:srgbClr val="C00000"/>
                </a:solidFill>
              </a:rPr>
              <a:t>46</a:t>
            </a:r>
            <a:endParaRPr lang="ru-RU" sz="3200" dirty="0">
              <a:solidFill>
                <a:srgbClr val="C00000"/>
              </a:solidFill>
            </a:endParaRPr>
          </a:p>
        </p:txBody>
      </p:sp>
      <p:sp>
        <p:nvSpPr>
          <p:cNvPr id="58" name="TextBox 57">
            <a:extLst>
              <a:ext uri="{FF2B5EF4-FFF2-40B4-BE49-F238E27FC236}">
                <a16:creationId xmlns:a16="http://schemas.microsoft.com/office/drawing/2014/main" id="{A6AE3517-195E-4E22-BB82-CAC16FFFAF80}"/>
              </a:ext>
            </a:extLst>
          </p:cNvPr>
          <p:cNvSpPr txBox="1"/>
          <p:nvPr/>
        </p:nvSpPr>
        <p:spPr>
          <a:xfrm>
            <a:off x="1028567" y="5759282"/>
            <a:ext cx="2917432" cy="369332"/>
          </a:xfrm>
          <a:prstGeom prst="rect">
            <a:avLst/>
          </a:prstGeom>
          <a:noFill/>
        </p:spPr>
        <p:txBody>
          <a:bodyPr wrap="square" rtlCol="0">
            <a:spAutoFit/>
          </a:bodyPr>
          <a:lstStyle/>
          <a:p>
            <a:r>
              <a:rPr lang="en-US" dirty="0"/>
              <a:t>{</a:t>
            </a:r>
            <a:r>
              <a:rPr lang="ru-RU" dirty="0"/>
              <a:t>0,1,3</a:t>
            </a:r>
            <a:r>
              <a:rPr lang="en-US" dirty="0"/>
              <a:t>}</a:t>
            </a:r>
            <a:r>
              <a:rPr lang="ru-RU" dirty="0"/>
              <a:t> 13 + 10 + 12 + 7 + 4 </a:t>
            </a:r>
          </a:p>
        </p:txBody>
      </p:sp>
      <p:sp>
        <p:nvSpPr>
          <p:cNvPr id="59" name="TextBox 58">
            <a:extLst>
              <a:ext uri="{FF2B5EF4-FFF2-40B4-BE49-F238E27FC236}">
                <a16:creationId xmlns:a16="http://schemas.microsoft.com/office/drawing/2014/main" id="{503B93A6-8FFD-48D7-969A-6C8F0DECB34D}"/>
              </a:ext>
            </a:extLst>
          </p:cNvPr>
          <p:cNvSpPr txBox="1"/>
          <p:nvPr/>
        </p:nvSpPr>
        <p:spPr>
          <a:xfrm>
            <a:off x="8727305" y="866347"/>
            <a:ext cx="2309307" cy="369332"/>
          </a:xfrm>
          <a:prstGeom prst="rect">
            <a:avLst/>
          </a:prstGeom>
          <a:noFill/>
        </p:spPr>
        <p:txBody>
          <a:bodyPr wrap="square" rtlCol="0">
            <a:spAutoFit/>
          </a:bodyPr>
          <a:lstStyle/>
          <a:p>
            <a:r>
              <a:rPr lang="en-US" dirty="0"/>
              <a:t>{</a:t>
            </a:r>
            <a:r>
              <a:rPr lang="ru-RU" dirty="0"/>
              <a:t>0,3</a:t>
            </a:r>
            <a:r>
              <a:rPr lang="en-US" dirty="0"/>
              <a:t>}</a:t>
            </a:r>
            <a:r>
              <a:rPr lang="ru-RU" dirty="0"/>
              <a:t> 16 + 13 + 7 + 4 </a:t>
            </a:r>
          </a:p>
        </p:txBody>
      </p:sp>
    </p:spTree>
    <p:extLst>
      <p:ext uri="{BB962C8B-B14F-4D97-AF65-F5344CB8AC3E}">
        <p14:creationId xmlns:p14="http://schemas.microsoft.com/office/powerpoint/2010/main" val="389100922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Овал 65"/>
          <p:cNvSpPr/>
          <p:nvPr/>
        </p:nvSpPr>
        <p:spPr>
          <a:xfrm>
            <a:off x="252147" y="1361629"/>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67" name="Овал 66"/>
          <p:cNvSpPr/>
          <p:nvPr/>
        </p:nvSpPr>
        <p:spPr>
          <a:xfrm>
            <a:off x="2356444" y="19718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8" name="Овал 67"/>
          <p:cNvSpPr/>
          <p:nvPr/>
        </p:nvSpPr>
        <p:spPr>
          <a:xfrm>
            <a:off x="7288516" y="1361629"/>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69" name="Овал 68"/>
          <p:cNvSpPr/>
          <p:nvPr/>
        </p:nvSpPr>
        <p:spPr>
          <a:xfrm>
            <a:off x="5412258" y="20044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70" name="Овал 69"/>
          <p:cNvSpPr/>
          <p:nvPr/>
        </p:nvSpPr>
        <p:spPr>
          <a:xfrm>
            <a:off x="2352793" y="260874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71" name="Овал 70"/>
          <p:cNvSpPr/>
          <p:nvPr/>
        </p:nvSpPr>
        <p:spPr>
          <a:xfrm>
            <a:off x="5412258" y="260874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72" name="Прямая со стрелкой 71"/>
          <p:cNvCxnSpPr>
            <a:stCxn id="66" idx="7"/>
            <a:endCxn id="67" idx="2"/>
          </p:cNvCxnSpPr>
          <p:nvPr/>
        </p:nvCxnSpPr>
        <p:spPr>
          <a:xfrm flipV="1">
            <a:off x="866774" y="557224"/>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a:stCxn id="66" idx="5"/>
            <a:endCxn id="70" idx="2"/>
          </p:cNvCxnSpPr>
          <p:nvPr/>
        </p:nvCxnSpPr>
        <p:spPr>
          <a:xfrm>
            <a:off x="866774" y="1976256"/>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a:stCxn id="67" idx="3"/>
            <a:endCxn id="70" idx="1"/>
          </p:cNvCxnSpPr>
          <p:nvPr/>
        </p:nvCxnSpPr>
        <p:spPr>
          <a:xfrm flipH="1">
            <a:off x="2458246" y="81181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a:stCxn id="70" idx="7"/>
            <a:endCxn id="67" idx="5"/>
          </p:cNvCxnSpPr>
          <p:nvPr/>
        </p:nvCxnSpPr>
        <p:spPr>
          <a:xfrm flipV="1">
            <a:off x="2967420" y="81181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p:cNvCxnSpPr>
            <a:stCxn id="67" idx="6"/>
            <a:endCxn id="69" idx="2"/>
          </p:cNvCxnSpPr>
          <p:nvPr/>
        </p:nvCxnSpPr>
        <p:spPr>
          <a:xfrm>
            <a:off x="3076524" y="557224"/>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a:stCxn id="71" idx="0"/>
            <a:endCxn id="69" idx="4"/>
          </p:cNvCxnSpPr>
          <p:nvPr/>
        </p:nvCxnSpPr>
        <p:spPr>
          <a:xfrm flipV="1">
            <a:off x="5772298" y="920522"/>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Прямая со стрелкой 77"/>
          <p:cNvCxnSpPr>
            <a:stCxn id="70" idx="6"/>
            <a:endCxn id="71" idx="2"/>
          </p:cNvCxnSpPr>
          <p:nvPr/>
        </p:nvCxnSpPr>
        <p:spPr>
          <a:xfrm>
            <a:off x="3072873" y="2968783"/>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Прямая со стрелкой 78"/>
          <p:cNvCxnSpPr>
            <a:stCxn id="69" idx="3"/>
            <a:endCxn id="70" idx="7"/>
          </p:cNvCxnSpPr>
          <p:nvPr/>
        </p:nvCxnSpPr>
        <p:spPr>
          <a:xfrm flipH="1">
            <a:off x="2967420" y="815069"/>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Прямая со стрелкой 79"/>
          <p:cNvCxnSpPr>
            <a:stCxn id="69" idx="6"/>
            <a:endCxn id="68" idx="1"/>
          </p:cNvCxnSpPr>
          <p:nvPr/>
        </p:nvCxnSpPr>
        <p:spPr>
          <a:xfrm>
            <a:off x="6132338" y="560482"/>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a:stCxn id="71" idx="6"/>
            <a:endCxn id="68" idx="3"/>
          </p:cNvCxnSpPr>
          <p:nvPr/>
        </p:nvCxnSpPr>
        <p:spPr>
          <a:xfrm flipV="1">
            <a:off x="6132338" y="1976256"/>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281450" y="750543"/>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83" name="TextBox 82"/>
          <p:cNvSpPr txBox="1"/>
          <p:nvPr/>
        </p:nvSpPr>
        <p:spPr>
          <a:xfrm>
            <a:off x="1281578" y="2190976"/>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84" name="TextBox 83"/>
          <p:cNvSpPr txBox="1"/>
          <p:nvPr/>
        </p:nvSpPr>
        <p:spPr>
          <a:xfrm>
            <a:off x="2200069" y="1143816"/>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85" name="TextBox 84"/>
          <p:cNvSpPr txBox="1"/>
          <p:nvPr/>
        </p:nvSpPr>
        <p:spPr>
          <a:xfrm>
            <a:off x="2739993" y="169662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6" name="TextBox 85"/>
          <p:cNvSpPr txBox="1"/>
          <p:nvPr/>
        </p:nvSpPr>
        <p:spPr>
          <a:xfrm>
            <a:off x="4553037" y="273165"/>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87" name="TextBox 86"/>
          <p:cNvSpPr txBox="1"/>
          <p:nvPr/>
        </p:nvSpPr>
        <p:spPr>
          <a:xfrm>
            <a:off x="4307775" y="117340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88" name="TextBox 87"/>
          <p:cNvSpPr txBox="1"/>
          <p:nvPr/>
        </p:nvSpPr>
        <p:spPr>
          <a:xfrm>
            <a:off x="4540432" y="260945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89" name="TextBox 88"/>
          <p:cNvSpPr txBox="1"/>
          <p:nvPr/>
        </p:nvSpPr>
        <p:spPr>
          <a:xfrm>
            <a:off x="5510470" y="1601945"/>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90" name="TextBox 89"/>
          <p:cNvSpPr txBox="1"/>
          <p:nvPr/>
        </p:nvSpPr>
        <p:spPr>
          <a:xfrm>
            <a:off x="6435006" y="645626"/>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91" name="TextBox 90"/>
          <p:cNvSpPr txBox="1"/>
          <p:nvPr/>
        </p:nvSpPr>
        <p:spPr>
          <a:xfrm>
            <a:off x="6532214" y="2255587"/>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92" name="Полилиния 91"/>
          <p:cNvSpPr/>
          <p:nvPr/>
        </p:nvSpPr>
        <p:spPr>
          <a:xfrm>
            <a:off x="1854174" y="-99392"/>
            <a:ext cx="4577930" cy="3674939"/>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Lst>
            <a:ahLst/>
            <a:cxnLst>
              <a:cxn ang="0">
                <a:pos x="connsiteX0" y="connsiteY0"/>
              </a:cxn>
              <a:cxn ang="0">
                <a:pos x="connsiteX1" y="connsiteY1"/>
              </a:cxn>
              <a:cxn ang="0">
                <a:pos x="connsiteX2" y="connsiteY2"/>
              </a:cxn>
            </a:cxnLst>
            <a:rect l="l" t="t" r="r" b="b"/>
            <a:pathLst>
              <a:path w="4577930" h="3674939">
                <a:moveTo>
                  <a:pt x="152426" y="0"/>
                </a:moveTo>
                <a:cubicBezTo>
                  <a:pt x="160271" y="3737161"/>
                  <a:pt x="4480139" y="-2779059"/>
                  <a:pt x="4576510" y="1963270"/>
                </a:cubicBezTo>
                <a:cubicBezTo>
                  <a:pt x="4672881" y="6705599"/>
                  <a:pt x="-168062" y="-300316"/>
                  <a:pt x="4508" y="3281084"/>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1202206" y="3188953"/>
            <a:ext cx="815154" cy="769441"/>
          </a:xfrm>
          <a:prstGeom prst="rect">
            <a:avLst/>
          </a:prstGeom>
          <a:solidFill>
            <a:schemeClr val="bg1"/>
          </a:solidFill>
        </p:spPr>
        <p:txBody>
          <a:bodyPr wrap="square" rtlCol="0">
            <a:spAutoFit/>
          </a:bodyPr>
          <a:lstStyle/>
          <a:p>
            <a:pPr algn="ctr"/>
            <a:r>
              <a:rPr lang="ru-RU" sz="4400" dirty="0">
                <a:solidFill>
                  <a:srgbClr val="C00000"/>
                </a:solidFill>
              </a:rPr>
              <a:t>62</a:t>
            </a:r>
            <a:endParaRPr lang="ru-RU" sz="3200" dirty="0">
              <a:solidFill>
                <a:srgbClr val="C00000"/>
              </a:solidFill>
            </a:endParaRPr>
          </a:p>
        </p:txBody>
      </p:sp>
      <p:sp>
        <p:nvSpPr>
          <p:cNvPr id="122" name="Овал 121"/>
          <p:cNvSpPr/>
          <p:nvPr/>
        </p:nvSpPr>
        <p:spPr>
          <a:xfrm>
            <a:off x="4258577" y="4376679"/>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123" name="Овал 122"/>
          <p:cNvSpPr/>
          <p:nvPr/>
        </p:nvSpPr>
        <p:spPr>
          <a:xfrm>
            <a:off x="6362874" y="321223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124" name="Овал 123"/>
          <p:cNvSpPr/>
          <p:nvPr/>
        </p:nvSpPr>
        <p:spPr>
          <a:xfrm>
            <a:off x="11294946" y="4376679"/>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125" name="Овал 124"/>
          <p:cNvSpPr/>
          <p:nvPr/>
        </p:nvSpPr>
        <p:spPr>
          <a:xfrm>
            <a:off x="9418688" y="321549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126" name="Овал 125"/>
          <p:cNvSpPr/>
          <p:nvPr/>
        </p:nvSpPr>
        <p:spPr>
          <a:xfrm>
            <a:off x="6359223" y="562379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127" name="Овал 126"/>
          <p:cNvSpPr/>
          <p:nvPr/>
        </p:nvSpPr>
        <p:spPr>
          <a:xfrm>
            <a:off x="9418688" y="562379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28" name="Прямая со стрелкой 127"/>
          <p:cNvCxnSpPr>
            <a:stCxn id="122" idx="7"/>
            <a:endCxn id="123" idx="2"/>
          </p:cNvCxnSpPr>
          <p:nvPr/>
        </p:nvCxnSpPr>
        <p:spPr>
          <a:xfrm flipV="1">
            <a:off x="4873204" y="3572274"/>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Прямая со стрелкой 128"/>
          <p:cNvCxnSpPr>
            <a:stCxn id="122" idx="5"/>
            <a:endCxn id="126" idx="2"/>
          </p:cNvCxnSpPr>
          <p:nvPr/>
        </p:nvCxnSpPr>
        <p:spPr>
          <a:xfrm>
            <a:off x="4873204" y="4991306"/>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Прямая со стрелкой 129"/>
          <p:cNvCxnSpPr>
            <a:stCxn id="123" idx="3"/>
            <a:endCxn id="126" idx="1"/>
          </p:cNvCxnSpPr>
          <p:nvPr/>
        </p:nvCxnSpPr>
        <p:spPr>
          <a:xfrm flipH="1">
            <a:off x="6464676" y="382686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Прямая со стрелкой 130"/>
          <p:cNvCxnSpPr>
            <a:stCxn id="126" idx="7"/>
            <a:endCxn id="123" idx="5"/>
          </p:cNvCxnSpPr>
          <p:nvPr/>
        </p:nvCxnSpPr>
        <p:spPr>
          <a:xfrm flipV="1">
            <a:off x="6973850" y="382686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Прямая со стрелкой 131"/>
          <p:cNvCxnSpPr>
            <a:stCxn id="123" idx="6"/>
            <a:endCxn id="125" idx="2"/>
          </p:cNvCxnSpPr>
          <p:nvPr/>
        </p:nvCxnSpPr>
        <p:spPr>
          <a:xfrm>
            <a:off x="7082954" y="3572274"/>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Прямая со стрелкой 132"/>
          <p:cNvCxnSpPr>
            <a:stCxn id="127" idx="0"/>
            <a:endCxn id="125" idx="4"/>
          </p:cNvCxnSpPr>
          <p:nvPr/>
        </p:nvCxnSpPr>
        <p:spPr>
          <a:xfrm flipV="1">
            <a:off x="9778728" y="3935572"/>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Прямая со стрелкой 133"/>
          <p:cNvCxnSpPr>
            <a:stCxn id="126" idx="6"/>
            <a:endCxn id="127" idx="2"/>
          </p:cNvCxnSpPr>
          <p:nvPr/>
        </p:nvCxnSpPr>
        <p:spPr>
          <a:xfrm>
            <a:off x="7079303" y="5983833"/>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Прямая со стрелкой 134"/>
          <p:cNvCxnSpPr>
            <a:stCxn id="125" idx="3"/>
            <a:endCxn id="126" idx="7"/>
          </p:cNvCxnSpPr>
          <p:nvPr/>
        </p:nvCxnSpPr>
        <p:spPr>
          <a:xfrm flipH="1">
            <a:off x="6973850" y="3830119"/>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Прямая со стрелкой 135"/>
          <p:cNvCxnSpPr>
            <a:stCxn id="125" idx="6"/>
            <a:endCxn id="124" idx="1"/>
          </p:cNvCxnSpPr>
          <p:nvPr/>
        </p:nvCxnSpPr>
        <p:spPr>
          <a:xfrm>
            <a:off x="10138768" y="3575532"/>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Прямая со стрелкой 136"/>
          <p:cNvCxnSpPr>
            <a:stCxn id="127" idx="6"/>
            <a:endCxn id="124" idx="3"/>
          </p:cNvCxnSpPr>
          <p:nvPr/>
        </p:nvCxnSpPr>
        <p:spPr>
          <a:xfrm flipV="1">
            <a:off x="10138768" y="4991306"/>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5287880" y="3765593"/>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39" name="TextBox 138"/>
          <p:cNvSpPr txBox="1"/>
          <p:nvPr/>
        </p:nvSpPr>
        <p:spPr>
          <a:xfrm>
            <a:off x="5288008" y="5206026"/>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40" name="TextBox 139"/>
          <p:cNvSpPr txBox="1"/>
          <p:nvPr/>
        </p:nvSpPr>
        <p:spPr>
          <a:xfrm>
            <a:off x="6206499" y="4158866"/>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41" name="TextBox 140"/>
          <p:cNvSpPr txBox="1"/>
          <p:nvPr/>
        </p:nvSpPr>
        <p:spPr>
          <a:xfrm>
            <a:off x="6746423" y="471167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42" name="TextBox 141"/>
          <p:cNvSpPr txBox="1"/>
          <p:nvPr/>
        </p:nvSpPr>
        <p:spPr>
          <a:xfrm>
            <a:off x="8559467" y="3288215"/>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43" name="TextBox 142"/>
          <p:cNvSpPr txBox="1"/>
          <p:nvPr/>
        </p:nvSpPr>
        <p:spPr>
          <a:xfrm>
            <a:off x="8314205" y="418845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44" name="TextBox 143"/>
          <p:cNvSpPr txBox="1"/>
          <p:nvPr/>
        </p:nvSpPr>
        <p:spPr>
          <a:xfrm>
            <a:off x="8546862" y="562450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45" name="TextBox 144"/>
          <p:cNvSpPr txBox="1"/>
          <p:nvPr/>
        </p:nvSpPr>
        <p:spPr>
          <a:xfrm>
            <a:off x="9516900" y="4616995"/>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46" name="TextBox 145"/>
          <p:cNvSpPr txBox="1"/>
          <p:nvPr/>
        </p:nvSpPr>
        <p:spPr>
          <a:xfrm>
            <a:off x="10441436" y="3660676"/>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47" name="TextBox 146"/>
          <p:cNvSpPr txBox="1"/>
          <p:nvPr/>
        </p:nvSpPr>
        <p:spPr>
          <a:xfrm>
            <a:off x="10538644" y="5270637"/>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48" name="Полилиния 147"/>
          <p:cNvSpPr/>
          <p:nvPr/>
        </p:nvSpPr>
        <p:spPr>
          <a:xfrm>
            <a:off x="5860760" y="2964380"/>
            <a:ext cx="4739567" cy="3522246"/>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152426 w 4577930"/>
              <a:gd name="connsiteY0" fmla="*/ 768347 h 4443286"/>
              <a:gd name="connsiteX1" fmla="*/ 4576510 w 4577930"/>
              <a:gd name="connsiteY1" fmla="*/ 2731617 h 4443286"/>
              <a:gd name="connsiteX2" fmla="*/ 4508 w 4577930"/>
              <a:gd name="connsiteY2" fmla="*/ 4049431 h 4443286"/>
              <a:gd name="connsiteX0" fmla="*/ 152449 w 4577277"/>
              <a:gd name="connsiteY0" fmla="*/ 261917 h 3543001"/>
              <a:gd name="connsiteX1" fmla="*/ 4576533 w 4577277"/>
              <a:gd name="connsiteY1" fmla="*/ 2225187 h 3543001"/>
              <a:gd name="connsiteX2" fmla="*/ 4531 w 4577277"/>
              <a:gd name="connsiteY2" fmla="*/ 3543001 h 3543001"/>
              <a:gd name="connsiteX0" fmla="*/ 152306 w 4738474"/>
              <a:gd name="connsiteY0" fmla="*/ 67975 h 3614058"/>
              <a:gd name="connsiteX1" fmla="*/ 4737754 w 4738474"/>
              <a:gd name="connsiteY1" fmla="*/ 2542234 h 3614058"/>
              <a:gd name="connsiteX2" fmla="*/ 4388 w 4738474"/>
              <a:gd name="connsiteY2" fmla="*/ 3349059 h 3614058"/>
              <a:gd name="connsiteX0" fmla="*/ 623106 w 4744965"/>
              <a:gd name="connsiteY0" fmla="*/ 0 h 3079378"/>
              <a:gd name="connsiteX1" fmla="*/ 4737906 w 4744965"/>
              <a:gd name="connsiteY1" fmla="*/ 2272553 h 3079378"/>
              <a:gd name="connsiteX2" fmla="*/ 4540 w 4744965"/>
              <a:gd name="connsiteY2" fmla="*/ 3079378 h 3079378"/>
              <a:gd name="connsiteX0" fmla="*/ 622918 w 4739567"/>
              <a:gd name="connsiteY0" fmla="*/ 152984 h 3522246"/>
              <a:gd name="connsiteX1" fmla="*/ 4737718 w 4739567"/>
              <a:gd name="connsiteY1" fmla="*/ 2425537 h 3522246"/>
              <a:gd name="connsiteX2" fmla="*/ 4352 w 4739567"/>
              <a:gd name="connsiteY2" fmla="*/ 3232362 h 3522246"/>
            </a:gdLst>
            <a:ahLst/>
            <a:cxnLst>
              <a:cxn ang="0">
                <a:pos x="connsiteX0" y="connsiteY0"/>
              </a:cxn>
              <a:cxn ang="0">
                <a:pos x="connsiteX1" y="connsiteY1"/>
              </a:cxn>
              <a:cxn ang="0">
                <a:pos x="connsiteX2" y="connsiteY2"/>
              </a:cxn>
            </a:cxnLst>
            <a:rect l="l" t="t" r="r" b="b"/>
            <a:pathLst>
              <a:path w="4739567" h="3522246">
                <a:moveTo>
                  <a:pt x="622918" y="152984"/>
                </a:moveTo>
                <a:cubicBezTo>
                  <a:pt x="3831163" y="272886"/>
                  <a:pt x="4625659" y="-1059493"/>
                  <a:pt x="4737718" y="2425537"/>
                </a:cubicBezTo>
                <a:cubicBezTo>
                  <a:pt x="4849777" y="5910567"/>
                  <a:pt x="-168218" y="-349038"/>
                  <a:pt x="4352" y="3232362"/>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9" name="TextBox 148"/>
          <p:cNvSpPr txBox="1"/>
          <p:nvPr/>
        </p:nvSpPr>
        <p:spPr>
          <a:xfrm>
            <a:off x="5102893" y="5843546"/>
            <a:ext cx="815154" cy="769441"/>
          </a:xfrm>
          <a:prstGeom prst="rect">
            <a:avLst/>
          </a:prstGeom>
          <a:solidFill>
            <a:schemeClr val="bg1"/>
          </a:solidFill>
        </p:spPr>
        <p:txBody>
          <a:bodyPr wrap="square" rtlCol="0">
            <a:spAutoFit/>
          </a:bodyPr>
          <a:lstStyle/>
          <a:p>
            <a:pPr algn="ctr"/>
            <a:r>
              <a:rPr lang="ru-RU" sz="4400" dirty="0">
                <a:solidFill>
                  <a:srgbClr val="C00000"/>
                </a:solidFill>
              </a:rPr>
              <a:t>56</a:t>
            </a:r>
            <a:endParaRPr lang="ru-RU" sz="3200" dirty="0">
              <a:solidFill>
                <a:srgbClr val="C00000"/>
              </a:solidFill>
            </a:endParaRPr>
          </a:p>
        </p:txBody>
      </p:sp>
      <p:sp>
        <p:nvSpPr>
          <p:cNvPr id="58" name="TextBox 57">
            <a:extLst>
              <a:ext uri="{FF2B5EF4-FFF2-40B4-BE49-F238E27FC236}">
                <a16:creationId xmlns:a16="http://schemas.microsoft.com/office/drawing/2014/main" id="{CA15CA5C-BBE3-4B32-9CC4-F9B3D380F388}"/>
              </a:ext>
            </a:extLst>
          </p:cNvPr>
          <p:cNvSpPr txBox="1"/>
          <p:nvPr/>
        </p:nvSpPr>
        <p:spPr>
          <a:xfrm>
            <a:off x="8574905" y="713947"/>
            <a:ext cx="3137719" cy="369332"/>
          </a:xfrm>
          <a:prstGeom prst="rect">
            <a:avLst/>
          </a:prstGeom>
          <a:noFill/>
        </p:spPr>
        <p:txBody>
          <a:bodyPr wrap="square" rtlCol="0">
            <a:spAutoFit/>
          </a:bodyPr>
          <a:lstStyle/>
          <a:p>
            <a:r>
              <a:rPr lang="en-US" dirty="0"/>
              <a:t>{</a:t>
            </a:r>
            <a:r>
              <a:rPr lang="ru-RU" dirty="0"/>
              <a:t>0,2,3</a:t>
            </a:r>
            <a:r>
              <a:rPr lang="en-US" dirty="0"/>
              <a:t>}</a:t>
            </a:r>
            <a:r>
              <a:rPr lang="ru-RU" dirty="0"/>
              <a:t> 16 + 13 + 20 + 9 + 4 </a:t>
            </a:r>
          </a:p>
        </p:txBody>
      </p:sp>
      <p:sp>
        <p:nvSpPr>
          <p:cNvPr id="59" name="TextBox 58">
            <a:extLst>
              <a:ext uri="{FF2B5EF4-FFF2-40B4-BE49-F238E27FC236}">
                <a16:creationId xmlns:a16="http://schemas.microsoft.com/office/drawing/2014/main" id="{154179B8-4F35-45E2-B701-CF409D03241D}"/>
              </a:ext>
            </a:extLst>
          </p:cNvPr>
          <p:cNvSpPr txBox="1"/>
          <p:nvPr/>
        </p:nvSpPr>
        <p:spPr>
          <a:xfrm>
            <a:off x="650634" y="5417873"/>
            <a:ext cx="2925086" cy="369332"/>
          </a:xfrm>
          <a:prstGeom prst="rect">
            <a:avLst/>
          </a:prstGeom>
          <a:noFill/>
        </p:spPr>
        <p:txBody>
          <a:bodyPr wrap="square" rtlCol="0">
            <a:spAutoFit/>
          </a:bodyPr>
          <a:lstStyle/>
          <a:p>
            <a:r>
              <a:rPr lang="en-US" dirty="0"/>
              <a:t>{</a:t>
            </a:r>
            <a:r>
              <a:rPr lang="ru-RU" dirty="0"/>
              <a:t>0,1,2,3</a:t>
            </a:r>
            <a:r>
              <a:rPr lang="en-US" dirty="0"/>
              <a:t>}</a:t>
            </a:r>
            <a:r>
              <a:rPr lang="ru-RU" dirty="0"/>
              <a:t> 13 + 10 + 9 + 20 + 4 </a:t>
            </a:r>
          </a:p>
        </p:txBody>
      </p:sp>
    </p:spTree>
    <p:extLst>
      <p:ext uri="{BB962C8B-B14F-4D97-AF65-F5344CB8AC3E}">
        <p14:creationId xmlns:p14="http://schemas.microsoft.com/office/powerpoint/2010/main" val="228621626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Полотно 618"/>
          <p:cNvGrpSpPr/>
          <p:nvPr/>
        </p:nvGrpSpPr>
        <p:grpSpPr>
          <a:xfrm>
            <a:off x="5166598" y="10334887"/>
            <a:ext cx="5257800" cy="3543300"/>
            <a:chOff x="0" y="0"/>
            <a:chExt cx="5257800" cy="3543300"/>
          </a:xfrm>
        </p:grpSpPr>
        <p:sp>
          <p:nvSpPr>
            <p:cNvPr id="36" name="Прямоугольник 35"/>
            <p:cNvSpPr/>
            <p:nvPr/>
          </p:nvSpPr>
          <p:spPr>
            <a:xfrm>
              <a:off x="0" y="0"/>
              <a:ext cx="5257800" cy="3543300"/>
            </a:xfrm>
            <a:prstGeom prst="rect">
              <a:avLst/>
            </a:prstGeom>
            <a:noFill/>
            <a:ln>
              <a:noFill/>
            </a:ln>
          </p:spPr>
        </p:sp>
        <p:sp>
          <p:nvSpPr>
            <p:cNvPr id="37" name="Oval 620"/>
            <p:cNvSpPr>
              <a:spLocks noChangeArrowheads="1"/>
            </p:cNvSpPr>
            <p:nvPr/>
          </p:nvSpPr>
          <p:spPr bwMode="auto">
            <a:xfrm>
              <a:off x="1600200" y="342900"/>
              <a:ext cx="457200" cy="457835"/>
            </a:xfrm>
            <a:prstGeom prst="ellipse">
              <a:avLst/>
            </a:prstGeom>
            <a:noFill/>
            <a:ln w="28575">
              <a:solidFill>
                <a:srgbClr val="000000"/>
              </a:solidFill>
              <a:round/>
              <a:headEnd/>
              <a:tailEnd/>
            </a:ln>
            <a:extLst>
              <a:ext uri="{909E8E84-426E-40DD-AFC4-6F175D3DCCD1}">
                <a14:hiddenFill xmlns:a14="http://schemas.microsoft.com/office/drawing/2010/main">
                  <a:solidFill>
                    <a:srgbClr val="C0C0C0"/>
                  </a:solidFill>
                </a14:hiddenFill>
              </a:ext>
            </a:extLst>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1</a:t>
              </a:r>
              <a:endParaRPr lang="be-BY" sz="1400" kern="0">
                <a:solidFill>
                  <a:sysClr val="windowText" lastClr="000000"/>
                </a:solidFill>
                <a:latin typeface="Times New Roman"/>
                <a:ea typeface="Times New Roman"/>
              </a:endParaRPr>
            </a:p>
          </p:txBody>
        </p:sp>
        <p:sp>
          <p:nvSpPr>
            <p:cNvPr id="38" name="Oval 621"/>
            <p:cNvSpPr>
              <a:spLocks noChangeArrowheads="1"/>
            </p:cNvSpPr>
            <p:nvPr/>
          </p:nvSpPr>
          <p:spPr bwMode="auto">
            <a:xfrm>
              <a:off x="1600200" y="2056765"/>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4</a:t>
              </a:r>
              <a:endParaRPr lang="be-BY" sz="1400" kern="0">
                <a:solidFill>
                  <a:sysClr val="windowText" lastClr="000000"/>
                </a:solidFill>
                <a:latin typeface="Times New Roman"/>
                <a:ea typeface="Times New Roman"/>
              </a:endParaRPr>
            </a:p>
          </p:txBody>
        </p:sp>
        <p:sp>
          <p:nvSpPr>
            <p:cNvPr id="39" name="Oval 622"/>
            <p:cNvSpPr>
              <a:spLocks noChangeArrowheads="1"/>
            </p:cNvSpPr>
            <p:nvPr/>
          </p:nvSpPr>
          <p:spPr bwMode="auto">
            <a:xfrm>
              <a:off x="3771900" y="20574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3</a:t>
              </a:r>
              <a:endParaRPr lang="be-BY" sz="1400" kern="0">
                <a:solidFill>
                  <a:sysClr val="windowText" lastClr="000000"/>
                </a:solidFill>
                <a:latin typeface="Times New Roman"/>
                <a:ea typeface="Times New Roman"/>
              </a:endParaRPr>
            </a:p>
          </p:txBody>
        </p:sp>
        <p:sp>
          <p:nvSpPr>
            <p:cNvPr id="40" name="Oval 623"/>
            <p:cNvSpPr>
              <a:spLocks noChangeArrowheads="1"/>
            </p:cNvSpPr>
            <p:nvPr/>
          </p:nvSpPr>
          <p:spPr bwMode="auto">
            <a:xfrm>
              <a:off x="3771900" y="342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2</a:t>
              </a:r>
              <a:endParaRPr lang="be-BY" sz="1400" kern="0">
                <a:solidFill>
                  <a:sysClr val="windowText" lastClr="000000"/>
                </a:solidFill>
                <a:latin typeface="Times New Roman"/>
                <a:ea typeface="Times New Roman"/>
              </a:endParaRPr>
            </a:p>
          </p:txBody>
        </p:sp>
        <p:cxnSp>
          <p:nvCxnSpPr>
            <p:cNvPr id="41" name="Line 624"/>
            <p:cNvCxnSpPr/>
            <p:nvPr/>
          </p:nvCxnSpPr>
          <p:spPr bwMode="auto">
            <a:xfrm>
              <a:off x="2057400" y="571500"/>
              <a:ext cx="17145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2" name="Oval 625"/>
            <p:cNvSpPr>
              <a:spLocks noChangeArrowheads="1"/>
            </p:cNvSpPr>
            <p:nvPr/>
          </p:nvSpPr>
          <p:spPr bwMode="auto">
            <a:xfrm>
              <a:off x="228600" y="1142365"/>
              <a:ext cx="457200" cy="457835"/>
            </a:xfrm>
            <a:prstGeom prst="ellipse">
              <a:avLst/>
            </a:prstGeom>
            <a:solidFill>
              <a:srgbClr val="00CCFF"/>
            </a:solidFill>
            <a:ln w="28575">
              <a:solidFill>
                <a:srgbClr val="000000"/>
              </a:solidFill>
              <a:round/>
              <a:headEnd/>
              <a:tailEnd/>
            </a:ln>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0</a:t>
              </a:r>
              <a:endParaRPr lang="be-BY" sz="1400" kern="0">
                <a:solidFill>
                  <a:sysClr val="windowText" lastClr="000000"/>
                </a:solidFill>
                <a:latin typeface="Times New Roman"/>
                <a:ea typeface="Times New Roman"/>
              </a:endParaRPr>
            </a:p>
          </p:txBody>
        </p:sp>
        <p:cxnSp>
          <p:nvCxnSpPr>
            <p:cNvPr id="43" name="AutoShape 626"/>
            <p:cNvCxnSpPr>
              <a:cxnSpLocks noChangeShapeType="1"/>
              <a:stCxn id="38" idx="6"/>
              <a:endCxn id="39" idx="2"/>
            </p:cNvCxnSpPr>
            <p:nvPr/>
          </p:nvCxnSpPr>
          <p:spPr bwMode="auto">
            <a:xfrm>
              <a:off x="2072005" y="2286000"/>
              <a:ext cx="1685925"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AutoShape 627"/>
            <p:cNvCxnSpPr>
              <a:cxnSpLocks noChangeShapeType="1"/>
              <a:stCxn id="42" idx="7"/>
              <a:endCxn id="37" idx="2"/>
            </p:cNvCxnSpPr>
            <p:nvPr/>
          </p:nvCxnSpPr>
          <p:spPr bwMode="auto">
            <a:xfrm flipV="1">
              <a:off x="619125" y="572135"/>
              <a:ext cx="967105" cy="62357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628"/>
            <p:cNvCxnSpPr>
              <a:cxnSpLocks noChangeShapeType="1"/>
              <a:stCxn id="42" idx="5"/>
              <a:endCxn id="38" idx="2"/>
            </p:cNvCxnSpPr>
            <p:nvPr/>
          </p:nvCxnSpPr>
          <p:spPr bwMode="auto">
            <a:xfrm>
              <a:off x="619125" y="1546860"/>
              <a:ext cx="967105" cy="7391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6" name="Text Box 629"/>
            <p:cNvSpPr txBox="1">
              <a:spLocks noChangeArrowheads="1"/>
            </p:cNvSpPr>
            <p:nvPr/>
          </p:nvSpPr>
          <p:spPr bwMode="auto">
            <a:xfrm>
              <a:off x="8001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16</a:t>
              </a:r>
              <a:endParaRPr lang="be-BY" sz="1400" kern="0">
                <a:solidFill>
                  <a:sysClr val="windowText" lastClr="000000"/>
                </a:solidFill>
                <a:latin typeface="Times New Roman"/>
                <a:ea typeface="Times New Roman"/>
              </a:endParaRPr>
            </a:p>
          </p:txBody>
        </p:sp>
        <p:sp>
          <p:nvSpPr>
            <p:cNvPr id="47" name="Text Box 630"/>
            <p:cNvSpPr txBox="1">
              <a:spLocks noChangeArrowheads="1"/>
            </p:cNvSpPr>
            <p:nvPr/>
          </p:nvSpPr>
          <p:spPr bwMode="auto">
            <a:xfrm>
              <a:off x="2628900" y="342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12</a:t>
              </a:r>
              <a:endParaRPr lang="be-BY" sz="1400" kern="0">
                <a:solidFill>
                  <a:sysClr val="windowText" lastClr="000000"/>
                </a:solidFill>
                <a:latin typeface="Times New Roman"/>
                <a:ea typeface="Times New Roman"/>
              </a:endParaRPr>
            </a:p>
          </p:txBody>
        </p:sp>
        <p:sp>
          <p:nvSpPr>
            <p:cNvPr id="48" name="Text Box 631"/>
            <p:cNvSpPr txBox="1">
              <a:spLocks noChangeArrowheads="1"/>
            </p:cNvSpPr>
            <p:nvPr/>
          </p:nvSpPr>
          <p:spPr bwMode="auto">
            <a:xfrm>
              <a:off x="2628900" y="2171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14</a:t>
              </a:r>
              <a:endParaRPr lang="be-BY" sz="1400" kern="0">
                <a:solidFill>
                  <a:sysClr val="windowText" lastClr="000000"/>
                </a:solidFill>
                <a:latin typeface="Times New Roman"/>
                <a:ea typeface="Times New Roman"/>
              </a:endParaRPr>
            </a:p>
          </p:txBody>
        </p:sp>
        <p:sp>
          <p:nvSpPr>
            <p:cNvPr id="49" name="Text Box 632"/>
            <p:cNvSpPr txBox="1">
              <a:spLocks noChangeArrowheads="1"/>
            </p:cNvSpPr>
            <p:nvPr/>
          </p:nvSpPr>
          <p:spPr bwMode="auto">
            <a:xfrm>
              <a:off x="6858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13</a:t>
              </a:r>
              <a:endParaRPr lang="be-BY" sz="1400" kern="0">
                <a:solidFill>
                  <a:sysClr val="windowText" lastClr="000000"/>
                </a:solidFill>
                <a:latin typeface="Times New Roman"/>
                <a:ea typeface="Times New Roman"/>
              </a:endParaRPr>
            </a:p>
          </p:txBody>
        </p:sp>
        <p:cxnSp>
          <p:nvCxnSpPr>
            <p:cNvPr id="50" name="AutoShape 633"/>
            <p:cNvCxnSpPr>
              <a:cxnSpLocks noChangeShapeType="1"/>
              <a:stCxn id="37" idx="3"/>
              <a:endCxn id="38" idx="1"/>
            </p:cNvCxnSpPr>
            <p:nvPr/>
          </p:nvCxnSpPr>
          <p:spPr bwMode="auto">
            <a:xfrm>
              <a:off x="166687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 name="AutoShape 634"/>
            <p:cNvCxnSpPr>
              <a:cxnSpLocks noChangeShapeType="1"/>
              <a:stCxn id="38" idx="7"/>
              <a:endCxn id="37" idx="5"/>
            </p:cNvCxnSpPr>
            <p:nvPr/>
          </p:nvCxnSpPr>
          <p:spPr bwMode="auto">
            <a:xfrm flipV="1">
              <a:off x="199072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2" name="AutoShape 635"/>
            <p:cNvCxnSpPr>
              <a:cxnSpLocks noChangeShapeType="1"/>
              <a:stCxn id="40" idx="3"/>
              <a:endCxn id="38" idx="6"/>
            </p:cNvCxnSpPr>
            <p:nvPr/>
          </p:nvCxnSpPr>
          <p:spPr bwMode="auto">
            <a:xfrm flipH="1">
              <a:off x="2072005" y="747395"/>
              <a:ext cx="1766570" cy="15386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3" name="AutoShape 636"/>
            <p:cNvCxnSpPr>
              <a:cxnSpLocks noChangeShapeType="1"/>
              <a:stCxn id="39" idx="0"/>
              <a:endCxn id="40" idx="4"/>
            </p:cNvCxnSpPr>
            <p:nvPr/>
          </p:nvCxnSpPr>
          <p:spPr bwMode="auto">
            <a:xfrm flipV="1">
              <a:off x="4000500" y="814705"/>
              <a:ext cx="635" cy="12287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4" name="Oval 637"/>
            <p:cNvSpPr>
              <a:spLocks noChangeArrowheads="1"/>
            </p:cNvSpPr>
            <p:nvPr/>
          </p:nvSpPr>
          <p:spPr bwMode="auto">
            <a:xfrm>
              <a:off x="4572000" y="1143000"/>
              <a:ext cx="457200" cy="457835"/>
            </a:xfrm>
            <a:prstGeom prst="ellipse">
              <a:avLst/>
            </a:prstGeom>
            <a:solidFill>
              <a:srgbClr val="FF00FF"/>
            </a:solidFill>
            <a:ln w="28575">
              <a:solidFill>
                <a:srgbClr val="000000"/>
              </a:solidFill>
              <a:round/>
              <a:headEnd/>
              <a:tailEnd/>
            </a:ln>
          </p:spPr>
          <p:txBody>
            <a:bodyPr rot="0" vert="horz" wrap="square" lIns="91440" tIns="45720" rIns="91440" bIns="45720" anchor="t" anchorCtr="0" upright="1">
              <a:noAutofit/>
            </a:bodyPr>
            <a:lstStyle/>
            <a:p>
              <a:pPr algn="ctr">
                <a:defRPr/>
              </a:pPr>
              <a:r>
                <a:rPr lang="ru-RU" b="1" kern="0">
                  <a:solidFill>
                    <a:sysClr val="windowText" lastClr="000000"/>
                  </a:solidFill>
                  <a:latin typeface="Times New Roman"/>
                  <a:ea typeface="Times New Roman"/>
                </a:rPr>
                <a:t>5</a:t>
              </a:r>
              <a:endParaRPr lang="be-BY" sz="1400" kern="0">
                <a:solidFill>
                  <a:sysClr val="windowText" lastClr="000000"/>
                </a:solidFill>
                <a:latin typeface="Times New Roman"/>
                <a:ea typeface="Times New Roman"/>
              </a:endParaRPr>
            </a:p>
          </p:txBody>
        </p:sp>
        <p:cxnSp>
          <p:nvCxnSpPr>
            <p:cNvPr id="55" name="AutoShape 638"/>
            <p:cNvCxnSpPr>
              <a:cxnSpLocks noChangeShapeType="1"/>
              <a:stCxn id="40" idx="5"/>
              <a:endCxn id="54" idx="1"/>
            </p:cNvCxnSpPr>
            <p:nvPr/>
          </p:nvCxnSpPr>
          <p:spPr bwMode="auto">
            <a:xfrm>
              <a:off x="4162425" y="747395"/>
              <a:ext cx="476250" cy="4489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 name="AutoShape 639"/>
            <p:cNvCxnSpPr>
              <a:cxnSpLocks noChangeShapeType="1"/>
              <a:stCxn id="39" idx="7"/>
              <a:endCxn id="54" idx="3"/>
            </p:cNvCxnSpPr>
            <p:nvPr/>
          </p:nvCxnSpPr>
          <p:spPr bwMode="auto">
            <a:xfrm flipV="1">
              <a:off x="4162425" y="1547495"/>
              <a:ext cx="476250" cy="5632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7" name="Text Box 640"/>
            <p:cNvSpPr txBox="1">
              <a:spLocks noChangeArrowheads="1"/>
            </p:cNvSpPr>
            <p:nvPr/>
          </p:nvSpPr>
          <p:spPr bwMode="auto">
            <a:xfrm>
              <a:off x="2781300" y="12573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9</a:t>
              </a:r>
              <a:endParaRPr lang="be-BY" sz="1400" kern="0">
                <a:solidFill>
                  <a:sysClr val="windowText" lastClr="000000"/>
                </a:solidFill>
                <a:latin typeface="Times New Roman"/>
                <a:ea typeface="Times New Roman"/>
              </a:endParaRPr>
            </a:p>
          </p:txBody>
        </p:sp>
        <p:sp>
          <p:nvSpPr>
            <p:cNvPr id="58" name="Text Box 641"/>
            <p:cNvSpPr txBox="1">
              <a:spLocks noChangeArrowheads="1"/>
            </p:cNvSpPr>
            <p:nvPr/>
          </p:nvSpPr>
          <p:spPr bwMode="auto">
            <a:xfrm>
              <a:off x="1828800" y="1485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4</a:t>
              </a:r>
              <a:endParaRPr lang="be-BY" sz="1400" kern="0">
                <a:solidFill>
                  <a:sysClr val="windowText" lastClr="000000"/>
                </a:solidFill>
                <a:latin typeface="Times New Roman"/>
                <a:ea typeface="Times New Roman"/>
              </a:endParaRPr>
            </a:p>
          </p:txBody>
        </p:sp>
        <p:sp>
          <p:nvSpPr>
            <p:cNvPr id="59" name="Text Box 642"/>
            <p:cNvSpPr txBox="1">
              <a:spLocks noChangeArrowheads="1"/>
            </p:cNvSpPr>
            <p:nvPr/>
          </p:nvSpPr>
          <p:spPr bwMode="auto">
            <a:xfrm>
              <a:off x="1371600" y="914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10</a:t>
              </a:r>
              <a:endParaRPr lang="be-BY" sz="1400" kern="0">
                <a:solidFill>
                  <a:sysClr val="windowText" lastClr="000000"/>
                </a:solidFill>
                <a:latin typeface="Times New Roman"/>
                <a:ea typeface="Times New Roman"/>
              </a:endParaRPr>
            </a:p>
          </p:txBody>
        </p:sp>
        <p:sp>
          <p:nvSpPr>
            <p:cNvPr id="60" name="Text Box 643"/>
            <p:cNvSpPr txBox="1">
              <a:spLocks noChangeArrowheads="1"/>
            </p:cNvSpPr>
            <p:nvPr/>
          </p:nvSpPr>
          <p:spPr bwMode="auto">
            <a:xfrm>
              <a:off x="43434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4</a:t>
              </a:r>
              <a:endParaRPr lang="be-BY" sz="1400" kern="0">
                <a:solidFill>
                  <a:sysClr val="windowText" lastClr="000000"/>
                </a:solidFill>
                <a:latin typeface="Times New Roman"/>
                <a:ea typeface="Times New Roman"/>
              </a:endParaRPr>
            </a:p>
          </p:txBody>
        </p:sp>
        <p:sp>
          <p:nvSpPr>
            <p:cNvPr id="61" name="Text Box 644"/>
            <p:cNvSpPr txBox="1">
              <a:spLocks noChangeArrowheads="1"/>
            </p:cNvSpPr>
            <p:nvPr/>
          </p:nvSpPr>
          <p:spPr bwMode="auto">
            <a:xfrm>
              <a:off x="3771900" y="1485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7</a:t>
              </a:r>
              <a:endParaRPr lang="be-BY" sz="1400" kern="0">
                <a:solidFill>
                  <a:sysClr val="windowText" lastClr="000000"/>
                </a:solidFill>
                <a:latin typeface="Times New Roman"/>
                <a:ea typeface="Times New Roman"/>
              </a:endParaRPr>
            </a:p>
          </p:txBody>
        </p:sp>
        <p:sp>
          <p:nvSpPr>
            <p:cNvPr id="62" name="Text Box 645"/>
            <p:cNvSpPr txBox="1">
              <a:spLocks noChangeArrowheads="1"/>
            </p:cNvSpPr>
            <p:nvPr/>
          </p:nvSpPr>
          <p:spPr bwMode="auto">
            <a:xfrm>
              <a:off x="43434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ru-RU" sz="1400" kern="0">
                  <a:solidFill>
                    <a:sysClr val="windowText" lastClr="000000"/>
                  </a:solidFill>
                  <a:latin typeface="Times New Roman"/>
                  <a:ea typeface="Times New Roman"/>
                </a:rPr>
                <a:t>20</a:t>
              </a:r>
              <a:endParaRPr lang="be-BY" sz="1400" kern="0">
                <a:solidFill>
                  <a:sysClr val="windowText" lastClr="000000"/>
                </a:solidFill>
                <a:latin typeface="Times New Roman"/>
                <a:ea typeface="Times New Roman"/>
              </a:endParaRPr>
            </a:p>
          </p:txBody>
        </p:sp>
        <p:sp>
          <p:nvSpPr>
            <p:cNvPr id="63" name="Text Box 646"/>
            <p:cNvSpPr txBox="1">
              <a:spLocks noChangeArrowheads="1"/>
            </p:cNvSpPr>
            <p:nvPr/>
          </p:nvSpPr>
          <p:spPr bwMode="auto">
            <a:xfrm>
              <a:off x="800100" y="2743200"/>
              <a:ext cx="457200" cy="34290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defRPr/>
              </a:pPr>
              <a:r>
                <a:rPr lang="en-US" sz="1600" b="1" kern="0">
                  <a:solidFill>
                    <a:sysClr val="windowText" lastClr="000000"/>
                  </a:solidFill>
                  <a:latin typeface="Times New Roman"/>
                  <a:ea typeface="Times New Roman"/>
                </a:rPr>
                <a:t>26</a:t>
              </a:r>
              <a:endParaRPr lang="be-BY" sz="1400" kern="0">
                <a:solidFill>
                  <a:sysClr val="windowText" lastClr="000000"/>
                </a:solidFill>
                <a:latin typeface="Times New Roman"/>
                <a:ea typeface="Times New Roman"/>
              </a:endParaRPr>
            </a:p>
          </p:txBody>
        </p:sp>
        <p:sp>
          <p:nvSpPr>
            <p:cNvPr id="64" name="Text Box 647"/>
            <p:cNvSpPr txBox="1">
              <a:spLocks noChangeArrowheads="1"/>
            </p:cNvSpPr>
            <p:nvPr/>
          </p:nvSpPr>
          <p:spPr bwMode="auto">
            <a:xfrm>
              <a:off x="2171700" y="2693035"/>
              <a:ext cx="1028700" cy="39306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defRPr/>
              </a:pPr>
              <a:r>
                <a:rPr lang="en-US" sz="1400" kern="0">
                  <a:solidFill>
                    <a:sysClr val="windowText" lastClr="000000"/>
                  </a:solidFill>
                  <a:latin typeface="Times New Roman"/>
                  <a:ea typeface="Times New Roman"/>
                </a:rPr>
                <a:t>{0,1,4}</a:t>
              </a:r>
              <a:endParaRPr lang="be-BY" sz="1400" kern="0">
                <a:solidFill>
                  <a:sysClr val="windowText" lastClr="000000"/>
                </a:solidFill>
                <a:latin typeface="Times New Roman"/>
                <a:ea typeface="Times New Roman"/>
              </a:endParaRPr>
            </a:p>
          </p:txBody>
        </p:sp>
        <p:sp>
          <p:nvSpPr>
            <p:cNvPr id="65" name="Freeform 649"/>
            <p:cNvSpPr>
              <a:spLocks/>
            </p:cNvSpPr>
            <p:nvPr/>
          </p:nvSpPr>
          <p:spPr bwMode="auto">
            <a:xfrm>
              <a:off x="2063115" y="161290"/>
              <a:ext cx="373380" cy="2579370"/>
            </a:xfrm>
            <a:custGeom>
              <a:avLst/>
              <a:gdLst>
                <a:gd name="T0" fmla="*/ 87 w 588"/>
                <a:gd name="T1" fmla="*/ 0 h 4062"/>
                <a:gd name="T2" fmla="*/ 252 w 588"/>
                <a:gd name="T3" fmla="*/ 390 h 4062"/>
                <a:gd name="T4" fmla="*/ 297 w 588"/>
                <a:gd name="T5" fmla="*/ 540 h 4062"/>
                <a:gd name="T6" fmla="*/ 402 w 588"/>
                <a:gd name="T7" fmla="*/ 765 h 4062"/>
                <a:gd name="T8" fmla="*/ 462 w 588"/>
                <a:gd name="T9" fmla="*/ 1020 h 4062"/>
                <a:gd name="T10" fmla="*/ 522 w 588"/>
                <a:gd name="T11" fmla="*/ 1575 h 4062"/>
                <a:gd name="T12" fmla="*/ 552 w 588"/>
                <a:gd name="T13" fmla="*/ 1725 h 4062"/>
                <a:gd name="T14" fmla="*/ 582 w 588"/>
                <a:gd name="T15" fmla="*/ 1875 h 4062"/>
                <a:gd name="T16" fmla="*/ 492 w 588"/>
                <a:gd name="T17" fmla="*/ 2805 h 4062"/>
                <a:gd name="T18" fmla="*/ 417 w 588"/>
                <a:gd name="T19" fmla="*/ 3390 h 4062"/>
                <a:gd name="T20" fmla="*/ 387 w 588"/>
                <a:gd name="T21" fmla="*/ 3525 h 4062"/>
                <a:gd name="T22" fmla="*/ 222 w 588"/>
                <a:gd name="T23" fmla="*/ 3765 h 4062"/>
                <a:gd name="T24" fmla="*/ 192 w 588"/>
                <a:gd name="T25" fmla="*/ 3840 h 4062"/>
                <a:gd name="T26" fmla="*/ 147 w 588"/>
                <a:gd name="T27" fmla="*/ 3885 h 4062"/>
                <a:gd name="T28" fmla="*/ 72 w 588"/>
                <a:gd name="T29" fmla="*/ 3990 h 4062"/>
                <a:gd name="T30" fmla="*/ 12 w 588"/>
                <a:gd name="T31" fmla="*/ 4050 h 4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8" h="4062">
                  <a:moveTo>
                    <a:pt x="87" y="0"/>
                  </a:moveTo>
                  <a:cubicBezTo>
                    <a:pt x="122" y="141"/>
                    <a:pt x="187" y="261"/>
                    <a:pt x="252" y="390"/>
                  </a:cubicBezTo>
                  <a:cubicBezTo>
                    <a:pt x="275" y="437"/>
                    <a:pt x="278" y="492"/>
                    <a:pt x="297" y="540"/>
                  </a:cubicBezTo>
                  <a:cubicBezTo>
                    <a:pt x="327" y="616"/>
                    <a:pt x="375" y="688"/>
                    <a:pt x="402" y="765"/>
                  </a:cubicBezTo>
                  <a:cubicBezTo>
                    <a:pt x="430" y="844"/>
                    <a:pt x="445" y="937"/>
                    <a:pt x="462" y="1020"/>
                  </a:cubicBezTo>
                  <a:cubicBezTo>
                    <a:pt x="475" y="1207"/>
                    <a:pt x="488" y="1390"/>
                    <a:pt x="522" y="1575"/>
                  </a:cubicBezTo>
                  <a:cubicBezTo>
                    <a:pt x="578" y="1882"/>
                    <a:pt x="504" y="1502"/>
                    <a:pt x="552" y="1725"/>
                  </a:cubicBezTo>
                  <a:cubicBezTo>
                    <a:pt x="563" y="1775"/>
                    <a:pt x="582" y="1875"/>
                    <a:pt x="582" y="1875"/>
                  </a:cubicBezTo>
                  <a:cubicBezTo>
                    <a:pt x="567" y="2518"/>
                    <a:pt x="588" y="2374"/>
                    <a:pt x="492" y="2805"/>
                  </a:cubicBezTo>
                  <a:cubicBezTo>
                    <a:pt x="478" y="3001"/>
                    <a:pt x="460" y="3198"/>
                    <a:pt x="417" y="3390"/>
                  </a:cubicBezTo>
                  <a:cubicBezTo>
                    <a:pt x="415" y="3399"/>
                    <a:pt x="394" y="3510"/>
                    <a:pt x="387" y="3525"/>
                  </a:cubicBezTo>
                  <a:cubicBezTo>
                    <a:pt x="339" y="3620"/>
                    <a:pt x="274" y="3678"/>
                    <a:pt x="222" y="3765"/>
                  </a:cubicBezTo>
                  <a:cubicBezTo>
                    <a:pt x="208" y="3788"/>
                    <a:pt x="206" y="3817"/>
                    <a:pt x="192" y="3840"/>
                  </a:cubicBezTo>
                  <a:cubicBezTo>
                    <a:pt x="181" y="3858"/>
                    <a:pt x="161" y="3869"/>
                    <a:pt x="147" y="3885"/>
                  </a:cubicBezTo>
                  <a:cubicBezTo>
                    <a:pt x="119" y="3918"/>
                    <a:pt x="102" y="3960"/>
                    <a:pt x="72" y="3990"/>
                  </a:cubicBezTo>
                  <a:cubicBezTo>
                    <a:pt x="0" y="4062"/>
                    <a:pt x="46" y="3981"/>
                    <a:pt x="12" y="4050"/>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a:defRPr/>
              </a:pPr>
              <a:endParaRPr lang="be-BY" kern="0">
                <a:solidFill>
                  <a:sysClr val="windowText" lastClr="000000"/>
                </a:solidFill>
              </a:endParaRPr>
            </a:p>
          </p:txBody>
        </p:sp>
      </p:grpSp>
      <p:sp>
        <p:nvSpPr>
          <p:cNvPr id="66" name="Овал 65"/>
          <p:cNvSpPr/>
          <p:nvPr/>
        </p:nvSpPr>
        <p:spPr>
          <a:xfrm>
            <a:off x="252147" y="1361629"/>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67" name="Овал 66"/>
          <p:cNvSpPr/>
          <p:nvPr/>
        </p:nvSpPr>
        <p:spPr>
          <a:xfrm>
            <a:off x="2356444" y="19718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8" name="Овал 67"/>
          <p:cNvSpPr/>
          <p:nvPr/>
        </p:nvSpPr>
        <p:spPr>
          <a:xfrm>
            <a:off x="7288516" y="1361629"/>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69" name="Овал 68"/>
          <p:cNvSpPr/>
          <p:nvPr/>
        </p:nvSpPr>
        <p:spPr>
          <a:xfrm>
            <a:off x="5412258" y="20044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70" name="Овал 69"/>
          <p:cNvSpPr/>
          <p:nvPr/>
        </p:nvSpPr>
        <p:spPr>
          <a:xfrm>
            <a:off x="2352793" y="260874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71" name="Овал 70"/>
          <p:cNvSpPr/>
          <p:nvPr/>
        </p:nvSpPr>
        <p:spPr>
          <a:xfrm>
            <a:off x="5412258" y="260874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72" name="Прямая со стрелкой 71"/>
          <p:cNvCxnSpPr>
            <a:stCxn id="66" idx="7"/>
            <a:endCxn id="67" idx="2"/>
          </p:cNvCxnSpPr>
          <p:nvPr/>
        </p:nvCxnSpPr>
        <p:spPr>
          <a:xfrm flipV="1">
            <a:off x="866774" y="557224"/>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a:stCxn id="66" idx="5"/>
            <a:endCxn id="70" idx="2"/>
          </p:cNvCxnSpPr>
          <p:nvPr/>
        </p:nvCxnSpPr>
        <p:spPr>
          <a:xfrm>
            <a:off x="866774" y="1976256"/>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a:stCxn id="67" idx="3"/>
            <a:endCxn id="70" idx="1"/>
          </p:cNvCxnSpPr>
          <p:nvPr/>
        </p:nvCxnSpPr>
        <p:spPr>
          <a:xfrm flipH="1">
            <a:off x="2458246" y="81181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a:stCxn id="70" idx="7"/>
            <a:endCxn id="67" idx="5"/>
          </p:cNvCxnSpPr>
          <p:nvPr/>
        </p:nvCxnSpPr>
        <p:spPr>
          <a:xfrm flipV="1">
            <a:off x="2967420" y="81181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p:cNvCxnSpPr>
            <a:stCxn id="67" idx="6"/>
            <a:endCxn id="69" idx="2"/>
          </p:cNvCxnSpPr>
          <p:nvPr/>
        </p:nvCxnSpPr>
        <p:spPr>
          <a:xfrm>
            <a:off x="3076524" y="557224"/>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a:stCxn id="71" idx="0"/>
            <a:endCxn id="69" idx="4"/>
          </p:cNvCxnSpPr>
          <p:nvPr/>
        </p:nvCxnSpPr>
        <p:spPr>
          <a:xfrm flipV="1">
            <a:off x="5772298" y="920522"/>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Прямая со стрелкой 77"/>
          <p:cNvCxnSpPr>
            <a:stCxn id="70" idx="6"/>
            <a:endCxn id="71" idx="2"/>
          </p:cNvCxnSpPr>
          <p:nvPr/>
        </p:nvCxnSpPr>
        <p:spPr>
          <a:xfrm>
            <a:off x="3072873" y="2968783"/>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Прямая со стрелкой 78"/>
          <p:cNvCxnSpPr>
            <a:stCxn id="69" idx="3"/>
            <a:endCxn id="70" idx="7"/>
          </p:cNvCxnSpPr>
          <p:nvPr/>
        </p:nvCxnSpPr>
        <p:spPr>
          <a:xfrm flipH="1">
            <a:off x="2967420" y="815069"/>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Прямая со стрелкой 79"/>
          <p:cNvCxnSpPr>
            <a:stCxn id="69" idx="6"/>
            <a:endCxn id="68" idx="1"/>
          </p:cNvCxnSpPr>
          <p:nvPr/>
        </p:nvCxnSpPr>
        <p:spPr>
          <a:xfrm>
            <a:off x="6132338" y="560482"/>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Прямая со стрелкой 80"/>
          <p:cNvCxnSpPr>
            <a:stCxn id="71" idx="6"/>
            <a:endCxn id="68" idx="3"/>
          </p:cNvCxnSpPr>
          <p:nvPr/>
        </p:nvCxnSpPr>
        <p:spPr>
          <a:xfrm flipV="1">
            <a:off x="6132338" y="1976256"/>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281450" y="750543"/>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83" name="TextBox 82"/>
          <p:cNvSpPr txBox="1"/>
          <p:nvPr/>
        </p:nvSpPr>
        <p:spPr>
          <a:xfrm>
            <a:off x="1281578" y="2190976"/>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84" name="TextBox 83"/>
          <p:cNvSpPr txBox="1"/>
          <p:nvPr/>
        </p:nvSpPr>
        <p:spPr>
          <a:xfrm>
            <a:off x="2200069" y="1143816"/>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85" name="TextBox 84"/>
          <p:cNvSpPr txBox="1"/>
          <p:nvPr/>
        </p:nvSpPr>
        <p:spPr>
          <a:xfrm>
            <a:off x="2739993" y="169662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6" name="TextBox 85"/>
          <p:cNvSpPr txBox="1"/>
          <p:nvPr/>
        </p:nvSpPr>
        <p:spPr>
          <a:xfrm>
            <a:off x="4553037" y="273165"/>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87" name="TextBox 86"/>
          <p:cNvSpPr txBox="1"/>
          <p:nvPr/>
        </p:nvSpPr>
        <p:spPr>
          <a:xfrm>
            <a:off x="4307775" y="117340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88" name="TextBox 87"/>
          <p:cNvSpPr txBox="1"/>
          <p:nvPr/>
        </p:nvSpPr>
        <p:spPr>
          <a:xfrm>
            <a:off x="4540432" y="260945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89" name="TextBox 88"/>
          <p:cNvSpPr txBox="1"/>
          <p:nvPr/>
        </p:nvSpPr>
        <p:spPr>
          <a:xfrm>
            <a:off x="5510470" y="1601945"/>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90" name="TextBox 89"/>
          <p:cNvSpPr txBox="1"/>
          <p:nvPr/>
        </p:nvSpPr>
        <p:spPr>
          <a:xfrm>
            <a:off x="6435006" y="645626"/>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91" name="TextBox 90"/>
          <p:cNvSpPr txBox="1"/>
          <p:nvPr/>
        </p:nvSpPr>
        <p:spPr>
          <a:xfrm>
            <a:off x="6532214" y="2255587"/>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92" name="Полилиния 91"/>
          <p:cNvSpPr/>
          <p:nvPr/>
        </p:nvSpPr>
        <p:spPr>
          <a:xfrm>
            <a:off x="635000" y="855352"/>
            <a:ext cx="3200400" cy="2810436"/>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Lst>
            <a:ahLst/>
            <a:cxnLst>
              <a:cxn ang="0">
                <a:pos x="connsiteX0" y="connsiteY0"/>
              </a:cxn>
              <a:cxn ang="0">
                <a:pos x="connsiteX1" y="connsiteY1"/>
              </a:cxn>
            </a:cxnLst>
            <a:rect l="l" t="t" r="r" b="b"/>
            <a:pathLst>
              <a:path w="3200400" h="2810436">
                <a:moveTo>
                  <a:pt x="0" y="0"/>
                </a:moveTo>
                <a:cubicBezTo>
                  <a:pt x="1264024" y="636495"/>
                  <a:pt x="2850776" y="2039471"/>
                  <a:pt x="3200400" y="2810436"/>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1202206" y="2976615"/>
            <a:ext cx="815154" cy="769441"/>
          </a:xfrm>
          <a:prstGeom prst="rect">
            <a:avLst/>
          </a:prstGeom>
          <a:solidFill>
            <a:schemeClr val="bg1"/>
          </a:solidFill>
        </p:spPr>
        <p:txBody>
          <a:bodyPr wrap="square" rtlCol="0">
            <a:spAutoFit/>
          </a:bodyPr>
          <a:lstStyle/>
          <a:p>
            <a:pPr algn="ctr"/>
            <a:r>
              <a:rPr lang="ru-RU" sz="4400" dirty="0">
                <a:solidFill>
                  <a:srgbClr val="C00000"/>
                </a:solidFill>
              </a:rPr>
              <a:t>34</a:t>
            </a:r>
            <a:endParaRPr lang="ru-RU" sz="3200" dirty="0">
              <a:solidFill>
                <a:srgbClr val="C00000"/>
              </a:solidFill>
            </a:endParaRPr>
          </a:p>
        </p:txBody>
      </p:sp>
      <p:sp>
        <p:nvSpPr>
          <p:cNvPr id="94" name="Овал 93"/>
          <p:cNvSpPr/>
          <p:nvPr/>
        </p:nvSpPr>
        <p:spPr>
          <a:xfrm>
            <a:off x="4087007" y="4499370"/>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95" name="Овал 94"/>
          <p:cNvSpPr/>
          <p:nvPr/>
        </p:nvSpPr>
        <p:spPr>
          <a:xfrm>
            <a:off x="6191304" y="333492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96" name="Овал 95"/>
          <p:cNvSpPr/>
          <p:nvPr/>
        </p:nvSpPr>
        <p:spPr>
          <a:xfrm>
            <a:off x="11123376" y="4499370"/>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97" name="Овал 96"/>
          <p:cNvSpPr/>
          <p:nvPr/>
        </p:nvSpPr>
        <p:spPr>
          <a:xfrm>
            <a:off x="9247118" y="333818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98" name="Овал 97"/>
          <p:cNvSpPr/>
          <p:nvPr/>
        </p:nvSpPr>
        <p:spPr>
          <a:xfrm>
            <a:off x="6187653" y="574648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9" name="Овал 98"/>
          <p:cNvSpPr/>
          <p:nvPr/>
        </p:nvSpPr>
        <p:spPr>
          <a:xfrm>
            <a:off x="9247118" y="574648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00" name="Прямая со стрелкой 99"/>
          <p:cNvCxnSpPr>
            <a:stCxn id="94" idx="7"/>
            <a:endCxn id="95" idx="2"/>
          </p:cNvCxnSpPr>
          <p:nvPr/>
        </p:nvCxnSpPr>
        <p:spPr>
          <a:xfrm flipV="1">
            <a:off x="4701634" y="3694965"/>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Прямая со стрелкой 100"/>
          <p:cNvCxnSpPr>
            <a:stCxn id="94" idx="5"/>
            <a:endCxn id="98" idx="2"/>
          </p:cNvCxnSpPr>
          <p:nvPr/>
        </p:nvCxnSpPr>
        <p:spPr>
          <a:xfrm>
            <a:off x="4701634" y="5113997"/>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Прямая со стрелкой 101"/>
          <p:cNvCxnSpPr>
            <a:stCxn id="95" idx="3"/>
            <a:endCxn id="98" idx="1"/>
          </p:cNvCxnSpPr>
          <p:nvPr/>
        </p:nvCxnSpPr>
        <p:spPr>
          <a:xfrm flipH="1">
            <a:off x="6293106" y="394955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Прямая со стрелкой 102"/>
          <p:cNvCxnSpPr>
            <a:stCxn id="98" idx="7"/>
            <a:endCxn id="95" idx="5"/>
          </p:cNvCxnSpPr>
          <p:nvPr/>
        </p:nvCxnSpPr>
        <p:spPr>
          <a:xfrm flipV="1">
            <a:off x="6802280" y="394955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Прямая со стрелкой 103"/>
          <p:cNvCxnSpPr>
            <a:stCxn id="95" idx="6"/>
            <a:endCxn id="97" idx="2"/>
          </p:cNvCxnSpPr>
          <p:nvPr/>
        </p:nvCxnSpPr>
        <p:spPr>
          <a:xfrm>
            <a:off x="6911384" y="3694965"/>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p:cNvCxnSpPr>
            <a:stCxn id="99" idx="0"/>
            <a:endCxn id="97" idx="4"/>
          </p:cNvCxnSpPr>
          <p:nvPr/>
        </p:nvCxnSpPr>
        <p:spPr>
          <a:xfrm flipV="1">
            <a:off x="9607158" y="4058263"/>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Прямая со стрелкой 105"/>
          <p:cNvCxnSpPr>
            <a:stCxn id="98" idx="6"/>
            <a:endCxn id="99" idx="2"/>
          </p:cNvCxnSpPr>
          <p:nvPr/>
        </p:nvCxnSpPr>
        <p:spPr>
          <a:xfrm>
            <a:off x="6907733" y="6106524"/>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Прямая со стрелкой 106"/>
          <p:cNvCxnSpPr>
            <a:stCxn id="97" idx="3"/>
            <a:endCxn id="98" idx="7"/>
          </p:cNvCxnSpPr>
          <p:nvPr/>
        </p:nvCxnSpPr>
        <p:spPr>
          <a:xfrm flipH="1">
            <a:off x="6802280" y="3952810"/>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Прямая со стрелкой 107"/>
          <p:cNvCxnSpPr>
            <a:stCxn id="97" idx="6"/>
            <a:endCxn id="96" idx="1"/>
          </p:cNvCxnSpPr>
          <p:nvPr/>
        </p:nvCxnSpPr>
        <p:spPr>
          <a:xfrm>
            <a:off x="9967198" y="3698223"/>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Прямая со стрелкой 108"/>
          <p:cNvCxnSpPr>
            <a:stCxn id="99" idx="6"/>
            <a:endCxn id="96" idx="3"/>
          </p:cNvCxnSpPr>
          <p:nvPr/>
        </p:nvCxnSpPr>
        <p:spPr>
          <a:xfrm flipV="1">
            <a:off x="9967198" y="5113997"/>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5116310" y="3888284"/>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111" name="TextBox 110"/>
          <p:cNvSpPr txBox="1"/>
          <p:nvPr/>
        </p:nvSpPr>
        <p:spPr>
          <a:xfrm>
            <a:off x="5116438" y="5328717"/>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112" name="TextBox 111"/>
          <p:cNvSpPr txBox="1"/>
          <p:nvPr/>
        </p:nvSpPr>
        <p:spPr>
          <a:xfrm>
            <a:off x="6034929" y="4281557"/>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113" name="TextBox 112"/>
          <p:cNvSpPr txBox="1"/>
          <p:nvPr/>
        </p:nvSpPr>
        <p:spPr>
          <a:xfrm>
            <a:off x="6574853" y="4834361"/>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14" name="TextBox 113"/>
          <p:cNvSpPr txBox="1"/>
          <p:nvPr/>
        </p:nvSpPr>
        <p:spPr>
          <a:xfrm>
            <a:off x="8387897" y="3410906"/>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115" name="TextBox 114"/>
          <p:cNvSpPr txBox="1"/>
          <p:nvPr/>
        </p:nvSpPr>
        <p:spPr>
          <a:xfrm>
            <a:off x="8142635" y="431114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116" name="TextBox 115"/>
          <p:cNvSpPr txBox="1"/>
          <p:nvPr/>
        </p:nvSpPr>
        <p:spPr>
          <a:xfrm>
            <a:off x="8375292" y="5747192"/>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117" name="TextBox 116"/>
          <p:cNvSpPr txBox="1"/>
          <p:nvPr/>
        </p:nvSpPr>
        <p:spPr>
          <a:xfrm>
            <a:off x="9345330" y="4739686"/>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118" name="TextBox 117"/>
          <p:cNvSpPr txBox="1"/>
          <p:nvPr/>
        </p:nvSpPr>
        <p:spPr>
          <a:xfrm>
            <a:off x="10269866" y="3783367"/>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119" name="TextBox 118"/>
          <p:cNvSpPr txBox="1"/>
          <p:nvPr/>
        </p:nvSpPr>
        <p:spPr>
          <a:xfrm>
            <a:off x="10367074" y="539332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120" name="Полилиния 119"/>
          <p:cNvSpPr/>
          <p:nvPr/>
        </p:nvSpPr>
        <p:spPr>
          <a:xfrm>
            <a:off x="7204954" y="3196748"/>
            <a:ext cx="465305" cy="3606781"/>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Lst>
            <a:ahLst/>
            <a:cxnLst>
              <a:cxn ang="0">
                <a:pos x="connsiteX0" y="connsiteY0"/>
              </a:cxn>
              <a:cxn ang="0">
                <a:pos x="connsiteX1" y="connsiteY1"/>
              </a:cxn>
            </a:cxnLst>
            <a:rect l="l" t="t" r="r" b="b"/>
            <a:pathLst>
              <a:path w="3200400" h="2810436">
                <a:moveTo>
                  <a:pt x="0" y="0"/>
                </a:moveTo>
                <a:cubicBezTo>
                  <a:pt x="1264024" y="636495"/>
                  <a:pt x="2850776" y="2039471"/>
                  <a:pt x="3200400" y="2810436"/>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1" name="TextBox 120"/>
          <p:cNvSpPr txBox="1"/>
          <p:nvPr/>
        </p:nvSpPr>
        <p:spPr>
          <a:xfrm>
            <a:off x="4807087" y="5873878"/>
            <a:ext cx="815154" cy="769441"/>
          </a:xfrm>
          <a:prstGeom prst="rect">
            <a:avLst/>
          </a:prstGeom>
          <a:solidFill>
            <a:schemeClr val="bg1"/>
          </a:solidFill>
        </p:spPr>
        <p:txBody>
          <a:bodyPr wrap="square" rtlCol="0">
            <a:spAutoFit/>
          </a:bodyPr>
          <a:lstStyle/>
          <a:p>
            <a:pPr algn="ctr"/>
            <a:r>
              <a:rPr lang="ru-RU" sz="4400" dirty="0">
                <a:solidFill>
                  <a:srgbClr val="C00000"/>
                </a:solidFill>
              </a:rPr>
              <a:t>26</a:t>
            </a:r>
            <a:endParaRPr lang="ru-RU" sz="3200" dirty="0">
              <a:solidFill>
                <a:srgbClr val="C00000"/>
              </a:solidFill>
            </a:endParaRPr>
          </a:p>
        </p:txBody>
      </p:sp>
      <p:sp>
        <p:nvSpPr>
          <p:cNvPr id="122" name="TextBox 121">
            <a:extLst>
              <a:ext uri="{FF2B5EF4-FFF2-40B4-BE49-F238E27FC236}">
                <a16:creationId xmlns:a16="http://schemas.microsoft.com/office/drawing/2014/main" id="{A31B2E93-0D4C-4C02-A55B-3A94B648263F}"/>
              </a:ext>
            </a:extLst>
          </p:cNvPr>
          <p:cNvSpPr txBox="1"/>
          <p:nvPr/>
        </p:nvSpPr>
        <p:spPr>
          <a:xfrm>
            <a:off x="8574905" y="713947"/>
            <a:ext cx="3425751" cy="369332"/>
          </a:xfrm>
          <a:prstGeom prst="rect">
            <a:avLst/>
          </a:prstGeom>
          <a:noFill/>
        </p:spPr>
        <p:txBody>
          <a:bodyPr wrap="square" rtlCol="0">
            <a:spAutoFit/>
          </a:bodyPr>
          <a:lstStyle/>
          <a:p>
            <a:r>
              <a:rPr lang="en-US" dirty="0"/>
              <a:t>{</a:t>
            </a:r>
            <a:r>
              <a:rPr lang="ru-RU" dirty="0"/>
              <a:t>0,4</a:t>
            </a:r>
            <a:r>
              <a:rPr lang="en-US" dirty="0"/>
              <a:t>}</a:t>
            </a:r>
            <a:r>
              <a:rPr lang="ru-RU" dirty="0"/>
              <a:t> 16 + 4 + 14 </a:t>
            </a:r>
          </a:p>
        </p:txBody>
      </p:sp>
      <p:sp>
        <p:nvSpPr>
          <p:cNvPr id="123" name="TextBox 122">
            <a:extLst>
              <a:ext uri="{FF2B5EF4-FFF2-40B4-BE49-F238E27FC236}">
                <a16:creationId xmlns:a16="http://schemas.microsoft.com/office/drawing/2014/main" id="{137D8714-7BC2-45C1-BF24-E2A7C28EC093}"/>
              </a:ext>
            </a:extLst>
          </p:cNvPr>
          <p:cNvSpPr txBox="1"/>
          <p:nvPr/>
        </p:nvSpPr>
        <p:spPr>
          <a:xfrm>
            <a:off x="866774" y="5435932"/>
            <a:ext cx="2968626" cy="369332"/>
          </a:xfrm>
          <a:prstGeom prst="rect">
            <a:avLst/>
          </a:prstGeom>
          <a:noFill/>
        </p:spPr>
        <p:txBody>
          <a:bodyPr wrap="square" rtlCol="0">
            <a:spAutoFit/>
          </a:bodyPr>
          <a:lstStyle/>
          <a:p>
            <a:r>
              <a:rPr lang="en-US" dirty="0"/>
              <a:t>{</a:t>
            </a:r>
            <a:r>
              <a:rPr lang="ru-RU" dirty="0"/>
              <a:t>0,1,4</a:t>
            </a:r>
            <a:r>
              <a:rPr lang="en-US" dirty="0"/>
              <a:t>}</a:t>
            </a:r>
            <a:r>
              <a:rPr lang="ru-RU" dirty="0"/>
              <a:t> 12 + 14</a:t>
            </a:r>
          </a:p>
        </p:txBody>
      </p:sp>
    </p:spTree>
    <p:extLst>
      <p:ext uri="{BB962C8B-B14F-4D97-AF65-F5344CB8AC3E}">
        <p14:creationId xmlns:p14="http://schemas.microsoft.com/office/powerpoint/2010/main" val="336531346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252147" y="1412873"/>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5" name="Овал 4"/>
          <p:cNvSpPr/>
          <p:nvPr/>
        </p:nvSpPr>
        <p:spPr>
          <a:xfrm>
            <a:off x="2356444" y="24842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 name="Овал 5"/>
          <p:cNvSpPr/>
          <p:nvPr/>
        </p:nvSpPr>
        <p:spPr>
          <a:xfrm>
            <a:off x="7288516" y="1412873"/>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7" name="Овал 6"/>
          <p:cNvSpPr/>
          <p:nvPr/>
        </p:nvSpPr>
        <p:spPr>
          <a:xfrm>
            <a:off x="5412258" y="25168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8" name="Овал 7"/>
          <p:cNvSpPr/>
          <p:nvPr/>
        </p:nvSpPr>
        <p:spPr>
          <a:xfrm>
            <a:off x="2352793" y="265998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 name="Овал 8"/>
          <p:cNvSpPr/>
          <p:nvPr/>
        </p:nvSpPr>
        <p:spPr>
          <a:xfrm>
            <a:off x="5412258" y="265998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0" name="Прямая со стрелкой 9"/>
          <p:cNvCxnSpPr>
            <a:stCxn id="4" idx="7"/>
            <a:endCxn id="5" idx="2"/>
          </p:cNvCxnSpPr>
          <p:nvPr/>
        </p:nvCxnSpPr>
        <p:spPr>
          <a:xfrm flipV="1">
            <a:off x="866774" y="608468"/>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4" idx="5"/>
            <a:endCxn id="8" idx="2"/>
          </p:cNvCxnSpPr>
          <p:nvPr/>
        </p:nvCxnSpPr>
        <p:spPr>
          <a:xfrm>
            <a:off x="866774" y="2027500"/>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5" idx="3"/>
            <a:endCxn id="8" idx="1"/>
          </p:cNvCxnSpPr>
          <p:nvPr/>
        </p:nvCxnSpPr>
        <p:spPr>
          <a:xfrm flipH="1">
            <a:off x="2458246" y="863055"/>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8" idx="7"/>
            <a:endCxn id="5" idx="5"/>
          </p:cNvCxnSpPr>
          <p:nvPr/>
        </p:nvCxnSpPr>
        <p:spPr>
          <a:xfrm flipV="1">
            <a:off x="2967420" y="863055"/>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6"/>
            <a:endCxn id="7" idx="2"/>
          </p:cNvCxnSpPr>
          <p:nvPr/>
        </p:nvCxnSpPr>
        <p:spPr>
          <a:xfrm>
            <a:off x="3076524" y="608468"/>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9" idx="0"/>
            <a:endCxn id="7" idx="4"/>
          </p:cNvCxnSpPr>
          <p:nvPr/>
        </p:nvCxnSpPr>
        <p:spPr>
          <a:xfrm flipV="1">
            <a:off x="5772298" y="971766"/>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8" idx="6"/>
            <a:endCxn id="9" idx="2"/>
          </p:cNvCxnSpPr>
          <p:nvPr/>
        </p:nvCxnSpPr>
        <p:spPr>
          <a:xfrm>
            <a:off x="3072873" y="3020027"/>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a:stCxn id="7" idx="3"/>
            <a:endCxn id="8" idx="7"/>
          </p:cNvCxnSpPr>
          <p:nvPr/>
        </p:nvCxnSpPr>
        <p:spPr>
          <a:xfrm flipH="1">
            <a:off x="2967420" y="866313"/>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a:stCxn id="7" idx="6"/>
            <a:endCxn id="6" idx="1"/>
          </p:cNvCxnSpPr>
          <p:nvPr/>
        </p:nvCxnSpPr>
        <p:spPr>
          <a:xfrm>
            <a:off x="6132338" y="611726"/>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a:stCxn id="9" idx="6"/>
            <a:endCxn id="6" idx="3"/>
          </p:cNvCxnSpPr>
          <p:nvPr/>
        </p:nvCxnSpPr>
        <p:spPr>
          <a:xfrm flipV="1">
            <a:off x="6132338" y="2027500"/>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281450" y="801787"/>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21" name="TextBox 20"/>
          <p:cNvSpPr txBox="1"/>
          <p:nvPr/>
        </p:nvSpPr>
        <p:spPr>
          <a:xfrm>
            <a:off x="1281578" y="2242220"/>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22" name="TextBox 21"/>
          <p:cNvSpPr txBox="1"/>
          <p:nvPr/>
        </p:nvSpPr>
        <p:spPr>
          <a:xfrm>
            <a:off x="2200069" y="1195060"/>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23" name="TextBox 22"/>
          <p:cNvSpPr txBox="1"/>
          <p:nvPr/>
        </p:nvSpPr>
        <p:spPr>
          <a:xfrm>
            <a:off x="2739993" y="1747864"/>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24" name="TextBox 23"/>
          <p:cNvSpPr txBox="1"/>
          <p:nvPr/>
        </p:nvSpPr>
        <p:spPr>
          <a:xfrm>
            <a:off x="4553037" y="324409"/>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25" name="TextBox 24"/>
          <p:cNvSpPr txBox="1"/>
          <p:nvPr/>
        </p:nvSpPr>
        <p:spPr>
          <a:xfrm>
            <a:off x="4307775" y="1224644"/>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26" name="TextBox 25"/>
          <p:cNvSpPr txBox="1"/>
          <p:nvPr/>
        </p:nvSpPr>
        <p:spPr>
          <a:xfrm>
            <a:off x="4540432" y="2660695"/>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27" name="TextBox 26"/>
          <p:cNvSpPr txBox="1"/>
          <p:nvPr/>
        </p:nvSpPr>
        <p:spPr>
          <a:xfrm>
            <a:off x="5510470" y="1653189"/>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28" name="TextBox 27"/>
          <p:cNvSpPr txBox="1"/>
          <p:nvPr/>
        </p:nvSpPr>
        <p:spPr>
          <a:xfrm>
            <a:off x="6435006" y="696870"/>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29" name="TextBox 28"/>
          <p:cNvSpPr txBox="1"/>
          <p:nvPr/>
        </p:nvSpPr>
        <p:spPr>
          <a:xfrm>
            <a:off x="6532214" y="2306831"/>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30" name="Полилиния 29"/>
          <p:cNvSpPr/>
          <p:nvPr/>
        </p:nvSpPr>
        <p:spPr>
          <a:xfrm>
            <a:off x="635000" y="124408"/>
            <a:ext cx="5659518" cy="3592624"/>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Lst>
            <a:ahLst/>
            <a:cxnLst>
              <a:cxn ang="0">
                <a:pos x="connsiteX0" y="connsiteY0"/>
              </a:cxn>
              <a:cxn ang="0">
                <a:pos x="connsiteX1" y="connsiteY1"/>
              </a:cxn>
              <a:cxn ang="0">
                <a:pos x="connsiteX2" y="connsiteY2"/>
              </a:cxn>
            </a:cxnLst>
            <a:rect l="l" t="t" r="r" b="b"/>
            <a:pathLst>
              <a:path w="5659518" h="3592624">
                <a:moveTo>
                  <a:pt x="0" y="782188"/>
                </a:moveTo>
                <a:cubicBezTo>
                  <a:pt x="173816" y="2581364"/>
                  <a:pt x="5161678" y="-594870"/>
                  <a:pt x="5564094" y="101648"/>
                </a:cubicBezTo>
                <a:cubicBezTo>
                  <a:pt x="6266330" y="773224"/>
                  <a:pt x="2850776" y="2821659"/>
                  <a:pt x="3200400" y="3592624"/>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p:cNvSpPr txBox="1"/>
          <p:nvPr/>
        </p:nvSpPr>
        <p:spPr>
          <a:xfrm>
            <a:off x="1218993" y="2921803"/>
            <a:ext cx="815154" cy="769441"/>
          </a:xfrm>
          <a:prstGeom prst="rect">
            <a:avLst/>
          </a:prstGeom>
          <a:solidFill>
            <a:schemeClr val="bg1"/>
          </a:solidFill>
        </p:spPr>
        <p:txBody>
          <a:bodyPr wrap="square" rtlCol="0">
            <a:spAutoFit/>
          </a:bodyPr>
          <a:lstStyle/>
          <a:p>
            <a:pPr algn="ctr"/>
            <a:r>
              <a:rPr lang="ru-RU" sz="4400" dirty="0">
                <a:solidFill>
                  <a:srgbClr val="C00000"/>
                </a:solidFill>
              </a:rPr>
              <a:t>54</a:t>
            </a:r>
            <a:endParaRPr lang="ru-RU" sz="3200" dirty="0">
              <a:solidFill>
                <a:srgbClr val="C00000"/>
              </a:solidFill>
            </a:endParaRPr>
          </a:p>
        </p:txBody>
      </p:sp>
      <p:sp>
        <p:nvSpPr>
          <p:cNvPr id="32" name="Овал 31"/>
          <p:cNvSpPr/>
          <p:nvPr/>
        </p:nvSpPr>
        <p:spPr>
          <a:xfrm>
            <a:off x="3831389" y="4580660"/>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3" name="Овал 32"/>
          <p:cNvSpPr/>
          <p:nvPr/>
        </p:nvSpPr>
        <p:spPr>
          <a:xfrm>
            <a:off x="5935686" y="341621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4" name="Овал 33"/>
          <p:cNvSpPr/>
          <p:nvPr/>
        </p:nvSpPr>
        <p:spPr>
          <a:xfrm>
            <a:off x="10867758" y="4580660"/>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5" name="Овал 34"/>
          <p:cNvSpPr/>
          <p:nvPr/>
        </p:nvSpPr>
        <p:spPr>
          <a:xfrm>
            <a:off x="8991500" y="341947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6" name="Овал 35"/>
          <p:cNvSpPr/>
          <p:nvPr/>
        </p:nvSpPr>
        <p:spPr>
          <a:xfrm>
            <a:off x="5932035" y="582777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37" name="Овал 36"/>
          <p:cNvSpPr/>
          <p:nvPr/>
        </p:nvSpPr>
        <p:spPr>
          <a:xfrm>
            <a:off x="8991500" y="582777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38" name="Прямая со стрелкой 37"/>
          <p:cNvCxnSpPr>
            <a:stCxn id="32" idx="7"/>
            <a:endCxn id="33" idx="2"/>
          </p:cNvCxnSpPr>
          <p:nvPr/>
        </p:nvCxnSpPr>
        <p:spPr>
          <a:xfrm flipV="1">
            <a:off x="4446016" y="3776255"/>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Прямая со стрелкой 38"/>
          <p:cNvCxnSpPr>
            <a:stCxn id="32" idx="5"/>
            <a:endCxn id="36" idx="2"/>
          </p:cNvCxnSpPr>
          <p:nvPr/>
        </p:nvCxnSpPr>
        <p:spPr>
          <a:xfrm>
            <a:off x="4446016" y="5195287"/>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stCxn id="33" idx="3"/>
            <a:endCxn id="36" idx="1"/>
          </p:cNvCxnSpPr>
          <p:nvPr/>
        </p:nvCxnSpPr>
        <p:spPr>
          <a:xfrm flipH="1">
            <a:off x="6037488" y="403084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a:stCxn id="36" idx="7"/>
            <a:endCxn id="33" idx="5"/>
          </p:cNvCxnSpPr>
          <p:nvPr/>
        </p:nvCxnSpPr>
        <p:spPr>
          <a:xfrm flipV="1">
            <a:off x="6546662" y="4030842"/>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3" idx="6"/>
            <a:endCxn id="35" idx="2"/>
          </p:cNvCxnSpPr>
          <p:nvPr/>
        </p:nvCxnSpPr>
        <p:spPr>
          <a:xfrm>
            <a:off x="6655766" y="3776255"/>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7" idx="0"/>
            <a:endCxn id="35" idx="4"/>
          </p:cNvCxnSpPr>
          <p:nvPr/>
        </p:nvCxnSpPr>
        <p:spPr>
          <a:xfrm flipV="1">
            <a:off x="9351540" y="4139553"/>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6" idx="6"/>
            <a:endCxn id="37" idx="2"/>
          </p:cNvCxnSpPr>
          <p:nvPr/>
        </p:nvCxnSpPr>
        <p:spPr>
          <a:xfrm>
            <a:off x="6652115" y="6187814"/>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5" idx="3"/>
            <a:endCxn id="36" idx="7"/>
          </p:cNvCxnSpPr>
          <p:nvPr/>
        </p:nvCxnSpPr>
        <p:spPr>
          <a:xfrm flipH="1">
            <a:off x="6546662" y="4034100"/>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a:stCxn id="35" idx="6"/>
            <a:endCxn id="34" idx="1"/>
          </p:cNvCxnSpPr>
          <p:nvPr/>
        </p:nvCxnSpPr>
        <p:spPr>
          <a:xfrm>
            <a:off x="9711580" y="3779513"/>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stCxn id="37" idx="6"/>
            <a:endCxn id="34" idx="3"/>
          </p:cNvCxnSpPr>
          <p:nvPr/>
        </p:nvCxnSpPr>
        <p:spPr>
          <a:xfrm flipV="1">
            <a:off x="9711580" y="5195287"/>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860692" y="3969574"/>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49" name="TextBox 48"/>
          <p:cNvSpPr txBox="1"/>
          <p:nvPr/>
        </p:nvSpPr>
        <p:spPr>
          <a:xfrm>
            <a:off x="4860820" y="5410007"/>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50" name="TextBox 49"/>
          <p:cNvSpPr txBox="1"/>
          <p:nvPr/>
        </p:nvSpPr>
        <p:spPr>
          <a:xfrm>
            <a:off x="5779311" y="4362847"/>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51" name="TextBox 50"/>
          <p:cNvSpPr txBox="1"/>
          <p:nvPr/>
        </p:nvSpPr>
        <p:spPr>
          <a:xfrm>
            <a:off x="6319235" y="4915651"/>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2" name="TextBox 51"/>
          <p:cNvSpPr txBox="1"/>
          <p:nvPr/>
        </p:nvSpPr>
        <p:spPr>
          <a:xfrm>
            <a:off x="8132279" y="3492196"/>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3" name="TextBox 52"/>
          <p:cNvSpPr txBox="1"/>
          <p:nvPr/>
        </p:nvSpPr>
        <p:spPr>
          <a:xfrm>
            <a:off x="7887017" y="4392431"/>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54" name="TextBox 53"/>
          <p:cNvSpPr txBox="1"/>
          <p:nvPr/>
        </p:nvSpPr>
        <p:spPr>
          <a:xfrm>
            <a:off x="8119674" y="5828482"/>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55" name="TextBox 54"/>
          <p:cNvSpPr txBox="1"/>
          <p:nvPr/>
        </p:nvSpPr>
        <p:spPr>
          <a:xfrm>
            <a:off x="9089712" y="4820976"/>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6" name="TextBox 55"/>
          <p:cNvSpPr txBox="1"/>
          <p:nvPr/>
        </p:nvSpPr>
        <p:spPr>
          <a:xfrm>
            <a:off x="10014248" y="3864657"/>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57" name="TextBox 56"/>
          <p:cNvSpPr txBox="1"/>
          <p:nvPr/>
        </p:nvSpPr>
        <p:spPr>
          <a:xfrm>
            <a:off x="10111456" y="5474618"/>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8" name="Полилиния 57"/>
          <p:cNvSpPr/>
          <p:nvPr/>
        </p:nvSpPr>
        <p:spPr>
          <a:xfrm>
            <a:off x="4214242" y="4074383"/>
            <a:ext cx="5970494" cy="2097742"/>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 name="connsiteX0" fmla="*/ 0 w 3412146"/>
              <a:gd name="connsiteY0" fmla="*/ 0 h 2810436"/>
              <a:gd name="connsiteX1" fmla="*/ 3157070 w 3412146"/>
              <a:gd name="connsiteY1" fmla="*/ 1228942 h 2810436"/>
              <a:gd name="connsiteX2" fmla="*/ 3200400 w 3412146"/>
              <a:gd name="connsiteY2" fmla="*/ 2810436 h 2810436"/>
              <a:gd name="connsiteX0" fmla="*/ 0 w 5970494"/>
              <a:gd name="connsiteY0" fmla="*/ 0 h 2097742"/>
              <a:gd name="connsiteX1" fmla="*/ 3157070 w 5970494"/>
              <a:gd name="connsiteY1" fmla="*/ 1228942 h 2097742"/>
              <a:gd name="connsiteX2" fmla="*/ 5970494 w 5970494"/>
              <a:gd name="connsiteY2" fmla="*/ 2097742 h 2097742"/>
              <a:gd name="connsiteX0" fmla="*/ 0 w 5970494"/>
              <a:gd name="connsiteY0" fmla="*/ 0 h 2097742"/>
              <a:gd name="connsiteX1" fmla="*/ 3748741 w 5970494"/>
              <a:gd name="connsiteY1" fmla="*/ 1094472 h 2097742"/>
              <a:gd name="connsiteX2" fmla="*/ 5970494 w 5970494"/>
              <a:gd name="connsiteY2" fmla="*/ 2097742 h 2097742"/>
            </a:gdLst>
            <a:ahLst/>
            <a:cxnLst>
              <a:cxn ang="0">
                <a:pos x="connsiteX0" y="connsiteY0"/>
              </a:cxn>
              <a:cxn ang="0">
                <a:pos x="connsiteX1" y="connsiteY1"/>
              </a:cxn>
              <a:cxn ang="0">
                <a:pos x="connsiteX2" y="connsiteY2"/>
              </a:cxn>
            </a:cxnLst>
            <a:rect l="l" t="t" r="r" b="b"/>
            <a:pathLst>
              <a:path w="5970494" h="2097742">
                <a:moveTo>
                  <a:pt x="0" y="0"/>
                </a:moveTo>
                <a:cubicBezTo>
                  <a:pt x="173816" y="1799176"/>
                  <a:pt x="3346325" y="397954"/>
                  <a:pt x="3748741" y="1094472"/>
                </a:cubicBezTo>
                <a:cubicBezTo>
                  <a:pt x="4450977" y="1766048"/>
                  <a:pt x="5620870" y="1326777"/>
                  <a:pt x="5970494" y="2097742"/>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p:cNvSpPr txBox="1"/>
          <p:nvPr/>
        </p:nvSpPr>
        <p:spPr>
          <a:xfrm>
            <a:off x="4505432" y="5929090"/>
            <a:ext cx="815154" cy="769441"/>
          </a:xfrm>
          <a:prstGeom prst="rect">
            <a:avLst/>
          </a:prstGeom>
          <a:solidFill>
            <a:schemeClr val="bg1"/>
          </a:solidFill>
        </p:spPr>
        <p:txBody>
          <a:bodyPr wrap="square" rtlCol="0">
            <a:spAutoFit/>
          </a:bodyPr>
          <a:lstStyle/>
          <a:p>
            <a:pPr algn="ctr"/>
            <a:r>
              <a:rPr lang="ru-RU" sz="4400" dirty="0">
                <a:solidFill>
                  <a:srgbClr val="C00000"/>
                </a:solidFill>
              </a:rPr>
              <a:t>31</a:t>
            </a:r>
            <a:endParaRPr lang="ru-RU" sz="3200" dirty="0">
              <a:solidFill>
                <a:srgbClr val="C00000"/>
              </a:solidFill>
            </a:endParaRPr>
          </a:p>
        </p:txBody>
      </p:sp>
      <p:sp>
        <p:nvSpPr>
          <p:cNvPr id="60" name="TextBox 59">
            <a:extLst>
              <a:ext uri="{FF2B5EF4-FFF2-40B4-BE49-F238E27FC236}">
                <a16:creationId xmlns:a16="http://schemas.microsoft.com/office/drawing/2014/main" id="{3B8D2157-EEF4-4596-BB74-ADA2E06D8E3E}"/>
              </a:ext>
            </a:extLst>
          </p:cNvPr>
          <p:cNvSpPr txBox="1"/>
          <p:nvPr/>
        </p:nvSpPr>
        <p:spPr>
          <a:xfrm>
            <a:off x="8574905" y="713947"/>
            <a:ext cx="3281735" cy="369332"/>
          </a:xfrm>
          <a:prstGeom prst="rect">
            <a:avLst/>
          </a:prstGeom>
          <a:noFill/>
        </p:spPr>
        <p:txBody>
          <a:bodyPr wrap="square" rtlCol="0">
            <a:spAutoFit/>
          </a:bodyPr>
          <a:lstStyle/>
          <a:p>
            <a:r>
              <a:rPr lang="en-US" dirty="0"/>
              <a:t>{</a:t>
            </a:r>
            <a:r>
              <a:rPr lang="ru-RU" dirty="0"/>
              <a:t>0,2,4</a:t>
            </a:r>
            <a:r>
              <a:rPr lang="en-US" dirty="0"/>
              <a:t>}</a:t>
            </a:r>
            <a:r>
              <a:rPr lang="ru-RU" dirty="0"/>
              <a:t> 16 + 20 + 4 + 14 </a:t>
            </a:r>
          </a:p>
        </p:txBody>
      </p:sp>
      <p:sp>
        <p:nvSpPr>
          <p:cNvPr id="61" name="TextBox 60">
            <a:extLst>
              <a:ext uri="{FF2B5EF4-FFF2-40B4-BE49-F238E27FC236}">
                <a16:creationId xmlns:a16="http://schemas.microsoft.com/office/drawing/2014/main" id="{366372CB-90E4-40B5-B568-AE10F09D2217}"/>
              </a:ext>
            </a:extLst>
          </p:cNvPr>
          <p:cNvSpPr txBox="1"/>
          <p:nvPr/>
        </p:nvSpPr>
        <p:spPr>
          <a:xfrm>
            <a:off x="1014816" y="5888586"/>
            <a:ext cx="2726270" cy="369332"/>
          </a:xfrm>
          <a:prstGeom prst="rect">
            <a:avLst/>
          </a:prstGeom>
          <a:noFill/>
        </p:spPr>
        <p:txBody>
          <a:bodyPr wrap="square" rtlCol="0">
            <a:spAutoFit/>
          </a:bodyPr>
          <a:lstStyle/>
          <a:p>
            <a:r>
              <a:rPr lang="en-US" dirty="0"/>
              <a:t>{</a:t>
            </a:r>
            <a:r>
              <a:rPr lang="ru-RU" dirty="0"/>
              <a:t>0,3,4</a:t>
            </a:r>
            <a:r>
              <a:rPr lang="en-US" dirty="0"/>
              <a:t>}</a:t>
            </a:r>
            <a:r>
              <a:rPr lang="ru-RU" dirty="0"/>
              <a:t> 16 + 7 + 4 + 4</a:t>
            </a:r>
          </a:p>
        </p:txBody>
      </p:sp>
    </p:spTree>
    <p:extLst>
      <p:ext uri="{BB962C8B-B14F-4D97-AF65-F5344CB8AC3E}">
        <p14:creationId xmlns:p14="http://schemas.microsoft.com/office/powerpoint/2010/main" val="184564725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263352" y="1268858"/>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5" name="Овал 4"/>
          <p:cNvSpPr/>
          <p:nvPr/>
        </p:nvSpPr>
        <p:spPr>
          <a:xfrm>
            <a:off x="2367649" y="10441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 name="Овал 5"/>
          <p:cNvSpPr/>
          <p:nvPr/>
        </p:nvSpPr>
        <p:spPr>
          <a:xfrm>
            <a:off x="7299721" y="1268858"/>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7" name="Овал 6"/>
          <p:cNvSpPr/>
          <p:nvPr/>
        </p:nvSpPr>
        <p:spPr>
          <a:xfrm>
            <a:off x="5423463" y="107671"/>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8" name="Овал 7"/>
          <p:cNvSpPr/>
          <p:nvPr/>
        </p:nvSpPr>
        <p:spPr>
          <a:xfrm>
            <a:off x="2363998" y="251597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9" name="Овал 8"/>
          <p:cNvSpPr/>
          <p:nvPr/>
        </p:nvSpPr>
        <p:spPr>
          <a:xfrm>
            <a:off x="5423463" y="251597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10" name="Прямая со стрелкой 9"/>
          <p:cNvCxnSpPr>
            <a:stCxn id="4" idx="7"/>
            <a:endCxn id="5" idx="2"/>
          </p:cNvCxnSpPr>
          <p:nvPr/>
        </p:nvCxnSpPr>
        <p:spPr>
          <a:xfrm flipV="1">
            <a:off x="877979" y="464453"/>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4" idx="5"/>
            <a:endCxn id="8" idx="2"/>
          </p:cNvCxnSpPr>
          <p:nvPr/>
        </p:nvCxnSpPr>
        <p:spPr>
          <a:xfrm>
            <a:off x="877979" y="1883485"/>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5" idx="3"/>
            <a:endCxn id="8" idx="1"/>
          </p:cNvCxnSpPr>
          <p:nvPr/>
        </p:nvCxnSpPr>
        <p:spPr>
          <a:xfrm flipH="1">
            <a:off x="2469451" y="719040"/>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8" idx="7"/>
            <a:endCxn id="5" idx="5"/>
          </p:cNvCxnSpPr>
          <p:nvPr/>
        </p:nvCxnSpPr>
        <p:spPr>
          <a:xfrm flipV="1">
            <a:off x="2978625" y="719040"/>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6"/>
            <a:endCxn id="7" idx="2"/>
          </p:cNvCxnSpPr>
          <p:nvPr/>
        </p:nvCxnSpPr>
        <p:spPr>
          <a:xfrm>
            <a:off x="3087729" y="464453"/>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9" idx="0"/>
            <a:endCxn id="7" idx="4"/>
          </p:cNvCxnSpPr>
          <p:nvPr/>
        </p:nvCxnSpPr>
        <p:spPr>
          <a:xfrm flipV="1">
            <a:off x="5783503" y="827751"/>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8" idx="6"/>
            <a:endCxn id="9" idx="2"/>
          </p:cNvCxnSpPr>
          <p:nvPr/>
        </p:nvCxnSpPr>
        <p:spPr>
          <a:xfrm>
            <a:off x="3084078" y="2876012"/>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a:stCxn id="7" idx="3"/>
            <a:endCxn id="8" idx="7"/>
          </p:cNvCxnSpPr>
          <p:nvPr/>
        </p:nvCxnSpPr>
        <p:spPr>
          <a:xfrm flipH="1">
            <a:off x="2978625" y="722298"/>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a:stCxn id="7" idx="6"/>
            <a:endCxn id="6" idx="1"/>
          </p:cNvCxnSpPr>
          <p:nvPr/>
        </p:nvCxnSpPr>
        <p:spPr>
          <a:xfrm>
            <a:off x="6143543" y="467711"/>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a:stCxn id="9" idx="6"/>
            <a:endCxn id="6" idx="3"/>
          </p:cNvCxnSpPr>
          <p:nvPr/>
        </p:nvCxnSpPr>
        <p:spPr>
          <a:xfrm flipV="1">
            <a:off x="6143543" y="1883485"/>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292655" y="657772"/>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21" name="TextBox 20"/>
          <p:cNvSpPr txBox="1"/>
          <p:nvPr/>
        </p:nvSpPr>
        <p:spPr>
          <a:xfrm>
            <a:off x="1292783" y="2098205"/>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22" name="TextBox 21"/>
          <p:cNvSpPr txBox="1"/>
          <p:nvPr/>
        </p:nvSpPr>
        <p:spPr>
          <a:xfrm>
            <a:off x="2211274" y="1051045"/>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23" name="TextBox 22"/>
          <p:cNvSpPr txBox="1"/>
          <p:nvPr/>
        </p:nvSpPr>
        <p:spPr>
          <a:xfrm>
            <a:off x="2751198" y="1603849"/>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24" name="TextBox 23"/>
          <p:cNvSpPr txBox="1"/>
          <p:nvPr/>
        </p:nvSpPr>
        <p:spPr>
          <a:xfrm>
            <a:off x="4564242" y="180394"/>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25" name="TextBox 24"/>
          <p:cNvSpPr txBox="1"/>
          <p:nvPr/>
        </p:nvSpPr>
        <p:spPr>
          <a:xfrm>
            <a:off x="4318980" y="1080629"/>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26" name="TextBox 25"/>
          <p:cNvSpPr txBox="1"/>
          <p:nvPr/>
        </p:nvSpPr>
        <p:spPr>
          <a:xfrm>
            <a:off x="4551637" y="2516680"/>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27" name="TextBox 26"/>
          <p:cNvSpPr txBox="1"/>
          <p:nvPr/>
        </p:nvSpPr>
        <p:spPr>
          <a:xfrm>
            <a:off x="5521675" y="1509174"/>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28" name="TextBox 27"/>
          <p:cNvSpPr txBox="1"/>
          <p:nvPr/>
        </p:nvSpPr>
        <p:spPr>
          <a:xfrm>
            <a:off x="6446211" y="552855"/>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29" name="TextBox 28"/>
          <p:cNvSpPr txBox="1"/>
          <p:nvPr/>
        </p:nvSpPr>
        <p:spPr>
          <a:xfrm>
            <a:off x="6543419" y="2162816"/>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30" name="Полилиния 29"/>
          <p:cNvSpPr/>
          <p:nvPr/>
        </p:nvSpPr>
        <p:spPr>
          <a:xfrm>
            <a:off x="3770909" y="265039"/>
            <a:ext cx="2684424" cy="3307977"/>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 name="connsiteX0" fmla="*/ 0 w 4531086"/>
              <a:gd name="connsiteY0" fmla="*/ 0 h 2810436"/>
              <a:gd name="connsiteX1" fmla="*/ 4394200 w 4531086"/>
              <a:gd name="connsiteY1" fmla="*/ 1148260 h 2810436"/>
              <a:gd name="connsiteX2" fmla="*/ 3200400 w 4531086"/>
              <a:gd name="connsiteY2" fmla="*/ 2810436 h 2810436"/>
              <a:gd name="connsiteX0" fmla="*/ 0 w 4547780"/>
              <a:gd name="connsiteY0" fmla="*/ 0 h 2810436"/>
              <a:gd name="connsiteX1" fmla="*/ 4394200 w 4547780"/>
              <a:gd name="connsiteY1" fmla="*/ 1148260 h 2810436"/>
              <a:gd name="connsiteX2" fmla="*/ 3200400 w 4547780"/>
              <a:gd name="connsiteY2" fmla="*/ 2810436 h 2810436"/>
              <a:gd name="connsiteX0" fmla="*/ 2645963 w 2681068"/>
              <a:gd name="connsiteY0" fmla="*/ 0 h 3307977"/>
              <a:gd name="connsiteX1" fmla="*/ 1231034 w 2681068"/>
              <a:gd name="connsiteY1" fmla="*/ 1645801 h 3307977"/>
              <a:gd name="connsiteX2" fmla="*/ 37234 w 2681068"/>
              <a:gd name="connsiteY2" fmla="*/ 3307977 h 3307977"/>
              <a:gd name="connsiteX0" fmla="*/ 2645963 w 2645963"/>
              <a:gd name="connsiteY0" fmla="*/ 0 h 3307977"/>
              <a:gd name="connsiteX1" fmla="*/ 1231034 w 2645963"/>
              <a:gd name="connsiteY1" fmla="*/ 1645801 h 3307977"/>
              <a:gd name="connsiteX2" fmla="*/ 37234 w 2645963"/>
              <a:gd name="connsiteY2" fmla="*/ 3307977 h 3307977"/>
              <a:gd name="connsiteX0" fmla="*/ 2684424 w 2684424"/>
              <a:gd name="connsiteY0" fmla="*/ 0 h 3307977"/>
              <a:gd name="connsiteX1" fmla="*/ 1269495 w 2684424"/>
              <a:gd name="connsiteY1" fmla="*/ 1645801 h 3307977"/>
              <a:gd name="connsiteX2" fmla="*/ 75695 w 2684424"/>
              <a:gd name="connsiteY2" fmla="*/ 3307977 h 3307977"/>
            </a:gdLst>
            <a:ahLst/>
            <a:cxnLst>
              <a:cxn ang="0">
                <a:pos x="connsiteX0" y="connsiteY0"/>
              </a:cxn>
              <a:cxn ang="0">
                <a:pos x="connsiteX1" y="connsiteY1"/>
              </a:cxn>
              <a:cxn ang="0">
                <a:pos x="connsiteX2" y="connsiteY2"/>
              </a:cxn>
            </a:cxnLst>
            <a:rect l="l" t="t" r="r" b="b"/>
            <a:pathLst>
              <a:path w="2684424" h="3307977">
                <a:moveTo>
                  <a:pt x="2684424" y="0"/>
                </a:moveTo>
                <a:cubicBezTo>
                  <a:pt x="2602746" y="965459"/>
                  <a:pt x="2386597" y="640001"/>
                  <a:pt x="1269495" y="1645801"/>
                </a:cubicBezTo>
                <a:cubicBezTo>
                  <a:pt x="667366" y="2102224"/>
                  <a:pt x="-273929" y="2537012"/>
                  <a:pt x="75695" y="3307977"/>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1" name="TextBox 30"/>
          <p:cNvSpPr txBox="1"/>
          <p:nvPr/>
        </p:nvSpPr>
        <p:spPr>
          <a:xfrm>
            <a:off x="3219498" y="3050753"/>
            <a:ext cx="815154" cy="769441"/>
          </a:xfrm>
          <a:prstGeom prst="rect">
            <a:avLst/>
          </a:prstGeom>
          <a:solidFill>
            <a:schemeClr val="bg1"/>
          </a:solidFill>
        </p:spPr>
        <p:txBody>
          <a:bodyPr wrap="square" rtlCol="0">
            <a:spAutoFit/>
          </a:bodyPr>
          <a:lstStyle/>
          <a:p>
            <a:pPr algn="ctr"/>
            <a:r>
              <a:rPr lang="ru-RU" sz="4400" dirty="0">
                <a:solidFill>
                  <a:srgbClr val="C00000"/>
                </a:solidFill>
              </a:rPr>
              <a:t>34</a:t>
            </a:r>
            <a:endParaRPr lang="ru-RU" sz="3200" dirty="0">
              <a:solidFill>
                <a:srgbClr val="C00000"/>
              </a:solidFill>
            </a:endParaRPr>
          </a:p>
        </p:txBody>
      </p:sp>
      <p:sp>
        <p:nvSpPr>
          <p:cNvPr id="32" name="Овал 31"/>
          <p:cNvSpPr/>
          <p:nvPr/>
        </p:nvSpPr>
        <p:spPr>
          <a:xfrm>
            <a:off x="3722693" y="4574435"/>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3" name="Овал 32"/>
          <p:cNvSpPr/>
          <p:nvPr/>
        </p:nvSpPr>
        <p:spPr>
          <a:xfrm>
            <a:off x="5826990" y="3409990"/>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4" name="Овал 33"/>
          <p:cNvSpPr/>
          <p:nvPr/>
        </p:nvSpPr>
        <p:spPr>
          <a:xfrm>
            <a:off x="10759062" y="4574435"/>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5" name="Овал 34"/>
          <p:cNvSpPr/>
          <p:nvPr/>
        </p:nvSpPr>
        <p:spPr>
          <a:xfrm>
            <a:off x="8882804" y="3413248"/>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6" name="Овал 35"/>
          <p:cNvSpPr/>
          <p:nvPr/>
        </p:nvSpPr>
        <p:spPr>
          <a:xfrm>
            <a:off x="5823339" y="582154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37" name="Овал 36"/>
          <p:cNvSpPr/>
          <p:nvPr/>
        </p:nvSpPr>
        <p:spPr>
          <a:xfrm>
            <a:off x="8882804" y="5821549"/>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38" name="Прямая со стрелкой 37"/>
          <p:cNvCxnSpPr>
            <a:stCxn id="32" idx="7"/>
            <a:endCxn id="33" idx="2"/>
          </p:cNvCxnSpPr>
          <p:nvPr/>
        </p:nvCxnSpPr>
        <p:spPr>
          <a:xfrm flipV="1">
            <a:off x="4337320" y="3770030"/>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Прямая со стрелкой 38"/>
          <p:cNvCxnSpPr>
            <a:stCxn id="32" idx="5"/>
            <a:endCxn id="36" idx="2"/>
          </p:cNvCxnSpPr>
          <p:nvPr/>
        </p:nvCxnSpPr>
        <p:spPr>
          <a:xfrm>
            <a:off x="4337320" y="5189062"/>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Прямая со стрелкой 39"/>
          <p:cNvCxnSpPr>
            <a:stCxn id="33" idx="3"/>
            <a:endCxn id="36" idx="1"/>
          </p:cNvCxnSpPr>
          <p:nvPr/>
        </p:nvCxnSpPr>
        <p:spPr>
          <a:xfrm flipH="1">
            <a:off x="5928792" y="402461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a:stCxn id="36" idx="7"/>
            <a:endCxn id="33" idx="5"/>
          </p:cNvCxnSpPr>
          <p:nvPr/>
        </p:nvCxnSpPr>
        <p:spPr>
          <a:xfrm flipV="1">
            <a:off x="6437966" y="4024617"/>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3" idx="6"/>
            <a:endCxn id="35" idx="2"/>
          </p:cNvCxnSpPr>
          <p:nvPr/>
        </p:nvCxnSpPr>
        <p:spPr>
          <a:xfrm>
            <a:off x="6547070" y="3770030"/>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7" idx="0"/>
            <a:endCxn id="35" idx="4"/>
          </p:cNvCxnSpPr>
          <p:nvPr/>
        </p:nvCxnSpPr>
        <p:spPr>
          <a:xfrm flipV="1">
            <a:off x="9242844" y="4133328"/>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6" idx="6"/>
            <a:endCxn id="37" idx="2"/>
          </p:cNvCxnSpPr>
          <p:nvPr/>
        </p:nvCxnSpPr>
        <p:spPr>
          <a:xfrm>
            <a:off x="6543419" y="6181589"/>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5" idx="3"/>
            <a:endCxn id="36" idx="7"/>
          </p:cNvCxnSpPr>
          <p:nvPr/>
        </p:nvCxnSpPr>
        <p:spPr>
          <a:xfrm flipH="1">
            <a:off x="6437966" y="4027875"/>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a:stCxn id="35" idx="6"/>
            <a:endCxn id="34" idx="1"/>
          </p:cNvCxnSpPr>
          <p:nvPr/>
        </p:nvCxnSpPr>
        <p:spPr>
          <a:xfrm>
            <a:off x="9602884" y="3773288"/>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stCxn id="37" idx="6"/>
            <a:endCxn id="34" idx="3"/>
          </p:cNvCxnSpPr>
          <p:nvPr/>
        </p:nvCxnSpPr>
        <p:spPr>
          <a:xfrm flipV="1">
            <a:off x="9602884" y="5189062"/>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751996" y="3963349"/>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49" name="TextBox 48"/>
          <p:cNvSpPr txBox="1"/>
          <p:nvPr/>
        </p:nvSpPr>
        <p:spPr>
          <a:xfrm>
            <a:off x="4752124" y="5403782"/>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50" name="TextBox 49"/>
          <p:cNvSpPr txBox="1"/>
          <p:nvPr/>
        </p:nvSpPr>
        <p:spPr>
          <a:xfrm>
            <a:off x="5670615" y="4356622"/>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51" name="TextBox 50"/>
          <p:cNvSpPr txBox="1"/>
          <p:nvPr/>
        </p:nvSpPr>
        <p:spPr>
          <a:xfrm>
            <a:off x="6210539" y="4909426"/>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2" name="TextBox 51"/>
          <p:cNvSpPr txBox="1"/>
          <p:nvPr/>
        </p:nvSpPr>
        <p:spPr>
          <a:xfrm>
            <a:off x="8023583" y="3485971"/>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3" name="TextBox 52"/>
          <p:cNvSpPr txBox="1"/>
          <p:nvPr/>
        </p:nvSpPr>
        <p:spPr>
          <a:xfrm>
            <a:off x="7403867" y="4771295"/>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54" name="TextBox 53"/>
          <p:cNvSpPr txBox="1"/>
          <p:nvPr/>
        </p:nvSpPr>
        <p:spPr>
          <a:xfrm>
            <a:off x="8010978" y="5822257"/>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55" name="TextBox 54"/>
          <p:cNvSpPr txBox="1"/>
          <p:nvPr/>
        </p:nvSpPr>
        <p:spPr>
          <a:xfrm>
            <a:off x="8981993" y="4588187"/>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6" name="TextBox 55"/>
          <p:cNvSpPr txBox="1"/>
          <p:nvPr/>
        </p:nvSpPr>
        <p:spPr>
          <a:xfrm>
            <a:off x="9905552" y="3858432"/>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57" name="TextBox 56"/>
          <p:cNvSpPr txBox="1"/>
          <p:nvPr/>
        </p:nvSpPr>
        <p:spPr>
          <a:xfrm>
            <a:off x="10002760" y="546839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8" name="Полилиния 57"/>
          <p:cNvSpPr/>
          <p:nvPr/>
        </p:nvSpPr>
        <p:spPr>
          <a:xfrm flipH="1">
            <a:off x="7721592" y="3570617"/>
            <a:ext cx="2491290" cy="3098744"/>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 name="connsiteX0" fmla="*/ 0 w 4531086"/>
              <a:gd name="connsiteY0" fmla="*/ 0 h 2810436"/>
              <a:gd name="connsiteX1" fmla="*/ 4394200 w 4531086"/>
              <a:gd name="connsiteY1" fmla="*/ 1148260 h 2810436"/>
              <a:gd name="connsiteX2" fmla="*/ 3200400 w 4531086"/>
              <a:gd name="connsiteY2" fmla="*/ 2810436 h 2810436"/>
              <a:gd name="connsiteX0" fmla="*/ 0 w 4547780"/>
              <a:gd name="connsiteY0" fmla="*/ 0 h 2810436"/>
              <a:gd name="connsiteX1" fmla="*/ 4394200 w 4547780"/>
              <a:gd name="connsiteY1" fmla="*/ 1148260 h 2810436"/>
              <a:gd name="connsiteX2" fmla="*/ 3200400 w 4547780"/>
              <a:gd name="connsiteY2" fmla="*/ 2810436 h 2810436"/>
              <a:gd name="connsiteX0" fmla="*/ 2645963 w 2681068"/>
              <a:gd name="connsiteY0" fmla="*/ 0 h 3307977"/>
              <a:gd name="connsiteX1" fmla="*/ 1231034 w 2681068"/>
              <a:gd name="connsiteY1" fmla="*/ 1645801 h 3307977"/>
              <a:gd name="connsiteX2" fmla="*/ 37234 w 2681068"/>
              <a:gd name="connsiteY2" fmla="*/ 3307977 h 3307977"/>
              <a:gd name="connsiteX0" fmla="*/ 2645963 w 2645963"/>
              <a:gd name="connsiteY0" fmla="*/ 0 h 3307977"/>
              <a:gd name="connsiteX1" fmla="*/ 1231034 w 2645963"/>
              <a:gd name="connsiteY1" fmla="*/ 1645801 h 3307977"/>
              <a:gd name="connsiteX2" fmla="*/ 37234 w 2645963"/>
              <a:gd name="connsiteY2" fmla="*/ 3307977 h 3307977"/>
              <a:gd name="connsiteX0" fmla="*/ 2684424 w 2684424"/>
              <a:gd name="connsiteY0" fmla="*/ 0 h 3307977"/>
              <a:gd name="connsiteX1" fmla="*/ 1269495 w 2684424"/>
              <a:gd name="connsiteY1" fmla="*/ 1645801 h 3307977"/>
              <a:gd name="connsiteX2" fmla="*/ 75695 w 2684424"/>
              <a:gd name="connsiteY2" fmla="*/ 3307977 h 3307977"/>
            </a:gdLst>
            <a:ahLst/>
            <a:cxnLst>
              <a:cxn ang="0">
                <a:pos x="connsiteX0" y="connsiteY0"/>
              </a:cxn>
              <a:cxn ang="0">
                <a:pos x="connsiteX1" y="connsiteY1"/>
              </a:cxn>
              <a:cxn ang="0">
                <a:pos x="connsiteX2" y="connsiteY2"/>
              </a:cxn>
            </a:cxnLst>
            <a:rect l="l" t="t" r="r" b="b"/>
            <a:pathLst>
              <a:path w="2684424" h="3307977">
                <a:moveTo>
                  <a:pt x="2684424" y="0"/>
                </a:moveTo>
                <a:cubicBezTo>
                  <a:pt x="2602746" y="965459"/>
                  <a:pt x="2386597" y="640001"/>
                  <a:pt x="1269495" y="1645801"/>
                </a:cubicBezTo>
                <a:cubicBezTo>
                  <a:pt x="667366" y="2102224"/>
                  <a:pt x="-273929" y="2537012"/>
                  <a:pt x="75695" y="3307977"/>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9" name="TextBox 58"/>
          <p:cNvSpPr txBox="1"/>
          <p:nvPr/>
        </p:nvSpPr>
        <p:spPr>
          <a:xfrm>
            <a:off x="10062163" y="6076199"/>
            <a:ext cx="815154" cy="769441"/>
          </a:xfrm>
          <a:prstGeom prst="rect">
            <a:avLst/>
          </a:prstGeom>
          <a:solidFill>
            <a:schemeClr val="bg1"/>
          </a:solidFill>
        </p:spPr>
        <p:txBody>
          <a:bodyPr wrap="square" rtlCol="0">
            <a:spAutoFit/>
          </a:bodyPr>
          <a:lstStyle/>
          <a:p>
            <a:pPr algn="ctr"/>
            <a:r>
              <a:rPr lang="ru-RU" sz="4400" dirty="0">
                <a:solidFill>
                  <a:srgbClr val="C00000"/>
                </a:solidFill>
              </a:rPr>
              <a:t>23</a:t>
            </a:r>
            <a:endParaRPr lang="ru-RU" sz="3200" dirty="0">
              <a:solidFill>
                <a:srgbClr val="C00000"/>
              </a:solidFill>
            </a:endParaRPr>
          </a:p>
        </p:txBody>
      </p:sp>
      <p:sp>
        <p:nvSpPr>
          <p:cNvPr id="60" name="TextBox 59">
            <a:extLst>
              <a:ext uri="{FF2B5EF4-FFF2-40B4-BE49-F238E27FC236}">
                <a16:creationId xmlns:a16="http://schemas.microsoft.com/office/drawing/2014/main" id="{FB63043D-8F45-47B0-9549-8CE30C0C1F1C}"/>
              </a:ext>
            </a:extLst>
          </p:cNvPr>
          <p:cNvSpPr txBox="1"/>
          <p:nvPr/>
        </p:nvSpPr>
        <p:spPr>
          <a:xfrm>
            <a:off x="8574905" y="713947"/>
            <a:ext cx="3065711" cy="369332"/>
          </a:xfrm>
          <a:prstGeom prst="rect">
            <a:avLst/>
          </a:prstGeom>
          <a:noFill/>
        </p:spPr>
        <p:txBody>
          <a:bodyPr wrap="square" rtlCol="0">
            <a:spAutoFit/>
          </a:bodyPr>
          <a:lstStyle/>
          <a:p>
            <a:r>
              <a:rPr lang="en-US" dirty="0"/>
              <a:t>{</a:t>
            </a:r>
            <a:r>
              <a:rPr lang="ru-RU" dirty="0"/>
              <a:t>0,1,2,4</a:t>
            </a:r>
            <a:r>
              <a:rPr lang="en-US" dirty="0"/>
              <a:t>}</a:t>
            </a:r>
            <a:r>
              <a:rPr lang="ru-RU" dirty="0"/>
              <a:t> 20 + 14 </a:t>
            </a:r>
          </a:p>
        </p:txBody>
      </p:sp>
      <p:sp>
        <p:nvSpPr>
          <p:cNvPr id="61" name="TextBox 60">
            <a:extLst>
              <a:ext uri="{FF2B5EF4-FFF2-40B4-BE49-F238E27FC236}">
                <a16:creationId xmlns:a16="http://schemas.microsoft.com/office/drawing/2014/main" id="{AE27BB63-AA78-4E0E-89C9-584FE0AAD707}"/>
              </a:ext>
            </a:extLst>
          </p:cNvPr>
          <p:cNvSpPr txBox="1"/>
          <p:nvPr/>
        </p:nvSpPr>
        <p:spPr>
          <a:xfrm>
            <a:off x="542811" y="5685325"/>
            <a:ext cx="3491841" cy="369332"/>
          </a:xfrm>
          <a:prstGeom prst="rect">
            <a:avLst/>
          </a:prstGeom>
          <a:noFill/>
        </p:spPr>
        <p:txBody>
          <a:bodyPr wrap="square" rtlCol="0">
            <a:spAutoFit/>
          </a:bodyPr>
          <a:lstStyle/>
          <a:p>
            <a:r>
              <a:rPr lang="en-US" dirty="0"/>
              <a:t>{</a:t>
            </a:r>
            <a:r>
              <a:rPr lang="ru-RU" dirty="0"/>
              <a:t>0,1,3,4</a:t>
            </a:r>
            <a:r>
              <a:rPr lang="en-US" dirty="0"/>
              <a:t>}</a:t>
            </a:r>
            <a:r>
              <a:rPr lang="ru-RU" dirty="0"/>
              <a:t> 12 + 7 + 4 </a:t>
            </a:r>
          </a:p>
        </p:txBody>
      </p:sp>
    </p:spTree>
    <p:extLst>
      <p:ext uri="{BB962C8B-B14F-4D97-AF65-F5344CB8AC3E}">
        <p14:creationId xmlns:p14="http://schemas.microsoft.com/office/powerpoint/2010/main" val="4221704455"/>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Овал 34"/>
          <p:cNvSpPr/>
          <p:nvPr/>
        </p:nvSpPr>
        <p:spPr>
          <a:xfrm>
            <a:off x="263352" y="1209069"/>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36" name="Овал 35"/>
          <p:cNvSpPr/>
          <p:nvPr/>
        </p:nvSpPr>
        <p:spPr>
          <a:xfrm>
            <a:off x="2367649" y="44624"/>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37" name="Овал 36"/>
          <p:cNvSpPr/>
          <p:nvPr/>
        </p:nvSpPr>
        <p:spPr>
          <a:xfrm>
            <a:off x="7299721" y="1209069"/>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38" name="Овал 37"/>
          <p:cNvSpPr/>
          <p:nvPr/>
        </p:nvSpPr>
        <p:spPr>
          <a:xfrm>
            <a:off x="5423463" y="47882"/>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39" name="Овал 38"/>
          <p:cNvSpPr/>
          <p:nvPr/>
        </p:nvSpPr>
        <p:spPr>
          <a:xfrm>
            <a:off x="2363998" y="245618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40" name="Овал 39"/>
          <p:cNvSpPr/>
          <p:nvPr/>
        </p:nvSpPr>
        <p:spPr>
          <a:xfrm>
            <a:off x="5423463" y="2456183"/>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41" name="Прямая со стрелкой 40"/>
          <p:cNvCxnSpPr>
            <a:stCxn id="35" idx="7"/>
            <a:endCxn id="36" idx="2"/>
          </p:cNvCxnSpPr>
          <p:nvPr/>
        </p:nvCxnSpPr>
        <p:spPr>
          <a:xfrm flipV="1">
            <a:off x="877979" y="404664"/>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 стрелкой 41"/>
          <p:cNvCxnSpPr>
            <a:stCxn id="35" idx="5"/>
            <a:endCxn id="39" idx="2"/>
          </p:cNvCxnSpPr>
          <p:nvPr/>
        </p:nvCxnSpPr>
        <p:spPr>
          <a:xfrm>
            <a:off x="877979" y="1823696"/>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Прямая со стрелкой 42"/>
          <p:cNvCxnSpPr>
            <a:stCxn id="36" idx="3"/>
            <a:endCxn id="39" idx="1"/>
          </p:cNvCxnSpPr>
          <p:nvPr/>
        </p:nvCxnSpPr>
        <p:spPr>
          <a:xfrm flipH="1">
            <a:off x="2469451" y="65925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a:stCxn id="39" idx="7"/>
            <a:endCxn id="36" idx="5"/>
          </p:cNvCxnSpPr>
          <p:nvPr/>
        </p:nvCxnSpPr>
        <p:spPr>
          <a:xfrm flipV="1">
            <a:off x="2978625" y="659251"/>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Прямая со стрелкой 44"/>
          <p:cNvCxnSpPr>
            <a:stCxn id="36" idx="6"/>
            <a:endCxn id="38" idx="2"/>
          </p:cNvCxnSpPr>
          <p:nvPr/>
        </p:nvCxnSpPr>
        <p:spPr>
          <a:xfrm>
            <a:off x="3087729" y="404664"/>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Прямая со стрелкой 45"/>
          <p:cNvCxnSpPr>
            <a:stCxn id="40" idx="0"/>
            <a:endCxn id="38" idx="4"/>
          </p:cNvCxnSpPr>
          <p:nvPr/>
        </p:nvCxnSpPr>
        <p:spPr>
          <a:xfrm flipV="1">
            <a:off x="5783503" y="767962"/>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Прямая со стрелкой 46"/>
          <p:cNvCxnSpPr>
            <a:stCxn id="39" idx="6"/>
            <a:endCxn id="40" idx="2"/>
          </p:cNvCxnSpPr>
          <p:nvPr/>
        </p:nvCxnSpPr>
        <p:spPr>
          <a:xfrm>
            <a:off x="3084078" y="2816223"/>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Прямая со стрелкой 47"/>
          <p:cNvCxnSpPr>
            <a:stCxn id="38" idx="3"/>
            <a:endCxn id="39" idx="7"/>
          </p:cNvCxnSpPr>
          <p:nvPr/>
        </p:nvCxnSpPr>
        <p:spPr>
          <a:xfrm flipH="1">
            <a:off x="2978625" y="662509"/>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Прямая со стрелкой 48"/>
          <p:cNvCxnSpPr>
            <a:stCxn id="38" idx="6"/>
            <a:endCxn id="37" idx="1"/>
          </p:cNvCxnSpPr>
          <p:nvPr/>
        </p:nvCxnSpPr>
        <p:spPr>
          <a:xfrm>
            <a:off x="6143543" y="407922"/>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p:cNvCxnSpPr>
            <a:stCxn id="40" idx="6"/>
            <a:endCxn id="37" idx="3"/>
          </p:cNvCxnSpPr>
          <p:nvPr/>
        </p:nvCxnSpPr>
        <p:spPr>
          <a:xfrm flipV="1">
            <a:off x="6143543" y="1823696"/>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1292655" y="597983"/>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52" name="TextBox 51"/>
          <p:cNvSpPr txBox="1"/>
          <p:nvPr/>
        </p:nvSpPr>
        <p:spPr>
          <a:xfrm>
            <a:off x="1292783" y="2038416"/>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53" name="TextBox 52"/>
          <p:cNvSpPr txBox="1"/>
          <p:nvPr/>
        </p:nvSpPr>
        <p:spPr>
          <a:xfrm>
            <a:off x="2211274" y="991256"/>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54" name="TextBox 53"/>
          <p:cNvSpPr txBox="1"/>
          <p:nvPr/>
        </p:nvSpPr>
        <p:spPr>
          <a:xfrm>
            <a:off x="2751198" y="154406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55" name="TextBox 54"/>
          <p:cNvSpPr txBox="1"/>
          <p:nvPr/>
        </p:nvSpPr>
        <p:spPr>
          <a:xfrm>
            <a:off x="3868804" y="147615"/>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56" name="TextBox 55"/>
          <p:cNvSpPr txBox="1"/>
          <p:nvPr/>
        </p:nvSpPr>
        <p:spPr>
          <a:xfrm>
            <a:off x="4318980" y="1020840"/>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57" name="TextBox 56"/>
          <p:cNvSpPr txBox="1"/>
          <p:nvPr/>
        </p:nvSpPr>
        <p:spPr>
          <a:xfrm>
            <a:off x="4551637" y="2456891"/>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58" name="TextBox 57"/>
          <p:cNvSpPr txBox="1"/>
          <p:nvPr/>
        </p:nvSpPr>
        <p:spPr>
          <a:xfrm>
            <a:off x="5521675" y="1449385"/>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59" name="TextBox 58"/>
          <p:cNvSpPr txBox="1"/>
          <p:nvPr/>
        </p:nvSpPr>
        <p:spPr>
          <a:xfrm>
            <a:off x="6446211" y="493066"/>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60" name="TextBox 59"/>
          <p:cNvSpPr txBox="1"/>
          <p:nvPr/>
        </p:nvSpPr>
        <p:spPr>
          <a:xfrm>
            <a:off x="6543419" y="2103027"/>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61" name="Полилиния 60"/>
          <p:cNvSpPr/>
          <p:nvPr/>
        </p:nvSpPr>
        <p:spPr>
          <a:xfrm>
            <a:off x="1789202" y="-15243"/>
            <a:ext cx="4643962" cy="3392478"/>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 name="connsiteX0" fmla="*/ 0 w 4531086"/>
              <a:gd name="connsiteY0" fmla="*/ 0 h 2810436"/>
              <a:gd name="connsiteX1" fmla="*/ 4394200 w 4531086"/>
              <a:gd name="connsiteY1" fmla="*/ 1148260 h 2810436"/>
              <a:gd name="connsiteX2" fmla="*/ 3200400 w 4531086"/>
              <a:gd name="connsiteY2" fmla="*/ 2810436 h 2810436"/>
              <a:gd name="connsiteX0" fmla="*/ 0 w 4547780"/>
              <a:gd name="connsiteY0" fmla="*/ 0 h 2810436"/>
              <a:gd name="connsiteX1" fmla="*/ 4394200 w 4547780"/>
              <a:gd name="connsiteY1" fmla="*/ 1148260 h 2810436"/>
              <a:gd name="connsiteX2" fmla="*/ 3200400 w 4547780"/>
              <a:gd name="connsiteY2" fmla="*/ 2810436 h 2810436"/>
              <a:gd name="connsiteX0" fmla="*/ 2645963 w 2681068"/>
              <a:gd name="connsiteY0" fmla="*/ 0 h 3307977"/>
              <a:gd name="connsiteX1" fmla="*/ 1231034 w 2681068"/>
              <a:gd name="connsiteY1" fmla="*/ 1645801 h 3307977"/>
              <a:gd name="connsiteX2" fmla="*/ 37234 w 2681068"/>
              <a:gd name="connsiteY2" fmla="*/ 3307977 h 3307977"/>
              <a:gd name="connsiteX0" fmla="*/ 2645963 w 2645963"/>
              <a:gd name="connsiteY0" fmla="*/ 0 h 3307977"/>
              <a:gd name="connsiteX1" fmla="*/ 1231034 w 2645963"/>
              <a:gd name="connsiteY1" fmla="*/ 1645801 h 3307977"/>
              <a:gd name="connsiteX2" fmla="*/ 37234 w 2645963"/>
              <a:gd name="connsiteY2" fmla="*/ 3307977 h 3307977"/>
              <a:gd name="connsiteX0" fmla="*/ 2684424 w 2684424"/>
              <a:gd name="connsiteY0" fmla="*/ 0 h 3307977"/>
              <a:gd name="connsiteX1" fmla="*/ 1269495 w 2684424"/>
              <a:gd name="connsiteY1" fmla="*/ 1645801 h 3307977"/>
              <a:gd name="connsiteX2" fmla="*/ 75695 w 2684424"/>
              <a:gd name="connsiteY2" fmla="*/ 3307977 h 3307977"/>
              <a:gd name="connsiteX0" fmla="*/ 4481231 w 4481231"/>
              <a:gd name="connsiteY0" fmla="*/ 0 h 1710904"/>
              <a:gd name="connsiteX1" fmla="*/ 3066302 w 4481231"/>
              <a:gd name="connsiteY1" fmla="*/ 1645801 h 1710904"/>
              <a:gd name="connsiteX2" fmla="*/ 30255 w 4481231"/>
              <a:gd name="connsiteY2" fmla="*/ 753036 h 1710904"/>
              <a:gd name="connsiteX0" fmla="*/ 4450976 w 4450976"/>
              <a:gd name="connsiteY0" fmla="*/ 0 h 1802574"/>
              <a:gd name="connsiteX1" fmla="*/ 3036047 w 4450976"/>
              <a:gd name="connsiteY1" fmla="*/ 1645801 h 1802574"/>
              <a:gd name="connsiteX2" fmla="*/ 0 w 4450976"/>
              <a:gd name="connsiteY2" fmla="*/ 753036 h 1802574"/>
              <a:gd name="connsiteX0" fmla="*/ 4666129 w 4666129"/>
              <a:gd name="connsiteY0" fmla="*/ 0 h 1747057"/>
              <a:gd name="connsiteX1" fmla="*/ 3251200 w 4666129"/>
              <a:gd name="connsiteY1" fmla="*/ 1645801 h 1747057"/>
              <a:gd name="connsiteX2" fmla="*/ 0 w 4666129"/>
              <a:gd name="connsiteY2" fmla="*/ 174813 h 1747057"/>
              <a:gd name="connsiteX0" fmla="*/ 4666129 w 4666129"/>
              <a:gd name="connsiteY0" fmla="*/ 409357 h 933750"/>
              <a:gd name="connsiteX1" fmla="*/ 3789083 w 4666129"/>
              <a:gd name="connsiteY1" fmla="*/ 280146 h 933750"/>
              <a:gd name="connsiteX2" fmla="*/ 0 w 4666129"/>
              <a:gd name="connsiteY2" fmla="*/ 584170 h 933750"/>
              <a:gd name="connsiteX0" fmla="*/ 4666129 w 4666129"/>
              <a:gd name="connsiteY0" fmla="*/ 409357 h 1374498"/>
              <a:gd name="connsiteX1" fmla="*/ 3789083 w 4666129"/>
              <a:gd name="connsiteY1" fmla="*/ 280146 h 1374498"/>
              <a:gd name="connsiteX2" fmla="*/ 0 w 4666129"/>
              <a:gd name="connsiteY2" fmla="*/ 584170 h 1374498"/>
              <a:gd name="connsiteX0" fmla="*/ 4625788 w 4625788"/>
              <a:gd name="connsiteY0" fmla="*/ 3365134 h 3485154"/>
              <a:gd name="connsiteX1" fmla="*/ 3789083 w 4625788"/>
              <a:gd name="connsiteY1" fmla="*/ 129652 h 3485154"/>
              <a:gd name="connsiteX2" fmla="*/ 0 w 4625788"/>
              <a:gd name="connsiteY2" fmla="*/ 433676 h 3485154"/>
              <a:gd name="connsiteX0" fmla="*/ 4625788 w 4625788"/>
              <a:gd name="connsiteY0" fmla="*/ 3365134 h 3485154"/>
              <a:gd name="connsiteX1" fmla="*/ 3789083 w 4625788"/>
              <a:gd name="connsiteY1" fmla="*/ 129652 h 3485154"/>
              <a:gd name="connsiteX2" fmla="*/ 0 w 4625788"/>
              <a:gd name="connsiteY2" fmla="*/ 433676 h 3485154"/>
              <a:gd name="connsiteX0" fmla="*/ 4625788 w 4687188"/>
              <a:gd name="connsiteY0" fmla="*/ 3235482 h 3254877"/>
              <a:gd name="connsiteX1" fmla="*/ 4625044 w 4687188"/>
              <a:gd name="connsiteY1" fmla="*/ 2909209 h 3254877"/>
              <a:gd name="connsiteX2" fmla="*/ 3789083 w 4687188"/>
              <a:gd name="connsiteY2" fmla="*/ 0 h 3254877"/>
              <a:gd name="connsiteX3" fmla="*/ 0 w 4687188"/>
              <a:gd name="connsiteY3" fmla="*/ 304024 h 3254877"/>
              <a:gd name="connsiteX0" fmla="*/ 376517 w 4628298"/>
              <a:gd name="connsiteY0" fmla="*/ 3222035 h 3247651"/>
              <a:gd name="connsiteX1" fmla="*/ 4625044 w 4628298"/>
              <a:gd name="connsiteY1" fmla="*/ 2909209 h 3247651"/>
              <a:gd name="connsiteX2" fmla="*/ 3789083 w 4628298"/>
              <a:gd name="connsiteY2" fmla="*/ 0 h 3247651"/>
              <a:gd name="connsiteX3" fmla="*/ 0 w 4628298"/>
              <a:gd name="connsiteY3" fmla="*/ 304024 h 3247651"/>
              <a:gd name="connsiteX0" fmla="*/ 376517 w 4736330"/>
              <a:gd name="connsiteY0" fmla="*/ 3293014 h 3318630"/>
              <a:gd name="connsiteX1" fmla="*/ 4625044 w 4736330"/>
              <a:gd name="connsiteY1" fmla="*/ 2980188 h 3318630"/>
              <a:gd name="connsiteX2" fmla="*/ 3789083 w 4736330"/>
              <a:gd name="connsiteY2" fmla="*/ 70979 h 3318630"/>
              <a:gd name="connsiteX3" fmla="*/ 0 w 4736330"/>
              <a:gd name="connsiteY3" fmla="*/ 375003 h 3318630"/>
              <a:gd name="connsiteX0" fmla="*/ 376517 w 4736330"/>
              <a:gd name="connsiteY0" fmla="*/ 3293014 h 3313812"/>
              <a:gd name="connsiteX1" fmla="*/ 4625044 w 4736330"/>
              <a:gd name="connsiteY1" fmla="*/ 2980188 h 3313812"/>
              <a:gd name="connsiteX2" fmla="*/ 3789083 w 4736330"/>
              <a:gd name="connsiteY2" fmla="*/ 70979 h 3313812"/>
              <a:gd name="connsiteX3" fmla="*/ 0 w 4736330"/>
              <a:gd name="connsiteY3" fmla="*/ 375003 h 3313812"/>
              <a:gd name="connsiteX0" fmla="*/ 376517 w 4798076"/>
              <a:gd name="connsiteY0" fmla="*/ 3303058 h 3323856"/>
              <a:gd name="connsiteX1" fmla="*/ 4625044 w 4798076"/>
              <a:gd name="connsiteY1" fmla="*/ 2990232 h 3323856"/>
              <a:gd name="connsiteX2" fmla="*/ 3789083 w 4798076"/>
              <a:gd name="connsiteY2" fmla="*/ 81023 h 3323856"/>
              <a:gd name="connsiteX3" fmla="*/ 0 w 4798076"/>
              <a:gd name="connsiteY3" fmla="*/ 385047 h 3323856"/>
              <a:gd name="connsiteX0" fmla="*/ 376517 w 4730504"/>
              <a:gd name="connsiteY0" fmla="*/ 3297232 h 3457020"/>
              <a:gd name="connsiteX1" fmla="*/ 4490573 w 4730504"/>
              <a:gd name="connsiteY1" fmla="*/ 3213006 h 3457020"/>
              <a:gd name="connsiteX2" fmla="*/ 3789083 w 4730504"/>
              <a:gd name="connsiteY2" fmla="*/ 75197 h 3457020"/>
              <a:gd name="connsiteX3" fmla="*/ 0 w 4730504"/>
              <a:gd name="connsiteY3" fmla="*/ 379221 h 3457020"/>
              <a:gd name="connsiteX0" fmla="*/ 376517 w 4724209"/>
              <a:gd name="connsiteY0" fmla="*/ 3300209 h 3379373"/>
              <a:gd name="connsiteX1" fmla="*/ 4477126 w 4724209"/>
              <a:gd name="connsiteY1" fmla="*/ 3094960 h 3379373"/>
              <a:gd name="connsiteX2" fmla="*/ 3789083 w 4724209"/>
              <a:gd name="connsiteY2" fmla="*/ 78174 h 3379373"/>
              <a:gd name="connsiteX3" fmla="*/ 0 w 4724209"/>
              <a:gd name="connsiteY3" fmla="*/ 382198 h 3379373"/>
              <a:gd name="connsiteX0" fmla="*/ 376517 w 4643962"/>
              <a:gd name="connsiteY0" fmla="*/ 3313314 h 3392478"/>
              <a:gd name="connsiteX1" fmla="*/ 4477126 w 4643962"/>
              <a:gd name="connsiteY1" fmla="*/ 3108065 h 3392478"/>
              <a:gd name="connsiteX2" fmla="*/ 3627719 w 4643962"/>
              <a:gd name="connsiteY2" fmla="*/ 77832 h 3392478"/>
              <a:gd name="connsiteX3" fmla="*/ 0 w 4643962"/>
              <a:gd name="connsiteY3" fmla="*/ 395303 h 3392478"/>
            </a:gdLst>
            <a:ahLst/>
            <a:cxnLst>
              <a:cxn ang="0">
                <a:pos x="connsiteX0" y="connsiteY0"/>
              </a:cxn>
              <a:cxn ang="0">
                <a:pos x="connsiteX1" y="connsiteY1"/>
              </a:cxn>
              <a:cxn ang="0">
                <a:pos x="connsiteX2" y="connsiteY2"/>
              </a:cxn>
              <a:cxn ang="0">
                <a:pos x="connsiteX3" y="connsiteY3"/>
              </a:cxn>
            </a:cxnLst>
            <a:rect l="l" t="t" r="r" b="b"/>
            <a:pathLst>
              <a:path w="4643962" h="3392478">
                <a:moveTo>
                  <a:pt x="376517" y="3313314"/>
                </a:moveTo>
                <a:cubicBezTo>
                  <a:pt x="376393" y="3258935"/>
                  <a:pt x="4186271" y="3633865"/>
                  <a:pt x="4477126" y="3108065"/>
                </a:cubicBezTo>
                <a:cubicBezTo>
                  <a:pt x="4499040" y="2138512"/>
                  <a:pt x="5178489" y="-483053"/>
                  <a:pt x="3627719" y="77832"/>
                </a:cubicBezTo>
                <a:cubicBezTo>
                  <a:pt x="2191872" y="1892408"/>
                  <a:pt x="1223682" y="1130408"/>
                  <a:pt x="0" y="395303"/>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TextBox 61"/>
          <p:cNvSpPr txBox="1"/>
          <p:nvPr/>
        </p:nvSpPr>
        <p:spPr>
          <a:xfrm>
            <a:off x="944813" y="2717999"/>
            <a:ext cx="1100539" cy="769441"/>
          </a:xfrm>
          <a:prstGeom prst="rect">
            <a:avLst/>
          </a:prstGeom>
          <a:solidFill>
            <a:schemeClr val="bg1"/>
          </a:solidFill>
        </p:spPr>
        <p:txBody>
          <a:bodyPr wrap="square" rtlCol="0">
            <a:spAutoFit/>
          </a:bodyPr>
          <a:lstStyle/>
          <a:p>
            <a:pPr algn="ctr"/>
            <a:r>
              <a:rPr lang="ru-RU" sz="4400" dirty="0">
                <a:solidFill>
                  <a:srgbClr val="C00000"/>
                </a:solidFill>
              </a:rPr>
              <a:t>44</a:t>
            </a:r>
            <a:endParaRPr lang="ru-RU" sz="3200" dirty="0">
              <a:solidFill>
                <a:srgbClr val="C00000"/>
              </a:solidFill>
            </a:endParaRPr>
          </a:p>
        </p:txBody>
      </p:sp>
      <p:sp>
        <p:nvSpPr>
          <p:cNvPr id="63" name="Овал 62"/>
          <p:cNvSpPr/>
          <p:nvPr/>
        </p:nvSpPr>
        <p:spPr>
          <a:xfrm>
            <a:off x="3897617" y="4561862"/>
            <a:ext cx="720080" cy="720080"/>
          </a:xfrm>
          <a:prstGeom prst="ellipse">
            <a:avLst/>
          </a:prstGeom>
          <a:solidFill>
            <a:schemeClr val="accent1">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0</a:t>
            </a:r>
          </a:p>
        </p:txBody>
      </p:sp>
      <p:sp>
        <p:nvSpPr>
          <p:cNvPr id="64" name="Овал 63"/>
          <p:cNvSpPr/>
          <p:nvPr/>
        </p:nvSpPr>
        <p:spPr>
          <a:xfrm>
            <a:off x="6001914" y="3397417"/>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1</a:t>
            </a:r>
          </a:p>
        </p:txBody>
      </p:sp>
      <p:sp>
        <p:nvSpPr>
          <p:cNvPr id="65" name="Овал 64"/>
          <p:cNvSpPr/>
          <p:nvPr/>
        </p:nvSpPr>
        <p:spPr>
          <a:xfrm>
            <a:off x="10933986" y="4561862"/>
            <a:ext cx="720080" cy="720080"/>
          </a:xfrm>
          <a:prstGeom prst="ellipse">
            <a:avLst/>
          </a:prstGeom>
          <a:solidFill>
            <a:schemeClr val="accent4">
              <a:lumMod val="20000"/>
              <a:lumOff val="80000"/>
            </a:schemeClr>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5</a:t>
            </a:r>
          </a:p>
        </p:txBody>
      </p:sp>
      <p:sp>
        <p:nvSpPr>
          <p:cNvPr id="66" name="Овал 65"/>
          <p:cNvSpPr/>
          <p:nvPr/>
        </p:nvSpPr>
        <p:spPr>
          <a:xfrm>
            <a:off x="9057728" y="3400675"/>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2</a:t>
            </a:r>
          </a:p>
        </p:txBody>
      </p:sp>
      <p:sp>
        <p:nvSpPr>
          <p:cNvPr id="67" name="Овал 66"/>
          <p:cNvSpPr/>
          <p:nvPr/>
        </p:nvSpPr>
        <p:spPr>
          <a:xfrm>
            <a:off x="5998263" y="580897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4</a:t>
            </a:r>
          </a:p>
        </p:txBody>
      </p:sp>
      <p:sp>
        <p:nvSpPr>
          <p:cNvPr id="68" name="Овал 67"/>
          <p:cNvSpPr/>
          <p:nvPr/>
        </p:nvSpPr>
        <p:spPr>
          <a:xfrm>
            <a:off x="9057728" y="5808976"/>
            <a:ext cx="720080" cy="720080"/>
          </a:xfrm>
          <a:prstGeom prst="ellipse">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600" dirty="0">
                <a:solidFill>
                  <a:schemeClr val="tx1"/>
                </a:solidFill>
              </a:rPr>
              <a:t>3</a:t>
            </a:r>
          </a:p>
        </p:txBody>
      </p:sp>
      <p:cxnSp>
        <p:nvCxnSpPr>
          <p:cNvPr id="69" name="Прямая со стрелкой 68"/>
          <p:cNvCxnSpPr>
            <a:stCxn id="63" idx="7"/>
            <a:endCxn id="64" idx="2"/>
          </p:cNvCxnSpPr>
          <p:nvPr/>
        </p:nvCxnSpPr>
        <p:spPr>
          <a:xfrm flipV="1">
            <a:off x="4512244" y="3757457"/>
            <a:ext cx="1489670" cy="9098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Прямая со стрелкой 69"/>
          <p:cNvCxnSpPr>
            <a:stCxn id="63" idx="5"/>
            <a:endCxn id="67" idx="2"/>
          </p:cNvCxnSpPr>
          <p:nvPr/>
        </p:nvCxnSpPr>
        <p:spPr>
          <a:xfrm>
            <a:off x="4512244" y="5176489"/>
            <a:ext cx="1486019"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Прямая со стрелкой 70"/>
          <p:cNvCxnSpPr>
            <a:stCxn id="64" idx="3"/>
            <a:endCxn id="67" idx="1"/>
          </p:cNvCxnSpPr>
          <p:nvPr/>
        </p:nvCxnSpPr>
        <p:spPr>
          <a:xfrm flipH="1">
            <a:off x="6103716" y="401204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Прямая со стрелкой 71"/>
          <p:cNvCxnSpPr>
            <a:stCxn id="67" idx="7"/>
            <a:endCxn id="64" idx="5"/>
          </p:cNvCxnSpPr>
          <p:nvPr/>
        </p:nvCxnSpPr>
        <p:spPr>
          <a:xfrm flipV="1">
            <a:off x="6612890" y="4012044"/>
            <a:ext cx="3651" cy="190238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Прямая со стрелкой 72"/>
          <p:cNvCxnSpPr>
            <a:stCxn id="64" idx="6"/>
            <a:endCxn id="66" idx="2"/>
          </p:cNvCxnSpPr>
          <p:nvPr/>
        </p:nvCxnSpPr>
        <p:spPr>
          <a:xfrm>
            <a:off x="6721994" y="3757457"/>
            <a:ext cx="2335734" cy="32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Прямая со стрелкой 73"/>
          <p:cNvCxnSpPr>
            <a:stCxn id="68" idx="0"/>
            <a:endCxn id="66" idx="4"/>
          </p:cNvCxnSpPr>
          <p:nvPr/>
        </p:nvCxnSpPr>
        <p:spPr>
          <a:xfrm flipV="1">
            <a:off x="9417768" y="4120755"/>
            <a:ext cx="0" cy="168822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Прямая со стрелкой 74"/>
          <p:cNvCxnSpPr>
            <a:stCxn id="67" idx="6"/>
            <a:endCxn id="68" idx="2"/>
          </p:cNvCxnSpPr>
          <p:nvPr/>
        </p:nvCxnSpPr>
        <p:spPr>
          <a:xfrm>
            <a:off x="6718343" y="6169016"/>
            <a:ext cx="233938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p:cNvCxnSpPr>
            <a:stCxn id="66" idx="3"/>
            <a:endCxn id="67" idx="7"/>
          </p:cNvCxnSpPr>
          <p:nvPr/>
        </p:nvCxnSpPr>
        <p:spPr>
          <a:xfrm flipH="1">
            <a:off x="6612890" y="4015302"/>
            <a:ext cx="2550291" cy="18991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Прямая со стрелкой 76"/>
          <p:cNvCxnSpPr>
            <a:stCxn id="66" idx="6"/>
            <a:endCxn id="65" idx="1"/>
          </p:cNvCxnSpPr>
          <p:nvPr/>
        </p:nvCxnSpPr>
        <p:spPr>
          <a:xfrm>
            <a:off x="9777808" y="3760715"/>
            <a:ext cx="1261631" cy="9066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Прямая со стрелкой 77"/>
          <p:cNvCxnSpPr>
            <a:stCxn id="68" idx="6"/>
            <a:endCxn id="65" idx="3"/>
          </p:cNvCxnSpPr>
          <p:nvPr/>
        </p:nvCxnSpPr>
        <p:spPr>
          <a:xfrm flipV="1">
            <a:off x="9777808" y="5176489"/>
            <a:ext cx="1261631" cy="9925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4926920" y="3950776"/>
            <a:ext cx="511787" cy="523220"/>
          </a:xfrm>
          <a:prstGeom prst="rect">
            <a:avLst/>
          </a:prstGeom>
          <a:solidFill>
            <a:schemeClr val="bg1"/>
          </a:solidFill>
        </p:spPr>
        <p:txBody>
          <a:bodyPr wrap="square" rtlCol="0">
            <a:spAutoFit/>
          </a:bodyPr>
          <a:lstStyle/>
          <a:p>
            <a:pPr algn="ctr"/>
            <a:r>
              <a:rPr lang="ru-RU" sz="2800" dirty="0"/>
              <a:t>16</a:t>
            </a:r>
            <a:endParaRPr lang="ru-RU" dirty="0"/>
          </a:p>
        </p:txBody>
      </p:sp>
      <p:sp>
        <p:nvSpPr>
          <p:cNvPr id="80" name="TextBox 79"/>
          <p:cNvSpPr txBox="1"/>
          <p:nvPr/>
        </p:nvSpPr>
        <p:spPr>
          <a:xfrm>
            <a:off x="4927048" y="5391209"/>
            <a:ext cx="511787" cy="523220"/>
          </a:xfrm>
          <a:prstGeom prst="rect">
            <a:avLst/>
          </a:prstGeom>
          <a:solidFill>
            <a:schemeClr val="bg1"/>
          </a:solidFill>
        </p:spPr>
        <p:txBody>
          <a:bodyPr wrap="square" rtlCol="0">
            <a:spAutoFit/>
          </a:bodyPr>
          <a:lstStyle/>
          <a:p>
            <a:pPr algn="ctr"/>
            <a:r>
              <a:rPr lang="ru-RU" sz="2800" dirty="0"/>
              <a:t>13</a:t>
            </a:r>
            <a:endParaRPr lang="ru-RU" dirty="0"/>
          </a:p>
        </p:txBody>
      </p:sp>
      <p:sp>
        <p:nvSpPr>
          <p:cNvPr id="81" name="TextBox 80"/>
          <p:cNvSpPr txBox="1"/>
          <p:nvPr/>
        </p:nvSpPr>
        <p:spPr>
          <a:xfrm>
            <a:off x="5845539" y="4344049"/>
            <a:ext cx="511787" cy="523220"/>
          </a:xfrm>
          <a:prstGeom prst="rect">
            <a:avLst/>
          </a:prstGeom>
          <a:solidFill>
            <a:schemeClr val="bg1"/>
          </a:solidFill>
        </p:spPr>
        <p:txBody>
          <a:bodyPr wrap="square" rtlCol="0">
            <a:spAutoFit/>
          </a:bodyPr>
          <a:lstStyle/>
          <a:p>
            <a:pPr algn="ctr"/>
            <a:r>
              <a:rPr lang="ru-RU" sz="2800" dirty="0"/>
              <a:t>10</a:t>
            </a:r>
            <a:endParaRPr lang="ru-RU" dirty="0"/>
          </a:p>
        </p:txBody>
      </p:sp>
      <p:sp>
        <p:nvSpPr>
          <p:cNvPr id="82" name="TextBox 81"/>
          <p:cNvSpPr txBox="1"/>
          <p:nvPr/>
        </p:nvSpPr>
        <p:spPr>
          <a:xfrm>
            <a:off x="6385463" y="4896853"/>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3" name="TextBox 82"/>
          <p:cNvSpPr txBox="1"/>
          <p:nvPr/>
        </p:nvSpPr>
        <p:spPr>
          <a:xfrm>
            <a:off x="8198507" y="3473398"/>
            <a:ext cx="511787" cy="523220"/>
          </a:xfrm>
          <a:prstGeom prst="rect">
            <a:avLst/>
          </a:prstGeom>
          <a:solidFill>
            <a:schemeClr val="bg1"/>
          </a:solidFill>
        </p:spPr>
        <p:txBody>
          <a:bodyPr wrap="square" rtlCol="0">
            <a:spAutoFit/>
          </a:bodyPr>
          <a:lstStyle/>
          <a:p>
            <a:pPr algn="ctr"/>
            <a:r>
              <a:rPr lang="ru-RU" sz="2800" dirty="0"/>
              <a:t>12</a:t>
            </a:r>
            <a:endParaRPr lang="ru-RU" dirty="0"/>
          </a:p>
        </p:txBody>
      </p:sp>
      <p:sp>
        <p:nvSpPr>
          <p:cNvPr id="84" name="TextBox 83"/>
          <p:cNvSpPr txBox="1"/>
          <p:nvPr/>
        </p:nvSpPr>
        <p:spPr>
          <a:xfrm>
            <a:off x="7953245" y="4373633"/>
            <a:ext cx="511787" cy="523220"/>
          </a:xfrm>
          <a:prstGeom prst="rect">
            <a:avLst/>
          </a:prstGeom>
          <a:solidFill>
            <a:schemeClr val="bg1"/>
          </a:solidFill>
        </p:spPr>
        <p:txBody>
          <a:bodyPr wrap="square" rtlCol="0">
            <a:spAutoFit/>
          </a:bodyPr>
          <a:lstStyle/>
          <a:p>
            <a:pPr algn="ctr"/>
            <a:r>
              <a:rPr lang="ru-RU" sz="2800" dirty="0"/>
              <a:t>9</a:t>
            </a:r>
            <a:endParaRPr lang="ru-RU" dirty="0"/>
          </a:p>
        </p:txBody>
      </p:sp>
      <p:sp>
        <p:nvSpPr>
          <p:cNvPr id="85" name="TextBox 84"/>
          <p:cNvSpPr txBox="1"/>
          <p:nvPr/>
        </p:nvSpPr>
        <p:spPr>
          <a:xfrm>
            <a:off x="8185902" y="5809684"/>
            <a:ext cx="511787" cy="523220"/>
          </a:xfrm>
          <a:prstGeom prst="rect">
            <a:avLst/>
          </a:prstGeom>
          <a:solidFill>
            <a:schemeClr val="bg1"/>
          </a:solidFill>
        </p:spPr>
        <p:txBody>
          <a:bodyPr wrap="square" rtlCol="0">
            <a:spAutoFit/>
          </a:bodyPr>
          <a:lstStyle/>
          <a:p>
            <a:pPr algn="ctr"/>
            <a:r>
              <a:rPr lang="ru-RU" sz="2800" dirty="0"/>
              <a:t>14</a:t>
            </a:r>
            <a:endParaRPr lang="ru-RU" dirty="0"/>
          </a:p>
        </p:txBody>
      </p:sp>
      <p:sp>
        <p:nvSpPr>
          <p:cNvPr id="86" name="TextBox 85"/>
          <p:cNvSpPr txBox="1"/>
          <p:nvPr/>
        </p:nvSpPr>
        <p:spPr>
          <a:xfrm>
            <a:off x="9155940" y="4802178"/>
            <a:ext cx="511787" cy="523220"/>
          </a:xfrm>
          <a:prstGeom prst="rect">
            <a:avLst/>
          </a:prstGeom>
          <a:solidFill>
            <a:schemeClr val="bg1"/>
          </a:solidFill>
        </p:spPr>
        <p:txBody>
          <a:bodyPr wrap="square" rtlCol="0">
            <a:spAutoFit/>
          </a:bodyPr>
          <a:lstStyle/>
          <a:p>
            <a:pPr algn="ctr"/>
            <a:r>
              <a:rPr lang="ru-RU" sz="2800" dirty="0"/>
              <a:t>7</a:t>
            </a:r>
            <a:endParaRPr lang="ru-RU" dirty="0"/>
          </a:p>
        </p:txBody>
      </p:sp>
      <p:sp>
        <p:nvSpPr>
          <p:cNvPr id="87" name="TextBox 86"/>
          <p:cNvSpPr txBox="1"/>
          <p:nvPr/>
        </p:nvSpPr>
        <p:spPr>
          <a:xfrm>
            <a:off x="10080476" y="3845859"/>
            <a:ext cx="663009" cy="523220"/>
          </a:xfrm>
          <a:prstGeom prst="rect">
            <a:avLst/>
          </a:prstGeom>
          <a:solidFill>
            <a:schemeClr val="bg1"/>
          </a:solidFill>
        </p:spPr>
        <p:txBody>
          <a:bodyPr wrap="square" rtlCol="0">
            <a:spAutoFit/>
          </a:bodyPr>
          <a:lstStyle/>
          <a:p>
            <a:pPr algn="ctr"/>
            <a:r>
              <a:rPr lang="ru-RU" sz="2800" dirty="0"/>
              <a:t>20</a:t>
            </a:r>
            <a:endParaRPr lang="ru-RU" dirty="0"/>
          </a:p>
        </p:txBody>
      </p:sp>
      <p:sp>
        <p:nvSpPr>
          <p:cNvPr id="88" name="TextBox 87"/>
          <p:cNvSpPr txBox="1"/>
          <p:nvPr/>
        </p:nvSpPr>
        <p:spPr>
          <a:xfrm>
            <a:off x="10177684" y="5455820"/>
            <a:ext cx="511787" cy="523220"/>
          </a:xfrm>
          <a:prstGeom prst="rect">
            <a:avLst/>
          </a:prstGeom>
          <a:solidFill>
            <a:schemeClr val="bg1"/>
          </a:solidFill>
        </p:spPr>
        <p:txBody>
          <a:bodyPr wrap="square" rtlCol="0">
            <a:spAutoFit/>
          </a:bodyPr>
          <a:lstStyle/>
          <a:p>
            <a:pPr algn="ctr"/>
            <a:r>
              <a:rPr lang="ru-RU" sz="2800" dirty="0"/>
              <a:t>4</a:t>
            </a:r>
            <a:endParaRPr lang="ru-RU" dirty="0"/>
          </a:p>
        </p:txBody>
      </p:sp>
      <p:sp>
        <p:nvSpPr>
          <p:cNvPr id="89" name="Полилиния 88"/>
          <p:cNvSpPr/>
          <p:nvPr/>
        </p:nvSpPr>
        <p:spPr>
          <a:xfrm>
            <a:off x="10043878" y="3558043"/>
            <a:ext cx="45719" cy="2971013"/>
          </a:xfrm>
          <a:custGeom>
            <a:avLst/>
            <a:gdLst>
              <a:gd name="connsiteX0" fmla="*/ 14808 w 445114"/>
              <a:gd name="connsiteY0" fmla="*/ 0 h 3784676"/>
              <a:gd name="connsiteX1" fmla="*/ 297197 w 445114"/>
              <a:gd name="connsiteY1" fmla="*/ 1613647 h 3784676"/>
              <a:gd name="connsiteX2" fmla="*/ 1361 w 445114"/>
              <a:gd name="connsiteY2" fmla="*/ 3563471 h 3784676"/>
              <a:gd name="connsiteX3" fmla="*/ 445114 w 445114"/>
              <a:gd name="connsiteY3" fmla="*/ 3657600 h 3784676"/>
              <a:gd name="connsiteX0" fmla="*/ 14808 w 297223"/>
              <a:gd name="connsiteY0" fmla="*/ 0 h 3563471"/>
              <a:gd name="connsiteX1" fmla="*/ 297197 w 297223"/>
              <a:gd name="connsiteY1" fmla="*/ 1613647 h 3563471"/>
              <a:gd name="connsiteX2" fmla="*/ 1361 w 297223"/>
              <a:gd name="connsiteY2" fmla="*/ 3563471 h 3563471"/>
              <a:gd name="connsiteX0" fmla="*/ 14366 w 458132"/>
              <a:gd name="connsiteY0" fmla="*/ 0 h 3563471"/>
              <a:gd name="connsiteX1" fmla="*/ 458120 w 458132"/>
              <a:gd name="connsiteY1" fmla="*/ 1653988 h 3563471"/>
              <a:gd name="connsiteX2" fmla="*/ 919 w 458132"/>
              <a:gd name="connsiteY2" fmla="*/ 3563471 h 3563471"/>
              <a:gd name="connsiteX0" fmla="*/ 3012293 w 3619217"/>
              <a:gd name="connsiteY0" fmla="*/ 0 h 3119718"/>
              <a:gd name="connsiteX1" fmla="*/ 3456047 w 3619217"/>
              <a:gd name="connsiteY1" fmla="*/ 1653988 h 3119718"/>
              <a:gd name="connsiteX2" fmla="*/ 152 w 3619217"/>
              <a:gd name="connsiteY2" fmla="*/ 3119718 h 3119718"/>
              <a:gd name="connsiteX0" fmla="*/ 3040707 w 3047063"/>
              <a:gd name="connsiteY0" fmla="*/ 0 h 3119718"/>
              <a:gd name="connsiteX1" fmla="*/ 391638 w 3047063"/>
              <a:gd name="connsiteY1" fmla="*/ 1922929 h 3119718"/>
              <a:gd name="connsiteX2" fmla="*/ 28566 w 3047063"/>
              <a:gd name="connsiteY2" fmla="*/ 3119718 h 3119718"/>
              <a:gd name="connsiteX0" fmla="*/ 108756 w 365900"/>
              <a:gd name="connsiteY0" fmla="*/ 0 h 2770095"/>
              <a:gd name="connsiteX1" fmla="*/ 364252 w 365900"/>
              <a:gd name="connsiteY1" fmla="*/ 1573306 h 2770095"/>
              <a:gd name="connsiteX2" fmla="*/ 1180 w 365900"/>
              <a:gd name="connsiteY2" fmla="*/ 2770095 h 2770095"/>
              <a:gd name="connsiteX0" fmla="*/ 108581 w 432447"/>
              <a:gd name="connsiteY0" fmla="*/ 0 h 2770095"/>
              <a:gd name="connsiteX1" fmla="*/ 431313 w 432447"/>
              <a:gd name="connsiteY1" fmla="*/ 1573306 h 2770095"/>
              <a:gd name="connsiteX2" fmla="*/ 1005 w 432447"/>
              <a:gd name="connsiteY2" fmla="*/ 2770095 h 2770095"/>
              <a:gd name="connsiteX0" fmla="*/ 108644 w 405779"/>
              <a:gd name="connsiteY0" fmla="*/ 0 h 2770095"/>
              <a:gd name="connsiteX1" fmla="*/ 404482 w 405779"/>
              <a:gd name="connsiteY1" fmla="*/ 1331259 h 2770095"/>
              <a:gd name="connsiteX2" fmla="*/ 1068 w 405779"/>
              <a:gd name="connsiteY2" fmla="*/ 2770095 h 2770095"/>
              <a:gd name="connsiteX0" fmla="*/ 0 w 295888"/>
              <a:gd name="connsiteY0" fmla="*/ 0 h 2850778"/>
              <a:gd name="connsiteX1" fmla="*/ 295838 w 295888"/>
              <a:gd name="connsiteY1" fmla="*/ 1331259 h 2850778"/>
              <a:gd name="connsiteX2" fmla="*/ 26894 w 295888"/>
              <a:gd name="connsiteY2" fmla="*/ 2850778 h 2850778"/>
              <a:gd name="connsiteX0" fmla="*/ 0 w 5042651"/>
              <a:gd name="connsiteY0" fmla="*/ 206015 h 3056793"/>
              <a:gd name="connsiteX1" fmla="*/ 5042649 w 5042651"/>
              <a:gd name="connsiteY1" fmla="*/ 125333 h 3056793"/>
              <a:gd name="connsiteX2" fmla="*/ 26894 w 5042651"/>
              <a:gd name="connsiteY2" fmla="*/ 3056793 h 3056793"/>
              <a:gd name="connsiteX0" fmla="*/ 0 w 5042651"/>
              <a:gd name="connsiteY0" fmla="*/ 137328 h 2988106"/>
              <a:gd name="connsiteX1" fmla="*/ 5042649 w 5042651"/>
              <a:gd name="connsiteY1" fmla="*/ 56646 h 2988106"/>
              <a:gd name="connsiteX2" fmla="*/ 26894 w 5042651"/>
              <a:gd name="connsiteY2" fmla="*/ 2988106 h 2988106"/>
              <a:gd name="connsiteX0" fmla="*/ 0 w 4558558"/>
              <a:gd name="connsiteY0" fmla="*/ 45086 h 2895864"/>
              <a:gd name="connsiteX1" fmla="*/ 4558555 w 4558558"/>
              <a:gd name="connsiteY1" fmla="*/ 58533 h 2895864"/>
              <a:gd name="connsiteX2" fmla="*/ 26894 w 4558558"/>
              <a:gd name="connsiteY2" fmla="*/ 2895864 h 2895864"/>
              <a:gd name="connsiteX0" fmla="*/ 0 w 4647024"/>
              <a:gd name="connsiteY0" fmla="*/ 196315 h 3047093"/>
              <a:gd name="connsiteX1" fmla="*/ 4558555 w 4647024"/>
              <a:gd name="connsiteY1" fmla="*/ 209762 h 3047093"/>
              <a:gd name="connsiteX2" fmla="*/ 26894 w 4647024"/>
              <a:gd name="connsiteY2" fmla="*/ 3047093 h 3047093"/>
              <a:gd name="connsiteX0" fmla="*/ 0 w 4650039"/>
              <a:gd name="connsiteY0" fmla="*/ 196315 h 3047093"/>
              <a:gd name="connsiteX1" fmla="*/ 4558555 w 4650039"/>
              <a:gd name="connsiteY1" fmla="*/ 209762 h 3047093"/>
              <a:gd name="connsiteX2" fmla="*/ 26894 w 4650039"/>
              <a:gd name="connsiteY2" fmla="*/ 3047093 h 3047093"/>
              <a:gd name="connsiteX0" fmla="*/ 0 w 4570655"/>
              <a:gd name="connsiteY0" fmla="*/ 120396 h 2971174"/>
              <a:gd name="connsiteX1" fmla="*/ 4477873 w 4570655"/>
              <a:gd name="connsiteY1" fmla="*/ 214525 h 2971174"/>
              <a:gd name="connsiteX2" fmla="*/ 26894 w 4570655"/>
              <a:gd name="connsiteY2" fmla="*/ 2971174 h 2971174"/>
              <a:gd name="connsiteX0" fmla="*/ 0 w 4513028"/>
              <a:gd name="connsiteY0" fmla="*/ 259569 h 3110347"/>
              <a:gd name="connsiteX1" fmla="*/ 4477873 w 4513028"/>
              <a:gd name="connsiteY1" fmla="*/ 353698 h 3110347"/>
              <a:gd name="connsiteX2" fmla="*/ 26894 w 4513028"/>
              <a:gd name="connsiteY2" fmla="*/ 3110347 h 3110347"/>
              <a:gd name="connsiteX0" fmla="*/ 0 w 4579805"/>
              <a:gd name="connsiteY0" fmla="*/ 0 h 3169075"/>
              <a:gd name="connsiteX1" fmla="*/ 4545108 w 4579805"/>
              <a:gd name="connsiteY1" fmla="*/ 2850776 h 3169075"/>
              <a:gd name="connsiteX2" fmla="*/ 26894 w 4579805"/>
              <a:gd name="connsiteY2" fmla="*/ 2850778 h 3169075"/>
              <a:gd name="connsiteX0" fmla="*/ 0 w 4564082"/>
              <a:gd name="connsiteY0" fmla="*/ 0 h 3060536"/>
              <a:gd name="connsiteX1" fmla="*/ 4545108 w 4564082"/>
              <a:gd name="connsiteY1" fmla="*/ 2850776 h 3060536"/>
              <a:gd name="connsiteX2" fmla="*/ 26894 w 4564082"/>
              <a:gd name="connsiteY2" fmla="*/ 2850778 h 3060536"/>
              <a:gd name="connsiteX0" fmla="*/ 0 w 4456916"/>
              <a:gd name="connsiteY0" fmla="*/ 0 h 3047773"/>
              <a:gd name="connsiteX1" fmla="*/ 4437532 w 4456916"/>
              <a:gd name="connsiteY1" fmla="*/ 2837329 h 3047773"/>
              <a:gd name="connsiteX2" fmla="*/ 26894 w 4456916"/>
              <a:gd name="connsiteY2" fmla="*/ 2850778 h 3047773"/>
              <a:gd name="connsiteX0" fmla="*/ 0 w 4494095"/>
              <a:gd name="connsiteY0" fmla="*/ 0 h 3120557"/>
              <a:gd name="connsiteX1" fmla="*/ 4437532 w 4494095"/>
              <a:gd name="connsiteY1" fmla="*/ 2837329 h 3120557"/>
              <a:gd name="connsiteX2" fmla="*/ 26894 w 4494095"/>
              <a:gd name="connsiteY2" fmla="*/ 2850778 h 3120557"/>
              <a:gd name="connsiteX0" fmla="*/ 147918 w 4410745"/>
              <a:gd name="connsiteY0" fmla="*/ 0 h 3333642"/>
              <a:gd name="connsiteX1" fmla="*/ 4410638 w 4410745"/>
              <a:gd name="connsiteY1" fmla="*/ 3267635 h 3333642"/>
              <a:gd name="connsiteX2" fmla="*/ 0 w 4410745"/>
              <a:gd name="connsiteY2" fmla="*/ 3281084 h 3333642"/>
              <a:gd name="connsiteX0" fmla="*/ 147918 w 4476210"/>
              <a:gd name="connsiteY0" fmla="*/ 0 h 3491908"/>
              <a:gd name="connsiteX1" fmla="*/ 4410638 w 4476210"/>
              <a:gd name="connsiteY1" fmla="*/ 3267635 h 3491908"/>
              <a:gd name="connsiteX2" fmla="*/ 0 w 4476210"/>
              <a:gd name="connsiteY2" fmla="*/ 3281084 h 3491908"/>
              <a:gd name="connsiteX0" fmla="*/ 147918 w 4413204"/>
              <a:gd name="connsiteY0" fmla="*/ 0 h 4395196"/>
              <a:gd name="connsiteX1" fmla="*/ 4410638 w 4413204"/>
              <a:gd name="connsiteY1" fmla="*/ 3267635 h 4395196"/>
              <a:gd name="connsiteX2" fmla="*/ 0 w 4413204"/>
              <a:gd name="connsiteY2" fmla="*/ 3281084 h 4395196"/>
              <a:gd name="connsiteX0" fmla="*/ 147918 w 4574478"/>
              <a:gd name="connsiteY0" fmla="*/ 0 h 3313869"/>
              <a:gd name="connsiteX1" fmla="*/ 4572002 w 4574478"/>
              <a:gd name="connsiteY1" fmla="*/ 1963270 h 3313869"/>
              <a:gd name="connsiteX2" fmla="*/ 0 w 4574478"/>
              <a:gd name="connsiteY2" fmla="*/ 3281084 h 3313869"/>
              <a:gd name="connsiteX0" fmla="*/ 147918 w 4573835"/>
              <a:gd name="connsiteY0" fmla="*/ 0 h 3669186"/>
              <a:gd name="connsiteX1" fmla="*/ 4572002 w 4573835"/>
              <a:gd name="connsiteY1" fmla="*/ 1963270 h 3669186"/>
              <a:gd name="connsiteX2" fmla="*/ 0 w 4573835"/>
              <a:gd name="connsiteY2" fmla="*/ 3281084 h 3669186"/>
              <a:gd name="connsiteX0" fmla="*/ 152615 w 4578532"/>
              <a:gd name="connsiteY0" fmla="*/ 0 h 3495049"/>
              <a:gd name="connsiteX1" fmla="*/ 4576699 w 4578532"/>
              <a:gd name="connsiteY1" fmla="*/ 1963270 h 3495049"/>
              <a:gd name="connsiteX2" fmla="*/ 4697 w 4578532"/>
              <a:gd name="connsiteY2" fmla="*/ 3281084 h 3495049"/>
              <a:gd name="connsiteX0" fmla="*/ 152615 w 4578511"/>
              <a:gd name="connsiteY0" fmla="*/ 0 h 3495049"/>
              <a:gd name="connsiteX1" fmla="*/ 4576699 w 4578511"/>
              <a:gd name="connsiteY1" fmla="*/ 1963270 h 3495049"/>
              <a:gd name="connsiteX2" fmla="*/ 4697 w 4578511"/>
              <a:gd name="connsiteY2" fmla="*/ 3281084 h 3495049"/>
              <a:gd name="connsiteX0" fmla="*/ 152426 w 4577930"/>
              <a:gd name="connsiteY0" fmla="*/ 0 h 3674939"/>
              <a:gd name="connsiteX1" fmla="*/ 4576510 w 4577930"/>
              <a:gd name="connsiteY1" fmla="*/ 1963270 h 3674939"/>
              <a:gd name="connsiteX2" fmla="*/ 4508 w 4577930"/>
              <a:gd name="connsiteY2" fmla="*/ 3281084 h 3674939"/>
              <a:gd name="connsiteX0" fmla="*/ 0 w 5435710"/>
              <a:gd name="connsiteY0" fmla="*/ 0 h 2568389"/>
              <a:gd name="connsiteX1" fmla="*/ 5432614 w 5435710"/>
              <a:gd name="connsiteY1" fmla="*/ 1250575 h 2568389"/>
              <a:gd name="connsiteX2" fmla="*/ 860612 w 5435710"/>
              <a:gd name="connsiteY2" fmla="*/ 2568389 h 2568389"/>
              <a:gd name="connsiteX0" fmla="*/ 0 w 860612"/>
              <a:gd name="connsiteY0" fmla="*/ 0 h 2568389"/>
              <a:gd name="connsiteX1" fmla="*/ 860612 w 860612"/>
              <a:gd name="connsiteY1" fmla="*/ 2568389 h 2568389"/>
              <a:gd name="connsiteX0" fmla="*/ 0 w 3146612"/>
              <a:gd name="connsiteY0" fmla="*/ 0 h 2918012"/>
              <a:gd name="connsiteX1" fmla="*/ 3146612 w 3146612"/>
              <a:gd name="connsiteY1" fmla="*/ 2918012 h 2918012"/>
              <a:gd name="connsiteX0" fmla="*/ 0 w 3146612"/>
              <a:gd name="connsiteY0" fmla="*/ 0 h 2918012"/>
              <a:gd name="connsiteX1" fmla="*/ 3146612 w 3146612"/>
              <a:gd name="connsiteY1" fmla="*/ 2918012 h 2918012"/>
              <a:gd name="connsiteX0" fmla="*/ 0 w 2837330"/>
              <a:gd name="connsiteY0" fmla="*/ 0 h 3052483"/>
              <a:gd name="connsiteX1" fmla="*/ 2837330 w 2837330"/>
              <a:gd name="connsiteY1" fmla="*/ 3052483 h 3052483"/>
              <a:gd name="connsiteX0" fmla="*/ 0 w 3200400"/>
              <a:gd name="connsiteY0" fmla="*/ 0 h 2810436"/>
              <a:gd name="connsiteX1" fmla="*/ 3200400 w 3200400"/>
              <a:gd name="connsiteY1" fmla="*/ 2810436 h 2810436"/>
              <a:gd name="connsiteX0" fmla="*/ 0 w 3200400"/>
              <a:gd name="connsiteY0" fmla="*/ 0 h 2810436"/>
              <a:gd name="connsiteX1" fmla="*/ 3200400 w 3200400"/>
              <a:gd name="connsiteY1" fmla="*/ 2810436 h 2810436"/>
              <a:gd name="connsiteX0" fmla="*/ 0 w 3200400"/>
              <a:gd name="connsiteY0" fmla="*/ 0 h 2810436"/>
              <a:gd name="connsiteX1" fmla="*/ 1677894 w 3200400"/>
              <a:gd name="connsiteY1" fmla="*/ 1094472 h 2810436"/>
              <a:gd name="connsiteX2" fmla="*/ 3200400 w 3200400"/>
              <a:gd name="connsiteY2" fmla="*/ 2810436 h 2810436"/>
              <a:gd name="connsiteX0" fmla="*/ 0 w 5846482"/>
              <a:gd name="connsiteY0" fmla="*/ 619284 h 3429720"/>
              <a:gd name="connsiteX1" fmla="*/ 5846482 w 5846482"/>
              <a:gd name="connsiteY1" fmla="*/ 46320 h 3429720"/>
              <a:gd name="connsiteX2" fmla="*/ 3200400 w 5846482"/>
              <a:gd name="connsiteY2" fmla="*/ 3429720 h 342972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572964 h 3383400"/>
              <a:gd name="connsiteX1" fmla="*/ 5846482 w 5935413"/>
              <a:gd name="connsiteY1" fmla="*/ 0 h 3383400"/>
              <a:gd name="connsiteX2" fmla="*/ 3200400 w 5935413"/>
              <a:gd name="connsiteY2" fmla="*/ 3383400 h 3383400"/>
              <a:gd name="connsiteX0" fmla="*/ 0 w 5935413"/>
              <a:gd name="connsiteY0" fmla="*/ 804544 h 3614980"/>
              <a:gd name="connsiteX1" fmla="*/ 5846482 w 5935413"/>
              <a:gd name="connsiteY1" fmla="*/ 231580 h 3614980"/>
              <a:gd name="connsiteX2" fmla="*/ 3200400 w 5935413"/>
              <a:gd name="connsiteY2" fmla="*/ 3614980 h 3614980"/>
              <a:gd name="connsiteX0" fmla="*/ 0 w 5935413"/>
              <a:gd name="connsiteY0" fmla="*/ 677829 h 3488265"/>
              <a:gd name="connsiteX1" fmla="*/ 5846482 w 5935413"/>
              <a:gd name="connsiteY1" fmla="*/ 104865 h 3488265"/>
              <a:gd name="connsiteX2" fmla="*/ 3200400 w 5935413"/>
              <a:gd name="connsiteY2" fmla="*/ 3488265 h 3488265"/>
              <a:gd name="connsiteX0" fmla="*/ 0 w 5659518"/>
              <a:gd name="connsiteY0" fmla="*/ 782188 h 3592624"/>
              <a:gd name="connsiteX1" fmla="*/ 5564094 w 5659518"/>
              <a:gd name="connsiteY1" fmla="*/ 101648 h 3592624"/>
              <a:gd name="connsiteX2" fmla="*/ 3200400 w 5659518"/>
              <a:gd name="connsiteY2" fmla="*/ 3592624 h 3592624"/>
              <a:gd name="connsiteX0" fmla="*/ 0 w 4531086"/>
              <a:gd name="connsiteY0" fmla="*/ 0 h 2810436"/>
              <a:gd name="connsiteX1" fmla="*/ 4394200 w 4531086"/>
              <a:gd name="connsiteY1" fmla="*/ 1148260 h 2810436"/>
              <a:gd name="connsiteX2" fmla="*/ 3200400 w 4531086"/>
              <a:gd name="connsiteY2" fmla="*/ 2810436 h 2810436"/>
              <a:gd name="connsiteX0" fmla="*/ 0 w 4547780"/>
              <a:gd name="connsiteY0" fmla="*/ 0 h 2810436"/>
              <a:gd name="connsiteX1" fmla="*/ 4394200 w 4547780"/>
              <a:gd name="connsiteY1" fmla="*/ 1148260 h 2810436"/>
              <a:gd name="connsiteX2" fmla="*/ 3200400 w 4547780"/>
              <a:gd name="connsiteY2" fmla="*/ 2810436 h 2810436"/>
              <a:gd name="connsiteX0" fmla="*/ 2645963 w 2681068"/>
              <a:gd name="connsiteY0" fmla="*/ 0 h 3307977"/>
              <a:gd name="connsiteX1" fmla="*/ 1231034 w 2681068"/>
              <a:gd name="connsiteY1" fmla="*/ 1645801 h 3307977"/>
              <a:gd name="connsiteX2" fmla="*/ 37234 w 2681068"/>
              <a:gd name="connsiteY2" fmla="*/ 3307977 h 3307977"/>
              <a:gd name="connsiteX0" fmla="*/ 2645963 w 2645963"/>
              <a:gd name="connsiteY0" fmla="*/ 0 h 3307977"/>
              <a:gd name="connsiteX1" fmla="*/ 1231034 w 2645963"/>
              <a:gd name="connsiteY1" fmla="*/ 1645801 h 3307977"/>
              <a:gd name="connsiteX2" fmla="*/ 37234 w 2645963"/>
              <a:gd name="connsiteY2" fmla="*/ 3307977 h 3307977"/>
              <a:gd name="connsiteX0" fmla="*/ 2684424 w 2684424"/>
              <a:gd name="connsiteY0" fmla="*/ 0 h 3307977"/>
              <a:gd name="connsiteX1" fmla="*/ 1269495 w 2684424"/>
              <a:gd name="connsiteY1" fmla="*/ 1645801 h 3307977"/>
              <a:gd name="connsiteX2" fmla="*/ 75695 w 2684424"/>
              <a:gd name="connsiteY2" fmla="*/ 3307977 h 3307977"/>
            </a:gdLst>
            <a:ahLst/>
            <a:cxnLst>
              <a:cxn ang="0">
                <a:pos x="connsiteX0" y="connsiteY0"/>
              </a:cxn>
              <a:cxn ang="0">
                <a:pos x="connsiteX1" y="connsiteY1"/>
              </a:cxn>
              <a:cxn ang="0">
                <a:pos x="connsiteX2" y="connsiteY2"/>
              </a:cxn>
            </a:cxnLst>
            <a:rect l="l" t="t" r="r" b="b"/>
            <a:pathLst>
              <a:path w="2684424" h="3307977">
                <a:moveTo>
                  <a:pt x="2684424" y="0"/>
                </a:moveTo>
                <a:cubicBezTo>
                  <a:pt x="2602746" y="965459"/>
                  <a:pt x="2386597" y="640001"/>
                  <a:pt x="1269495" y="1645801"/>
                </a:cubicBezTo>
                <a:cubicBezTo>
                  <a:pt x="667366" y="2102224"/>
                  <a:pt x="-273929" y="2537012"/>
                  <a:pt x="75695" y="3307977"/>
                </a:cubicBezTo>
              </a:path>
            </a:pathLst>
          </a:cu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0" name="TextBox 89"/>
          <p:cNvSpPr txBox="1"/>
          <p:nvPr/>
        </p:nvSpPr>
        <p:spPr>
          <a:xfrm>
            <a:off x="4864463" y="6070792"/>
            <a:ext cx="815154" cy="769441"/>
          </a:xfrm>
          <a:prstGeom prst="rect">
            <a:avLst/>
          </a:prstGeom>
          <a:solidFill>
            <a:schemeClr val="bg1"/>
          </a:solidFill>
        </p:spPr>
        <p:txBody>
          <a:bodyPr wrap="square" rtlCol="0">
            <a:spAutoFit/>
          </a:bodyPr>
          <a:lstStyle/>
          <a:p>
            <a:pPr algn="ctr"/>
            <a:r>
              <a:rPr lang="ru-RU" sz="4400" dirty="0">
                <a:solidFill>
                  <a:srgbClr val="C00000"/>
                </a:solidFill>
              </a:rPr>
              <a:t>24</a:t>
            </a:r>
            <a:endParaRPr lang="ru-RU" sz="3200" dirty="0">
              <a:solidFill>
                <a:srgbClr val="C00000"/>
              </a:solidFill>
            </a:endParaRPr>
          </a:p>
        </p:txBody>
      </p:sp>
      <p:sp>
        <p:nvSpPr>
          <p:cNvPr id="91" name="TextBox 90">
            <a:extLst>
              <a:ext uri="{FF2B5EF4-FFF2-40B4-BE49-F238E27FC236}">
                <a16:creationId xmlns:a16="http://schemas.microsoft.com/office/drawing/2014/main" id="{00C44260-3CCC-4979-B4F6-E07188A6454B}"/>
              </a:ext>
            </a:extLst>
          </p:cNvPr>
          <p:cNvSpPr txBox="1"/>
          <p:nvPr/>
        </p:nvSpPr>
        <p:spPr>
          <a:xfrm>
            <a:off x="8574905" y="713947"/>
            <a:ext cx="3209727" cy="369332"/>
          </a:xfrm>
          <a:prstGeom prst="rect">
            <a:avLst/>
          </a:prstGeom>
          <a:noFill/>
        </p:spPr>
        <p:txBody>
          <a:bodyPr wrap="square" rtlCol="0">
            <a:spAutoFit/>
          </a:bodyPr>
          <a:lstStyle/>
          <a:p>
            <a:r>
              <a:rPr lang="en-US" dirty="0"/>
              <a:t>{</a:t>
            </a:r>
            <a:r>
              <a:rPr lang="ru-RU" dirty="0"/>
              <a:t>0,2,3,4</a:t>
            </a:r>
            <a:r>
              <a:rPr lang="en-US" dirty="0"/>
              <a:t>}</a:t>
            </a:r>
            <a:r>
              <a:rPr lang="ru-RU" dirty="0"/>
              <a:t> 16 + 20 + 4 + 4 </a:t>
            </a:r>
          </a:p>
        </p:txBody>
      </p:sp>
      <p:sp>
        <p:nvSpPr>
          <p:cNvPr id="92" name="TextBox 91">
            <a:extLst>
              <a:ext uri="{FF2B5EF4-FFF2-40B4-BE49-F238E27FC236}">
                <a16:creationId xmlns:a16="http://schemas.microsoft.com/office/drawing/2014/main" id="{4C17A23E-8BBF-4DB3-9250-94CB4321BF2C}"/>
              </a:ext>
            </a:extLst>
          </p:cNvPr>
          <p:cNvSpPr txBox="1"/>
          <p:nvPr/>
        </p:nvSpPr>
        <p:spPr>
          <a:xfrm>
            <a:off x="809426" y="5624310"/>
            <a:ext cx="3143390" cy="369332"/>
          </a:xfrm>
          <a:prstGeom prst="rect">
            <a:avLst/>
          </a:prstGeom>
          <a:noFill/>
        </p:spPr>
        <p:txBody>
          <a:bodyPr wrap="square" rtlCol="0">
            <a:spAutoFit/>
          </a:bodyPr>
          <a:lstStyle/>
          <a:p>
            <a:r>
              <a:rPr lang="en-US" dirty="0"/>
              <a:t>{</a:t>
            </a:r>
            <a:r>
              <a:rPr lang="ru-RU" dirty="0"/>
              <a:t>0,1,2,3,4</a:t>
            </a:r>
            <a:r>
              <a:rPr lang="en-US" dirty="0"/>
              <a:t>}</a:t>
            </a:r>
            <a:r>
              <a:rPr lang="ru-RU" dirty="0"/>
              <a:t> 20 + 4 </a:t>
            </a:r>
          </a:p>
        </p:txBody>
      </p:sp>
    </p:spTree>
    <p:extLst>
      <p:ext uri="{BB962C8B-B14F-4D97-AF65-F5344CB8AC3E}">
        <p14:creationId xmlns:p14="http://schemas.microsoft.com/office/powerpoint/2010/main" val="1110809661"/>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754;p29">
            <a:extLst>
              <a:ext uri="{FF2B5EF4-FFF2-40B4-BE49-F238E27FC236}">
                <a16:creationId xmlns:a16="http://schemas.microsoft.com/office/drawing/2014/main" id="{F7059D35-A869-415E-AB95-D6CC119D22D3}"/>
              </a:ext>
            </a:extLst>
          </p:cNvPr>
          <p:cNvGrpSpPr/>
          <p:nvPr/>
        </p:nvGrpSpPr>
        <p:grpSpPr>
          <a:xfrm>
            <a:off x="6672064" y="764704"/>
            <a:ext cx="5257800" cy="5829300"/>
            <a:chOff x="0" y="0"/>
            <a:chExt cx="5257800" cy="5829300"/>
          </a:xfrm>
        </p:grpSpPr>
        <p:sp>
          <p:nvSpPr>
            <p:cNvPr id="3" name="Google Shape;755;p29">
              <a:extLst>
                <a:ext uri="{FF2B5EF4-FFF2-40B4-BE49-F238E27FC236}">
                  <a16:creationId xmlns:a16="http://schemas.microsoft.com/office/drawing/2014/main" id="{4D062A97-CADB-4D4E-8DEF-842954786755}"/>
                </a:ext>
              </a:extLst>
            </p:cNvPr>
            <p:cNvSpPr/>
            <p:nvPr/>
          </p:nvSpPr>
          <p:spPr>
            <a:xfrm>
              <a:off x="0" y="0"/>
              <a:ext cx="5257800" cy="5829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 name="Google Shape;756;p29">
              <a:extLst>
                <a:ext uri="{FF2B5EF4-FFF2-40B4-BE49-F238E27FC236}">
                  <a16:creationId xmlns:a16="http://schemas.microsoft.com/office/drawing/2014/main" id="{7EF4FF2A-B504-43AE-AADF-8F95588172F6}"/>
                </a:ext>
              </a:extLst>
            </p:cNvPr>
            <p:cNvSpPr/>
            <p:nvPr/>
          </p:nvSpPr>
          <p:spPr>
            <a:xfrm>
              <a:off x="914400" y="1142365"/>
              <a:ext cx="457200" cy="457835"/>
            </a:xfrm>
            <a:prstGeom prst="ellipse">
              <a:avLst/>
            </a:prstGeom>
            <a:solidFill>
              <a:srgbClr val="00CC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0</a:t>
              </a:r>
              <a:endParaRPr sz="1400">
                <a:solidFill>
                  <a:schemeClr val="dk1"/>
                </a:solidFill>
                <a:latin typeface="Times New Roman"/>
                <a:ea typeface="Times New Roman"/>
                <a:cs typeface="Times New Roman"/>
                <a:sym typeface="Times New Roman"/>
              </a:endParaRPr>
            </a:p>
          </p:txBody>
        </p:sp>
        <p:cxnSp>
          <p:nvCxnSpPr>
            <p:cNvPr id="5" name="Google Shape;757;p29">
              <a:extLst>
                <a:ext uri="{FF2B5EF4-FFF2-40B4-BE49-F238E27FC236}">
                  <a16:creationId xmlns:a16="http://schemas.microsoft.com/office/drawing/2014/main" id="{5B483494-FEB0-4057-BC61-4ECDEB752FC5}"/>
                </a:ext>
              </a:extLst>
            </p:cNvPr>
            <p:cNvCxnSpPr>
              <a:endCxn id="9" idx="1"/>
            </p:cNvCxnSpPr>
            <p:nvPr/>
          </p:nvCxnSpPr>
          <p:spPr>
            <a:xfrm rot="10800000" flipH="1">
              <a:off x="1371650" y="850809"/>
              <a:ext cx="1179300" cy="522600"/>
            </a:xfrm>
            <a:prstGeom prst="straightConnector1">
              <a:avLst/>
            </a:prstGeom>
            <a:noFill/>
            <a:ln w="28575" cap="flat" cmpd="sng">
              <a:solidFill>
                <a:srgbClr val="000000"/>
              </a:solidFill>
              <a:prstDash val="solid"/>
              <a:round/>
              <a:headEnd type="none" w="med" len="med"/>
              <a:tailEnd type="triangle" w="med" len="med"/>
            </a:ln>
          </p:spPr>
        </p:cxnSp>
        <p:sp>
          <p:nvSpPr>
            <p:cNvPr id="6" name="Google Shape;759;p29">
              <a:extLst>
                <a:ext uri="{FF2B5EF4-FFF2-40B4-BE49-F238E27FC236}">
                  <a16:creationId xmlns:a16="http://schemas.microsoft.com/office/drawing/2014/main" id="{D79FC1E8-1D99-43A4-9746-196492DF8741}"/>
                </a:ext>
              </a:extLst>
            </p:cNvPr>
            <p:cNvSpPr/>
            <p:nvPr/>
          </p:nvSpPr>
          <p:spPr>
            <a:xfrm>
              <a:off x="3886200" y="1028700"/>
              <a:ext cx="457200" cy="457835"/>
            </a:xfrm>
            <a:prstGeom prst="ellipse">
              <a:avLst/>
            </a:prstGeom>
            <a:solidFill>
              <a:srgbClr val="FF00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5</a:t>
              </a:r>
              <a:endParaRPr sz="1400">
                <a:solidFill>
                  <a:schemeClr val="dk1"/>
                </a:solidFill>
                <a:latin typeface="Times New Roman"/>
                <a:ea typeface="Times New Roman"/>
                <a:cs typeface="Times New Roman"/>
                <a:sym typeface="Times New Roman"/>
              </a:endParaRPr>
            </a:p>
          </p:txBody>
        </p:sp>
        <p:sp>
          <p:nvSpPr>
            <p:cNvPr id="7" name="Google Shape;760;p29">
              <a:extLst>
                <a:ext uri="{FF2B5EF4-FFF2-40B4-BE49-F238E27FC236}">
                  <a16:creationId xmlns:a16="http://schemas.microsoft.com/office/drawing/2014/main" id="{C45069BE-B9D8-491C-843F-573A8F11F5BB}"/>
                </a:ext>
              </a:extLst>
            </p:cNvPr>
            <p:cNvSpPr/>
            <p:nvPr/>
          </p:nvSpPr>
          <p:spPr>
            <a:xfrm>
              <a:off x="914400" y="2286000"/>
              <a:ext cx="457200" cy="457835"/>
            </a:xfrm>
            <a:prstGeom prst="ellipse">
              <a:avLst/>
            </a:prstGeom>
            <a:solidFill>
              <a:srgbClr val="00CC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1</a:t>
              </a:r>
              <a:endParaRPr sz="1400">
                <a:solidFill>
                  <a:schemeClr val="dk1"/>
                </a:solidFill>
                <a:latin typeface="Times New Roman"/>
                <a:ea typeface="Times New Roman"/>
                <a:cs typeface="Times New Roman"/>
                <a:sym typeface="Times New Roman"/>
              </a:endParaRPr>
            </a:p>
          </p:txBody>
        </p:sp>
        <p:sp>
          <p:nvSpPr>
            <p:cNvPr id="8" name="Google Shape;761;p29">
              <a:extLst>
                <a:ext uri="{FF2B5EF4-FFF2-40B4-BE49-F238E27FC236}">
                  <a16:creationId xmlns:a16="http://schemas.microsoft.com/office/drawing/2014/main" id="{0605993A-58E6-4271-87ED-AB5E0A05750B}"/>
                </a:ext>
              </a:extLst>
            </p:cNvPr>
            <p:cNvSpPr/>
            <p:nvPr/>
          </p:nvSpPr>
          <p:spPr>
            <a:xfrm>
              <a:off x="914400" y="3428365"/>
              <a:ext cx="457200" cy="457835"/>
            </a:xfrm>
            <a:prstGeom prst="ellipse">
              <a:avLst/>
            </a:prstGeom>
            <a:solidFill>
              <a:srgbClr val="00CC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3</a:t>
              </a:r>
              <a:endParaRPr sz="1400">
                <a:solidFill>
                  <a:schemeClr val="dk1"/>
                </a:solidFill>
                <a:latin typeface="Times New Roman"/>
                <a:ea typeface="Times New Roman"/>
                <a:cs typeface="Times New Roman"/>
                <a:sym typeface="Times New Roman"/>
              </a:endParaRPr>
            </a:p>
          </p:txBody>
        </p:sp>
        <p:sp>
          <p:nvSpPr>
            <p:cNvPr id="9" name="Google Shape;758;p29">
              <a:extLst>
                <a:ext uri="{FF2B5EF4-FFF2-40B4-BE49-F238E27FC236}">
                  <a16:creationId xmlns:a16="http://schemas.microsoft.com/office/drawing/2014/main" id="{BD9BBBBB-123F-4C12-BF1C-FD08D068384D}"/>
                </a:ext>
              </a:extLst>
            </p:cNvPr>
            <p:cNvSpPr/>
            <p:nvPr/>
          </p:nvSpPr>
          <p:spPr>
            <a:xfrm>
              <a:off x="2400300" y="114300"/>
              <a:ext cx="1028700" cy="5029200"/>
            </a:xfrm>
            <a:prstGeom prst="ellipse">
              <a:avLst/>
            </a:prstGeom>
            <a:solidFill>
              <a:srgbClr val="00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cxnSp>
          <p:nvCxnSpPr>
            <p:cNvPr id="10" name="Google Shape;762;p29">
              <a:extLst>
                <a:ext uri="{FF2B5EF4-FFF2-40B4-BE49-F238E27FC236}">
                  <a16:creationId xmlns:a16="http://schemas.microsoft.com/office/drawing/2014/main" id="{17C4B3D6-54AE-49A8-8567-55BAE4FFA026}"/>
                </a:ext>
              </a:extLst>
            </p:cNvPr>
            <p:cNvCxnSpPr>
              <a:stCxn id="4" idx="6"/>
              <a:endCxn id="9" idx="1"/>
            </p:cNvCxnSpPr>
            <p:nvPr/>
          </p:nvCxnSpPr>
          <p:spPr>
            <a:xfrm rot="10800000" flipH="1">
              <a:off x="1371600" y="850783"/>
              <a:ext cx="1179300" cy="520500"/>
            </a:xfrm>
            <a:prstGeom prst="straightConnector1">
              <a:avLst/>
            </a:prstGeom>
            <a:noFill/>
            <a:ln w="28575" cap="flat" cmpd="sng">
              <a:solidFill>
                <a:srgbClr val="000000"/>
              </a:solidFill>
              <a:prstDash val="solid"/>
              <a:round/>
              <a:headEnd type="none" w="med" len="med"/>
              <a:tailEnd type="triangle" w="med" len="med"/>
            </a:ln>
          </p:spPr>
        </p:cxnSp>
        <p:cxnSp>
          <p:nvCxnSpPr>
            <p:cNvPr id="11" name="Google Shape;763;p29">
              <a:extLst>
                <a:ext uri="{FF2B5EF4-FFF2-40B4-BE49-F238E27FC236}">
                  <a16:creationId xmlns:a16="http://schemas.microsoft.com/office/drawing/2014/main" id="{1672AB63-B37B-4A9B-901F-71C6FA1C8EBC}"/>
                </a:ext>
              </a:extLst>
            </p:cNvPr>
            <p:cNvCxnSpPr/>
            <p:nvPr/>
          </p:nvCxnSpPr>
          <p:spPr>
            <a:xfrm>
              <a:off x="1371600" y="1371600"/>
              <a:ext cx="1028700" cy="571500"/>
            </a:xfrm>
            <a:prstGeom prst="straightConnector1">
              <a:avLst/>
            </a:prstGeom>
            <a:noFill/>
            <a:ln w="28575" cap="flat" cmpd="sng">
              <a:solidFill>
                <a:srgbClr val="000000"/>
              </a:solidFill>
              <a:prstDash val="solid"/>
              <a:round/>
              <a:headEnd type="none" w="med" len="med"/>
              <a:tailEnd type="triangle" w="med" len="med"/>
            </a:ln>
          </p:spPr>
        </p:cxnSp>
        <p:cxnSp>
          <p:nvCxnSpPr>
            <p:cNvPr id="12" name="Google Shape;764;p29">
              <a:extLst>
                <a:ext uri="{FF2B5EF4-FFF2-40B4-BE49-F238E27FC236}">
                  <a16:creationId xmlns:a16="http://schemas.microsoft.com/office/drawing/2014/main" id="{D561C3B3-D9D7-4072-88E7-59137746713C}"/>
                </a:ext>
              </a:extLst>
            </p:cNvPr>
            <p:cNvCxnSpPr>
              <a:stCxn id="7" idx="6"/>
              <a:endCxn id="11" idx="1"/>
            </p:cNvCxnSpPr>
            <p:nvPr/>
          </p:nvCxnSpPr>
          <p:spPr>
            <a:xfrm rot="10800000" flipH="1">
              <a:off x="1371600" y="1956618"/>
              <a:ext cx="1014600" cy="558300"/>
            </a:xfrm>
            <a:prstGeom prst="straightConnector1">
              <a:avLst/>
            </a:prstGeom>
            <a:noFill/>
            <a:ln w="28575" cap="flat" cmpd="sng">
              <a:solidFill>
                <a:srgbClr val="000000"/>
              </a:solidFill>
              <a:prstDash val="solid"/>
              <a:round/>
              <a:headEnd type="none" w="med" len="med"/>
              <a:tailEnd type="triangle" w="med" len="med"/>
            </a:ln>
          </p:spPr>
        </p:cxnSp>
        <p:cxnSp>
          <p:nvCxnSpPr>
            <p:cNvPr id="13" name="Google Shape;765;p29">
              <a:extLst>
                <a:ext uri="{FF2B5EF4-FFF2-40B4-BE49-F238E27FC236}">
                  <a16:creationId xmlns:a16="http://schemas.microsoft.com/office/drawing/2014/main" id="{96ED5D15-596C-4CB9-8D81-7746A3F588C6}"/>
                </a:ext>
              </a:extLst>
            </p:cNvPr>
            <p:cNvCxnSpPr>
              <a:stCxn id="7" idx="6"/>
              <a:endCxn id="9" idx="2"/>
            </p:cNvCxnSpPr>
            <p:nvPr/>
          </p:nvCxnSpPr>
          <p:spPr>
            <a:xfrm>
              <a:off x="1371600" y="2514918"/>
              <a:ext cx="1028700" cy="114000"/>
            </a:xfrm>
            <a:prstGeom prst="straightConnector1">
              <a:avLst/>
            </a:prstGeom>
            <a:noFill/>
            <a:ln w="28575" cap="flat" cmpd="sng">
              <a:solidFill>
                <a:srgbClr val="000000"/>
              </a:solidFill>
              <a:prstDash val="solid"/>
              <a:round/>
              <a:headEnd type="none" w="med" len="med"/>
              <a:tailEnd type="triangle" w="med" len="med"/>
            </a:ln>
          </p:spPr>
        </p:cxnSp>
        <p:cxnSp>
          <p:nvCxnSpPr>
            <p:cNvPr id="14" name="Google Shape;766;p29">
              <a:extLst>
                <a:ext uri="{FF2B5EF4-FFF2-40B4-BE49-F238E27FC236}">
                  <a16:creationId xmlns:a16="http://schemas.microsoft.com/office/drawing/2014/main" id="{5640C62A-5081-4574-972F-9DB2CFF6FCE9}"/>
                </a:ext>
              </a:extLst>
            </p:cNvPr>
            <p:cNvCxnSpPr>
              <a:stCxn id="8" idx="6"/>
              <a:endCxn id="9" idx="2"/>
            </p:cNvCxnSpPr>
            <p:nvPr/>
          </p:nvCxnSpPr>
          <p:spPr>
            <a:xfrm rot="10800000" flipH="1">
              <a:off x="1371600" y="2628882"/>
              <a:ext cx="1028700" cy="1028400"/>
            </a:xfrm>
            <a:prstGeom prst="straightConnector1">
              <a:avLst/>
            </a:prstGeom>
            <a:noFill/>
            <a:ln w="28575" cap="flat" cmpd="sng">
              <a:solidFill>
                <a:srgbClr val="000000"/>
              </a:solidFill>
              <a:prstDash val="solid"/>
              <a:round/>
              <a:headEnd type="none" w="med" len="med"/>
              <a:tailEnd type="triangle" w="med" len="med"/>
            </a:ln>
          </p:spPr>
        </p:cxnSp>
        <p:cxnSp>
          <p:nvCxnSpPr>
            <p:cNvPr id="15" name="Google Shape;767;p29">
              <a:extLst>
                <a:ext uri="{FF2B5EF4-FFF2-40B4-BE49-F238E27FC236}">
                  <a16:creationId xmlns:a16="http://schemas.microsoft.com/office/drawing/2014/main" id="{3F60479F-456C-4E56-B7F4-0448DBC5B172}"/>
                </a:ext>
              </a:extLst>
            </p:cNvPr>
            <p:cNvCxnSpPr>
              <a:stCxn id="8" idx="6"/>
              <a:endCxn id="9" idx="3"/>
            </p:cNvCxnSpPr>
            <p:nvPr/>
          </p:nvCxnSpPr>
          <p:spPr>
            <a:xfrm>
              <a:off x="1371600" y="3657282"/>
              <a:ext cx="1179300" cy="749700"/>
            </a:xfrm>
            <a:prstGeom prst="straightConnector1">
              <a:avLst/>
            </a:prstGeom>
            <a:noFill/>
            <a:ln w="28575" cap="flat" cmpd="sng">
              <a:solidFill>
                <a:srgbClr val="000000"/>
              </a:solidFill>
              <a:prstDash val="solid"/>
              <a:round/>
              <a:headEnd type="none" w="med" len="med"/>
              <a:tailEnd type="triangle" w="med" len="med"/>
            </a:ln>
          </p:spPr>
        </p:cxnSp>
        <p:cxnSp>
          <p:nvCxnSpPr>
            <p:cNvPr id="16" name="Google Shape;768;p29">
              <a:extLst>
                <a:ext uri="{FF2B5EF4-FFF2-40B4-BE49-F238E27FC236}">
                  <a16:creationId xmlns:a16="http://schemas.microsoft.com/office/drawing/2014/main" id="{031DB57B-E61C-4394-8DF1-728FC8562549}"/>
                </a:ext>
              </a:extLst>
            </p:cNvPr>
            <p:cNvCxnSpPr>
              <a:stCxn id="9" idx="7"/>
              <a:endCxn id="6" idx="1"/>
            </p:cNvCxnSpPr>
            <p:nvPr/>
          </p:nvCxnSpPr>
          <p:spPr>
            <a:xfrm>
              <a:off x="3278350" y="850809"/>
              <a:ext cx="674700" cy="244800"/>
            </a:xfrm>
            <a:prstGeom prst="straightConnector1">
              <a:avLst/>
            </a:prstGeom>
            <a:noFill/>
            <a:ln w="28575" cap="flat" cmpd="sng">
              <a:solidFill>
                <a:srgbClr val="000000"/>
              </a:solidFill>
              <a:prstDash val="solid"/>
              <a:round/>
              <a:headEnd type="none" w="med" len="med"/>
              <a:tailEnd type="triangle" w="med" len="med"/>
            </a:ln>
          </p:spPr>
        </p:cxnSp>
        <p:sp>
          <p:nvSpPr>
            <p:cNvPr id="17" name="Google Shape;769;p29">
              <a:extLst>
                <a:ext uri="{FF2B5EF4-FFF2-40B4-BE49-F238E27FC236}">
                  <a16:creationId xmlns:a16="http://schemas.microsoft.com/office/drawing/2014/main" id="{B3FFD159-38FC-4DE3-B2B4-1D62D41BA4E8}"/>
                </a:ext>
              </a:extLst>
            </p:cNvPr>
            <p:cNvSpPr/>
            <p:nvPr/>
          </p:nvSpPr>
          <p:spPr>
            <a:xfrm>
              <a:off x="3886200" y="3657600"/>
              <a:ext cx="457200" cy="457835"/>
            </a:xfrm>
            <a:prstGeom prst="ellipse">
              <a:avLst/>
            </a:prstGeom>
            <a:solidFill>
              <a:srgbClr val="FF00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6</a:t>
              </a:r>
              <a:endParaRPr sz="1400">
                <a:solidFill>
                  <a:schemeClr val="dk1"/>
                </a:solidFill>
                <a:latin typeface="Times New Roman"/>
                <a:ea typeface="Times New Roman"/>
                <a:cs typeface="Times New Roman"/>
                <a:sym typeface="Times New Roman"/>
              </a:endParaRPr>
            </a:p>
          </p:txBody>
        </p:sp>
        <p:cxnSp>
          <p:nvCxnSpPr>
            <p:cNvPr id="18" name="Google Shape;770;p29">
              <a:extLst>
                <a:ext uri="{FF2B5EF4-FFF2-40B4-BE49-F238E27FC236}">
                  <a16:creationId xmlns:a16="http://schemas.microsoft.com/office/drawing/2014/main" id="{E383F9F8-0216-4247-94C5-B952BE15839A}"/>
                </a:ext>
              </a:extLst>
            </p:cNvPr>
            <p:cNvCxnSpPr/>
            <p:nvPr/>
          </p:nvCxnSpPr>
          <p:spPr>
            <a:xfrm>
              <a:off x="3429000" y="2171700"/>
              <a:ext cx="571500" cy="1485900"/>
            </a:xfrm>
            <a:prstGeom prst="straightConnector1">
              <a:avLst/>
            </a:prstGeom>
            <a:noFill/>
            <a:ln w="28575" cap="flat" cmpd="sng">
              <a:solidFill>
                <a:srgbClr val="000000"/>
              </a:solidFill>
              <a:prstDash val="solid"/>
              <a:round/>
              <a:headEnd type="none" w="med" len="med"/>
              <a:tailEnd type="triangle" w="med" len="med"/>
            </a:ln>
          </p:spPr>
        </p:cxnSp>
        <p:cxnSp>
          <p:nvCxnSpPr>
            <p:cNvPr id="19" name="Google Shape;771;p29">
              <a:extLst>
                <a:ext uri="{FF2B5EF4-FFF2-40B4-BE49-F238E27FC236}">
                  <a16:creationId xmlns:a16="http://schemas.microsoft.com/office/drawing/2014/main" id="{6156F8E0-45D2-457C-AB02-1BA57AE9E667}"/>
                </a:ext>
              </a:extLst>
            </p:cNvPr>
            <p:cNvCxnSpPr>
              <a:stCxn id="9" idx="5"/>
              <a:endCxn id="17" idx="3"/>
            </p:cNvCxnSpPr>
            <p:nvPr/>
          </p:nvCxnSpPr>
          <p:spPr>
            <a:xfrm rot="10800000" flipH="1">
              <a:off x="3278350" y="4048491"/>
              <a:ext cx="674700" cy="358500"/>
            </a:xfrm>
            <a:prstGeom prst="straightConnector1">
              <a:avLst/>
            </a:prstGeom>
            <a:noFill/>
            <a:ln w="28575" cap="flat" cmpd="sng">
              <a:solidFill>
                <a:srgbClr val="000000"/>
              </a:solidFill>
              <a:prstDash val="solid"/>
              <a:round/>
              <a:headEnd type="none" w="med" len="med"/>
              <a:tailEnd type="triangle" w="med" len="med"/>
            </a:ln>
          </p:spPr>
        </p:cxnSp>
        <p:cxnSp>
          <p:nvCxnSpPr>
            <p:cNvPr id="20" name="Google Shape;772;p29">
              <a:extLst>
                <a:ext uri="{FF2B5EF4-FFF2-40B4-BE49-F238E27FC236}">
                  <a16:creationId xmlns:a16="http://schemas.microsoft.com/office/drawing/2014/main" id="{879089BE-940F-406F-B407-15F3113D7470}"/>
                </a:ext>
              </a:extLst>
            </p:cNvPr>
            <p:cNvCxnSpPr>
              <a:stCxn id="18" idx="0"/>
              <a:endCxn id="6" idx="3"/>
            </p:cNvCxnSpPr>
            <p:nvPr/>
          </p:nvCxnSpPr>
          <p:spPr>
            <a:xfrm rot="10800000" flipH="1">
              <a:off x="3429355" y="1419487"/>
              <a:ext cx="523800" cy="724500"/>
            </a:xfrm>
            <a:prstGeom prst="straightConnector1">
              <a:avLst/>
            </a:prstGeom>
            <a:noFill/>
            <a:ln w="28575" cap="flat" cmpd="sng">
              <a:solidFill>
                <a:srgbClr val="000000"/>
              </a:solidFill>
              <a:prstDash val="solid"/>
              <a:round/>
              <a:headEnd type="none" w="med" len="med"/>
              <a:tailEnd type="triangle" w="med" len="med"/>
            </a:ln>
          </p:spPr>
        </p:cxnSp>
        <p:sp>
          <p:nvSpPr>
            <p:cNvPr id="21" name="Google Shape;773;p29">
              <a:extLst>
                <a:ext uri="{FF2B5EF4-FFF2-40B4-BE49-F238E27FC236}">
                  <a16:creationId xmlns:a16="http://schemas.microsoft.com/office/drawing/2014/main" id="{208A6840-1410-4455-B4E2-07561CC12432}"/>
                </a:ext>
              </a:extLst>
            </p:cNvPr>
            <p:cNvSpPr txBox="1"/>
            <p:nvPr/>
          </p:nvSpPr>
          <p:spPr>
            <a:xfrm>
              <a:off x="1714500" y="8001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16</a:t>
              </a:r>
              <a:endParaRPr sz="1400">
                <a:solidFill>
                  <a:schemeClr val="dk1"/>
                </a:solidFill>
                <a:latin typeface="Times New Roman"/>
                <a:ea typeface="Times New Roman"/>
                <a:cs typeface="Times New Roman"/>
                <a:sym typeface="Times New Roman"/>
              </a:endParaRPr>
            </a:p>
          </p:txBody>
        </p:sp>
        <p:sp>
          <p:nvSpPr>
            <p:cNvPr id="22" name="Google Shape;774;p29">
              <a:extLst>
                <a:ext uri="{FF2B5EF4-FFF2-40B4-BE49-F238E27FC236}">
                  <a16:creationId xmlns:a16="http://schemas.microsoft.com/office/drawing/2014/main" id="{A0F9495F-5489-43E7-83B3-03EC2E40AB66}"/>
                </a:ext>
              </a:extLst>
            </p:cNvPr>
            <p:cNvSpPr txBox="1"/>
            <p:nvPr/>
          </p:nvSpPr>
          <p:spPr>
            <a:xfrm>
              <a:off x="1600200" y="14859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13</a:t>
              </a:r>
              <a:endParaRPr sz="1400">
                <a:solidFill>
                  <a:schemeClr val="dk1"/>
                </a:solidFill>
                <a:latin typeface="Times New Roman"/>
                <a:ea typeface="Times New Roman"/>
                <a:cs typeface="Times New Roman"/>
                <a:sym typeface="Times New Roman"/>
              </a:endParaRPr>
            </a:p>
          </p:txBody>
        </p:sp>
        <p:sp>
          <p:nvSpPr>
            <p:cNvPr id="23" name="Google Shape;775;p29">
              <a:extLst>
                <a:ext uri="{FF2B5EF4-FFF2-40B4-BE49-F238E27FC236}">
                  <a16:creationId xmlns:a16="http://schemas.microsoft.com/office/drawing/2014/main" id="{F7814F78-686A-48AF-B450-1859A909F311}"/>
                </a:ext>
              </a:extLst>
            </p:cNvPr>
            <p:cNvSpPr txBox="1"/>
            <p:nvPr/>
          </p:nvSpPr>
          <p:spPr>
            <a:xfrm>
              <a:off x="1714500" y="20574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10</a:t>
              </a:r>
              <a:endParaRPr sz="1400">
                <a:solidFill>
                  <a:schemeClr val="dk1"/>
                </a:solidFill>
                <a:latin typeface="Times New Roman"/>
                <a:ea typeface="Times New Roman"/>
                <a:cs typeface="Times New Roman"/>
                <a:sym typeface="Times New Roman"/>
              </a:endParaRPr>
            </a:p>
          </p:txBody>
        </p:sp>
        <p:sp>
          <p:nvSpPr>
            <p:cNvPr id="24" name="Google Shape;776;p29">
              <a:extLst>
                <a:ext uri="{FF2B5EF4-FFF2-40B4-BE49-F238E27FC236}">
                  <a16:creationId xmlns:a16="http://schemas.microsoft.com/office/drawing/2014/main" id="{CF2BB7CC-65FE-4E37-9EF4-C0B8E662651F}"/>
                </a:ext>
              </a:extLst>
            </p:cNvPr>
            <p:cNvSpPr txBox="1"/>
            <p:nvPr/>
          </p:nvSpPr>
          <p:spPr>
            <a:xfrm>
              <a:off x="1600200" y="25146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15</a:t>
              </a:r>
              <a:endParaRPr sz="1400">
                <a:solidFill>
                  <a:schemeClr val="dk1"/>
                </a:solidFill>
                <a:latin typeface="Times New Roman"/>
                <a:ea typeface="Times New Roman"/>
                <a:cs typeface="Times New Roman"/>
                <a:sym typeface="Times New Roman"/>
              </a:endParaRPr>
            </a:p>
          </p:txBody>
        </p:sp>
        <p:sp>
          <p:nvSpPr>
            <p:cNvPr id="25" name="Google Shape;777;p29">
              <a:extLst>
                <a:ext uri="{FF2B5EF4-FFF2-40B4-BE49-F238E27FC236}">
                  <a16:creationId xmlns:a16="http://schemas.microsoft.com/office/drawing/2014/main" id="{0577F081-40E9-44C6-A423-0703A35D3294}"/>
                </a:ext>
              </a:extLst>
            </p:cNvPr>
            <p:cNvSpPr txBox="1"/>
            <p:nvPr/>
          </p:nvSpPr>
          <p:spPr>
            <a:xfrm>
              <a:off x="1714500" y="30861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11</a:t>
              </a:r>
              <a:endParaRPr sz="1400">
                <a:solidFill>
                  <a:schemeClr val="dk1"/>
                </a:solidFill>
                <a:latin typeface="Times New Roman"/>
                <a:ea typeface="Times New Roman"/>
                <a:cs typeface="Times New Roman"/>
                <a:sym typeface="Times New Roman"/>
              </a:endParaRPr>
            </a:p>
          </p:txBody>
        </p:sp>
        <p:sp>
          <p:nvSpPr>
            <p:cNvPr id="26" name="Google Shape;778;p29">
              <a:extLst>
                <a:ext uri="{FF2B5EF4-FFF2-40B4-BE49-F238E27FC236}">
                  <a16:creationId xmlns:a16="http://schemas.microsoft.com/office/drawing/2014/main" id="{4FAE3C81-E34F-48CC-A78E-1C0BE7AABE2A}"/>
                </a:ext>
              </a:extLst>
            </p:cNvPr>
            <p:cNvSpPr txBox="1"/>
            <p:nvPr/>
          </p:nvSpPr>
          <p:spPr>
            <a:xfrm>
              <a:off x="1714500" y="38862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20</a:t>
              </a:r>
              <a:endParaRPr sz="1400">
                <a:solidFill>
                  <a:schemeClr val="dk1"/>
                </a:solidFill>
                <a:latin typeface="Times New Roman"/>
                <a:ea typeface="Times New Roman"/>
                <a:cs typeface="Times New Roman"/>
                <a:sym typeface="Times New Roman"/>
              </a:endParaRPr>
            </a:p>
          </p:txBody>
        </p:sp>
        <p:sp>
          <p:nvSpPr>
            <p:cNvPr id="27" name="Google Shape;779;p29">
              <a:extLst>
                <a:ext uri="{FF2B5EF4-FFF2-40B4-BE49-F238E27FC236}">
                  <a16:creationId xmlns:a16="http://schemas.microsoft.com/office/drawing/2014/main" id="{4E722B50-79B7-4172-A7AF-D7C74D56280F}"/>
                </a:ext>
              </a:extLst>
            </p:cNvPr>
            <p:cNvSpPr txBox="1"/>
            <p:nvPr/>
          </p:nvSpPr>
          <p:spPr>
            <a:xfrm>
              <a:off x="3429000" y="6858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20</a:t>
              </a:r>
              <a:endParaRPr sz="1400">
                <a:solidFill>
                  <a:schemeClr val="dk1"/>
                </a:solidFill>
                <a:latin typeface="Times New Roman"/>
                <a:ea typeface="Times New Roman"/>
                <a:cs typeface="Times New Roman"/>
                <a:sym typeface="Times New Roman"/>
              </a:endParaRPr>
            </a:p>
          </p:txBody>
        </p:sp>
        <p:sp>
          <p:nvSpPr>
            <p:cNvPr id="28" name="Google Shape;780;p29">
              <a:extLst>
                <a:ext uri="{FF2B5EF4-FFF2-40B4-BE49-F238E27FC236}">
                  <a16:creationId xmlns:a16="http://schemas.microsoft.com/office/drawing/2014/main" id="{60EDBBC3-31EC-4F26-AAE5-D915E0551600}"/>
                </a:ext>
              </a:extLst>
            </p:cNvPr>
            <p:cNvSpPr txBox="1"/>
            <p:nvPr/>
          </p:nvSpPr>
          <p:spPr>
            <a:xfrm>
              <a:off x="3543300" y="16002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4</a:t>
              </a:r>
              <a:endParaRPr sz="1400">
                <a:solidFill>
                  <a:schemeClr val="dk1"/>
                </a:solidFill>
                <a:latin typeface="Times New Roman"/>
                <a:ea typeface="Times New Roman"/>
                <a:cs typeface="Times New Roman"/>
                <a:sym typeface="Times New Roman"/>
              </a:endParaRPr>
            </a:p>
          </p:txBody>
        </p:sp>
        <p:sp>
          <p:nvSpPr>
            <p:cNvPr id="29" name="Google Shape;781;p29">
              <a:extLst>
                <a:ext uri="{FF2B5EF4-FFF2-40B4-BE49-F238E27FC236}">
                  <a16:creationId xmlns:a16="http://schemas.microsoft.com/office/drawing/2014/main" id="{4F645D6B-D1E6-4275-9CA5-8EA44350C16A}"/>
                </a:ext>
              </a:extLst>
            </p:cNvPr>
            <p:cNvSpPr txBox="1"/>
            <p:nvPr/>
          </p:nvSpPr>
          <p:spPr>
            <a:xfrm>
              <a:off x="3543300" y="29718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22</a:t>
              </a:r>
              <a:endParaRPr sz="1400">
                <a:solidFill>
                  <a:schemeClr val="dk1"/>
                </a:solidFill>
                <a:latin typeface="Times New Roman"/>
                <a:ea typeface="Times New Roman"/>
                <a:cs typeface="Times New Roman"/>
                <a:sym typeface="Times New Roman"/>
              </a:endParaRPr>
            </a:p>
          </p:txBody>
        </p:sp>
        <p:sp>
          <p:nvSpPr>
            <p:cNvPr id="30" name="Google Shape;782;p29">
              <a:extLst>
                <a:ext uri="{FF2B5EF4-FFF2-40B4-BE49-F238E27FC236}">
                  <a16:creationId xmlns:a16="http://schemas.microsoft.com/office/drawing/2014/main" id="{19A22F1A-B023-4DC9-A1DD-CE536CD60613}"/>
                </a:ext>
              </a:extLst>
            </p:cNvPr>
            <p:cNvSpPr txBox="1"/>
            <p:nvPr/>
          </p:nvSpPr>
          <p:spPr>
            <a:xfrm>
              <a:off x="3429000" y="42291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400">
                  <a:solidFill>
                    <a:schemeClr val="dk1"/>
                  </a:solidFill>
                  <a:latin typeface="Times New Roman"/>
                  <a:ea typeface="Times New Roman"/>
                  <a:cs typeface="Times New Roman"/>
                  <a:sym typeface="Times New Roman"/>
                </a:rPr>
                <a:t>7</a:t>
              </a:r>
              <a:endParaRPr sz="1400">
                <a:solidFill>
                  <a:schemeClr val="dk1"/>
                </a:solidFill>
                <a:latin typeface="Times New Roman"/>
                <a:ea typeface="Times New Roman"/>
                <a:cs typeface="Times New Roman"/>
                <a:sym typeface="Times New Roman"/>
              </a:endParaRPr>
            </a:p>
          </p:txBody>
        </p:sp>
        <p:sp>
          <p:nvSpPr>
            <p:cNvPr id="31" name="Google Shape;783;p29">
              <a:extLst>
                <a:ext uri="{FF2B5EF4-FFF2-40B4-BE49-F238E27FC236}">
                  <a16:creationId xmlns:a16="http://schemas.microsoft.com/office/drawing/2014/main" id="{A3DF1CD7-42C3-4EFE-8AAF-68E764754256}"/>
                </a:ext>
              </a:extLst>
            </p:cNvPr>
            <p:cNvSpPr/>
            <p:nvPr/>
          </p:nvSpPr>
          <p:spPr>
            <a:xfrm>
              <a:off x="114300" y="2286000"/>
              <a:ext cx="457200" cy="457835"/>
            </a:xfrm>
            <a:prstGeom prst="ellipse">
              <a:avLst/>
            </a:prstGeom>
            <a:solidFill>
              <a:srgbClr val="00CC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S</a:t>
              </a:r>
              <a:endParaRPr sz="1400">
                <a:solidFill>
                  <a:schemeClr val="dk1"/>
                </a:solidFill>
                <a:latin typeface="Times New Roman"/>
                <a:ea typeface="Times New Roman"/>
                <a:cs typeface="Times New Roman"/>
                <a:sym typeface="Times New Roman"/>
              </a:endParaRPr>
            </a:p>
          </p:txBody>
        </p:sp>
        <p:cxnSp>
          <p:nvCxnSpPr>
            <p:cNvPr id="32" name="Google Shape;784;p29">
              <a:extLst>
                <a:ext uri="{FF2B5EF4-FFF2-40B4-BE49-F238E27FC236}">
                  <a16:creationId xmlns:a16="http://schemas.microsoft.com/office/drawing/2014/main" id="{8B76B84A-FA57-4672-B9D3-B7701CA561A9}"/>
                </a:ext>
              </a:extLst>
            </p:cNvPr>
            <p:cNvCxnSpPr>
              <a:stCxn id="31" idx="0"/>
              <a:endCxn id="4" idx="3"/>
            </p:cNvCxnSpPr>
            <p:nvPr/>
          </p:nvCxnSpPr>
          <p:spPr>
            <a:xfrm rot="10800000" flipH="1">
              <a:off x="342900" y="1533300"/>
              <a:ext cx="638400" cy="752700"/>
            </a:xfrm>
            <a:prstGeom prst="straightConnector1">
              <a:avLst/>
            </a:prstGeom>
            <a:noFill/>
            <a:ln w="28575" cap="flat" cmpd="sng">
              <a:solidFill>
                <a:srgbClr val="000000"/>
              </a:solidFill>
              <a:prstDash val="solid"/>
              <a:round/>
              <a:headEnd type="none" w="med" len="med"/>
              <a:tailEnd type="triangle" w="med" len="med"/>
            </a:ln>
          </p:spPr>
        </p:cxnSp>
        <p:cxnSp>
          <p:nvCxnSpPr>
            <p:cNvPr id="33" name="Google Shape;785;p29">
              <a:extLst>
                <a:ext uri="{FF2B5EF4-FFF2-40B4-BE49-F238E27FC236}">
                  <a16:creationId xmlns:a16="http://schemas.microsoft.com/office/drawing/2014/main" id="{9286B1DF-1491-40E0-8A97-7B4902EB43E1}"/>
                </a:ext>
              </a:extLst>
            </p:cNvPr>
            <p:cNvCxnSpPr>
              <a:stCxn id="31" idx="4"/>
              <a:endCxn id="8" idx="1"/>
            </p:cNvCxnSpPr>
            <p:nvPr/>
          </p:nvCxnSpPr>
          <p:spPr>
            <a:xfrm>
              <a:off x="342900" y="2743835"/>
              <a:ext cx="638400" cy="751500"/>
            </a:xfrm>
            <a:prstGeom prst="straightConnector1">
              <a:avLst/>
            </a:prstGeom>
            <a:noFill/>
            <a:ln w="28575" cap="flat" cmpd="sng">
              <a:solidFill>
                <a:srgbClr val="000000"/>
              </a:solidFill>
              <a:prstDash val="solid"/>
              <a:round/>
              <a:headEnd type="none" w="med" len="med"/>
              <a:tailEnd type="triangle" w="med" len="med"/>
            </a:ln>
          </p:spPr>
        </p:cxnSp>
        <p:cxnSp>
          <p:nvCxnSpPr>
            <p:cNvPr id="34" name="Google Shape;786;p29">
              <a:extLst>
                <a:ext uri="{FF2B5EF4-FFF2-40B4-BE49-F238E27FC236}">
                  <a16:creationId xmlns:a16="http://schemas.microsoft.com/office/drawing/2014/main" id="{B9E91DDF-5E4A-46EC-9C3C-A01E92470F87}"/>
                </a:ext>
              </a:extLst>
            </p:cNvPr>
            <p:cNvCxnSpPr>
              <a:stCxn id="31" idx="6"/>
              <a:endCxn id="7" idx="2"/>
            </p:cNvCxnSpPr>
            <p:nvPr/>
          </p:nvCxnSpPr>
          <p:spPr>
            <a:xfrm>
              <a:off x="571500" y="2514918"/>
              <a:ext cx="342900" cy="0"/>
            </a:xfrm>
            <a:prstGeom prst="straightConnector1">
              <a:avLst/>
            </a:prstGeom>
            <a:noFill/>
            <a:ln w="28575" cap="flat" cmpd="sng">
              <a:solidFill>
                <a:srgbClr val="000000"/>
              </a:solidFill>
              <a:prstDash val="solid"/>
              <a:round/>
              <a:headEnd type="none" w="med" len="med"/>
              <a:tailEnd type="triangle" w="med" len="med"/>
            </a:ln>
          </p:spPr>
        </p:cxnSp>
        <p:sp>
          <p:nvSpPr>
            <p:cNvPr id="35" name="Google Shape;787;p29">
              <a:extLst>
                <a:ext uri="{FF2B5EF4-FFF2-40B4-BE49-F238E27FC236}">
                  <a16:creationId xmlns:a16="http://schemas.microsoft.com/office/drawing/2014/main" id="{E9F3C70C-E2D7-4F95-8276-54F31B9200DB}"/>
                </a:ext>
              </a:extLst>
            </p:cNvPr>
            <p:cNvSpPr/>
            <p:nvPr/>
          </p:nvSpPr>
          <p:spPr>
            <a:xfrm>
              <a:off x="4572000" y="2399665"/>
              <a:ext cx="457200" cy="457835"/>
            </a:xfrm>
            <a:prstGeom prst="ellipse">
              <a:avLst/>
            </a:prstGeom>
            <a:solidFill>
              <a:srgbClr val="FF00FF"/>
            </a:solidFill>
            <a:ln w="2857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r>
                <a:rPr lang="ru-RU" sz="1800" b="1">
                  <a:solidFill>
                    <a:schemeClr val="dk1"/>
                  </a:solidFill>
                  <a:latin typeface="Times New Roman"/>
                  <a:ea typeface="Times New Roman"/>
                  <a:cs typeface="Times New Roman"/>
                  <a:sym typeface="Times New Roman"/>
                </a:rPr>
                <a:t>T</a:t>
              </a:r>
              <a:endParaRPr sz="1400">
                <a:solidFill>
                  <a:schemeClr val="dk1"/>
                </a:solidFill>
                <a:latin typeface="Times New Roman"/>
                <a:ea typeface="Times New Roman"/>
                <a:cs typeface="Times New Roman"/>
                <a:sym typeface="Times New Roman"/>
              </a:endParaRPr>
            </a:p>
          </p:txBody>
        </p:sp>
        <p:cxnSp>
          <p:nvCxnSpPr>
            <p:cNvPr id="36" name="Google Shape;788;p29">
              <a:extLst>
                <a:ext uri="{FF2B5EF4-FFF2-40B4-BE49-F238E27FC236}">
                  <a16:creationId xmlns:a16="http://schemas.microsoft.com/office/drawing/2014/main" id="{6D7815A7-803A-4556-BAB4-7D6BB811C355}"/>
                </a:ext>
              </a:extLst>
            </p:cNvPr>
            <p:cNvCxnSpPr>
              <a:stCxn id="6" idx="5"/>
              <a:endCxn id="35" idx="0"/>
            </p:cNvCxnSpPr>
            <p:nvPr/>
          </p:nvCxnSpPr>
          <p:spPr>
            <a:xfrm>
              <a:off x="4276445" y="1419487"/>
              <a:ext cx="524100" cy="980100"/>
            </a:xfrm>
            <a:prstGeom prst="straightConnector1">
              <a:avLst/>
            </a:prstGeom>
            <a:noFill/>
            <a:ln w="28575" cap="flat" cmpd="sng">
              <a:solidFill>
                <a:srgbClr val="000000"/>
              </a:solidFill>
              <a:prstDash val="solid"/>
              <a:round/>
              <a:headEnd type="none" w="med" len="med"/>
              <a:tailEnd type="triangle" w="med" len="med"/>
            </a:ln>
          </p:spPr>
        </p:cxnSp>
        <p:cxnSp>
          <p:nvCxnSpPr>
            <p:cNvPr id="37" name="Google Shape;789;p29">
              <a:extLst>
                <a:ext uri="{FF2B5EF4-FFF2-40B4-BE49-F238E27FC236}">
                  <a16:creationId xmlns:a16="http://schemas.microsoft.com/office/drawing/2014/main" id="{AA4E98DC-BC34-411E-B3B0-2B2333CD9CAA}"/>
                </a:ext>
              </a:extLst>
            </p:cNvPr>
            <p:cNvCxnSpPr>
              <a:stCxn id="17" idx="7"/>
              <a:endCxn id="35" idx="4"/>
            </p:cNvCxnSpPr>
            <p:nvPr/>
          </p:nvCxnSpPr>
          <p:spPr>
            <a:xfrm rot="10800000" flipH="1">
              <a:off x="4276445" y="2857648"/>
              <a:ext cx="524100" cy="867000"/>
            </a:xfrm>
            <a:prstGeom prst="straightConnector1">
              <a:avLst/>
            </a:prstGeom>
            <a:noFill/>
            <a:ln w="28575" cap="flat" cmpd="sng">
              <a:solidFill>
                <a:srgbClr val="000000"/>
              </a:solidFill>
              <a:prstDash val="solid"/>
              <a:round/>
              <a:headEnd type="none" w="med" len="med"/>
              <a:tailEnd type="triangle" w="med" len="med"/>
            </a:ln>
          </p:spPr>
        </p:cxnSp>
        <p:sp>
          <p:nvSpPr>
            <p:cNvPr id="38" name="Google Shape;790;p29">
              <a:extLst>
                <a:ext uri="{FF2B5EF4-FFF2-40B4-BE49-F238E27FC236}">
                  <a16:creationId xmlns:a16="http://schemas.microsoft.com/office/drawing/2014/main" id="{A2642027-E2D1-4C6F-9DF0-E8FEE6210ADB}"/>
                </a:ext>
              </a:extLst>
            </p:cNvPr>
            <p:cNvSpPr txBox="1"/>
            <p:nvPr/>
          </p:nvSpPr>
          <p:spPr>
            <a:xfrm>
              <a:off x="457200" y="29718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ru-RU" sz="1400" b="1">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p:txBody>
        </p:sp>
        <p:sp>
          <p:nvSpPr>
            <p:cNvPr id="39" name="Google Shape;791;p29">
              <a:extLst>
                <a:ext uri="{FF2B5EF4-FFF2-40B4-BE49-F238E27FC236}">
                  <a16:creationId xmlns:a16="http://schemas.microsoft.com/office/drawing/2014/main" id="{7A50503F-D4CB-413E-8B49-FB16FC30D1DF}"/>
                </a:ext>
              </a:extLst>
            </p:cNvPr>
            <p:cNvSpPr txBox="1"/>
            <p:nvPr/>
          </p:nvSpPr>
          <p:spPr>
            <a:xfrm>
              <a:off x="457200" y="17145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ru-RU" sz="1400" b="1">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p:txBody>
        </p:sp>
        <p:sp>
          <p:nvSpPr>
            <p:cNvPr id="40" name="Google Shape;792;p29">
              <a:extLst>
                <a:ext uri="{FF2B5EF4-FFF2-40B4-BE49-F238E27FC236}">
                  <a16:creationId xmlns:a16="http://schemas.microsoft.com/office/drawing/2014/main" id="{724E2896-A6C6-47C6-A29E-07CDAB969B23}"/>
                </a:ext>
              </a:extLst>
            </p:cNvPr>
            <p:cNvSpPr txBox="1"/>
            <p:nvPr/>
          </p:nvSpPr>
          <p:spPr>
            <a:xfrm>
              <a:off x="4343400" y="31242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ru-RU" sz="1400" b="1">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p:txBody>
        </p:sp>
        <p:sp>
          <p:nvSpPr>
            <p:cNvPr id="41" name="Google Shape;793;p29">
              <a:extLst>
                <a:ext uri="{FF2B5EF4-FFF2-40B4-BE49-F238E27FC236}">
                  <a16:creationId xmlns:a16="http://schemas.microsoft.com/office/drawing/2014/main" id="{4D7FBA51-7E82-4308-9FE5-E862660ADB2C}"/>
                </a:ext>
              </a:extLst>
            </p:cNvPr>
            <p:cNvSpPr txBox="1"/>
            <p:nvPr/>
          </p:nvSpPr>
          <p:spPr>
            <a:xfrm>
              <a:off x="4343400" y="1714500"/>
              <a:ext cx="457200" cy="342900"/>
            </a:xfrm>
            <a:prstGeom prst="rect">
              <a:avLst/>
            </a:prstGeom>
            <a:solidFill>
              <a:srgbClr val="FFFFFF"/>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ru-RU" sz="1400" b="1">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p:txBody>
        </p:sp>
      </p:grpSp>
      <p:sp>
        <p:nvSpPr>
          <p:cNvPr id="42" name="TextBox 41">
            <a:extLst>
              <a:ext uri="{FF2B5EF4-FFF2-40B4-BE49-F238E27FC236}">
                <a16:creationId xmlns:a16="http://schemas.microsoft.com/office/drawing/2014/main" id="{A905E0BD-28A1-4A31-9192-8E87DAF9D3F1}"/>
              </a:ext>
            </a:extLst>
          </p:cNvPr>
          <p:cNvSpPr txBox="1"/>
          <p:nvPr/>
        </p:nvSpPr>
        <p:spPr>
          <a:xfrm>
            <a:off x="429879" y="846271"/>
            <a:ext cx="6091163" cy="5324535"/>
          </a:xfrm>
          <a:prstGeom prst="rect">
            <a:avLst/>
          </a:prstGeom>
          <a:noFill/>
        </p:spPr>
        <p:txBody>
          <a:bodyPr wrap="square" rtlCol="0">
            <a:spAutoFit/>
          </a:bodyPr>
          <a:lstStyle/>
          <a:p>
            <a:pPr algn="just"/>
            <a:r>
              <a:rPr lang="ru-RU" sz="2400" dirty="0"/>
              <a:t>	Если мы рассматриваем транспортную сеть, которая является фрагментом более глобальной сети, то возможна ситуация, когда наша сеть содержит несколько истоков и несколько стоков. </a:t>
            </a:r>
          </a:p>
          <a:p>
            <a:pPr algn="just"/>
            <a:r>
              <a:rPr lang="ru-RU" sz="2400" dirty="0"/>
              <a:t>	Таким образом регламентация количества истоков и стоков до 1 не строгая, она должна выполняться только для глобальной сети, а если мы анализируем фрагмент, то допустима ситуация, когда количество истоков и стоков превышает 1.</a:t>
            </a:r>
          </a:p>
          <a:p>
            <a:pPr algn="just"/>
            <a:r>
              <a:rPr lang="ru-RU" sz="2800" dirty="0"/>
              <a:t> </a:t>
            </a:r>
            <a:endParaRPr lang="en-US" sz="2800" dirty="0"/>
          </a:p>
        </p:txBody>
      </p:sp>
    </p:spTree>
    <p:extLst>
      <p:ext uri="{BB962C8B-B14F-4D97-AF65-F5344CB8AC3E}">
        <p14:creationId xmlns:p14="http://schemas.microsoft.com/office/powerpoint/2010/main" val="3020946797"/>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8CD448-B409-44C9-92FE-0779773416BE}"/>
              </a:ext>
            </a:extLst>
          </p:cNvPr>
          <p:cNvSpPr>
            <a:spLocks noGrp="1"/>
          </p:cNvSpPr>
          <p:nvPr>
            <p:ph type="title"/>
          </p:nvPr>
        </p:nvSpPr>
        <p:spPr/>
        <p:txBody>
          <a:bodyPr/>
          <a:lstStyle/>
          <a:p>
            <a:pPr algn="ctr"/>
            <a:r>
              <a:rPr lang="ru-RU" b="1" dirty="0"/>
              <a:t>Понятие остаточной сети</a:t>
            </a:r>
            <a:r>
              <a:rPr lang="ru-RU" dirty="0"/>
              <a:t/>
            </a:r>
            <a:br>
              <a:rPr lang="ru-RU" dirty="0"/>
            </a:br>
            <a:endParaRPr lang="ru-RU" dirty="0"/>
          </a:p>
        </p:txBody>
      </p:sp>
      <p:sp>
        <p:nvSpPr>
          <p:cNvPr id="3" name="TextBox 2">
            <a:extLst>
              <a:ext uri="{FF2B5EF4-FFF2-40B4-BE49-F238E27FC236}">
                <a16:creationId xmlns:a16="http://schemas.microsoft.com/office/drawing/2014/main" id="{7BBF081D-7A57-4EDE-9508-BBA067015E85}"/>
              </a:ext>
            </a:extLst>
          </p:cNvPr>
          <p:cNvSpPr txBox="1"/>
          <p:nvPr/>
        </p:nvSpPr>
        <p:spPr>
          <a:xfrm>
            <a:off x="623392" y="1412776"/>
            <a:ext cx="10945216" cy="5539978"/>
          </a:xfrm>
          <a:prstGeom prst="rect">
            <a:avLst/>
          </a:prstGeom>
          <a:noFill/>
        </p:spPr>
        <p:txBody>
          <a:bodyPr wrap="square" rtlCol="0">
            <a:spAutoFit/>
          </a:bodyPr>
          <a:lstStyle/>
          <a:p>
            <a:pPr algn="just"/>
            <a:r>
              <a:rPr lang="ru-RU" sz="2400" dirty="0"/>
              <a:t>	Рассмотрим ориентированный граф. Будем рассматривать его как сеть труб, по которым некоторое вещество движется от истока (где оно производится с постоянной скоростью) к стоку (где оно потребляется — с той же скоростью). Вместо потоков вещества можно рассматривать движение тока по проводам, деталей по конвейеру, информации по линиям связи или товаров от производителя к потребителю. </a:t>
            </a:r>
          </a:p>
          <a:p>
            <a:pPr algn="just"/>
            <a:r>
              <a:rPr lang="ru-RU" sz="2400" dirty="0"/>
              <a:t>	Как и в задаче о кратчайших путях, на каждом ребре графа мы пишем число. Но если раньше это число означало длину пути, то теперь это скорее ширина дороги, или пропускная способность трубы — максимальная скорость потока в этой трубе. </a:t>
            </a:r>
          </a:p>
          <a:p>
            <a:pPr algn="just"/>
            <a:r>
              <a:rPr lang="ru-RU" sz="2400" dirty="0"/>
              <a:t>	Мы считаем, что в вершинах вещество не накапливается — сколько приходит, столько и уходит (если вершина не является истоком или стоком). </a:t>
            </a:r>
          </a:p>
          <a:p>
            <a:pPr algn="just"/>
            <a:endParaRPr lang="ru-RU" sz="2400" dirty="0"/>
          </a:p>
          <a:p>
            <a:pPr algn="just"/>
            <a:endParaRPr lang="ru-RU" dirty="0"/>
          </a:p>
        </p:txBody>
      </p:sp>
    </p:spTree>
    <p:extLst>
      <p:ext uri="{BB962C8B-B14F-4D97-AF65-F5344CB8AC3E}">
        <p14:creationId xmlns:p14="http://schemas.microsoft.com/office/powerpoint/2010/main" val="1207033474"/>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8CD448-B409-44C9-92FE-0779773416BE}"/>
              </a:ext>
            </a:extLst>
          </p:cNvPr>
          <p:cNvSpPr>
            <a:spLocks noGrp="1"/>
          </p:cNvSpPr>
          <p:nvPr>
            <p:ph type="title"/>
          </p:nvPr>
        </p:nvSpPr>
        <p:spPr/>
        <p:txBody>
          <a:bodyPr/>
          <a:lstStyle/>
          <a:p>
            <a:pPr algn="ctr"/>
            <a:r>
              <a:rPr lang="ru-RU" b="1" dirty="0"/>
              <a:t>Понятие остаточной сети</a:t>
            </a:r>
            <a:r>
              <a:rPr lang="ru-RU" dirty="0"/>
              <a:t/>
            </a:r>
            <a:br>
              <a:rPr lang="ru-RU" dirty="0"/>
            </a:br>
            <a:endParaRPr lang="ru-RU" dirty="0"/>
          </a:p>
        </p:txBody>
      </p:sp>
      <p:sp>
        <p:nvSpPr>
          <p:cNvPr id="3" name="TextBox 2">
            <a:extLst>
              <a:ext uri="{FF2B5EF4-FFF2-40B4-BE49-F238E27FC236}">
                <a16:creationId xmlns:a16="http://schemas.microsoft.com/office/drawing/2014/main" id="{7BBF081D-7A57-4EDE-9508-BBA067015E85}"/>
              </a:ext>
            </a:extLst>
          </p:cNvPr>
          <p:cNvSpPr txBox="1"/>
          <p:nvPr/>
        </p:nvSpPr>
        <p:spPr>
          <a:xfrm>
            <a:off x="623392" y="1412776"/>
            <a:ext cx="10945216" cy="4893647"/>
          </a:xfrm>
          <a:prstGeom prst="rect">
            <a:avLst/>
          </a:prstGeom>
          <a:noFill/>
        </p:spPr>
        <p:txBody>
          <a:bodyPr wrap="square" rtlCol="0">
            <a:spAutoFit/>
          </a:bodyPr>
          <a:lstStyle/>
          <a:p>
            <a:pPr algn="just"/>
            <a:r>
              <a:rPr lang="ru-RU" sz="2400" dirty="0"/>
              <a:t>	Задача о максимальном потоке для данной сети состоит в следующем: найти максимально возможную скорость производства (и потребления) вещества, при которой его еще можно доставить от истока к стоку при данных пропускных способностях труб. </a:t>
            </a:r>
          </a:p>
          <a:p>
            <a:pPr algn="just"/>
            <a:r>
              <a:rPr lang="ru-RU" sz="2400" dirty="0"/>
              <a:t>	Ключевую роль в методе Форда-</a:t>
            </a:r>
            <a:r>
              <a:rPr lang="ru-RU" sz="2400" dirty="0" err="1"/>
              <a:t>Фалкерсона</a:t>
            </a:r>
            <a:r>
              <a:rPr lang="ru-RU" sz="2400" dirty="0"/>
              <a:t> играют два понятия: </a:t>
            </a:r>
            <a:r>
              <a:rPr lang="ru-RU" sz="2400" b="1" i="1" dirty="0"/>
              <a:t>остаточные сети </a:t>
            </a:r>
            <a:r>
              <a:rPr lang="ru-RU" sz="2400" dirty="0"/>
              <a:t>и </a:t>
            </a:r>
            <a:r>
              <a:rPr lang="ru-RU" sz="2400" b="1" i="1" dirty="0"/>
              <a:t>дополняющие пути</a:t>
            </a:r>
            <a:r>
              <a:rPr lang="ru-RU" sz="2400" dirty="0"/>
              <a:t>. </a:t>
            </a:r>
          </a:p>
          <a:p>
            <a:pPr algn="just"/>
            <a:r>
              <a:rPr lang="ru-RU" sz="2400" dirty="0"/>
              <a:t>	Поиск максимального потока данным методом проводится по шагам. Вначале поток нулевой (и величина его равна нулю). На каждом шагу мы увеличиваем значение потока. Для этого мы находим "дополняющий путь", по которому можно пропустить ещё немного вещества, и используем его для увеличения потока. Этот шаг повторяется, пока есть дополняющие пути. Как следует из теории, полученный поток будет максимальным. </a:t>
            </a:r>
          </a:p>
        </p:txBody>
      </p:sp>
    </p:spTree>
    <p:extLst>
      <p:ext uri="{BB962C8B-B14F-4D97-AF65-F5344CB8AC3E}">
        <p14:creationId xmlns:p14="http://schemas.microsoft.com/office/powerpoint/2010/main" val="303324195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8CD448-B409-44C9-92FE-0779773416BE}"/>
              </a:ext>
            </a:extLst>
          </p:cNvPr>
          <p:cNvSpPr>
            <a:spLocks noGrp="1"/>
          </p:cNvSpPr>
          <p:nvPr>
            <p:ph type="title"/>
          </p:nvPr>
        </p:nvSpPr>
        <p:spPr/>
        <p:txBody>
          <a:bodyPr/>
          <a:lstStyle/>
          <a:p>
            <a:pPr algn="ctr"/>
            <a:r>
              <a:rPr lang="ru-RU" b="1" dirty="0"/>
              <a:t>Понятие остаточной сети</a:t>
            </a:r>
            <a:r>
              <a:rPr lang="ru-RU" dirty="0"/>
              <a:t/>
            </a:r>
            <a:br>
              <a:rPr lang="ru-RU" dirty="0"/>
            </a:br>
            <a:endParaRPr lang="ru-RU" dirty="0"/>
          </a:p>
        </p:txBody>
      </p:sp>
      <p:sp>
        <p:nvSpPr>
          <p:cNvPr id="3" name="TextBox 2">
            <a:extLst>
              <a:ext uri="{FF2B5EF4-FFF2-40B4-BE49-F238E27FC236}">
                <a16:creationId xmlns:a16="http://schemas.microsoft.com/office/drawing/2014/main" id="{7BBF081D-7A57-4EDE-9508-BBA067015E85}"/>
              </a:ext>
            </a:extLst>
          </p:cNvPr>
          <p:cNvSpPr txBox="1"/>
          <p:nvPr/>
        </p:nvSpPr>
        <p:spPr>
          <a:xfrm>
            <a:off x="623392" y="1412776"/>
            <a:ext cx="10945216" cy="4524315"/>
          </a:xfrm>
          <a:prstGeom prst="rect">
            <a:avLst/>
          </a:prstGeom>
          <a:noFill/>
        </p:spPr>
        <p:txBody>
          <a:bodyPr wrap="square" rtlCol="0">
            <a:spAutoFit/>
          </a:bodyPr>
          <a:lstStyle/>
          <a:p>
            <a:pPr algn="just"/>
            <a:r>
              <a:rPr lang="ru-RU" sz="2400" dirty="0"/>
              <a:t>	</a:t>
            </a:r>
            <a:r>
              <a:rPr lang="ru-RU" sz="2400" b="1" i="1" dirty="0"/>
              <a:t>Остаточные сети</a:t>
            </a:r>
          </a:p>
          <a:p>
            <a:pPr algn="just"/>
            <a:endParaRPr lang="ru-RU" sz="2400" dirty="0"/>
          </a:p>
          <a:p>
            <a:pPr algn="just"/>
            <a:r>
              <a:rPr lang="ru-RU" sz="2400" dirty="0"/>
              <a:t>	Пусть дана сеть и поток в ней. Тогда остаточная сеть состоит из тех ребер (называемых также остаточными), поток по которым можно увеличить. Заметим, что остаточное ребро не обязано быть ребром исходной сети. Такие "странные" ребра появляются когда имеется поток вещества в обратном направлении — ведь этот поток можно уменьшить. </a:t>
            </a:r>
          </a:p>
          <a:p>
            <a:pPr algn="just"/>
            <a:r>
              <a:rPr lang="ru-RU" sz="2400" dirty="0"/>
              <a:t>	У остаточных сетей есть интересное свойство — если в остаточной сети существует поток f, то прибавив его к исходному потоку в сети, мы получим также поток, удовлетворяющий всем требованиям, но который больше исходного. </a:t>
            </a:r>
          </a:p>
          <a:p>
            <a:pPr algn="just"/>
            <a:endParaRPr lang="ru-RU" sz="2400" dirty="0"/>
          </a:p>
        </p:txBody>
      </p:sp>
    </p:spTree>
    <p:extLst>
      <p:ext uri="{BB962C8B-B14F-4D97-AF65-F5344CB8AC3E}">
        <p14:creationId xmlns:p14="http://schemas.microsoft.com/office/powerpoint/2010/main" val="626498522"/>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8CD448-B409-44C9-92FE-0779773416BE}"/>
              </a:ext>
            </a:extLst>
          </p:cNvPr>
          <p:cNvSpPr>
            <a:spLocks noGrp="1"/>
          </p:cNvSpPr>
          <p:nvPr>
            <p:ph type="title"/>
          </p:nvPr>
        </p:nvSpPr>
        <p:spPr/>
        <p:txBody>
          <a:bodyPr/>
          <a:lstStyle/>
          <a:p>
            <a:pPr algn="ctr"/>
            <a:r>
              <a:rPr lang="ru-RU" b="1" dirty="0"/>
              <a:t>Понятие остаточной сети</a:t>
            </a:r>
            <a:r>
              <a:rPr lang="ru-RU" dirty="0"/>
              <a:t/>
            </a:r>
            <a:br>
              <a:rPr lang="ru-RU" dirty="0"/>
            </a:br>
            <a:endParaRPr lang="ru-RU" dirty="0"/>
          </a:p>
        </p:txBody>
      </p:sp>
      <p:sp>
        <p:nvSpPr>
          <p:cNvPr id="3" name="TextBox 2">
            <a:extLst>
              <a:ext uri="{FF2B5EF4-FFF2-40B4-BE49-F238E27FC236}">
                <a16:creationId xmlns:a16="http://schemas.microsoft.com/office/drawing/2014/main" id="{7BBF081D-7A57-4EDE-9508-BBA067015E85}"/>
              </a:ext>
            </a:extLst>
          </p:cNvPr>
          <p:cNvSpPr txBox="1"/>
          <p:nvPr/>
        </p:nvSpPr>
        <p:spPr>
          <a:xfrm>
            <a:off x="623392" y="1772816"/>
            <a:ext cx="10945216" cy="3416320"/>
          </a:xfrm>
          <a:prstGeom prst="rect">
            <a:avLst/>
          </a:prstGeom>
          <a:noFill/>
        </p:spPr>
        <p:txBody>
          <a:bodyPr wrap="square" rtlCol="0">
            <a:spAutoFit/>
          </a:bodyPr>
          <a:lstStyle/>
          <a:p>
            <a:pPr algn="just"/>
            <a:r>
              <a:rPr lang="ru-RU" sz="2400" dirty="0"/>
              <a:t>	</a:t>
            </a:r>
            <a:r>
              <a:rPr lang="ru-RU" sz="2400" b="1" i="1" dirty="0"/>
              <a:t>Дополняющие пути</a:t>
            </a:r>
          </a:p>
          <a:p>
            <a:pPr algn="just"/>
            <a:endParaRPr lang="ru-RU" sz="2400" dirty="0"/>
          </a:p>
          <a:p>
            <a:pPr algn="just"/>
            <a:r>
              <a:rPr lang="ru-RU" sz="2400" dirty="0"/>
              <a:t>	Назовем дополняющим путем простой путь из истока в сток в остаточной сети. Из определения остаточной сети вытекает, что по всем ребрам дополняющего пути можно переслать ещё сколько-то вещества, не превысив их пропускную способность. Величину наибольшего потока, который можно переслать по дополняющему пути назовем остаточной пропускной способностью пути. Очевидно, она равна значению минимального остаточного ребра, входящего в данный путь.</a:t>
            </a:r>
          </a:p>
        </p:txBody>
      </p:sp>
    </p:spTree>
    <p:extLst>
      <p:ext uri="{BB962C8B-B14F-4D97-AF65-F5344CB8AC3E}">
        <p14:creationId xmlns:p14="http://schemas.microsoft.com/office/powerpoint/2010/main" val="3979043837"/>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1705" y="188641"/>
            <a:ext cx="5940425" cy="409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8467" y="3887788"/>
            <a:ext cx="5761037" cy="297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5829183"/>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19536" y="260648"/>
            <a:ext cx="8352928" cy="1077218"/>
          </a:xfrm>
          <a:prstGeom prst="rect">
            <a:avLst/>
          </a:prstGeom>
        </p:spPr>
        <p:txBody>
          <a:bodyPr wrap="square">
            <a:spAutoFit/>
          </a:bodyPr>
          <a:lstStyle/>
          <a:p>
            <a:pPr indent="449580" algn="ctr"/>
            <a:r>
              <a:rPr lang="ru-RU" sz="3200" b="1" dirty="0">
                <a:solidFill>
                  <a:srgbClr val="7030A0"/>
                </a:solidFill>
                <a:ea typeface="Times New Roman"/>
              </a:rPr>
              <a:t>АЛГОРИТМ ФОРДА-ФАЛКЕРСОНА</a:t>
            </a:r>
            <a:endParaRPr lang="be-BY" sz="3200" b="1" dirty="0">
              <a:solidFill>
                <a:srgbClr val="7030A0"/>
              </a:solidFill>
              <a:ea typeface="Times New Roman"/>
            </a:endParaRPr>
          </a:p>
          <a:p>
            <a:pPr indent="449580" algn="ctr"/>
            <a:r>
              <a:rPr lang="en-US" sz="3200" b="1" dirty="0">
                <a:solidFill>
                  <a:srgbClr val="FF0000"/>
                </a:solidFill>
                <a:latin typeface="Times New Roman"/>
                <a:ea typeface="Times New Roman"/>
              </a:rPr>
              <a:t> </a:t>
            </a:r>
            <a:endParaRPr lang="be-BY" sz="3200" b="1" dirty="0">
              <a:solidFill>
                <a:srgbClr val="FF0000"/>
              </a:solidFill>
              <a:latin typeface="Times New Roman"/>
              <a:ea typeface="Times New Roman"/>
            </a:endParaRPr>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1384" y="908720"/>
            <a:ext cx="10317576" cy="5390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005539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3449" y="116632"/>
            <a:ext cx="7421084"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65699" y="3861048"/>
            <a:ext cx="8316585"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7615244"/>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50432" y="260648"/>
            <a:ext cx="7416824" cy="411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0552" y="4077072"/>
            <a:ext cx="831658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Прямоугольник 1"/>
          <p:cNvSpPr/>
          <p:nvPr/>
        </p:nvSpPr>
        <p:spPr>
          <a:xfrm>
            <a:off x="5879976" y="5877272"/>
            <a:ext cx="144016" cy="1440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be-BY"/>
          </a:p>
        </p:txBody>
      </p:sp>
    </p:spTree>
    <p:extLst>
      <p:ext uri="{BB962C8B-B14F-4D97-AF65-F5344CB8AC3E}">
        <p14:creationId xmlns:p14="http://schemas.microsoft.com/office/powerpoint/2010/main" val="2497876622"/>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9363" y="188640"/>
            <a:ext cx="7272808" cy="4038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7528" y="4005064"/>
            <a:ext cx="8576478"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5969389"/>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1163"/>
          <p:cNvGrpSpPr/>
          <p:nvPr/>
        </p:nvGrpSpPr>
        <p:grpSpPr>
          <a:xfrm>
            <a:off x="2328430" y="198977"/>
            <a:ext cx="7452872" cy="4320480"/>
            <a:chOff x="0" y="0"/>
            <a:chExt cx="5257800" cy="3200400"/>
          </a:xfrm>
        </p:grpSpPr>
        <p:sp>
          <p:nvSpPr>
            <p:cNvPr id="5" name="Прямоугольник 4"/>
            <p:cNvSpPr/>
            <p:nvPr/>
          </p:nvSpPr>
          <p:spPr>
            <a:xfrm>
              <a:off x="0" y="0"/>
              <a:ext cx="5257800" cy="3200400"/>
            </a:xfrm>
            <a:prstGeom prst="rect">
              <a:avLst/>
            </a:prstGeom>
            <a:noFill/>
            <a:ln>
              <a:noFill/>
            </a:ln>
          </p:spPr>
        </p:sp>
        <p:sp>
          <p:nvSpPr>
            <p:cNvPr id="6" name="Oval 1165"/>
            <p:cNvSpPr>
              <a:spLocks noChangeArrowheads="1"/>
            </p:cNvSpPr>
            <p:nvPr/>
          </p:nvSpPr>
          <p:spPr bwMode="auto">
            <a:xfrm>
              <a:off x="1600200" y="342900"/>
              <a:ext cx="457200" cy="457835"/>
            </a:xfrm>
            <a:prstGeom prst="ellipse">
              <a:avLst/>
            </a:prstGeom>
            <a:noFill/>
            <a:ln w="28575">
              <a:solidFill>
                <a:srgbClr val="000000"/>
              </a:solidFill>
              <a:round/>
              <a:headEnd/>
              <a:tailEnd/>
            </a:ln>
            <a:extLst>
              <a:ext uri="{909E8E84-426E-40DD-AFC4-6F175D3DCCD1}">
                <a14:hiddenFill xmlns:a14="http://schemas.microsoft.com/office/drawing/2010/main">
                  <a:solidFill>
                    <a:srgbClr val="C0C0C0"/>
                  </a:solidFill>
                </a14:hiddenFill>
              </a:ext>
            </a:extLst>
          </p:spPr>
          <p:txBody>
            <a:bodyPr rot="0" vert="horz" wrap="square" lIns="91440" tIns="45720" rIns="91440" bIns="45720" anchor="t" anchorCtr="0" upright="1">
              <a:noAutofit/>
            </a:bodyPr>
            <a:lstStyle/>
            <a:p>
              <a:pPr algn="ctr"/>
              <a:r>
                <a:rPr lang="ru-RU" b="1">
                  <a:latin typeface="Times New Roman"/>
                  <a:ea typeface="Times New Roman"/>
                </a:rPr>
                <a:t>1</a:t>
              </a:r>
              <a:endParaRPr lang="be-BY" sz="1400">
                <a:latin typeface="Times New Roman"/>
                <a:ea typeface="Times New Roman"/>
              </a:endParaRPr>
            </a:p>
          </p:txBody>
        </p:sp>
        <p:sp>
          <p:nvSpPr>
            <p:cNvPr id="7" name="Oval 1166"/>
            <p:cNvSpPr>
              <a:spLocks noChangeArrowheads="1"/>
            </p:cNvSpPr>
            <p:nvPr/>
          </p:nvSpPr>
          <p:spPr bwMode="auto">
            <a:xfrm>
              <a:off x="1600200" y="2056765"/>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400">
                <a:latin typeface="Times New Roman"/>
                <a:ea typeface="Times New Roman"/>
              </a:endParaRPr>
            </a:p>
          </p:txBody>
        </p:sp>
        <p:sp>
          <p:nvSpPr>
            <p:cNvPr id="8" name="Oval 1167"/>
            <p:cNvSpPr>
              <a:spLocks noChangeArrowheads="1"/>
            </p:cNvSpPr>
            <p:nvPr/>
          </p:nvSpPr>
          <p:spPr bwMode="auto">
            <a:xfrm>
              <a:off x="3771900" y="20574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3</a:t>
              </a:r>
              <a:endParaRPr lang="be-BY" sz="1400">
                <a:latin typeface="Times New Roman"/>
                <a:ea typeface="Times New Roman"/>
              </a:endParaRPr>
            </a:p>
          </p:txBody>
        </p:sp>
        <p:sp>
          <p:nvSpPr>
            <p:cNvPr id="9" name="Oval 1168"/>
            <p:cNvSpPr>
              <a:spLocks noChangeArrowheads="1"/>
            </p:cNvSpPr>
            <p:nvPr/>
          </p:nvSpPr>
          <p:spPr bwMode="auto">
            <a:xfrm>
              <a:off x="3771900" y="342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2</a:t>
              </a:r>
              <a:endParaRPr lang="be-BY" sz="1400">
                <a:latin typeface="Times New Roman"/>
                <a:ea typeface="Times New Roman"/>
              </a:endParaRPr>
            </a:p>
          </p:txBody>
        </p:sp>
        <p:sp>
          <p:nvSpPr>
            <p:cNvPr id="10" name="Oval 1170"/>
            <p:cNvSpPr>
              <a:spLocks noChangeArrowheads="1"/>
            </p:cNvSpPr>
            <p:nvPr/>
          </p:nvSpPr>
          <p:spPr bwMode="auto">
            <a:xfrm>
              <a:off x="228600" y="1142365"/>
              <a:ext cx="457200" cy="457835"/>
            </a:xfrm>
            <a:prstGeom prst="ellipse">
              <a:avLst/>
            </a:prstGeom>
            <a:solidFill>
              <a:srgbClr val="00CC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0</a:t>
              </a:r>
              <a:endParaRPr lang="be-BY" sz="1400">
                <a:latin typeface="Times New Roman"/>
                <a:ea typeface="Times New Roman"/>
              </a:endParaRPr>
            </a:p>
          </p:txBody>
        </p:sp>
        <p:cxnSp>
          <p:nvCxnSpPr>
            <p:cNvPr id="11" name="AutoShape 1171"/>
            <p:cNvCxnSpPr>
              <a:cxnSpLocks noChangeShapeType="1"/>
              <a:stCxn id="7" idx="6"/>
              <a:endCxn id="8" idx="2"/>
            </p:cNvCxnSpPr>
            <p:nvPr/>
          </p:nvCxnSpPr>
          <p:spPr bwMode="auto">
            <a:xfrm>
              <a:off x="2072005" y="2286000"/>
              <a:ext cx="1685925"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AutoShape 1172"/>
            <p:cNvCxnSpPr>
              <a:cxnSpLocks noChangeShapeType="1"/>
              <a:stCxn id="10" idx="7"/>
              <a:endCxn id="6" idx="2"/>
            </p:cNvCxnSpPr>
            <p:nvPr/>
          </p:nvCxnSpPr>
          <p:spPr bwMode="auto">
            <a:xfrm flipV="1">
              <a:off x="619125" y="572135"/>
              <a:ext cx="967105" cy="62357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AutoShape 1173"/>
            <p:cNvCxnSpPr>
              <a:cxnSpLocks noChangeShapeType="1"/>
              <a:stCxn id="10" idx="5"/>
              <a:endCxn id="7" idx="2"/>
            </p:cNvCxnSpPr>
            <p:nvPr/>
          </p:nvCxnSpPr>
          <p:spPr bwMode="auto">
            <a:xfrm>
              <a:off x="619125" y="1546860"/>
              <a:ext cx="967105" cy="739140"/>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14" name="Text Box 1174"/>
            <p:cNvSpPr txBox="1">
              <a:spLocks noChangeArrowheads="1"/>
            </p:cNvSpPr>
            <p:nvPr/>
          </p:nvSpPr>
          <p:spPr bwMode="auto">
            <a:xfrm>
              <a:off x="8001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5</a:t>
              </a:r>
              <a:endParaRPr lang="be-BY" sz="1400">
                <a:latin typeface="Times New Roman"/>
                <a:ea typeface="Times New Roman"/>
              </a:endParaRPr>
            </a:p>
          </p:txBody>
        </p:sp>
        <p:sp>
          <p:nvSpPr>
            <p:cNvPr id="15" name="Text Box 1176"/>
            <p:cNvSpPr txBox="1">
              <a:spLocks noChangeArrowheads="1"/>
            </p:cNvSpPr>
            <p:nvPr/>
          </p:nvSpPr>
          <p:spPr bwMode="auto">
            <a:xfrm>
              <a:off x="2628900" y="2171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3</a:t>
              </a:r>
              <a:endParaRPr lang="be-BY" sz="1400">
                <a:latin typeface="Times New Roman"/>
                <a:ea typeface="Times New Roman"/>
              </a:endParaRPr>
            </a:p>
          </p:txBody>
        </p:sp>
        <p:sp>
          <p:nvSpPr>
            <p:cNvPr id="16" name="Text Box 1177"/>
            <p:cNvSpPr txBox="1">
              <a:spLocks noChangeArrowheads="1"/>
            </p:cNvSpPr>
            <p:nvPr/>
          </p:nvSpPr>
          <p:spPr bwMode="auto">
            <a:xfrm>
              <a:off x="6858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5</a:t>
              </a:r>
              <a:endParaRPr lang="be-BY" sz="1400">
                <a:latin typeface="Times New Roman"/>
                <a:ea typeface="Times New Roman"/>
              </a:endParaRPr>
            </a:p>
          </p:txBody>
        </p:sp>
        <p:cxnSp>
          <p:nvCxnSpPr>
            <p:cNvPr id="17" name="AutoShape 1178"/>
            <p:cNvCxnSpPr>
              <a:cxnSpLocks noChangeShapeType="1"/>
              <a:stCxn id="6" idx="3"/>
              <a:endCxn id="7" idx="1"/>
            </p:cNvCxnSpPr>
            <p:nvPr/>
          </p:nvCxnSpPr>
          <p:spPr bwMode="auto">
            <a:xfrm>
              <a:off x="166687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179"/>
            <p:cNvCxnSpPr>
              <a:cxnSpLocks noChangeShapeType="1"/>
              <a:stCxn id="7" idx="7"/>
              <a:endCxn id="6" idx="5"/>
            </p:cNvCxnSpPr>
            <p:nvPr/>
          </p:nvCxnSpPr>
          <p:spPr bwMode="auto">
            <a:xfrm flipV="1">
              <a:off x="199072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 name="AutoShape 1180"/>
            <p:cNvCxnSpPr>
              <a:cxnSpLocks noChangeShapeType="1"/>
              <a:stCxn id="9" idx="3"/>
              <a:endCxn id="7" idx="6"/>
            </p:cNvCxnSpPr>
            <p:nvPr/>
          </p:nvCxnSpPr>
          <p:spPr bwMode="auto">
            <a:xfrm flipH="1">
              <a:off x="2072005" y="747395"/>
              <a:ext cx="1766570" cy="15386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0" name="Oval 1181"/>
            <p:cNvSpPr>
              <a:spLocks noChangeArrowheads="1"/>
            </p:cNvSpPr>
            <p:nvPr/>
          </p:nvSpPr>
          <p:spPr bwMode="auto">
            <a:xfrm>
              <a:off x="4572000" y="1143000"/>
              <a:ext cx="457200" cy="457835"/>
            </a:xfrm>
            <a:prstGeom prst="ellipse">
              <a:avLst/>
            </a:prstGeom>
            <a:solidFill>
              <a:srgbClr val="FF00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400">
                <a:latin typeface="Times New Roman"/>
                <a:ea typeface="Times New Roman"/>
              </a:endParaRPr>
            </a:p>
          </p:txBody>
        </p:sp>
        <p:cxnSp>
          <p:nvCxnSpPr>
            <p:cNvPr id="21" name="AutoShape 1182"/>
            <p:cNvCxnSpPr>
              <a:cxnSpLocks noChangeShapeType="1"/>
              <a:stCxn id="9" idx="5"/>
              <a:endCxn id="20" idx="1"/>
            </p:cNvCxnSpPr>
            <p:nvPr/>
          </p:nvCxnSpPr>
          <p:spPr bwMode="auto">
            <a:xfrm>
              <a:off x="4162425" y="747395"/>
              <a:ext cx="476250" cy="44894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2" name="Text Box 1183"/>
            <p:cNvSpPr txBox="1">
              <a:spLocks noChangeArrowheads="1"/>
            </p:cNvSpPr>
            <p:nvPr/>
          </p:nvSpPr>
          <p:spPr bwMode="auto">
            <a:xfrm>
              <a:off x="2781300" y="12573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5</a:t>
              </a:r>
              <a:endParaRPr lang="be-BY" sz="1400">
                <a:latin typeface="Times New Roman"/>
                <a:ea typeface="Times New Roman"/>
              </a:endParaRPr>
            </a:p>
          </p:txBody>
        </p:sp>
        <p:sp>
          <p:nvSpPr>
            <p:cNvPr id="23" name="Text Box 1184"/>
            <p:cNvSpPr txBox="1">
              <a:spLocks noChangeArrowheads="1"/>
            </p:cNvSpPr>
            <p:nvPr/>
          </p:nvSpPr>
          <p:spPr bwMode="auto">
            <a:xfrm>
              <a:off x="1828800" y="1485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3</a:t>
              </a:r>
              <a:endParaRPr lang="be-BY" sz="1400">
                <a:latin typeface="Times New Roman"/>
                <a:ea typeface="Times New Roman"/>
              </a:endParaRPr>
            </a:p>
          </p:txBody>
        </p:sp>
        <p:sp>
          <p:nvSpPr>
            <p:cNvPr id="24" name="Text Box 1185"/>
            <p:cNvSpPr txBox="1">
              <a:spLocks noChangeArrowheads="1"/>
            </p:cNvSpPr>
            <p:nvPr/>
          </p:nvSpPr>
          <p:spPr bwMode="auto">
            <a:xfrm>
              <a:off x="1371600" y="914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sp>
          <p:nvSpPr>
            <p:cNvPr id="25" name="Text Box 1186"/>
            <p:cNvSpPr txBox="1">
              <a:spLocks noChangeArrowheads="1"/>
            </p:cNvSpPr>
            <p:nvPr/>
          </p:nvSpPr>
          <p:spPr bwMode="auto">
            <a:xfrm>
              <a:off x="43434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5</a:t>
              </a:r>
              <a:endParaRPr lang="be-BY" sz="1400">
                <a:latin typeface="Times New Roman"/>
                <a:ea typeface="Times New Roman"/>
              </a:endParaRPr>
            </a:p>
          </p:txBody>
        </p:sp>
        <p:cxnSp>
          <p:nvCxnSpPr>
            <p:cNvPr id="26" name="AutoShape 1187"/>
            <p:cNvCxnSpPr>
              <a:cxnSpLocks noChangeShapeType="1"/>
              <a:stCxn id="20" idx="3"/>
              <a:endCxn id="8" idx="7"/>
            </p:cNvCxnSpPr>
            <p:nvPr/>
          </p:nvCxnSpPr>
          <p:spPr bwMode="auto">
            <a:xfrm flipH="1">
              <a:off x="4162425" y="1547495"/>
              <a:ext cx="476250" cy="5632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7" name="Text Box 1188"/>
            <p:cNvSpPr txBox="1">
              <a:spLocks noChangeArrowheads="1"/>
            </p:cNvSpPr>
            <p:nvPr/>
          </p:nvSpPr>
          <p:spPr bwMode="auto">
            <a:xfrm>
              <a:off x="43434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4</a:t>
              </a:r>
              <a:endParaRPr lang="be-BY" sz="1400">
                <a:latin typeface="Times New Roman"/>
                <a:ea typeface="Times New Roman"/>
              </a:endParaRPr>
            </a:p>
          </p:txBody>
        </p:sp>
        <p:cxnSp>
          <p:nvCxnSpPr>
            <p:cNvPr id="28" name="AutoShape 1189"/>
            <p:cNvCxnSpPr>
              <a:cxnSpLocks noChangeShapeType="1"/>
              <a:stCxn id="8" idx="4"/>
              <a:endCxn id="7" idx="4"/>
            </p:cNvCxnSpPr>
            <p:nvPr/>
          </p:nvCxnSpPr>
          <p:spPr bwMode="auto">
            <a:xfrm rot="16200000" flipV="1">
              <a:off x="2914650" y="1443355"/>
              <a:ext cx="635" cy="2171065"/>
            </a:xfrm>
            <a:prstGeom prst="curvedConnector3">
              <a:avLst>
                <a:gd name="adj1" fmla="val -337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9" name="Text Box 1190"/>
            <p:cNvSpPr txBox="1">
              <a:spLocks noChangeArrowheads="1"/>
            </p:cNvSpPr>
            <p:nvPr/>
          </p:nvSpPr>
          <p:spPr bwMode="auto">
            <a:xfrm>
              <a:off x="2628900" y="25146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cxnSp>
          <p:nvCxnSpPr>
            <p:cNvPr id="30" name="AutoShape 1191"/>
            <p:cNvCxnSpPr>
              <a:cxnSpLocks noChangeShapeType="1"/>
              <a:stCxn id="9" idx="1"/>
              <a:endCxn id="6" idx="0"/>
            </p:cNvCxnSpPr>
            <p:nvPr/>
          </p:nvCxnSpPr>
          <p:spPr bwMode="auto">
            <a:xfrm rot="5400000" flipH="1">
              <a:off x="2800350" y="-642620"/>
              <a:ext cx="67310" cy="2009775"/>
            </a:xfrm>
            <a:prstGeom prst="curvedConnector3">
              <a:avLst>
                <a:gd name="adj1" fmla="val 418866"/>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1" name="Text Box 1192"/>
            <p:cNvSpPr txBox="1">
              <a:spLocks noChangeArrowheads="1"/>
            </p:cNvSpPr>
            <p:nvPr/>
          </p:nvSpPr>
          <p:spPr bwMode="auto">
            <a:xfrm>
              <a:off x="2971800" y="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-12</a:t>
              </a:r>
              <a:endParaRPr lang="be-BY" sz="1400">
                <a:latin typeface="Times New Roman"/>
                <a:ea typeface="Times New Roman"/>
              </a:endParaRPr>
            </a:p>
          </p:txBody>
        </p:sp>
        <p:cxnSp>
          <p:nvCxnSpPr>
            <p:cNvPr id="32" name="AutoShape 1193"/>
            <p:cNvCxnSpPr>
              <a:cxnSpLocks noChangeShapeType="1"/>
              <a:stCxn id="7" idx="7"/>
              <a:endCxn id="9" idx="2"/>
            </p:cNvCxnSpPr>
            <p:nvPr/>
          </p:nvCxnSpPr>
          <p:spPr bwMode="auto">
            <a:xfrm rot="16200000">
              <a:off x="2105660" y="457200"/>
              <a:ext cx="1537970" cy="1767205"/>
            </a:xfrm>
            <a:prstGeom prst="curvedConnector2">
              <a:avLst/>
            </a:prstGeom>
            <a:noFill/>
            <a:ln w="19050">
              <a:solidFill>
                <a:srgbClr val="FF6600"/>
              </a:solidFill>
              <a:round/>
              <a:headEnd/>
              <a:tailEnd type="triangle" w="med" len="med"/>
            </a:ln>
            <a:extLst>
              <a:ext uri="{909E8E84-426E-40DD-AFC4-6F175D3DCCD1}">
                <a14:hiddenFill xmlns:a14="http://schemas.microsoft.com/office/drawing/2010/main">
                  <a:noFill/>
                </a14:hiddenFill>
              </a:ext>
            </a:extLst>
          </p:spPr>
        </p:cxnSp>
        <p:sp>
          <p:nvSpPr>
            <p:cNvPr id="33" name="Text Box 1194"/>
            <p:cNvSpPr txBox="1">
              <a:spLocks noChangeArrowheads="1"/>
            </p:cNvSpPr>
            <p:nvPr/>
          </p:nvSpPr>
          <p:spPr bwMode="auto">
            <a:xfrm>
              <a:off x="2514600" y="8001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4</a:t>
              </a:r>
              <a:endParaRPr lang="be-BY" sz="1400">
                <a:latin typeface="Times New Roman"/>
                <a:ea typeface="Times New Roman"/>
              </a:endParaRPr>
            </a:p>
          </p:txBody>
        </p:sp>
        <p:cxnSp>
          <p:nvCxnSpPr>
            <p:cNvPr id="34" name="AutoShape 1195"/>
            <p:cNvCxnSpPr>
              <a:cxnSpLocks noChangeShapeType="1"/>
              <a:stCxn id="6" idx="1"/>
              <a:endCxn id="10" idx="1"/>
            </p:cNvCxnSpPr>
            <p:nvPr/>
          </p:nvCxnSpPr>
          <p:spPr bwMode="auto">
            <a:xfrm rot="16200000" flipH="1" flipV="1">
              <a:off x="581025" y="110490"/>
              <a:ext cx="799465" cy="1371600"/>
            </a:xfrm>
            <a:prstGeom prst="curvedConnector3">
              <a:avLst>
                <a:gd name="adj1" fmla="val -35264"/>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5" name="Text Box 1196"/>
            <p:cNvSpPr txBox="1">
              <a:spLocks noChangeArrowheads="1"/>
            </p:cNvSpPr>
            <p:nvPr/>
          </p:nvSpPr>
          <p:spPr bwMode="auto">
            <a:xfrm>
              <a:off x="342900" y="152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cxnSp>
          <p:nvCxnSpPr>
            <p:cNvPr id="36" name="Line 1197"/>
            <p:cNvCxnSpPr/>
            <p:nvPr/>
          </p:nvCxnSpPr>
          <p:spPr bwMode="auto">
            <a:xfrm>
              <a:off x="4000500" y="800100"/>
              <a:ext cx="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7" name="Text Box 1198"/>
            <p:cNvSpPr txBox="1">
              <a:spLocks noChangeArrowheads="1"/>
            </p:cNvSpPr>
            <p:nvPr/>
          </p:nvSpPr>
          <p:spPr bwMode="auto">
            <a:xfrm>
              <a:off x="3771900" y="1409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7</a:t>
              </a:r>
              <a:endParaRPr lang="be-BY" sz="1400">
                <a:latin typeface="Times New Roman"/>
                <a:ea typeface="Times New Roman"/>
              </a:endParaRPr>
            </a:p>
          </p:txBody>
        </p:sp>
        <p:cxnSp>
          <p:nvCxnSpPr>
            <p:cNvPr id="38" name="AutoShape 1199"/>
            <p:cNvCxnSpPr>
              <a:cxnSpLocks noChangeShapeType="1"/>
              <a:stCxn id="20" idx="7"/>
              <a:endCxn id="9" idx="7"/>
            </p:cNvCxnSpPr>
            <p:nvPr/>
          </p:nvCxnSpPr>
          <p:spPr bwMode="auto">
            <a:xfrm rot="5400000" flipH="1">
              <a:off x="4162425" y="396240"/>
              <a:ext cx="800100" cy="800100"/>
            </a:xfrm>
            <a:prstGeom prst="curvedConnector3">
              <a:avLst>
                <a:gd name="adj1" fmla="val 135236"/>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9" name="Text Box 1200"/>
            <p:cNvSpPr txBox="1">
              <a:spLocks noChangeArrowheads="1"/>
            </p:cNvSpPr>
            <p:nvPr/>
          </p:nvSpPr>
          <p:spPr bwMode="auto">
            <a:xfrm>
              <a:off x="4686300" y="342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15</a:t>
              </a:r>
              <a:endParaRPr lang="be-BY" sz="1400">
                <a:latin typeface="Times New Roman"/>
                <a:ea typeface="Times New Roman"/>
              </a:endParaRPr>
            </a:p>
          </p:txBody>
        </p:sp>
        <p:cxnSp>
          <p:nvCxnSpPr>
            <p:cNvPr id="40" name="AutoShape 1201"/>
            <p:cNvCxnSpPr>
              <a:cxnSpLocks noChangeShapeType="1"/>
              <a:stCxn id="7" idx="3"/>
              <a:endCxn id="10" idx="3"/>
            </p:cNvCxnSpPr>
            <p:nvPr/>
          </p:nvCxnSpPr>
          <p:spPr bwMode="auto">
            <a:xfrm rot="16200000" flipV="1">
              <a:off x="524510" y="1317625"/>
              <a:ext cx="914400" cy="1372235"/>
            </a:xfrm>
            <a:prstGeom prst="curvedConnector3">
              <a:avLst>
                <a:gd name="adj1" fmla="val -30764"/>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1" name="Text Box 1202"/>
            <p:cNvSpPr txBox="1">
              <a:spLocks noChangeArrowheads="1"/>
            </p:cNvSpPr>
            <p:nvPr/>
          </p:nvSpPr>
          <p:spPr bwMode="auto">
            <a:xfrm>
              <a:off x="3429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8</a:t>
              </a:r>
              <a:endParaRPr lang="be-BY" sz="1400">
                <a:latin typeface="Times New Roman"/>
                <a:ea typeface="Times New Roman"/>
              </a:endParaRPr>
            </a:p>
          </p:txBody>
        </p:sp>
      </p:grpSp>
      <p:pic>
        <p:nvPicPr>
          <p:cNvPr id="17409"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3224" y="4249884"/>
            <a:ext cx="8472550" cy="2347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Прямоугольник 41"/>
          <p:cNvSpPr/>
          <p:nvPr/>
        </p:nvSpPr>
        <p:spPr>
          <a:xfrm>
            <a:off x="6456040" y="188641"/>
            <a:ext cx="123630" cy="1013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e-BY"/>
          </a:p>
        </p:txBody>
      </p:sp>
      <p:sp>
        <p:nvSpPr>
          <p:cNvPr id="43" name="Прямоугольник 42"/>
          <p:cNvSpPr/>
          <p:nvPr/>
        </p:nvSpPr>
        <p:spPr>
          <a:xfrm>
            <a:off x="5993051" y="5792912"/>
            <a:ext cx="123630" cy="1013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e-BY"/>
          </a:p>
        </p:txBody>
      </p:sp>
    </p:spTree>
    <p:extLst>
      <p:ext uri="{BB962C8B-B14F-4D97-AF65-F5344CB8AC3E}">
        <p14:creationId xmlns:p14="http://schemas.microsoft.com/office/powerpoint/2010/main" val="180065573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1203"/>
          <p:cNvGrpSpPr/>
          <p:nvPr/>
        </p:nvGrpSpPr>
        <p:grpSpPr>
          <a:xfrm>
            <a:off x="2351584" y="13447"/>
            <a:ext cx="7272720" cy="4464496"/>
            <a:chOff x="0" y="0"/>
            <a:chExt cx="5257800" cy="3200400"/>
          </a:xfrm>
        </p:grpSpPr>
        <p:sp>
          <p:nvSpPr>
            <p:cNvPr id="5" name="Прямоугольник 4"/>
            <p:cNvSpPr/>
            <p:nvPr/>
          </p:nvSpPr>
          <p:spPr>
            <a:xfrm>
              <a:off x="0" y="0"/>
              <a:ext cx="5257800" cy="3200400"/>
            </a:xfrm>
            <a:prstGeom prst="rect">
              <a:avLst/>
            </a:prstGeom>
            <a:noFill/>
            <a:ln>
              <a:noFill/>
            </a:ln>
          </p:spPr>
        </p:sp>
        <p:sp>
          <p:nvSpPr>
            <p:cNvPr id="6" name="Oval 1205"/>
            <p:cNvSpPr>
              <a:spLocks noChangeArrowheads="1"/>
            </p:cNvSpPr>
            <p:nvPr/>
          </p:nvSpPr>
          <p:spPr bwMode="auto">
            <a:xfrm>
              <a:off x="1600200" y="342900"/>
              <a:ext cx="457200" cy="457835"/>
            </a:xfrm>
            <a:prstGeom prst="ellipse">
              <a:avLst/>
            </a:prstGeom>
            <a:noFill/>
            <a:ln w="28575">
              <a:solidFill>
                <a:srgbClr val="000000"/>
              </a:solidFill>
              <a:round/>
              <a:headEnd/>
              <a:tailEnd/>
            </a:ln>
            <a:extLst>
              <a:ext uri="{909E8E84-426E-40DD-AFC4-6F175D3DCCD1}">
                <a14:hiddenFill xmlns:a14="http://schemas.microsoft.com/office/drawing/2010/main">
                  <a:solidFill>
                    <a:srgbClr val="C0C0C0"/>
                  </a:solidFill>
                </a14:hiddenFill>
              </a:ext>
            </a:extLst>
          </p:spPr>
          <p:txBody>
            <a:bodyPr rot="0" vert="horz" wrap="square" lIns="91440" tIns="45720" rIns="91440" bIns="45720" anchor="t" anchorCtr="0" upright="1">
              <a:noAutofit/>
            </a:bodyPr>
            <a:lstStyle/>
            <a:p>
              <a:pPr algn="ctr"/>
              <a:r>
                <a:rPr lang="ru-RU" b="1">
                  <a:latin typeface="Times New Roman"/>
                  <a:ea typeface="Times New Roman"/>
                </a:rPr>
                <a:t>1</a:t>
              </a:r>
              <a:endParaRPr lang="be-BY" sz="1400">
                <a:latin typeface="Times New Roman"/>
                <a:ea typeface="Times New Roman"/>
              </a:endParaRPr>
            </a:p>
          </p:txBody>
        </p:sp>
        <p:sp>
          <p:nvSpPr>
            <p:cNvPr id="7" name="Oval 1206"/>
            <p:cNvSpPr>
              <a:spLocks noChangeArrowheads="1"/>
            </p:cNvSpPr>
            <p:nvPr/>
          </p:nvSpPr>
          <p:spPr bwMode="auto">
            <a:xfrm>
              <a:off x="1600200" y="2056765"/>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400">
                <a:latin typeface="Times New Roman"/>
                <a:ea typeface="Times New Roman"/>
              </a:endParaRPr>
            </a:p>
          </p:txBody>
        </p:sp>
        <p:sp>
          <p:nvSpPr>
            <p:cNvPr id="8" name="Oval 1207"/>
            <p:cNvSpPr>
              <a:spLocks noChangeArrowheads="1"/>
            </p:cNvSpPr>
            <p:nvPr/>
          </p:nvSpPr>
          <p:spPr bwMode="auto">
            <a:xfrm>
              <a:off x="3771900" y="20574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3</a:t>
              </a:r>
              <a:endParaRPr lang="be-BY" sz="1400">
                <a:latin typeface="Times New Roman"/>
                <a:ea typeface="Times New Roman"/>
              </a:endParaRPr>
            </a:p>
          </p:txBody>
        </p:sp>
        <p:sp>
          <p:nvSpPr>
            <p:cNvPr id="9" name="Oval 1208"/>
            <p:cNvSpPr>
              <a:spLocks noChangeArrowheads="1"/>
            </p:cNvSpPr>
            <p:nvPr/>
          </p:nvSpPr>
          <p:spPr bwMode="auto">
            <a:xfrm>
              <a:off x="3771900" y="342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2</a:t>
              </a:r>
              <a:endParaRPr lang="be-BY" sz="1400">
                <a:latin typeface="Times New Roman"/>
                <a:ea typeface="Times New Roman"/>
              </a:endParaRPr>
            </a:p>
          </p:txBody>
        </p:sp>
        <p:sp>
          <p:nvSpPr>
            <p:cNvPr id="10" name="Oval 1209"/>
            <p:cNvSpPr>
              <a:spLocks noChangeArrowheads="1"/>
            </p:cNvSpPr>
            <p:nvPr/>
          </p:nvSpPr>
          <p:spPr bwMode="auto">
            <a:xfrm>
              <a:off x="228600" y="1142365"/>
              <a:ext cx="457200" cy="457835"/>
            </a:xfrm>
            <a:prstGeom prst="ellipse">
              <a:avLst/>
            </a:prstGeom>
            <a:solidFill>
              <a:srgbClr val="00CC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0</a:t>
              </a:r>
              <a:endParaRPr lang="be-BY" sz="1400">
                <a:latin typeface="Times New Roman"/>
                <a:ea typeface="Times New Roman"/>
              </a:endParaRPr>
            </a:p>
          </p:txBody>
        </p:sp>
        <p:cxnSp>
          <p:nvCxnSpPr>
            <p:cNvPr id="11" name="AutoShape 1210"/>
            <p:cNvCxnSpPr>
              <a:cxnSpLocks noChangeShapeType="1"/>
              <a:stCxn id="7" idx="6"/>
              <a:endCxn id="8" idx="2"/>
            </p:cNvCxnSpPr>
            <p:nvPr/>
          </p:nvCxnSpPr>
          <p:spPr bwMode="auto">
            <a:xfrm>
              <a:off x="2072005" y="2286000"/>
              <a:ext cx="1685925"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AutoShape 1211"/>
            <p:cNvCxnSpPr>
              <a:cxnSpLocks noChangeShapeType="1"/>
              <a:stCxn id="10" idx="7"/>
              <a:endCxn id="6" idx="2"/>
            </p:cNvCxnSpPr>
            <p:nvPr/>
          </p:nvCxnSpPr>
          <p:spPr bwMode="auto">
            <a:xfrm flipV="1">
              <a:off x="619125" y="572135"/>
              <a:ext cx="967105" cy="62357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AutoShape 1212"/>
            <p:cNvCxnSpPr>
              <a:cxnSpLocks noChangeShapeType="1"/>
              <a:stCxn id="10" idx="5"/>
              <a:endCxn id="7" idx="2"/>
            </p:cNvCxnSpPr>
            <p:nvPr/>
          </p:nvCxnSpPr>
          <p:spPr bwMode="auto">
            <a:xfrm>
              <a:off x="619125" y="1546860"/>
              <a:ext cx="967105" cy="7391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 name="Text Box 1213"/>
            <p:cNvSpPr txBox="1">
              <a:spLocks noChangeArrowheads="1"/>
            </p:cNvSpPr>
            <p:nvPr/>
          </p:nvSpPr>
          <p:spPr bwMode="auto">
            <a:xfrm>
              <a:off x="8001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5</a:t>
              </a:r>
              <a:endParaRPr lang="be-BY" sz="1400">
                <a:latin typeface="Times New Roman"/>
                <a:ea typeface="Times New Roman"/>
              </a:endParaRPr>
            </a:p>
          </p:txBody>
        </p:sp>
        <p:sp>
          <p:nvSpPr>
            <p:cNvPr id="15" name="Text Box 1214"/>
            <p:cNvSpPr txBox="1">
              <a:spLocks noChangeArrowheads="1"/>
            </p:cNvSpPr>
            <p:nvPr/>
          </p:nvSpPr>
          <p:spPr bwMode="auto">
            <a:xfrm>
              <a:off x="2628900" y="2171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3</a:t>
              </a:r>
              <a:endParaRPr lang="be-BY" sz="1400">
                <a:latin typeface="Times New Roman"/>
                <a:ea typeface="Times New Roman"/>
              </a:endParaRPr>
            </a:p>
          </p:txBody>
        </p:sp>
        <p:sp>
          <p:nvSpPr>
            <p:cNvPr id="16" name="Text Box 1215"/>
            <p:cNvSpPr txBox="1">
              <a:spLocks noChangeArrowheads="1"/>
            </p:cNvSpPr>
            <p:nvPr/>
          </p:nvSpPr>
          <p:spPr bwMode="auto">
            <a:xfrm>
              <a:off x="6858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a:t>
              </a:r>
              <a:endParaRPr lang="be-BY" sz="1400">
                <a:latin typeface="Times New Roman"/>
                <a:ea typeface="Times New Roman"/>
              </a:endParaRPr>
            </a:p>
          </p:txBody>
        </p:sp>
        <p:cxnSp>
          <p:nvCxnSpPr>
            <p:cNvPr id="17" name="AutoShape 1216"/>
            <p:cNvCxnSpPr>
              <a:cxnSpLocks noChangeShapeType="1"/>
              <a:stCxn id="6" idx="3"/>
              <a:endCxn id="7" idx="1"/>
            </p:cNvCxnSpPr>
            <p:nvPr/>
          </p:nvCxnSpPr>
          <p:spPr bwMode="auto">
            <a:xfrm>
              <a:off x="166687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217"/>
            <p:cNvCxnSpPr>
              <a:cxnSpLocks noChangeShapeType="1"/>
              <a:stCxn id="7" idx="7"/>
              <a:endCxn id="6" idx="5"/>
            </p:cNvCxnSpPr>
            <p:nvPr/>
          </p:nvCxnSpPr>
          <p:spPr bwMode="auto">
            <a:xfrm flipV="1">
              <a:off x="1990725" y="747395"/>
              <a:ext cx="635" cy="136271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 name="AutoShape 1218"/>
            <p:cNvCxnSpPr>
              <a:cxnSpLocks noChangeShapeType="1"/>
              <a:stCxn id="9" idx="3"/>
              <a:endCxn id="7" idx="6"/>
            </p:cNvCxnSpPr>
            <p:nvPr/>
          </p:nvCxnSpPr>
          <p:spPr bwMode="auto">
            <a:xfrm flipH="1">
              <a:off x="2072005" y="747395"/>
              <a:ext cx="1766570" cy="15386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0" name="Oval 1219"/>
            <p:cNvSpPr>
              <a:spLocks noChangeArrowheads="1"/>
            </p:cNvSpPr>
            <p:nvPr/>
          </p:nvSpPr>
          <p:spPr bwMode="auto">
            <a:xfrm>
              <a:off x="4572000" y="1143000"/>
              <a:ext cx="457200" cy="457835"/>
            </a:xfrm>
            <a:prstGeom prst="ellipse">
              <a:avLst/>
            </a:prstGeom>
            <a:solidFill>
              <a:srgbClr val="FF00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400">
                <a:latin typeface="Times New Roman"/>
                <a:ea typeface="Times New Roman"/>
              </a:endParaRPr>
            </a:p>
          </p:txBody>
        </p:sp>
        <p:cxnSp>
          <p:nvCxnSpPr>
            <p:cNvPr id="21" name="AutoShape 1220"/>
            <p:cNvCxnSpPr>
              <a:cxnSpLocks noChangeShapeType="1"/>
              <a:stCxn id="9" idx="5"/>
              <a:endCxn id="20" idx="1"/>
            </p:cNvCxnSpPr>
            <p:nvPr/>
          </p:nvCxnSpPr>
          <p:spPr bwMode="auto">
            <a:xfrm>
              <a:off x="4162425" y="747395"/>
              <a:ext cx="476250" cy="4489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2" name="Text Box 1221"/>
            <p:cNvSpPr txBox="1">
              <a:spLocks noChangeArrowheads="1"/>
            </p:cNvSpPr>
            <p:nvPr/>
          </p:nvSpPr>
          <p:spPr bwMode="auto">
            <a:xfrm>
              <a:off x="2781300" y="12573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9</a:t>
              </a:r>
              <a:endParaRPr lang="be-BY" sz="1400">
                <a:latin typeface="Times New Roman"/>
                <a:ea typeface="Times New Roman"/>
              </a:endParaRPr>
            </a:p>
          </p:txBody>
        </p:sp>
        <p:sp>
          <p:nvSpPr>
            <p:cNvPr id="23" name="Text Box 1222"/>
            <p:cNvSpPr txBox="1">
              <a:spLocks noChangeArrowheads="1"/>
            </p:cNvSpPr>
            <p:nvPr/>
          </p:nvSpPr>
          <p:spPr bwMode="auto">
            <a:xfrm>
              <a:off x="1828800" y="1485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3</a:t>
              </a:r>
              <a:endParaRPr lang="be-BY" sz="1400">
                <a:latin typeface="Times New Roman"/>
                <a:ea typeface="Times New Roman"/>
              </a:endParaRPr>
            </a:p>
          </p:txBody>
        </p:sp>
        <p:sp>
          <p:nvSpPr>
            <p:cNvPr id="24" name="Text Box 1223"/>
            <p:cNvSpPr txBox="1">
              <a:spLocks noChangeArrowheads="1"/>
            </p:cNvSpPr>
            <p:nvPr/>
          </p:nvSpPr>
          <p:spPr bwMode="auto">
            <a:xfrm>
              <a:off x="1371600" y="914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sp>
          <p:nvSpPr>
            <p:cNvPr id="25" name="Text Box 1224"/>
            <p:cNvSpPr txBox="1">
              <a:spLocks noChangeArrowheads="1"/>
            </p:cNvSpPr>
            <p:nvPr/>
          </p:nvSpPr>
          <p:spPr bwMode="auto">
            <a:xfrm>
              <a:off x="43434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a:t>
              </a:r>
              <a:endParaRPr lang="be-BY" sz="1400">
                <a:latin typeface="Times New Roman"/>
                <a:ea typeface="Times New Roman"/>
              </a:endParaRPr>
            </a:p>
          </p:txBody>
        </p:sp>
        <p:cxnSp>
          <p:nvCxnSpPr>
            <p:cNvPr id="26" name="AutoShape 1225"/>
            <p:cNvCxnSpPr>
              <a:cxnSpLocks noChangeShapeType="1"/>
              <a:stCxn id="20" idx="3"/>
              <a:endCxn id="8" idx="7"/>
            </p:cNvCxnSpPr>
            <p:nvPr/>
          </p:nvCxnSpPr>
          <p:spPr bwMode="auto">
            <a:xfrm flipH="1">
              <a:off x="4162425" y="1547495"/>
              <a:ext cx="476250" cy="5632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7" name="Text Box 1226"/>
            <p:cNvSpPr txBox="1">
              <a:spLocks noChangeArrowheads="1"/>
            </p:cNvSpPr>
            <p:nvPr/>
          </p:nvSpPr>
          <p:spPr bwMode="auto">
            <a:xfrm>
              <a:off x="43434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4</a:t>
              </a:r>
              <a:endParaRPr lang="be-BY" sz="1400">
                <a:latin typeface="Times New Roman"/>
                <a:ea typeface="Times New Roman"/>
              </a:endParaRPr>
            </a:p>
          </p:txBody>
        </p:sp>
        <p:cxnSp>
          <p:nvCxnSpPr>
            <p:cNvPr id="28" name="AutoShape 1227"/>
            <p:cNvCxnSpPr>
              <a:cxnSpLocks noChangeShapeType="1"/>
              <a:stCxn id="8" idx="4"/>
              <a:endCxn id="7" idx="4"/>
            </p:cNvCxnSpPr>
            <p:nvPr/>
          </p:nvCxnSpPr>
          <p:spPr bwMode="auto">
            <a:xfrm rot="16200000" flipV="1">
              <a:off x="2914650" y="1443355"/>
              <a:ext cx="635" cy="2171065"/>
            </a:xfrm>
            <a:prstGeom prst="curvedConnector3">
              <a:avLst>
                <a:gd name="adj1" fmla="val -337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9" name="Text Box 1228"/>
            <p:cNvSpPr txBox="1">
              <a:spLocks noChangeArrowheads="1"/>
            </p:cNvSpPr>
            <p:nvPr/>
          </p:nvSpPr>
          <p:spPr bwMode="auto">
            <a:xfrm>
              <a:off x="2628900" y="25146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cxnSp>
          <p:nvCxnSpPr>
            <p:cNvPr id="30" name="AutoShape 1229"/>
            <p:cNvCxnSpPr>
              <a:cxnSpLocks noChangeShapeType="1"/>
              <a:stCxn id="9" idx="1"/>
              <a:endCxn id="6" idx="0"/>
            </p:cNvCxnSpPr>
            <p:nvPr/>
          </p:nvCxnSpPr>
          <p:spPr bwMode="auto">
            <a:xfrm rot="5400000" flipH="1">
              <a:off x="2800350" y="-642620"/>
              <a:ext cx="67310" cy="2009775"/>
            </a:xfrm>
            <a:prstGeom prst="curvedConnector3">
              <a:avLst>
                <a:gd name="adj1" fmla="val 418866"/>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1" name="Text Box 1230"/>
            <p:cNvSpPr txBox="1">
              <a:spLocks noChangeArrowheads="1"/>
            </p:cNvSpPr>
            <p:nvPr/>
          </p:nvSpPr>
          <p:spPr bwMode="auto">
            <a:xfrm>
              <a:off x="2971800" y="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-12</a:t>
              </a:r>
              <a:endParaRPr lang="be-BY" sz="1400">
                <a:latin typeface="Times New Roman"/>
                <a:ea typeface="Times New Roman"/>
              </a:endParaRPr>
            </a:p>
          </p:txBody>
        </p:sp>
        <p:cxnSp>
          <p:nvCxnSpPr>
            <p:cNvPr id="32" name="AutoShape 1233"/>
            <p:cNvCxnSpPr>
              <a:cxnSpLocks noChangeShapeType="1"/>
              <a:stCxn id="6" idx="1"/>
              <a:endCxn id="10" idx="1"/>
            </p:cNvCxnSpPr>
            <p:nvPr/>
          </p:nvCxnSpPr>
          <p:spPr bwMode="auto">
            <a:xfrm rot="16200000" flipH="1" flipV="1">
              <a:off x="581025" y="110490"/>
              <a:ext cx="799465" cy="1371600"/>
            </a:xfrm>
            <a:prstGeom prst="curvedConnector3">
              <a:avLst>
                <a:gd name="adj1" fmla="val -35264"/>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3" name="Text Box 1234"/>
            <p:cNvSpPr txBox="1">
              <a:spLocks noChangeArrowheads="1"/>
            </p:cNvSpPr>
            <p:nvPr/>
          </p:nvSpPr>
          <p:spPr bwMode="auto">
            <a:xfrm>
              <a:off x="342900" y="152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cxnSp>
          <p:nvCxnSpPr>
            <p:cNvPr id="34" name="Line 1235"/>
            <p:cNvCxnSpPr/>
            <p:nvPr/>
          </p:nvCxnSpPr>
          <p:spPr bwMode="auto">
            <a:xfrm>
              <a:off x="4000500" y="800100"/>
              <a:ext cx="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5" name="Text Box 1236"/>
            <p:cNvSpPr txBox="1">
              <a:spLocks noChangeArrowheads="1"/>
            </p:cNvSpPr>
            <p:nvPr/>
          </p:nvSpPr>
          <p:spPr bwMode="auto">
            <a:xfrm>
              <a:off x="3771900" y="1409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7</a:t>
              </a:r>
              <a:endParaRPr lang="be-BY" sz="1400">
                <a:latin typeface="Times New Roman"/>
                <a:ea typeface="Times New Roman"/>
              </a:endParaRPr>
            </a:p>
          </p:txBody>
        </p:sp>
        <p:cxnSp>
          <p:nvCxnSpPr>
            <p:cNvPr id="36" name="AutoShape 1237"/>
            <p:cNvCxnSpPr>
              <a:cxnSpLocks noChangeShapeType="1"/>
              <a:stCxn id="20" idx="7"/>
              <a:endCxn id="9" idx="7"/>
            </p:cNvCxnSpPr>
            <p:nvPr/>
          </p:nvCxnSpPr>
          <p:spPr bwMode="auto">
            <a:xfrm rot="5400000" flipH="1">
              <a:off x="4162425" y="396240"/>
              <a:ext cx="800100" cy="800100"/>
            </a:xfrm>
            <a:prstGeom prst="curvedConnector3">
              <a:avLst>
                <a:gd name="adj1" fmla="val 135236"/>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7" name="Text Box 1238"/>
            <p:cNvSpPr txBox="1">
              <a:spLocks noChangeArrowheads="1"/>
            </p:cNvSpPr>
            <p:nvPr/>
          </p:nvSpPr>
          <p:spPr bwMode="auto">
            <a:xfrm>
              <a:off x="4686300" y="342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19</a:t>
              </a:r>
              <a:endParaRPr lang="be-BY" sz="1400">
                <a:latin typeface="Times New Roman"/>
                <a:ea typeface="Times New Roman"/>
              </a:endParaRPr>
            </a:p>
          </p:txBody>
        </p:sp>
        <p:cxnSp>
          <p:nvCxnSpPr>
            <p:cNvPr id="38" name="AutoShape 1239"/>
            <p:cNvCxnSpPr>
              <a:cxnSpLocks noChangeShapeType="1"/>
              <a:stCxn id="7" idx="3"/>
              <a:endCxn id="10" idx="3"/>
            </p:cNvCxnSpPr>
            <p:nvPr/>
          </p:nvCxnSpPr>
          <p:spPr bwMode="auto">
            <a:xfrm rot="16200000" flipV="1">
              <a:off x="524510" y="1317625"/>
              <a:ext cx="914400" cy="1372235"/>
            </a:xfrm>
            <a:prstGeom prst="curvedConnector3">
              <a:avLst>
                <a:gd name="adj1" fmla="val -30764"/>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9" name="Text Box 1240"/>
            <p:cNvSpPr txBox="1">
              <a:spLocks noChangeArrowheads="1"/>
            </p:cNvSpPr>
            <p:nvPr/>
          </p:nvSpPr>
          <p:spPr bwMode="auto">
            <a:xfrm>
              <a:off x="3429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12</a:t>
              </a:r>
              <a:endParaRPr lang="be-BY" sz="1400">
                <a:latin typeface="Times New Roman"/>
                <a:ea typeface="Times New Roman"/>
              </a:endParaRPr>
            </a:p>
          </p:txBody>
        </p:sp>
      </p:gr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2384" y="4102790"/>
            <a:ext cx="8743552" cy="2422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Прямоугольник 1"/>
          <p:cNvSpPr/>
          <p:nvPr/>
        </p:nvSpPr>
        <p:spPr>
          <a:xfrm>
            <a:off x="6692450" y="260649"/>
            <a:ext cx="123630" cy="1013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e-BY"/>
          </a:p>
        </p:txBody>
      </p:sp>
      <p:sp>
        <p:nvSpPr>
          <p:cNvPr id="40" name="Прямоугольник 39"/>
          <p:cNvSpPr/>
          <p:nvPr/>
        </p:nvSpPr>
        <p:spPr>
          <a:xfrm>
            <a:off x="6096000" y="5733257"/>
            <a:ext cx="123630" cy="1013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e-BY"/>
          </a:p>
        </p:txBody>
      </p:sp>
    </p:spTree>
    <p:extLst>
      <p:ext uri="{BB962C8B-B14F-4D97-AF65-F5344CB8AC3E}">
        <p14:creationId xmlns:p14="http://schemas.microsoft.com/office/powerpoint/2010/main" val="4092787342"/>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7568" y="477090"/>
            <a:ext cx="8316584"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Полотно 1277"/>
          <p:cNvGrpSpPr/>
          <p:nvPr/>
        </p:nvGrpSpPr>
        <p:grpSpPr>
          <a:xfrm>
            <a:off x="1975926" y="2636912"/>
            <a:ext cx="8136904" cy="3995122"/>
            <a:chOff x="0" y="0"/>
            <a:chExt cx="5257800" cy="2743200"/>
          </a:xfrm>
        </p:grpSpPr>
        <p:sp>
          <p:nvSpPr>
            <p:cNvPr id="6" name="Прямоугольник 5"/>
            <p:cNvSpPr/>
            <p:nvPr/>
          </p:nvSpPr>
          <p:spPr>
            <a:xfrm>
              <a:off x="0" y="0"/>
              <a:ext cx="5257800" cy="2743200"/>
            </a:xfrm>
            <a:prstGeom prst="rect">
              <a:avLst/>
            </a:prstGeom>
            <a:noFill/>
            <a:ln>
              <a:noFill/>
            </a:ln>
          </p:spPr>
        </p:sp>
        <p:sp>
          <p:nvSpPr>
            <p:cNvPr id="7" name="Oval 1279"/>
            <p:cNvSpPr>
              <a:spLocks noChangeArrowheads="1"/>
            </p:cNvSpPr>
            <p:nvPr/>
          </p:nvSpPr>
          <p:spPr bwMode="auto">
            <a:xfrm>
              <a:off x="1600200" y="342900"/>
              <a:ext cx="457200" cy="457835"/>
            </a:xfrm>
            <a:prstGeom prst="ellipse">
              <a:avLst/>
            </a:prstGeom>
            <a:noFill/>
            <a:ln w="28575">
              <a:solidFill>
                <a:srgbClr val="000000"/>
              </a:solidFill>
              <a:round/>
              <a:headEnd/>
              <a:tailEnd/>
            </a:ln>
            <a:extLst>
              <a:ext uri="{909E8E84-426E-40DD-AFC4-6F175D3DCCD1}">
                <a14:hiddenFill xmlns:a14="http://schemas.microsoft.com/office/drawing/2010/main">
                  <a:solidFill>
                    <a:srgbClr val="C0C0C0"/>
                  </a:solidFill>
                </a14:hiddenFill>
              </a:ext>
            </a:extLst>
          </p:spPr>
          <p:txBody>
            <a:bodyPr rot="0" vert="horz" wrap="square" lIns="91440" tIns="45720" rIns="91440" bIns="45720" anchor="t" anchorCtr="0" upright="1">
              <a:noAutofit/>
            </a:bodyPr>
            <a:lstStyle/>
            <a:p>
              <a:pPr algn="ctr"/>
              <a:r>
                <a:rPr lang="ru-RU" b="1">
                  <a:latin typeface="Times New Roman"/>
                  <a:ea typeface="Times New Roman"/>
                </a:rPr>
                <a:t>1</a:t>
              </a:r>
              <a:endParaRPr lang="be-BY" sz="1400">
                <a:latin typeface="Times New Roman"/>
                <a:ea typeface="Times New Roman"/>
              </a:endParaRPr>
            </a:p>
          </p:txBody>
        </p:sp>
        <p:sp>
          <p:nvSpPr>
            <p:cNvPr id="8" name="Oval 1280"/>
            <p:cNvSpPr>
              <a:spLocks noChangeArrowheads="1"/>
            </p:cNvSpPr>
            <p:nvPr/>
          </p:nvSpPr>
          <p:spPr bwMode="auto">
            <a:xfrm>
              <a:off x="1600200" y="2056765"/>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400">
                <a:latin typeface="Times New Roman"/>
                <a:ea typeface="Times New Roman"/>
              </a:endParaRPr>
            </a:p>
          </p:txBody>
        </p:sp>
        <p:sp>
          <p:nvSpPr>
            <p:cNvPr id="9" name="Oval 1281"/>
            <p:cNvSpPr>
              <a:spLocks noChangeArrowheads="1"/>
            </p:cNvSpPr>
            <p:nvPr/>
          </p:nvSpPr>
          <p:spPr bwMode="auto">
            <a:xfrm>
              <a:off x="3771900" y="20574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3</a:t>
              </a:r>
              <a:endParaRPr lang="be-BY" sz="1400">
                <a:latin typeface="Times New Roman"/>
                <a:ea typeface="Times New Roman"/>
              </a:endParaRPr>
            </a:p>
          </p:txBody>
        </p:sp>
        <p:sp>
          <p:nvSpPr>
            <p:cNvPr id="10" name="Oval 1282"/>
            <p:cNvSpPr>
              <a:spLocks noChangeArrowheads="1"/>
            </p:cNvSpPr>
            <p:nvPr/>
          </p:nvSpPr>
          <p:spPr bwMode="auto">
            <a:xfrm>
              <a:off x="3771900" y="342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2</a:t>
              </a:r>
              <a:endParaRPr lang="be-BY" sz="1400">
                <a:latin typeface="Times New Roman"/>
                <a:ea typeface="Times New Roman"/>
              </a:endParaRPr>
            </a:p>
          </p:txBody>
        </p:sp>
        <p:sp>
          <p:nvSpPr>
            <p:cNvPr id="11" name="Oval 1283"/>
            <p:cNvSpPr>
              <a:spLocks noChangeArrowheads="1"/>
            </p:cNvSpPr>
            <p:nvPr/>
          </p:nvSpPr>
          <p:spPr bwMode="auto">
            <a:xfrm>
              <a:off x="228600" y="1142365"/>
              <a:ext cx="457200" cy="457835"/>
            </a:xfrm>
            <a:prstGeom prst="ellipse">
              <a:avLst/>
            </a:prstGeom>
            <a:solidFill>
              <a:srgbClr val="00CC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0</a:t>
              </a:r>
              <a:endParaRPr lang="be-BY" sz="1400">
                <a:latin typeface="Times New Roman"/>
                <a:ea typeface="Times New Roman"/>
              </a:endParaRPr>
            </a:p>
          </p:txBody>
        </p:sp>
        <p:cxnSp>
          <p:nvCxnSpPr>
            <p:cNvPr id="12" name="AutoShape 1284"/>
            <p:cNvCxnSpPr>
              <a:cxnSpLocks noChangeShapeType="1"/>
              <a:stCxn id="7" idx="6"/>
              <a:endCxn id="8" idx="2"/>
            </p:cNvCxnSpPr>
            <p:nvPr/>
          </p:nvCxnSpPr>
          <p:spPr bwMode="auto">
            <a:xfrm>
              <a:off x="2072005" y="2286000"/>
              <a:ext cx="1685925" cy="63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3" name="AutoShape 1285"/>
            <p:cNvCxnSpPr>
              <a:cxnSpLocks noChangeShapeType="1"/>
              <a:stCxn id="10" idx="7"/>
            </p:cNvCxnSpPr>
            <p:nvPr/>
          </p:nvCxnSpPr>
          <p:spPr bwMode="auto">
            <a:xfrm flipV="1">
              <a:off x="619125" y="572135"/>
              <a:ext cx="967105" cy="623570"/>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cxnSp>
          <p:nvCxnSpPr>
            <p:cNvPr id="14" name="AutoShape 1286"/>
            <p:cNvCxnSpPr>
              <a:cxnSpLocks noChangeShapeType="1"/>
              <a:stCxn id="10" idx="5"/>
              <a:endCxn id="7" idx="2"/>
            </p:cNvCxnSpPr>
            <p:nvPr/>
          </p:nvCxnSpPr>
          <p:spPr bwMode="auto">
            <a:xfrm>
              <a:off x="619125" y="1546860"/>
              <a:ext cx="967105" cy="739140"/>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15" name="Text Box 1287"/>
            <p:cNvSpPr txBox="1">
              <a:spLocks noChangeArrowheads="1"/>
            </p:cNvSpPr>
            <p:nvPr/>
          </p:nvSpPr>
          <p:spPr bwMode="auto">
            <a:xfrm>
              <a:off x="8001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sp>
          <p:nvSpPr>
            <p:cNvPr id="16" name="Text Box 1288"/>
            <p:cNvSpPr txBox="1">
              <a:spLocks noChangeArrowheads="1"/>
            </p:cNvSpPr>
            <p:nvPr/>
          </p:nvSpPr>
          <p:spPr bwMode="auto">
            <a:xfrm>
              <a:off x="2628900" y="2171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11</a:t>
              </a:r>
              <a:endParaRPr lang="be-BY" sz="1400">
                <a:latin typeface="Times New Roman"/>
                <a:ea typeface="Times New Roman"/>
              </a:endParaRPr>
            </a:p>
          </p:txBody>
        </p:sp>
        <p:sp>
          <p:nvSpPr>
            <p:cNvPr id="17" name="Text Box 1289"/>
            <p:cNvSpPr txBox="1">
              <a:spLocks noChangeArrowheads="1"/>
            </p:cNvSpPr>
            <p:nvPr/>
          </p:nvSpPr>
          <p:spPr bwMode="auto">
            <a:xfrm>
              <a:off x="6858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12</a:t>
              </a:r>
              <a:endParaRPr lang="be-BY" sz="1400">
                <a:latin typeface="Times New Roman"/>
                <a:ea typeface="Times New Roman"/>
              </a:endParaRPr>
            </a:p>
          </p:txBody>
        </p:sp>
        <p:sp>
          <p:nvSpPr>
            <p:cNvPr id="18" name="Oval 1293"/>
            <p:cNvSpPr>
              <a:spLocks noChangeArrowheads="1"/>
            </p:cNvSpPr>
            <p:nvPr/>
          </p:nvSpPr>
          <p:spPr bwMode="auto">
            <a:xfrm>
              <a:off x="4572000" y="1143000"/>
              <a:ext cx="457200" cy="457835"/>
            </a:xfrm>
            <a:prstGeom prst="ellipse">
              <a:avLst/>
            </a:prstGeom>
            <a:solidFill>
              <a:srgbClr val="FF00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400">
                <a:latin typeface="Times New Roman"/>
                <a:ea typeface="Times New Roman"/>
              </a:endParaRPr>
            </a:p>
          </p:txBody>
        </p:sp>
        <p:cxnSp>
          <p:nvCxnSpPr>
            <p:cNvPr id="19" name="AutoShape 1294"/>
            <p:cNvCxnSpPr>
              <a:cxnSpLocks noChangeShapeType="1"/>
              <a:stCxn id="9" idx="5"/>
              <a:endCxn id="17" idx="1"/>
            </p:cNvCxnSpPr>
            <p:nvPr/>
          </p:nvCxnSpPr>
          <p:spPr bwMode="auto">
            <a:xfrm>
              <a:off x="4162425" y="747395"/>
              <a:ext cx="476250" cy="44894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0" name="Text Box 1298"/>
            <p:cNvSpPr txBox="1">
              <a:spLocks noChangeArrowheads="1"/>
            </p:cNvSpPr>
            <p:nvPr/>
          </p:nvSpPr>
          <p:spPr bwMode="auto">
            <a:xfrm>
              <a:off x="4343400" y="6858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19</a:t>
              </a:r>
              <a:endParaRPr lang="be-BY" sz="1400">
                <a:latin typeface="Times New Roman"/>
                <a:ea typeface="Times New Roman"/>
              </a:endParaRPr>
            </a:p>
          </p:txBody>
        </p:sp>
        <p:cxnSp>
          <p:nvCxnSpPr>
            <p:cNvPr id="21" name="AutoShape 1313"/>
            <p:cNvCxnSpPr>
              <a:cxnSpLocks noChangeShapeType="1"/>
              <a:endCxn id="9" idx="2"/>
            </p:cNvCxnSpPr>
            <p:nvPr/>
          </p:nvCxnSpPr>
          <p:spPr bwMode="auto">
            <a:xfrm>
              <a:off x="2071370" y="572135"/>
              <a:ext cx="1686560" cy="63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2" name="Text Box 1314"/>
            <p:cNvSpPr txBox="1">
              <a:spLocks noChangeArrowheads="1"/>
            </p:cNvSpPr>
            <p:nvPr/>
          </p:nvSpPr>
          <p:spPr bwMode="auto">
            <a:xfrm>
              <a:off x="2628900" y="3429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12</a:t>
              </a:r>
              <a:endParaRPr lang="be-BY" sz="1400">
                <a:latin typeface="Times New Roman"/>
                <a:ea typeface="Times New Roman"/>
              </a:endParaRPr>
            </a:p>
          </p:txBody>
        </p:sp>
        <p:cxnSp>
          <p:nvCxnSpPr>
            <p:cNvPr id="23" name="AutoShape 1315"/>
            <p:cNvCxnSpPr>
              <a:cxnSpLocks noChangeShapeType="1"/>
              <a:stCxn id="8" idx="0"/>
              <a:endCxn id="9" idx="4"/>
            </p:cNvCxnSpPr>
            <p:nvPr/>
          </p:nvCxnSpPr>
          <p:spPr bwMode="auto">
            <a:xfrm flipV="1">
              <a:off x="4000500" y="814705"/>
              <a:ext cx="635" cy="122872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4" name="Text Box 1316"/>
            <p:cNvSpPr txBox="1">
              <a:spLocks noChangeArrowheads="1"/>
            </p:cNvSpPr>
            <p:nvPr/>
          </p:nvSpPr>
          <p:spPr bwMode="auto">
            <a:xfrm>
              <a:off x="3771900" y="14097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7</a:t>
              </a:r>
              <a:endParaRPr lang="be-BY" sz="1400">
                <a:latin typeface="Times New Roman"/>
                <a:ea typeface="Times New Roman"/>
              </a:endParaRPr>
            </a:p>
          </p:txBody>
        </p:sp>
        <p:cxnSp>
          <p:nvCxnSpPr>
            <p:cNvPr id="25" name="AutoShape 1317"/>
            <p:cNvCxnSpPr>
              <a:cxnSpLocks noChangeShapeType="1"/>
              <a:stCxn id="8" idx="7"/>
              <a:endCxn id="17" idx="3"/>
            </p:cNvCxnSpPr>
            <p:nvPr/>
          </p:nvCxnSpPr>
          <p:spPr bwMode="auto">
            <a:xfrm flipV="1">
              <a:off x="4162425" y="1547495"/>
              <a:ext cx="476250" cy="563245"/>
            </a:xfrm>
            <a:prstGeom prst="straightConnector1">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6" name="Text Box 1318"/>
            <p:cNvSpPr txBox="1">
              <a:spLocks noChangeArrowheads="1"/>
            </p:cNvSpPr>
            <p:nvPr/>
          </p:nvSpPr>
          <p:spPr bwMode="auto">
            <a:xfrm>
              <a:off x="4343400" y="1714500"/>
              <a:ext cx="457200" cy="342900"/>
            </a:xfrm>
            <a:prstGeom prst="rect">
              <a:avLst/>
            </a:prstGeom>
            <a:solidFill>
              <a:srgbClr val="FFFFFF"/>
            </a:solidFill>
            <a:ln>
              <a:noFill/>
            </a:ln>
            <a:extLst>
              <a:ext uri="{91240B29-F687-4F45-9708-019B960494DF}">
                <a14:hiddenLine xmlns:a14="http://schemas.microsoft.com/office/drawing/2010/main" w="9525">
                  <a:solidFill>
                    <a:srgbClr val="0000FF"/>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4</a:t>
              </a:r>
              <a:endParaRPr lang="be-BY" sz="1400">
                <a:latin typeface="Times New Roman"/>
                <a:ea typeface="Times New Roman"/>
              </a:endParaRPr>
            </a:p>
          </p:txBody>
        </p:sp>
        <p:cxnSp>
          <p:nvCxnSpPr>
            <p:cNvPr id="27" name="AutoShape 1319"/>
            <p:cNvCxnSpPr>
              <a:cxnSpLocks noChangeShapeType="1"/>
              <a:stCxn id="7" idx="0"/>
            </p:cNvCxnSpPr>
            <p:nvPr/>
          </p:nvCxnSpPr>
          <p:spPr bwMode="auto">
            <a:xfrm flipH="1" flipV="1">
              <a:off x="1828800" y="814705"/>
              <a:ext cx="635" cy="122809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Text Box 1320"/>
            <p:cNvSpPr txBox="1">
              <a:spLocks noChangeArrowheads="1"/>
            </p:cNvSpPr>
            <p:nvPr/>
          </p:nvSpPr>
          <p:spPr bwMode="auto">
            <a:xfrm>
              <a:off x="1600200" y="12573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algn="ctr"/>
              <a:r>
                <a:rPr lang="ru-RU" sz="1400">
                  <a:latin typeface="Times New Roman"/>
                  <a:ea typeface="Times New Roman"/>
                </a:rPr>
                <a:t>1</a:t>
              </a:r>
              <a:endParaRPr lang="be-BY" sz="1400">
                <a:latin typeface="Times New Roman"/>
                <a:ea typeface="Times New Roman"/>
              </a:endParaRPr>
            </a:p>
          </p:txBody>
        </p:sp>
      </p:grpSp>
      <p:sp>
        <p:nvSpPr>
          <p:cNvPr id="29" name="Прямоугольник 28"/>
          <p:cNvSpPr/>
          <p:nvPr/>
        </p:nvSpPr>
        <p:spPr>
          <a:xfrm>
            <a:off x="6044378" y="1803393"/>
            <a:ext cx="123630" cy="1013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e-BY"/>
          </a:p>
        </p:txBody>
      </p:sp>
    </p:spTree>
    <p:extLst>
      <p:ext uri="{BB962C8B-B14F-4D97-AF65-F5344CB8AC3E}">
        <p14:creationId xmlns:p14="http://schemas.microsoft.com/office/powerpoint/2010/main" val="597030236"/>
      </p:ext>
    </p:extLst>
  </p:cSld>
  <p:clrMapOvr>
    <a:masterClrMapping/>
  </p:clrMapOvr>
  <p:transition spd="slow">
    <p:push dir="u"/>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МП">
      <a:majorFont>
        <a:latin typeface="Bahnschrift"/>
        <a:ea typeface=""/>
        <a:cs typeface=""/>
      </a:majorFont>
      <a:minorFont>
        <a:latin typeface="Bahnschrif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732</TotalTime>
  <Words>785</Words>
  <Application>Microsoft Office PowerPoint</Application>
  <PresentationFormat>Широкоэкранный</PresentationFormat>
  <Paragraphs>521</Paragraphs>
  <Slides>32</Slides>
  <Notes>1</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1</vt:i4>
      </vt:variant>
      <vt:variant>
        <vt:lpstr>Заголовки слайдов</vt:lpstr>
      </vt:variant>
      <vt:variant>
        <vt:i4>32</vt:i4>
      </vt:variant>
    </vt:vector>
  </HeadingPairs>
  <TitlesOfParts>
    <vt:vector size="41" baseType="lpstr">
      <vt:lpstr>Arial</vt:lpstr>
      <vt:lpstr>Bahnschrift</vt:lpstr>
      <vt:lpstr>Calibri</vt:lpstr>
      <vt:lpstr>Georgia</vt:lpstr>
      <vt:lpstr>Times New Roman</vt:lpstr>
      <vt:lpstr>Trebuchet MS</vt:lpstr>
      <vt:lpstr>Wingdings</vt:lpstr>
      <vt:lpstr>Тема Office</vt:lpstr>
      <vt:lpstr>Формула</vt:lpstr>
      <vt:lpstr>ПОТОКИ В СЕТЯХ</vt:lpstr>
      <vt:lpstr>ПОТОКИ В СЕТЯХ</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Понятие остаточной сети </vt:lpstr>
      <vt:lpstr>Понятие остаточной сети </vt:lpstr>
      <vt:lpstr>Понятие остаточной сети </vt:lpstr>
      <vt:lpstr>Понятие остаточной сети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МАТЕМАТИЧЕСКОЕ ПРОГРАММИРОВАНИЕ</dc:title>
  <dc:creator>Brakovich</dc:creator>
  <cp:lastModifiedBy>User</cp:lastModifiedBy>
  <cp:revision>71</cp:revision>
  <cp:lastPrinted>2023-04-26T12:41:38Z</cp:lastPrinted>
  <dcterms:created xsi:type="dcterms:W3CDTF">2010-12-02T13:55:43Z</dcterms:created>
  <dcterms:modified xsi:type="dcterms:W3CDTF">2026-05-06T14:56:14Z</dcterms:modified>
</cp:coreProperties>
</file>