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60"/>
  </p:notesMasterIdLst>
  <p:sldIdLst>
    <p:sldId id="329" r:id="rId2"/>
    <p:sldId id="330" r:id="rId3"/>
    <p:sldId id="321" r:id="rId4"/>
    <p:sldId id="326" r:id="rId5"/>
    <p:sldId id="322" r:id="rId6"/>
    <p:sldId id="323" r:id="rId7"/>
    <p:sldId id="324" r:id="rId8"/>
    <p:sldId id="381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63" r:id="rId42"/>
    <p:sldId id="364" r:id="rId43"/>
    <p:sldId id="365" r:id="rId44"/>
    <p:sldId id="366" r:id="rId45"/>
    <p:sldId id="367" r:id="rId46"/>
    <p:sldId id="368" r:id="rId47"/>
    <p:sldId id="369" r:id="rId48"/>
    <p:sldId id="370" r:id="rId49"/>
    <p:sldId id="371" r:id="rId50"/>
    <p:sldId id="372" r:id="rId51"/>
    <p:sldId id="373" r:id="rId52"/>
    <p:sldId id="374" r:id="rId53"/>
    <p:sldId id="375" r:id="rId54"/>
    <p:sldId id="376" r:id="rId55"/>
    <p:sldId id="377" r:id="rId56"/>
    <p:sldId id="378" r:id="rId57"/>
    <p:sldId id="379" r:id="rId58"/>
    <p:sldId id="380" r:id="rId5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42" autoAdjust="0"/>
    <p:restoredTop sz="90875" autoAdjust="0"/>
  </p:normalViewPr>
  <p:slideViewPr>
    <p:cSldViewPr>
      <p:cViewPr varScale="1">
        <p:scale>
          <a:sx n="105" d="100"/>
          <a:sy n="105" d="100"/>
        </p:scale>
        <p:origin x="141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C8DDA-EA41-430B-B7EF-A7945FD97B6F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ADA815-EE4F-426D-A24C-E4AF2EA95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0866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noProof="1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4F7B2A-0F52-42A3-A742-B0575EDF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6C61C8-9B01-4390-BFEC-BFC4D09FF6CC}" type="datetimeFigureOut">
              <a:rPr lang="en-US"/>
              <a:pPr/>
              <a:t>2/11/2026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C97A6A-DB59-4BCE-8FEC-46CCCEEC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34BBE5-C52F-44D0-8FE8-8EB230E13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E3BA1B-75BA-46EF-A7B8-CF7626A60F9A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41966072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43E626-4E9A-44DC-900B-635FCABD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6C61C8-9B01-4390-BFEC-BFC4D09FF6CC}" type="datetimeFigureOut">
              <a:rPr lang="en-US"/>
              <a:pPr/>
              <a:t>2/11/2026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FC9EA5-3642-4A4A-8AF9-C324A3922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670072-401B-453D-9A5F-4ABD3A0B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032191-F0AB-43AA-809E-269FE8B9BBB5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33012580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58FC6C-258F-48FF-B26C-464FF1461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6C61C8-9B01-4390-BFEC-BFC4D09FF6CC}" type="datetimeFigureOut">
              <a:rPr lang="en-US"/>
              <a:pPr/>
              <a:t>2/11/2026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043913-6B58-4F88-87DD-E2B427B48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75F5D8-BD38-495E-BA78-30E02781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F7D6AD-E2AE-4348-8ADC-D04C8443B83E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57227593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03DD1383-C103-4A8C-BC6C-A44E9E07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6C61C8-9B01-4390-BFEC-BFC4D09FF6CC}" type="datetimeFigureOut">
              <a:rPr lang="en-US"/>
              <a:pPr/>
              <a:t>2/11/2026</a:t>
            </a:fld>
            <a:endParaRPr lang="en-US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7C995A01-9259-4231-980D-AA6BC874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4CE97DF4-CDF0-4C51-A24B-94BED01AE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4C6A21-EE90-4B38-AB14-36D007589C88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413226439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8D76057B-6AC6-4EF7-B48F-67B28F207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6C61C8-9B01-4390-BFEC-BFC4D09FF6CC}" type="datetimeFigureOut">
              <a:rPr lang="en-US"/>
              <a:pPr/>
              <a:t>2/11/2026</a:t>
            </a:fld>
            <a:endParaRPr lang="en-US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BA41A49F-C4D9-404E-87AF-65856B21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87E35D0F-2D0A-4C70-848A-59F27E379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BD31CB-8F8B-440A-B65D-282498F14F5F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85787623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2FCC3AA3-1CE2-40B7-B475-844CD84AD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6C61C8-9B01-4390-BFEC-BFC4D09FF6CC}" type="datetimeFigureOut">
              <a:rPr lang="en-US"/>
              <a:pPr/>
              <a:t>2/11/2026</a:t>
            </a:fld>
            <a:endParaRPr lang="en-US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C7F5EB9E-B5B4-4EB5-91DF-07180499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BF634D9-E073-453C-8F2A-8513D552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101103-6FCC-4B40-8B70-8493474151F4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809077118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FC8EB3EA-57B8-4B05-9F39-9D1255F2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6C61C8-9B01-4390-BFEC-BFC4D09FF6CC}" type="datetimeFigureOut">
              <a:rPr lang="en-US"/>
              <a:pPr/>
              <a:t>2/11/2026</a:t>
            </a:fld>
            <a:endParaRPr lang="en-US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92157A09-2D42-4010-AF92-E8462707D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078973FC-BBFD-4EAF-9CFC-969D7085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B71A58-AD3E-46E0-9FB8-CBD3FA2FC67E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878123329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3CA4F5D9-2F7C-4B68-8E4A-B513D66C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6C61C8-9B01-4390-BFEC-BFC4D09FF6CC}" type="datetimeFigureOut">
              <a:rPr lang="en-US"/>
              <a:pPr/>
              <a:t>2/11/2026</a:t>
            </a:fld>
            <a:endParaRPr lang="en-US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4929548E-FD95-46E8-8A7C-23367E81F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111CF68-33B7-42C2-8824-7EA9D7B6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90B35B-2CC0-4896-BA19-E82439063B03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05560979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 noProof="1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BFAA172C-72C3-40F9-9AAE-D54ED016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6C61C8-9B01-4390-BFEC-BFC4D09FF6CC}" type="datetimeFigureOut">
              <a:rPr lang="en-US"/>
              <a:pPr/>
              <a:t>2/11/2026</a:t>
            </a:fld>
            <a:endParaRPr lang="en-US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D1AAC7E5-E947-4AD5-8D2A-84E85832C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BF5E1195-608A-4FA4-BCCB-A28146CE4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8D86F1-F324-41C4-98DC-83D5B7A8A225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61282382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98E152-82C5-4FCE-B2E7-7654C6B2A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6C61C8-9B01-4390-BFEC-BFC4D09FF6CC}" type="datetimeFigureOut">
              <a:rPr lang="en-US"/>
              <a:pPr/>
              <a:t>2/11/2026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F19583-214C-4C09-B1D6-18304329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9FE129-C142-448F-9D41-76DD52534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8D0DA3-204A-40CC-8513-02AC2F0C5ACD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74938356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29E782-6CA2-44F3-8B4D-EBC78F48E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6C61C8-9B01-4390-BFEC-BFC4D09FF6CC}" type="datetimeFigureOut">
              <a:rPr lang="en-US"/>
              <a:pPr/>
              <a:t>2/11/2026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8D577E-76B7-4D80-BFA8-C97848247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366FEA-231C-4545-82B6-D788F59E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68EC58-BD89-4B34-9F27-FD091B5BC46D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90138812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7E1AB665-85CD-495F-B7DB-44BF33052C4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8F555A-4585-4BA4-A871-C339E06E5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1ABCA7-D8E0-4F09-AF61-0E84C67F8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defRPr sz="900" noProof="1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C6C61C8-9B01-4390-BFEC-BFC4D09FF6CC}" type="datetimeFigureOut">
              <a:rPr lang="en-US"/>
              <a:pPr/>
              <a:t>2/11/2026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7C8A9F-61B2-4F82-9A2F-00BC7478D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110DF6-992D-4C2F-9BBE-FA19A7C7D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fld id="{E5938315-88AD-4665-9DCA-68B888B61A22}" type="slidenum">
              <a:rPr lang="en-US" altLang="ru-RU"/>
              <a:pPr/>
              <a:t>‹#›</a:t>
            </a:fld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ransition spd="slow">
    <p:push dir="u"/>
  </p:transition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6475F6-9FF0-486A-A940-9443F659D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700856"/>
            <a:ext cx="6858000" cy="2387600"/>
          </a:xfrm>
        </p:spPr>
        <p:txBody>
          <a:bodyPr/>
          <a:lstStyle/>
          <a:p>
            <a:r>
              <a:rPr lang="ru-RU" sz="5400" b="1" dirty="0">
                <a:latin typeface="Century" panose="02040604050505020304" pitchFamily="18" charset="0"/>
              </a:rPr>
              <a:t>Математическое программирование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45386801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B09869-5E9A-46D7-ACB0-67353368F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5"/>
            <a:ext cx="7886700" cy="1325563"/>
          </a:xfrm>
        </p:spPr>
        <p:txBody>
          <a:bodyPr/>
          <a:lstStyle/>
          <a:p>
            <a:r>
              <a:rPr lang="ru-RU" b="1" dirty="0" smtClean="0">
                <a:latin typeface="Century" panose="02040604050505020304" pitchFamily="18" charset="0"/>
              </a:rPr>
              <a:t>Литература </a:t>
            </a:r>
            <a:endParaRPr lang="ru-RU" b="1" dirty="0">
              <a:latin typeface="Century" panose="020406040505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040334-EA47-44A8-9AAA-A327C6DB4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12832"/>
            <a:ext cx="7886700" cy="5184432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Century" panose="02040604050505020304" pitchFamily="18" charset="0"/>
              </a:rPr>
              <a:t>Комбинаторные алгоритмы оптимизации / </a:t>
            </a:r>
            <a:r>
              <a:rPr lang="en-US" dirty="0">
                <a:latin typeface="Century" panose="02040604050505020304" pitchFamily="18" charset="0"/>
              </a:rPr>
              <a:t>                       </a:t>
            </a:r>
            <a:r>
              <a:rPr lang="ru-RU" dirty="0">
                <a:latin typeface="Century" panose="02040604050505020304" pitchFamily="18" charset="0"/>
              </a:rPr>
              <a:t>В. В. Смелов, А. И. </a:t>
            </a:r>
            <a:r>
              <a:rPr lang="ru-RU" dirty="0" err="1">
                <a:latin typeface="Century" panose="02040604050505020304" pitchFamily="18" charset="0"/>
              </a:rPr>
              <a:t>Бракович</a:t>
            </a:r>
            <a:r>
              <a:rPr lang="ru-RU" dirty="0">
                <a:latin typeface="Century" panose="02040604050505020304" pitchFamily="18" charset="0"/>
              </a:rPr>
              <a:t> – Минск : БГТУ, 2010.</a:t>
            </a:r>
            <a:endParaRPr lang="en-US" dirty="0">
              <a:latin typeface="Century" panose="02040604050505020304" pitchFamily="18" charset="0"/>
            </a:endParaRPr>
          </a:p>
          <a:p>
            <a:r>
              <a:rPr lang="ru-RU" dirty="0">
                <a:latin typeface="Century" panose="02040604050505020304" pitchFamily="18" charset="0"/>
              </a:rPr>
              <a:t>Алгоритмы на графах и их реализация на С++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ru-RU" dirty="0">
                <a:latin typeface="Century" panose="02040604050505020304" pitchFamily="18" charset="0"/>
              </a:rPr>
              <a:t>/ </a:t>
            </a:r>
            <a:r>
              <a:rPr lang="en-US" dirty="0">
                <a:latin typeface="Century" panose="02040604050505020304" pitchFamily="18" charset="0"/>
              </a:rPr>
              <a:t>              </a:t>
            </a:r>
            <a:r>
              <a:rPr lang="ru-RU" dirty="0">
                <a:latin typeface="Century" panose="02040604050505020304" pitchFamily="18" charset="0"/>
              </a:rPr>
              <a:t>В. В. Смелов, Л. С. Мороз – Минск : БГТУ, 2011.</a:t>
            </a:r>
            <a:endParaRPr lang="en-US" dirty="0">
              <a:latin typeface="Century" panose="02040604050505020304" pitchFamily="18" charset="0"/>
            </a:endParaRPr>
          </a:p>
          <a:p>
            <a:r>
              <a:rPr lang="ru-RU" dirty="0">
                <a:latin typeface="Century" panose="02040604050505020304" pitchFamily="18" charset="0"/>
              </a:rPr>
              <a:t>Основы сетевого планирования</a:t>
            </a:r>
            <a:r>
              <a:rPr lang="en-US" dirty="0">
                <a:latin typeface="Century" panose="02040604050505020304" pitchFamily="18" charset="0"/>
              </a:rPr>
              <a:t> </a:t>
            </a:r>
            <a:r>
              <a:rPr lang="ru-RU" dirty="0">
                <a:latin typeface="Century" panose="02040604050505020304" pitchFamily="18" charset="0"/>
              </a:rPr>
              <a:t>/ </a:t>
            </a:r>
            <a:r>
              <a:rPr lang="en-US" dirty="0">
                <a:latin typeface="Century" panose="02040604050505020304" pitchFamily="18" charset="0"/>
              </a:rPr>
              <a:t>                                         </a:t>
            </a:r>
            <a:r>
              <a:rPr lang="ru-RU" dirty="0">
                <a:latin typeface="Century" panose="02040604050505020304" pitchFamily="18" charset="0"/>
              </a:rPr>
              <a:t>В. В. Смелов, Т. П. Брусенцова – Минск : БГТУ, 2010.</a:t>
            </a:r>
            <a:endParaRPr lang="en-US" dirty="0">
              <a:latin typeface="Century" panose="02040604050505020304" pitchFamily="18" charset="0"/>
            </a:endParaRPr>
          </a:p>
          <a:p>
            <a:r>
              <a:rPr lang="ru-RU" dirty="0">
                <a:latin typeface="Century" panose="02040604050505020304" pitchFamily="18" charset="0"/>
              </a:rPr>
              <a:t>Алгоритмические языки и программирование: учебное пособие для студентов высших учебных заведений, обучающихся по ИТ и инженерно-техническим направлениям / В. Д. </a:t>
            </a:r>
            <a:r>
              <a:rPr lang="ru-RU" dirty="0" err="1">
                <a:latin typeface="Century" panose="02040604050505020304" pitchFamily="18" charset="0"/>
              </a:rPr>
              <a:t>Паронджанов</a:t>
            </a:r>
            <a:r>
              <a:rPr lang="ru-RU" dirty="0">
                <a:latin typeface="Century" panose="02040604050505020304" pitchFamily="18" charset="0"/>
              </a:rPr>
              <a:t> – Москва : </a:t>
            </a:r>
            <a:r>
              <a:rPr lang="ru-RU" dirty="0" err="1">
                <a:latin typeface="Century" panose="02040604050505020304" pitchFamily="18" charset="0"/>
              </a:rPr>
              <a:t>Юрайт</a:t>
            </a:r>
            <a:r>
              <a:rPr lang="ru-RU" dirty="0">
                <a:latin typeface="Century" panose="02040604050505020304" pitchFamily="18" charset="0"/>
              </a:rPr>
              <a:t>, 2022.</a:t>
            </a:r>
            <a:endParaRPr lang="en-US" dirty="0">
              <a:latin typeface="Century" panose="02040604050505020304" pitchFamily="18" charset="0"/>
            </a:endParaRPr>
          </a:p>
          <a:p>
            <a:r>
              <a:rPr lang="ru-RU" dirty="0">
                <a:latin typeface="Century" panose="02040604050505020304" pitchFamily="18" charset="0"/>
              </a:rPr>
              <a:t>Основы дискретной математики: пособие для реализации содержания образовательных программ высшего образования I ступени / Л. А. Воробей – Гомель : БТЭУПК, 2020.</a:t>
            </a:r>
            <a:endParaRPr lang="en-US" dirty="0">
              <a:latin typeface="Century" panose="02040604050505020304" pitchFamily="18" charset="0"/>
            </a:endParaRPr>
          </a:p>
          <a:p>
            <a:r>
              <a:rPr lang="ru-RU" dirty="0">
                <a:latin typeface="Century" panose="02040604050505020304" pitchFamily="18" charset="0"/>
              </a:rPr>
              <a:t>Алгоритмы, построение и анализ / Т. </a:t>
            </a:r>
            <a:r>
              <a:rPr lang="ru-RU" dirty="0" err="1">
                <a:latin typeface="Century" panose="02040604050505020304" pitchFamily="18" charset="0"/>
              </a:rPr>
              <a:t>Кормен</a:t>
            </a:r>
            <a:r>
              <a:rPr lang="ru-RU" dirty="0">
                <a:latin typeface="Century" panose="02040604050505020304" pitchFamily="18" charset="0"/>
              </a:rPr>
              <a:t>, Ч. </a:t>
            </a:r>
            <a:r>
              <a:rPr lang="ru-RU" dirty="0" err="1">
                <a:latin typeface="Century" panose="02040604050505020304" pitchFamily="18" charset="0"/>
              </a:rPr>
              <a:t>Лейзерсон</a:t>
            </a:r>
            <a:r>
              <a:rPr lang="ru-RU" dirty="0">
                <a:latin typeface="Century" panose="02040604050505020304" pitchFamily="18" charset="0"/>
              </a:rPr>
              <a:t>, Р. </a:t>
            </a:r>
            <a:r>
              <a:rPr lang="ru-RU" dirty="0" err="1">
                <a:latin typeface="Century" panose="02040604050505020304" pitchFamily="18" charset="0"/>
              </a:rPr>
              <a:t>Ривест</a:t>
            </a:r>
            <a:r>
              <a:rPr lang="ru-RU" dirty="0">
                <a:latin typeface="Century" panose="02040604050505020304" pitchFamily="18" charset="0"/>
              </a:rPr>
              <a:t> – М. : БИНОМ, 2004.</a:t>
            </a:r>
          </a:p>
        </p:txBody>
      </p:sp>
    </p:spTree>
    <p:extLst>
      <p:ext uri="{BB962C8B-B14F-4D97-AF65-F5344CB8AC3E}">
        <p14:creationId xmlns:p14="http://schemas.microsoft.com/office/powerpoint/2010/main" val="168334264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Заголовок 1">
            <a:extLst>
              <a:ext uri="{FF2B5EF4-FFF2-40B4-BE49-F238E27FC236}">
                <a16:creationId xmlns:a16="http://schemas.microsoft.com/office/drawing/2014/main" id="{CCE01151-E395-4BB1-8F64-6004DC99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87313"/>
            <a:ext cx="8120063" cy="1325562"/>
          </a:xfrm>
        </p:spPr>
        <p:txBody>
          <a:bodyPr/>
          <a:lstStyle/>
          <a:p>
            <a:r>
              <a:rPr lang="ru-RU" altLang="zh-CN" b="1" dirty="0">
                <a:latin typeface="Century" panose="02040604050505020304" pitchFamily="18" charset="0"/>
              </a:rPr>
              <a:t>О математическом программировании</a:t>
            </a:r>
          </a:p>
        </p:txBody>
      </p:sp>
      <p:sp>
        <p:nvSpPr>
          <p:cNvPr id="2050" name="Объект 2">
            <a:extLst>
              <a:ext uri="{FF2B5EF4-FFF2-40B4-BE49-F238E27FC236}">
                <a16:creationId xmlns:a16="http://schemas.microsoft.com/office/drawing/2014/main" id="{8A64A029-E2E0-4280-B998-E463170AAB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557338"/>
            <a:ext cx="7886700" cy="4351337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lang="ru-RU" altLang="zh-CN" sz="2400" dirty="0">
                <a:latin typeface="Century" panose="02040604050505020304" pitchFamily="18" charset="0"/>
              </a:rPr>
              <a:t>Математическое программирование используется в нефтяной индустрии, а также в сфере логистики, планирования, составления расписаний.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ru-RU" altLang="zh-CN" sz="2400" dirty="0">
              <a:latin typeface="Century" panose="020406040505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ru-RU" altLang="zh-CN" sz="2400" i="1" dirty="0">
                <a:latin typeface="Century" panose="02040604050505020304" pitchFamily="18" charset="0"/>
              </a:rPr>
              <a:t>Вообразим, что вы занимаетесь продажей жестяных листов. Один клиент заказал у вас 70 листов, а второй — 30 листов. При этом ваши запасы хранятся на разных складах, на каждом из которых осталось меньше 100 листов. Ваша задача — минимизировать расходы на доставку товара клиентам.</a:t>
            </a:r>
            <a:endParaRPr lang="ru-RU" altLang="zh-CN" sz="2400" dirty="0">
              <a:latin typeface="Century" panose="020406040505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Заголовок 1">
            <a:extLst>
              <a:ext uri="{FF2B5EF4-FFF2-40B4-BE49-F238E27FC236}">
                <a16:creationId xmlns:a16="http://schemas.microsoft.com/office/drawing/2014/main" id="{DB50370F-7927-44EC-AB13-2868F849C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87313"/>
            <a:ext cx="7886700" cy="1325562"/>
          </a:xfrm>
        </p:spPr>
        <p:txBody>
          <a:bodyPr/>
          <a:lstStyle/>
          <a:p>
            <a:r>
              <a:rPr lang="ru-RU" altLang="zh-CN" b="1">
                <a:latin typeface="Century" panose="02040604050505020304" pitchFamily="18" charset="0"/>
              </a:rPr>
              <a:t>Общая формулировка задачи математического программирования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0DC546-999C-4F13-BE5B-98EE92FB4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12875"/>
            <a:ext cx="7886700" cy="4351338"/>
          </a:xfrm>
        </p:spPr>
        <p:txBody>
          <a:bodyPr>
            <a:noAutofit/>
          </a:bodyPr>
          <a:lstStyle/>
          <a:p>
            <a:pPr marL="0" indent="0" algn="just" fontAlgn="auto">
              <a:buFont typeface="Arial" panose="020B0604020202020204" pitchFamily="34" charset="0"/>
              <a:buNone/>
            </a:pPr>
            <a:r>
              <a:rPr lang="ru-RU" sz="2400" b="1" noProof="1">
                <a:latin typeface="Century" panose="02040604050505020304" pitchFamily="18" charset="0"/>
              </a:rPr>
              <a:t>Математическое программирование </a:t>
            </a:r>
            <a:r>
              <a:rPr lang="ru-RU" sz="2400" noProof="1">
                <a:latin typeface="Century" panose="02040604050505020304" pitchFamily="18" charset="0"/>
              </a:rPr>
              <a:t>– это раздел высшей математики, посвященный решению задач, связанных с нахождением экстремумов функций нескольких переменных, при наличии ограничений на переменные.</a:t>
            </a:r>
          </a:p>
          <a:p>
            <a:pPr marL="0" indent="0" algn="just" fontAlgn="auto">
              <a:buFont typeface="Arial" panose="020B0604020202020204" pitchFamily="34" charset="0"/>
              <a:buNone/>
            </a:pPr>
            <a:r>
              <a:rPr lang="ru-RU" sz="2400" b="1" noProof="1">
                <a:latin typeface="Century" panose="02040604050505020304" pitchFamily="18" charset="0"/>
              </a:rPr>
              <a:t>Методами математического </a:t>
            </a:r>
            <a:r>
              <a:rPr lang="ru-RU" sz="2400" noProof="1">
                <a:latin typeface="Century" panose="02040604050505020304" pitchFamily="18" charset="0"/>
              </a:rPr>
              <a:t>программирования решаются задачи о распределении ресурсов, планировании выпуска продукции, ценообразования, транспортные задачи и т.д.</a:t>
            </a:r>
          </a:p>
          <a:p>
            <a:pPr marL="0" indent="0" algn="just" fontAlgn="auto">
              <a:buFont typeface="Arial" panose="020B0604020202020204" pitchFamily="34" charset="0"/>
              <a:buNone/>
            </a:pPr>
            <a:r>
              <a:rPr lang="ru-RU" sz="2400" noProof="1">
                <a:latin typeface="Century" panose="02040604050505020304" pitchFamily="18" charset="0"/>
              </a:rPr>
              <a:t>Построение математической модели экономической задачи включает следующие этапы:</a:t>
            </a:r>
          </a:p>
          <a:p>
            <a:pPr marL="457200" indent="-457200" algn="just" fontAlgn="auto">
              <a:buFont typeface="+mj-lt"/>
              <a:buAutoNum type="arabicPeriod"/>
            </a:pPr>
            <a:r>
              <a:rPr lang="ru-RU" sz="2400" noProof="1">
                <a:latin typeface="Century" panose="02040604050505020304" pitchFamily="18" charset="0"/>
              </a:rPr>
              <a:t>Выбор переменных задачи</a:t>
            </a:r>
          </a:p>
          <a:p>
            <a:pPr marL="457200" indent="-457200" algn="just" fontAlgn="auto">
              <a:buFont typeface="+mj-lt"/>
              <a:buAutoNum type="arabicPeriod"/>
            </a:pPr>
            <a:r>
              <a:rPr lang="ru-RU" sz="2400" noProof="1">
                <a:latin typeface="Century" panose="02040604050505020304" pitchFamily="18" charset="0"/>
              </a:rPr>
              <a:t>Составление системных ограничений</a:t>
            </a:r>
          </a:p>
          <a:p>
            <a:pPr marL="457200" indent="-457200" algn="just" fontAlgn="auto">
              <a:buFont typeface="+mj-lt"/>
              <a:buAutoNum type="arabicPeriod"/>
            </a:pPr>
            <a:r>
              <a:rPr lang="ru-RU" sz="2400" noProof="1">
                <a:latin typeface="Century" panose="02040604050505020304" pitchFamily="18" charset="0"/>
              </a:rPr>
              <a:t>Выбор целевой функции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Заголовок 1">
            <a:extLst>
              <a:ext uri="{FF2B5EF4-FFF2-40B4-BE49-F238E27FC236}">
                <a16:creationId xmlns:a16="http://schemas.microsoft.com/office/drawing/2014/main" id="{469695F9-F1D5-4279-A1C5-4A70CEDB5D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15888"/>
            <a:ext cx="7886700" cy="1325562"/>
          </a:xfrm>
        </p:spPr>
        <p:txBody>
          <a:bodyPr/>
          <a:lstStyle/>
          <a:p>
            <a:r>
              <a:rPr lang="ru-RU" altLang="zh-CN" b="1">
                <a:latin typeface="Century" panose="02040604050505020304" pitchFamily="18" charset="0"/>
              </a:rPr>
              <a:t>Общая формулировка задачи математического программирования</a:t>
            </a:r>
          </a:p>
        </p:txBody>
      </p:sp>
      <p:sp>
        <p:nvSpPr>
          <p:cNvPr id="5122" name="Объект 2">
            <a:extLst>
              <a:ext uri="{FF2B5EF4-FFF2-40B4-BE49-F238E27FC236}">
                <a16:creationId xmlns:a16="http://schemas.microsoft.com/office/drawing/2014/main" id="{FAC115F3-2158-4D79-97B2-5D0C0F6B40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557338"/>
            <a:ext cx="8102600" cy="5049837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lang="ru-RU" altLang="zh-CN" sz="2200" b="1">
                <a:latin typeface="Century" panose="02040604050505020304" pitchFamily="18" charset="0"/>
              </a:rPr>
              <a:t>Переменными</a:t>
            </a:r>
            <a:r>
              <a:rPr lang="ru-RU" altLang="zh-CN" sz="2200">
                <a:latin typeface="Century" panose="02040604050505020304" pitchFamily="18" charset="0"/>
              </a:rPr>
              <a:t> задачи называются величины </a:t>
            </a:r>
            <a:r>
              <a:rPr lang="en-US" altLang="ru-RU" sz="2200">
                <a:latin typeface="Century" panose="02040604050505020304" pitchFamily="18" charset="0"/>
              </a:rPr>
              <a:t>x</a:t>
            </a:r>
            <a:r>
              <a:rPr lang="en-US" altLang="ru-RU" sz="2200" baseline="-25000">
                <a:latin typeface="Century" panose="02040604050505020304" pitchFamily="18" charset="0"/>
              </a:rPr>
              <a:t>1</a:t>
            </a:r>
            <a:r>
              <a:rPr lang="en-US" altLang="ru-RU" sz="2200">
                <a:latin typeface="Century" panose="02040604050505020304" pitchFamily="18" charset="0"/>
              </a:rPr>
              <a:t>, x</a:t>
            </a:r>
            <a:r>
              <a:rPr lang="en-US" altLang="ru-RU" sz="2200" baseline="-25000">
                <a:latin typeface="Century" panose="02040604050505020304" pitchFamily="18" charset="0"/>
              </a:rPr>
              <a:t>2</a:t>
            </a:r>
            <a:r>
              <a:rPr lang="en-US" altLang="ru-RU" sz="2200">
                <a:latin typeface="Century" panose="02040604050505020304" pitchFamily="18" charset="0"/>
              </a:rPr>
              <a:t>, x</a:t>
            </a:r>
            <a:r>
              <a:rPr lang="en-US" altLang="ru-RU" sz="2200" baseline="-25000">
                <a:latin typeface="Century" panose="02040604050505020304" pitchFamily="18" charset="0"/>
              </a:rPr>
              <a:t>3</a:t>
            </a:r>
            <a:r>
              <a:rPr lang="ru-RU" altLang="zh-CN" sz="2200">
                <a:latin typeface="Century" panose="02040604050505020304" pitchFamily="18" charset="0"/>
              </a:rPr>
              <a:t>, </a:t>
            </a:r>
            <a:r>
              <a:rPr lang="en-US" altLang="ru-RU" sz="2200">
                <a:latin typeface="Century" panose="02040604050505020304" pitchFamily="18" charset="0"/>
              </a:rPr>
              <a:t>…</a:t>
            </a:r>
            <a:r>
              <a:rPr lang="ru-RU" altLang="zh-CN" sz="2200">
                <a:latin typeface="Century" panose="02040604050505020304" pitchFamily="18" charset="0"/>
              </a:rPr>
              <a:t>,</a:t>
            </a:r>
            <a:r>
              <a:rPr lang="en-US" altLang="ru-RU" sz="2200">
                <a:latin typeface="Century" panose="02040604050505020304" pitchFamily="18" charset="0"/>
              </a:rPr>
              <a:t> x</a:t>
            </a:r>
            <a:r>
              <a:rPr lang="en-US" altLang="ru-RU" sz="2200" baseline="-25000">
                <a:latin typeface="Century" panose="02040604050505020304" pitchFamily="18" charset="0"/>
              </a:rPr>
              <a:t>n </a:t>
            </a:r>
            <a:r>
              <a:rPr lang="ru-RU" altLang="zh-CN" sz="2200">
                <a:latin typeface="Century" panose="02040604050505020304" pitchFamily="18" charset="0"/>
              </a:rPr>
              <a:t>которые полностью характеризуют экономический процесс. 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ru-RU" altLang="zh-CN" sz="2200">
                <a:latin typeface="Century" panose="02040604050505020304" pitchFamily="18" charset="0"/>
              </a:rPr>
              <a:t>Их обычно записывают в виде вектора </a:t>
            </a:r>
            <a:r>
              <a:rPr lang="en-US" altLang="ru-RU" sz="2200">
                <a:latin typeface="Century" panose="02040604050505020304" pitchFamily="18" charset="0"/>
              </a:rPr>
              <a:t>X=(x</a:t>
            </a:r>
            <a:r>
              <a:rPr lang="en-US" altLang="ru-RU" sz="2200" baseline="-25000">
                <a:latin typeface="Century" panose="02040604050505020304" pitchFamily="18" charset="0"/>
              </a:rPr>
              <a:t>1</a:t>
            </a:r>
            <a:r>
              <a:rPr lang="en-US" altLang="ru-RU" sz="2200">
                <a:latin typeface="Century" panose="02040604050505020304" pitchFamily="18" charset="0"/>
              </a:rPr>
              <a:t>, x</a:t>
            </a:r>
            <a:r>
              <a:rPr lang="en-US" altLang="ru-RU" sz="2200" baseline="-25000">
                <a:latin typeface="Century" panose="02040604050505020304" pitchFamily="18" charset="0"/>
              </a:rPr>
              <a:t>2</a:t>
            </a:r>
            <a:r>
              <a:rPr lang="en-US" altLang="ru-RU" sz="2200">
                <a:latin typeface="Century" panose="02040604050505020304" pitchFamily="18" charset="0"/>
              </a:rPr>
              <a:t>, x</a:t>
            </a:r>
            <a:r>
              <a:rPr lang="en-US" altLang="ru-RU" sz="2200" baseline="-25000">
                <a:latin typeface="Century" panose="02040604050505020304" pitchFamily="18" charset="0"/>
              </a:rPr>
              <a:t>3</a:t>
            </a:r>
            <a:r>
              <a:rPr lang="ru-RU" altLang="zh-CN" sz="2200">
                <a:latin typeface="Century" panose="02040604050505020304" pitchFamily="18" charset="0"/>
              </a:rPr>
              <a:t>, </a:t>
            </a:r>
            <a:r>
              <a:rPr lang="en-US" altLang="ru-RU" sz="2200">
                <a:latin typeface="Century" panose="02040604050505020304" pitchFamily="18" charset="0"/>
              </a:rPr>
              <a:t>…</a:t>
            </a:r>
            <a:r>
              <a:rPr lang="ru-RU" altLang="zh-CN" sz="2200">
                <a:latin typeface="Century" panose="02040604050505020304" pitchFamily="18" charset="0"/>
              </a:rPr>
              <a:t>, </a:t>
            </a:r>
            <a:r>
              <a:rPr lang="en-US" altLang="ru-RU" sz="2200">
                <a:latin typeface="Century" panose="02040604050505020304" pitchFamily="18" charset="0"/>
              </a:rPr>
              <a:t>x</a:t>
            </a:r>
            <a:r>
              <a:rPr lang="en-US" altLang="ru-RU" sz="2200" baseline="-25000">
                <a:latin typeface="Century" panose="02040604050505020304" pitchFamily="18" charset="0"/>
              </a:rPr>
              <a:t>n</a:t>
            </a:r>
            <a:r>
              <a:rPr lang="en-US" altLang="ru-RU" sz="2200">
                <a:latin typeface="Century" panose="02040604050505020304" pitchFamily="18" charset="0"/>
              </a:rPr>
              <a:t>)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ru-RU" sz="2200">
              <a:latin typeface="Century" panose="020406040505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ru-RU" altLang="zh-CN" sz="2200" b="1">
                <a:latin typeface="Century" panose="02040604050505020304" pitchFamily="18" charset="0"/>
              </a:rPr>
              <a:t>Сис</a:t>
            </a:r>
            <a:r>
              <a:rPr lang="ru-RU" altLang="zh-CN" sz="2200">
                <a:latin typeface="Century" panose="02040604050505020304" pitchFamily="18" charset="0"/>
              </a:rPr>
              <a:t>т</a:t>
            </a:r>
            <a:r>
              <a:rPr lang="ru-RU" altLang="zh-CN" sz="2200" b="1">
                <a:latin typeface="Century" panose="02040604050505020304" pitchFamily="18" charset="0"/>
              </a:rPr>
              <a:t>ема ограничений </a:t>
            </a:r>
            <a:r>
              <a:rPr lang="ru-RU" altLang="zh-CN" sz="2200">
                <a:latin typeface="Century" panose="02040604050505020304" pitchFamily="18" charset="0"/>
              </a:rPr>
              <a:t>включает в себя систему уравнений и неравенств, которым удовлетворяют переменные задачи и которые следуют из ограниченности ресурсов или других экономических или физических условий, например, положительности переменных и т. п. 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ru-RU" altLang="zh-CN" sz="2200">
              <a:latin typeface="Century" panose="020406040505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ru-RU" altLang="zh-CN" sz="2200" b="1">
                <a:latin typeface="Century" panose="02040604050505020304" pitchFamily="18" charset="0"/>
              </a:rPr>
              <a:t>Целевой функцией </a:t>
            </a:r>
            <a:r>
              <a:rPr lang="ru-RU" altLang="zh-CN" sz="2200">
                <a:latin typeface="Century" panose="02040604050505020304" pitchFamily="18" charset="0"/>
              </a:rPr>
              <a:t>называют функцию переменных задачи, которая характеризует качество выполнения задачи, и экстремум которой требуется найти.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Заголовок 1">
            <a:extLst>
              <a:ext uri="{FF2B5EF4-FFF2-40B4-BE49-F238E27FC236}">
                <a16:creationId xmlns:a16="http://schemas.microsoft.com/office/drawing/2014/main" id="{8A9E5002-1A3A-42F4-BBE0-5A731575C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b="1">
                <a:latin typeface="Century" panose="02040604050505020304" pitchFamily="18" charset="0"/>
              </a:rPr>
              <a:t>Общая формулировка задачи математического программирования</a:t>
            </a:r>
          </a:p>
        </p:txBody>
      </p:sp>
      <p:sp>
        <p:nvSpPr>
          <p:cNvPr id="6146" name="Объект 2">
            <a:extLst>
              <a:ext uri="{FF2B5EF4-FFF2-40B4-BE49-F238E27FC236}">
                <a16:creationId xmlns:a16="http://schemas.microsoft.com/office/drawing/2014/main" id="{868793AA-A263-472D-BDB8-36AF37DBFB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690688"/>
            <a:ext cx="7886700" cy="505142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ru-RU" altLang="zh-CN" sz="2400">
                <a:latin typeface="Century" panose="02040604050505020304" pitchFamily="18" charset="0"/>
              </a:rPr>
              <a:t>Найти минимум или максимум целевой функции</a:t>
            </a:r>
          </a:p>
          <a:p>
            <a:pPr marL="0" indent="0" algn="ctr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ru-RU" sz="2400">
                <a:latin typeface="Century" panose="02040604050505020304" pitchFamily="18" charset="0"/>
              </a:rPr>
              <a:t>F(x)=F(x</a:t>
            </a:r>
            <a:r>
              <a:rPr lang="en-US" altLang="ru-RU" sz="2400" baseline="-25000">
                <a:latin typeface="Century" panose="02040604050505020304" pitchFamily="18" charset="0"/>
              </a:rPr>
              <a:t>1</a:t>
            </a:r>
            <a:r>
              <a:rPr lang="en-US" altLang="ru-RU" sz="2400">
                <a:latin typeface="Century" panose="02040604050505020304" pitchFamily="18" charset="0"/>
              </a:rPr>
              <a:t>, x</a:t>
            </a:r>
            <a:r>
              <a:rPr lang="en-US" altLang="ru-RU" sz="2400" baseline="-25000">
                <a:latin typeface="Century" panose="02040604050505020304" pitchFamily="18" charset="0"/>
              </a:rPr>
              <a:t>2</a:t>
            </a:r>
            <a:r>
              <a:rPr lang="en-US" altLang="ru-RU" sz="2400">
                <a:latin typeface="Century" panose="02040604050505020304" pitchFamily="18" charset="0"/>
              </a:rPr>
              <a:t>, x</a:t>
            </a:r>
            <a:r>
              <a:rPr lang="en-US" altLang="ru-RU" sz="2400" baseline="-25000">
                <a:latin typeface="Century" panose="02040604050505020304" pitchFamily="18" charset="0"/>
              </a:rPr>
              <a:t>3</a:t>
            </a:r>
            <a:r>
              <a:rPr lang="ru-RU" altLang="zh-CN" sz="2400">
                <a:latin typeface="Century" panose="02040604050505020304" pitchFamily="18" charset="0"/>
              </a:rPr>
              <a:t>, </a:t>
            </a:r>
            <a:r>
              <a:rPr lang="en-US" altLang="ru-RU" sz="2400">
                <a:latin typeface="Century" panose="02040604050505020304" pitchFamily="18" charset="0"/>
              </a:rPr>
              <a:t>…</a:t>
            </a:r>
            <a:r>
              <a:rPr lang="ru-RU" altLang="zh-CN" sz="2400">
                <a:latin typeface="Century" panose="02040604050505020304" pitchFamily="18" charset="0"/>
              </a:rPr>
              <a:t>, </a:t>
            </a:r>
            <a:r>
              <a:rPr lang="en-US" altLang="ru-RU" sz="2400">
                <a:latin typeface="Century" panose="02040604050505020304" pitchFamily="18" charset="0"/>
              </a:rPr>
              <a:t>x</a:t>
            </a:r>
            <a:r>
              <a:rPr lang="en-US" altLang="ru-RU" sz="2400" baseline="-25000">
                <a:latin typeface="Century" panose="02040604050505020304" pitchFamily="18" charset="0"/>
              </a:rPr>
              <a:t>n</a:t>
            </a:r>
            <a:r>
              <a:rPr lang="en-US" altLang="ru-RU" sz="2400">
                <a:latin typeface="Century" panose="02040604050505020304" pitchFamily="18" charset="0"/>
              </a:rPr>
              <a:t>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altLang="zh-CN" sz="2400">
                <a:latin typeface="Century" panose="02040604050505020304" pitchFamily="18" charset="0"/>
              </a:rPr>
              <a:t>При ограничениях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altLang="zh-CN" sz="2400">
                <a:latin typeface="Century" panose="02040604050505020304" pitchFamily="18" charset="0"/>
                <a:sym typeface="Symbol" panose="05050102010706020507" pitchFamily="18" charset="2"/>
              </a:rPr>
              <a:t></a:t>
            </a:r>
            <a:r>
              <a:rPr lang="ru-RU" altLang="zh-CN" sz="2400" baseline="-25000">
                <a:latin typeface="Century" panose="02040604050505020304" pitchFamily="18" charset="0"/>
                <a:sym typeface="Symbol" panose="05050102010706020507" pitchFamily="18" charset="2"/>
              </a:rPr>
              <a:t>1</a:t>
            </a:r>
            <a:r>
              <a:rPr lang="en-US" altLang="ru-RU" sz="2400">
                <a:latin typeface="Century" panose="02040604050505020304" pitchFamily="18" charset="0"/>
              </a:rPr>
              <a:t>(x</a:t>
            </a:r>
            <a:r>
              <a:rPr lang="en-US" altLang="ru-RU" sz="2400" baseline="-25000">
                <a:latin typeface="Century" panose="02040604050505020304" pitchFamily="18" charset="0"/>
              </a:rPr>
              <a:t>1</a:t>
            </a:r>
            <a:r>
              <a:rPr lang="en-US" altLang="ru-RU" sz="2400">
                <a:latin typeface="Century" panose="02040604050505020304" pitchFamily="18" charset="0"/>
              </a:rPr>
              <a:t>, x</a:t>
            </a:r>
            <a:r>
              <a:rPr lang="en-US" altLang="ru-RU" sz="2400" baseline="-25000">
                <a:latin typeface="Century" panose="02040604050505020304" pitchFamily="18" charset="0"/>
              </a:rPr>
              <a:t>2</a:t>
            </a:r>
            <a:r>
              <a:rPr lang="en-US" altLang="ru-RU" sz="2400">
                <a:latin typeface="Century" panose="02040604050505020304" pitchFamily="18" charset="0"/>
              </a:rPr>
              <a:t>, x</a:t>
            </a:r>
            <a:r>
              <a:rPr lang="en-US" altLang="ru-RU" sz="2400" baseline="-25000">
                <a:latin typeface="Century" panose="02040604050505020304" pitchFamily="18" charset="0"/>
              </a:rPr>
              <a:t>3</a:t>
            </a:r>
            <a:r>
              <a:rPr lang="ru-RU" altLang="zh-CN" sz="2400">
                <a:latin typeface="Century" panose="02040604050505020304" pitchFamily="18" charset="0"/>
              </a:rPr>
              <a:t>, </a:t>
            </a:r>
            <a:r>
              <a:rPr lang="en-US" altLang="ru-RU" sz="2400">
                <a:latin typeface="Century" panose="02040604050505020304" pitchFamily="18" charset="0"/>
              </a:rPr>
              <a:t>…</a:t>
            </a:r>
            <a:r>
              <a:rPr lang="ru-RU" altLang="zh-CN" sz="2400">
                <a:latin typeface="Century" panose="02040604050505020304" pitchFamily="18" charset="0"/>
              </a:rPr>
              <a:t>, </a:t>
            </a:r>
            <a:r>
              <a:rPr lang="en-US" altLang="ru-RU" sz="2400">
                <a:latin typeface="Century" panose="02040604050505020304" pitchFamily="18" charset="0"/>
              </a:rPr>
              <a:t>x</a:t>
            </a:r>
            <a:r>
              <a:rPr lang="en-US" altLang="ru-RU" sz="2400" baseline="-25000">
                <a:latin typeface="Century" panose="02040604050505020304" pitchFamily="18" charset="0"/>
              </a:rPr>
              <a:t>n</a:t>
            </a:r>
            <a:r>
              <a:rPr lang="en-US" altLang="ru-RU" sz="2400">
                <a:latin typeface="Century" panose="02040604050505020304" pitchFamily="18" charset="0"/>
              </a:rPr>
              <a:t>){≤,=,≥}b</a:t>
            </a:r>
            <a:r>
              <a:rPr lang="en-US" altLang="ru-RU" sz="2400" baseline="-25000">
                <a:latin typeface="Century" panose="02040604050505020304" pitchFamily="18" charset="0"/>
              </a:rPr>
              <a:t>1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altLang="zh-CN" sz="2400">
                <a:latin typeface="Century" panose="02040604050505020304" pitchFamily="18" charset="0"/>
                <a:sym typeface="Symbol" panose="05050102010706020507" pitchFamily="18" charset="2"/>
              </a:rPr>
              <a:t></a:t>
            </a:r>
            <a:r>
              <a:rPr lang="en-US" altLang="ru-RU" sz="2400" baseline="-25000">
                <a:latin typeface="Century" panose="02040604050505020304" pitchFamily="18" charset="0"/>
                <a:sym typeface="Symbol" panose="05050102010706020507" pitchFamily="18" charset="2"/>
              </a:rPr>
              <a:t>2</a:t>
            </a:r>
            <a:r>
              <a:rPr lang="en-US" altLang="ru-RU" sz="2400">
                <a:latin typeface="Century" panose="02040604050505020304" pitchFamily="18" charset="0"/>
              </a:rPr>
              <a:t>(x</a:t>
            </a:r>
            <a:r>
              <a:rPr lang="en-US" altLang="ru-RU" sz="2400" baseline="-25000">
                <a:latin typeface="Century" panose="02040604050505020304" pitchFamily="18" charset="0"/>
              </a:rPr>
              <a:t>1</a:t>
            </a:r>
            <a:r>
              <a:rPr lang="en-US" altLang="ru-RU" sz="2400">
                <a:latin typeface="Century" panose="02040604050505020304" pitchFamily="18" charset="0"/>
              </a:rPr>
              <a:t>, x</a:t>
            </a:r>
            <a:r>
              <a:rPr lang="en-US" altLang="ru-RU" sz="2400" baseline="-25000">
                <a:latin typeface="Century" panose="02040604050505020304" pitchFamily="18" charset="0"/>
              </a:rPr>
              <a:t>2</a:t>
            </a:r>
            <a:r>
              <a:rPr lang="en-US" altLang="ru-RU" sz="2400">
                <a:latin typeface="Century" panose="02040604050505020304" pitchFamily="18" charset="0"/>
              </a:rPr>
              <a:t>, x</a:t>
            </a:r>
            <a:r>
              <a:rPr lang="en-US" altLang="ru-RU" sz="2400" baseline="-25000">
                <a:latin typeface="Century" panose="02040604050505020304" pitchFamily="18" charset="0"/>
              </a:rPr>
              <a:t>3</a:t>
            </a:r>
            <a:r>
              <a:rPr lang="ru-RU" altLang="zh-CN" sz="2400">
                <a:latin typeface="Century" panose="02040604050505020304" pitchFamily="18" charset="0"/>
              </a:rPr>
              <a:t>, </a:t>
            </a:r>
            <a:r>
              <a:rPr lang="en-US" altLang="ru-RU" sz="2400">
                <a:latin typeface="Century" panose="02040604050505020304" pitchFamily="18" charset="0"/>
              </a:rPr>
              <a:t>…</a:t>
            </a:r>
            <a:r>
              <a:rPr lang="ru-RU" altLang="zh-CN" sz="2400">
                <a:latin typeface="Century" panose="02040604050505020304" pitchFamily="18" charset="0"/>
              </a:rPr>
              <a:t>, </a:t>
            </a:r>
            <a:r>
              <a:rPr lang="en-US" altLang="ru-RU" sz="2400">
                <a:latin typeface="Century" panose="02040604050505020304" pitchFamily="18" charset="0"/>
              </a:rPr>
              <a:t>x</a:t>
            </a:r>
            <a:r>
              <a:rPr lang="en-US" altLang="ru-RU" sz="2400" baseline="-25000">
                <a:latin typeface="Century" panose="02040604050505020304" pitchFamily="18" charset="0"/>
              </a:rPr>
              <a:t>n</a:t>
            </a:r>
            <a:r>
              <a:rPr lang="en-US" altLang="ru-RU" sz="2400">
                <a:latin typeface="Century" panose="02040604050505020304" pitchFamily="18" charset="0"/>
              </a:rPr>
              <a:t>){≤,=,≥}b</a:t>
            </a:r>
            <a:r>
              <a:rPr lang="en-US" altLang="ru-RU" sz="2400" baseline="-25000">
                <a:latin typeface="Century" panose="02040604050505020304" pitchFamily="18" charset="0"/>
              </a:rPr>
              <a:t>2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altLang="ru-RU" sz="2400" baseline="-25000">
                <a:latin typeface="Century" panose="02040604050505020304" pitchFamily="18" charset="0"/>
              </a:rPr>
              <a:t>… … …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altLang="zh-CN" sz="2400">
                <a:latin typeface="Century" panose="02040604050505020304" pitchFamily="18" charset="0"/>
                <a:sym typeface="Symbol" panose="05050102010706020507" pitchFamily="18" charset="2"/>
              </a:rPr>
              <a:t></a:t>
            </a:r>
            <a:r>
              <a:rPr lang="en-US" altLang="ru-RU" sz="2400" baseline="-25000">
                <a:latin typeface="Century" panose="02040604050505020304" pitchFamily="18" charset="0"/>
                <a:sym typeface="Symbol" panose="05050102010706020507" pitchFamily="18" charset="2"/>
              </a:rPr>
              <a:t>m</a:t>
            </a:r>
            <a:r>
              <a:rPr lang="en-US" altLang="ru-RU" sz="2400">
                <a:latin typeface="Century" panose="02040604050505020304" pitchFamily="18" charset="0"/>
              </a:rPr>
              <a:t>(x</a:t>
            </a:r>
            <a:r>
              <a:rPr lang="en-US" altLang="ru-RU" sz="2400" baseline="-25000">
                <a:latin typeface="Century" panose="02040604050505020304" pitchFamily="18" charset="0"/>
              </a:rPr>
              <a:t>1</a:t>
            </a:r>
            <a:r>
              <a:rPr lang="en-US" altLang="ru-RU" sz="2400">
                <a:latin typeface="Century" panose="02040604050505020304" pitchFamily="18" charset="0"/>
              </a:rPr>
              <a:t>, x</a:t>
            </a:r>
            <a:r>
              <a:rPr lang="en-US" altLang="ru-RU" sz="2400" baseline="-25000">
                <a:latin typeface="Century" panose="02040604050505020304" pitchFamily="18" charset="0"/>
              </a:rPr>
              <a:t>2</a:t>
            </a:r>
            <a:r>
              <a:rPr lang="en-US" altLang="ru-RU" sz="2400">
                <a:latin typeface="Century" panose="02040604050505020304" pitchFamily="18" charset="0"/>
              </a:rPr>
              <a:t>, x</a:t>
            </a:r>
            <a:r>
              <a:rPr lang="en-US" altLang="ru-RU" sz="2400" baseline="-25000">
                <a:latin typeface="Century" panose="02040604050505020304" pitchFamily="18" charset="0"/>
              </a:rPr>
              <a:t>3</a:t>
            </a:r>
            <a:r>
              <a:rPr lang="ru-RU" altLang="zh-CN" sz="2400">
                <a:latin typeface="Century" panose="02040604050505020304" pitchFamily="18" charset="0"/>
              </a:rPr>
              <a:t>, </a:t>
            </a:r>
            <a:r>
              <a:rPr lang="en-US" altLang="ru-RU" sz="2400">
                <a:latin typeface="Century" panose="02040604050505020304" pitchFamily="18" charset="0"/>
              </a:rPr>
              <a:t>…</a:t>
            </a:r>
            <a:r>
              <a:rPr lang="ru-RU" altLang="zh-CN" sz="2400">
                <a:latin typeface="Century" panose="02040604050505020304" pitchFamily="18" charset="0"/>
              </a:rPr>
              <a:t>, </a:t>
            </a:r>
            <a:r>
              <a:rPr lang="en-US" altLang="ru-RU" sz="2400">
                <a:latin typeface="Century" panose="02040604050505020304" pitchFamily="18" charset="0"/>
              </a:rPr>
              <a:t>x</a:t>
            </a:r>
            <a:r>
              <a:rPr lang="en-US" altLang="ru-RU" sz="2400" baseline="-25000">
                <a:latin typeface="Century" panose="02040604050505020304" pitchFamily="18" charset="0"/>
              </a:rPr>
              <a:t>n</a:t>
            </a:r>
            <a:r>
              <a:rPr lang="en-US" altLang="ru-RU" sz="2400">
                <a:latin typeface="Century" panose="02040604050505020304" pitchFamily="18" charset="0"/>
              </a:rPr>
              <a:t>){≤,=,≥}b</a:t>
            </a:r>
            <a:r>
              <a:rPr lang="en-US" altLang="ru-RU" sz="2400" baseline="-25000">
                <a:latin typeface="Century" panose="02040604050505020304" pitchFamily="18" charset="0"/>
              </a:rPr>
              <a:t>m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ru-RU" sz="2400">
                <a:latin typeface="Century" panose="02040604050505020304" pitchFamily="18" charset="0"/>
              </a:rPr>
              <a:t>X(x</a:t>
            </a:r>
            <a:r>
              <a:rPr lang="en-US" altLang="ru-RU" sz="2400" baseline="-25000">
                <a:latin typeface="Century" panose="02040604050505020304" pitchFamily="18" charset="0"/>
              </a:rPr>
              <a:t>1</a:t>
            </a:r>
            <a:r>
              <a:rPr lang="en-US" altLang="ru-RU" sz="2400">
                <a:latin typeface="Century" panose="02040604050505020304" pitchFamily="18" charset="0"/>
              </a:rPr>
              <a:t>, x</a:t>
            </a:r>
            <a:r>
              <a:rPr lang="en-US" altLang="ru-RU" sz="2400" baseline="-25000">
                <a:latin typeface="Century" panose="02040604050505020304" pitchFamily="18" charset="0"/>
              </a:rPr>
              <a:t>2</a:t>
            </a:r>
            <a:r>
              <a:rPr lang="en-US" altLang="ru-RU" sz="2400">
                <a:latin typeface="Century" panose="02040604050505020304" pitchFamily="18" charset="0"/>
              </a:rPr>
              <a:t>, x</a:t>
            </a:r>
            <a:r>
              <a:rPr lang="en-US" altLang="ru-RU" sz="2400" baseline="-25000">
                <a:latin typeface="Century" panose="02040604050505020304" pitchFamily="18" charset="0"/>
              </a:rPr>
              <a:t>3</a:t>
            </a:r>
            <a:r>
              <a:rPr lang="ru-RU" altLang="zh-CN" sz="2400">
                <a:latin typeface="Century" panose="02040604050505020304" pitchFamily="18" charset="0"/>
              </a:rPr>
              <a:t>, </a:t>
            </a:r>
            <a:r>
              <a:rPr lang="en-US" altLang="ru-RU" sz="2400">
                <a:latin typeface="Century" panose="02040604050505020304" pitchFamily="18" charset="0"/>
              </a:rPr>
              <a:t>…</a:t>
            </a:r>
            <a:r>
              <a:rPr lang="ru-RU" altLang="zh-CN" sz="2400">
                <a:latin typeface="Century" panose="02040604050505020304" pitchFamily="18" charset="0"/>
              </a:rPr>
              <a:t>, </a:t>
            </a:r>
            <a:r>
              <a:rPr lang="en-US" altLang="ru-RU" sz="2400">
                <a:latin typeface="Century" panose="02040604050505020304" pitchFamily="18" charset="0"/>
              </a:rPr>
              <a:t>x</a:t>
            </a:r>
            <a:r>
              <a:rPr lang="en-US" altLang="ru-RU" sz="2400" baseline="-25000">
                <a:latin typeface="Century" panose="02040604050505020304" pitchFamily="18" charset="0"/>
              </a:rPr>
              <a:t>n</a:t>
            </a:r>
            <a:r>
              <a:rPr lang="en-US" altLang="ru-RU" sz="2400">
                <a:latin typeface="Century" panose="02040604050505020304" pitchFamily="18" charset="0"/>
              </a:rPr>
              <a:t>) – </a:t>
            </a:r>
            <a:r>
              <a:rPr lang="ru-RU" altLang="zh-CN" sz="2400">
                <a:latin typeface="Century" panose="02040604050505020304" pitchFamily="18" charset="0"/>
              </a:rPr>
              <a:t>допустимое решение, если выполняются ограничения.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ru-RU" altLang="zh-CN" sz="2400">
                <a:latin typeface="Century" panose="02040604050505020304" pitchFamily="18" charset="0"/>
              </a:rPr>
              <a:t>Допустимое решение, при котором целевая функция достигает оптимального значения, называется оптимальным планом </a:t>
            </a:r>
            <a:endParaRPr lang="en-US" altLang="ru-RU" sz="2400">
              <a:latin typeface="Century" panose="020406040505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ru-RU" sz="2400" baseline="-25000">
              <a:latin typeface="Century" panose="020406040505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ru-RU" sz="2400" baseline="-25000">
              <a:latin typeface="Century" panose="020406040505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ru-RU" altLang="zh-CN" sz="2400" baseline="-25000">
              <a:latin typeface="Century" panose="020406040505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Заголовок 1">
            <a:extLst>
              <a:ext uri="{FF2B5EF4-FFF2-40B4-BE49-F238E27FC236}">
                <a16:creationId xmlns:a16="http://schemas.microsoft.com/office/drawing/2014/main" id="{24F4C618-A854-4B90-A2D0-C210C8565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zh-CN" b="1">
                <a:latin typeface="Century" panose="02040604050505020304" pitchFamily="18" charset="0"/>
              </a:rPr>
              <a:t>Принципы классификации задач математического программирования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235D7CE-9577-4E77-AAF8-92870EA2FDC1}"/>
              </a:ext>
            </a:extLst>
          </p:cNvPr>
          <p:cNvSpPr/>
          <p:nvPr/>
        </p:nvSpPr>
        <p:spPr>
          <a:xfrm>
            <a:off x="323850" y="1670050"/>
            <a:ext cx="3024188" cy="1549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endParaRPr lang="ru-RU" noProof="1">
              <a:latin typeface="Bahnschrift Light Semi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7CC9B5-28B4-4F6C-BCD2-6471CF2AE729}"/>
              </a:ext>
            </a:extLst>
          </p:cNvPr>
          <p:cNvSpPr txBox="1"/>
          <p:nvPr/>
        </p:nvSpPr>
        <p:spPr>
          <a:xfrm>
            <a:off x="449263" y="1670050"/>
            <a:ext cx="2881312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/>
            <a:r>
              <a:rPr lang="ru-RU" b="1" noProof="1">
                <a:latin typeface="Century" panose="02040604050505020304" pitchFamily="18" charset="0"/>
              </a:rPr>
              <a:t>По характеру взаимосвязи между переменными: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ru-RU" noProof="1">
                <a:latin typeface="Century" panose="02040604050505020304" pitchFamily="18" charset="0"/>
              </a:rPr>
              <a:t>Линейные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ru-RU" noProof="1">
                <a:latin typeface="Century" panose="02040604050505020304" pitchFamily="18" charset="0"/>
              </a:rPr>
              <a:t>Нелинейные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100FC99-258B-42B2-8574-AB26066ED114}"/>
              </a:ext>
            </a:extLst>
          </p:cNvPr>
          <p:cNvSpPr/>
          <p:nvPr/>
        </p:nvSpPr>
        <p:spPr>
          <a:xfrm>
            <a:off x="471488" y="3314700"/>
            <a:ext cx="2732087" cy="15303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endParaRPr lang="ru-RU" noProof="1">
              <a:latin typeface="Bahnschrift Light Semi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0A2E6-50A9-4E2D-8A63-09D22ACA1EBB}"/>
              </a:ext>
            </a:extLst>
          </p:cNvPr>
          <p:cNvSpPr txBox="1"/>
          <p:nvPr/>
        </p:nvSpPr>
        <p:spPr>
          <a:xfrm>
            <a:off x="615950" y="3341688"/>
            <a:ext cx="2714625" cy="1477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/>
            <a:r>
              <a:rPr lang="ru-RU" b="1" noProof="1">
                <a:latin typeface="Century" panose="02040604050505020304" pitchFamily="18" charset="0"/>
              </a:rPr>
              <a:t>По характеру изменения переменных: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ru-RU" noProof="1">
                <a:latin typeface="Century" panose="02040604050505020304" pitchFamily="18" charset="0"/>
              </a:rPr>
              <a:t>Непрерывные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ru-RU" noProof="1">
                <a:latin typeface="Century" panose="02040604050505020304" pitchFamily="18" charset="0"/>
              </a:rPr>
              <a:t>Дискретные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4F33EAE6-CD95-4DD2-9EB3-EF67557AC16A}"/>
              </a:ext>
            </a:extLst>
          </p:cNvPr>
          <p:cNvSpPr/>
          <p:nvPr/>
        </p:nvSpPr>
        <p:spPr>
          <a:xfrm>
            <a:off x="5148263" y="1711325"/>
            <a:ext cx="3527425" cy="244792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endParaRPr lang="ru-RU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51FB5D-4D54-4D58-9AED-C39CEDEA6008}"/>
              </a:ext>
            </a:extLst>
          </p:cNvPr>
          <p:cNvSpPr txBox="1"/>
          <p:nvPr/>
        </p:nvSpPr>
        <p:spPr>
          <a:xfrm>
            <a:off x="5292725" y="1781175"/>
            <a:ext cx="3311525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/>
            <a:r>
              <a:rPr lang="ru-RU" b="1" noProof="1">
                <a:latin typeface="Century" panose="02040604050505020304" pitchFamily="18" charset="0"/>
              </a:rPr>
              <a:t>По наличию информации о переменных: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ru-RU" noProof="1">
                <a:latin typeface="Century" panose="02040604050505020304" pitchFamily="18" charset="0"/>
              </a:rPr>
              <a:t>Задачи в условиях полной определённости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ru-RU" noProof="1">
                <a:latin typeface="Century" panose="02040604050505020304" pitchFamily="18" charset="0"/>
              </a:rPr>
              <a:t>Задачи в условиях неполной информации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ru-RU" noProof="1">
                <a:latin typeface="Century" panose="02040604050505020304" pitchFamily="18" charset="0"/>
              </a:rPr>
              <a:t>Задачи в условиях неопределенности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B5B21E4D-D893-48CC-B41D-2DD455C5071E}"/>
              </a:ext>
            </a:extLst>
          </p:cNvPr>
          <p:cNvSpPr/>
          <p:nvPr/>
        </p:nvSpPr>
        <p:spPr>
          <a:xfrm>
            <a:off x="4972050" y="4373563"/>
            <a:ext cx="3865563" cy="187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endParaRPr lang="ru-RU" noProof="1">
              <a:latin typeface="Bahnschrift Light Semi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96FD31-27FB-420D-AF8C-6368159E3411}"/>
              </a:ext>
            </a:extLst>
          </p:cNvPr>
          <p:cNvSpPr txBox="1"/>
          <p:nvPr/>
        </p:nvSpPr>
        <p:spPr>
          <a:xfrm>
            <a:off x="5116513" y="4443413"/>
            <a:ext cx="3721100" cy="1754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/>
            <a:r>
              <a:rPr lang="ru-RU" b="1" noProof="1">
                <a:latin typeface="Century" panose="02040604050505020304" pitchFamily="18" charset="0"/>
              </a:rPr>
              <a:t>По числу критериев оценки альтернатив: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ru-RU" noProof="1">
                <a:latin typeface="Century" panose="02040604050505020304" pitchFamily="18" charset="0"/>
              </a:rPr>
              <a:t>Простые однокритериальные задачи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ru-RU" noProof="1">
                <a:latin typeface="Century" panose="02040604050505020304" pitchFamily="18" charset="0"/>
              </a:rPr>
              <a:t>Сложные многокритериальные задачи</a:t>
            </a: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CEE6C524-C807-42B9-8593-0392DDF89442}"/>
              </a:ext>
            </a:extLst>
          </p:cNvPr>
          <p:cNvSpPr/>
          <p:nvPr/>
        </p:nvSpPr>
        <p:spPr>
          <a:xfrm>
            <a:off x="1670050" y="4987925"/>
            <a:ext cx="3024188" cy="12715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endParaRPr lang="ru-RU" noProof="1">
              <a:latin typeface="Bahnschrift Light SemiCondensed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E9DEB4-1E31-44D2-AEB9-9334DA527B7A}"/>
              </a:ext>
            </a:extLst>
          </p:cNvPr>
          <p:cNvSpPr txBox="1"/>
          <p:nvPr/>
        </p:nvSpPr>
        <p:spPr>
          <a:xfrm>
            <a:off x="1812925" y="5059363"/>
            <a:ext cx="27146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/>
            <a:r>
              <a:rPr lang="ru-RU" b="1" noProof="1">
                <a:latin typeface="Century" panose="02040604050505020304" pitchFamily="18" charset="0"/>
              </a:rPr>
              <a:t>По учету фактора времени: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ru-RU" noProof="1">
                <a:latin typeface="Century" panose="02040604050505020304" pitchFamily="18" charset="0"/>
              </a:rPr>
              <a:t>Статические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ru-RU" noProof="1">
                <a:latin typeface="Century" panose="02040604050505020304" pitchFamily="18" charset="0"/>
              </a:rPr>
              <a:t>Динамические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CEE13D3-C052-46D5-BE1B-3CD0A3718947}"/>
              </a:ext>
            </a:extLst>
          </p:cNvPr>
          <p:cNvCxnSpPr>
            <a:endCxn id="5" idx="3"/>
          </p:cNvCxnSpPr>
          <p:nvPr/>
        </p:nvCxnSpPr>
        <p:spPr>
          <a:xfrm flipH="1">
            <a:off x="3348038" y="1690688"/>
            <a:ext cx="719137" cy="75406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BEA0922F-2343-4F33-AAF4-252D1F1D5B32}"/>
              </a:ext>
            </a:extLst>
          </p:cNvPr>
          <p:cNvCxnSpPr>
            <a:endCxn id="7" idx="3"/>
          </p:cNvCxnSpPr>
          <p:nvPr/>
        </p:nvCxnSpPr>
        <p:spPr>
          <a:xfrm flipH="1">
            <a:off x="3203575" y="1711325"/>
            <a:ext cx="863600" cy="236855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C9DF9E00-44AF-486C-B921-A962EB5C68D2}"/>
              </a:ext>
            </a:extLst>
          </p:cNvPr>
          <p:cNvCxnSpPr>
            <a:endCxn id="7" idx="3"/>
          </p:cNvCxnSpPr>
          <p:nvPr/>
        </p:nvCxnSpPr>
        <p:spPr>
          <a:xfrm flipH="1">
            <a:off x="3924300" y="1711325"/>
            <a:ext cx="142875" cy="327660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3E9E24FD-2D44-4F59-8118-DEA5213C3E73}"/>
              </a:ext>
            </a:extLst>
          </p:cNvPr>
          <p:cNvCxnSpPr>
            <a:endCxn id="11" idx="1"/>
          </p:cNvCxnSpPr>
          <p:nvPr/>
        </p:nvCxnSpPr>
        <p:spPr>
          <a:xfrm>
            <a:off x="4067175" y="1711325"/>
            <a:ext cx="904875" cy="360203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6D5CF307-2B5E-433C-BE0C-7DCD7F634E69}"/>
              </a:ext>
            </a:extLst>
          </p:cNvPr>
          <p:cNvCxnSpPr>
            <a:endCxn id="9" idx="1"/>
          </p:cNvCxnSpPr>
          <p:nvPr/>
        </p:nvCxnSpPr>
        <p:spPr>
          <a:xfrm>
            <a:off x="4067175" y="1711325"/>
            <a:ext cx="1081088" cy="1223963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E6EF1-E214-4FD4-A613-2D5044EF5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dirty="0">
                <a:latin typeface="Century" panose="02040604050505020304" pitchFamily="18" charset="0"/>
              </a:rPr>
              <a:t>Примеры задач математического программирования 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2BF607-4CC4-484E-A094-1B9448862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906576"/>
          </a:xfrm>
        </p:spPr>
        <p:txBody>
          <a:bodyPr>
            <a:normAutofit lnSpcReduction="10000"/>
          </a:bodyPr>
          <a:lstStyle/>
          <a:p>
            <a:r>
              <a:rPr lang="ru-RU" sz="2600" dirty="0"/>
              <a:t>Задача о кратчайшем расстоянии между вершинами графа </a:t>
            </a:r>
          </a:p>
          <a:p>
            <a:r>
              <a:rPr lang="ru-RU" sz="2600" dirty="0"/>
              <a:t>Задача о рюкзаке </a:t>
            </a:r>
          </a:p>
          <a:p>
            <a:r>
              <a:rPr lang="ru-RU" sz="2600" dirty="0"/>
              <a:t>Задача о коммивояжере (о бродячем торговце)</a:t>
            </a:r>
          </a:p>
          <a:p>
            <a:r>
              <a:rPr lang="ru-RU" sz="2600" dirty="0"/>
              <a:t>Задача о загрузке судна</a:t>
            </a:r>
          </a:p>
          <a:p>
            <a:r>
              <a:rPr lang="ru-RU" sz="2600" dirty="0"/>
              <a:t>Задача о нахождении максимального потока в сети</a:t>
            </a:r>
          </a:p>
          <a:p>
            <a:r>
              <a:rPr lang="ru-RU" sz="2600" dirty="0"/>
              <a:t>Задача линейного программирования  </a:t>
            </a:r>
          </a:p>
          <a:p>
            <a:r>
              <a:rPr lang="ru-RU" sz="2600" dirty="0"/>
              <a:t>Транспортная задача</a:t>
            </a:r>
          </a:p>
          <a:p>
            <a:r>
              <a:rPr lang="ru-RU" sz="2600" dirty="0"/>
              <a:t>Задача нелинейного программирования</a:t>
            </a:r>
          </a:p>
          <a:p>
            <a:r>
              <a:rPr lang="ru-RU" sz="2600" dirty="0"/>
              <a:t>Векторная оптимизация </a:t>
            </a:r>
          </a:p>
          <a:p>
            <a:r>
              <a:rPr lang="ru-RU" sz="2600" dirty="0"/>
              <a:t>Сетевое планирование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56612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86BEE21-C27F-43BF-A80F-55DA7CE21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7190"/>
            <a:ext cx="9144000" cy="226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3608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BF06F8C-86FC-443B-84C0-A01517E64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" y="0"/>
            <a:ext cx="91163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906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DBC77C-ED26-4481-9595-B45C776A7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9" y="0"/>
            <a:ext cx="91077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36930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29D9737-14B7-4FFC-B6FE-FD9BA39FF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1" y="0"/>
            <a:ext cx="90780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0499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F17D7B3-FCED-43E8-AAF4-03FDD66C3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1" y="0"/>
            <a:ext cx="90972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581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2C9E3D-EF69-40B1-84C1-3BF66AA45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1" y="0"/>
            <a:ext cx="91142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62435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2D189D5-9562-48DF-A3A9-D162D62E2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93"/>
            <a:ext cx="9144000" cy="685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4680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116CD4-6386-40AB-88C2-0010DB01A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2" y="0"/>
            <a:ext cx="90951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9307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C4228D4-34DC-4043-B3AC-8D5EA6800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"/>
            <a:ext cx="9144000" cy="685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3732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3F63805-9D90-44FB-9795-FA443AD20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" y="0"/>
            <a:ext cx="9122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2573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487E19B-52C0-44AE-9CF2-C4EE8D70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3" y="0"/>
            <a:ext cx="91141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1845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313015-27CD-48CC-96EE-0EFB2CD6E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4" y="0"/>
            <a:ext cx="9112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90256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B0A2B23-8BB7-4612-BB1F-2D93D6926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970"/>
            <a:ext cx="9144000" cy="65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40263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45950F-04A6-414A-A7AE-70712A715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" y="0"/>
            <a:ext cx="91248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61252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2B6E1D-9DE6-4D22-8A29-92DDA7E5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6" y="0"/>
            <a:ext cx="91056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1640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867F93-8018-4606-B1F1-025BA6A17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1" y="0"/>
            <a:ext cx="90972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58826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7E32E9B-DA34-46F9-B495-660E2567F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4" y="0"/>
            <a:ext cx="9112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22572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F1FF769-256D-404D-A55C-693A6CC4A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6" y="0"/>
            <a:ext cx="90906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55528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8A90A94-90DC-4B95-A5EE-BDB620E3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1" y="0"/>
            <a:ext cx="90972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793650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4B4E870-84C3-4E6D-A212-3F737DF4F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" y="0"/>
            <a:ext cx="91418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419299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FC2DE1D-A291-4D37-A182-12548AE19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" y="0"/>
            <a:ext cx="91311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92008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8A83633-F9A7-4507-81E3-9406BDE28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" y="0"/>
            <a:ext cx="91375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09090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747542-B3D6-4017-A2BD-89F025108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5" y="0"/>
            <a:ext cx="9101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87135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F0FA4BA-43FF-40E3-BF0F-E82A56752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" y="0"/>
            <a:ext cx="91163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59592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1FD06D9-893B-47A5-9E70-1020BB471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7" y="0"/>
            <a:ext cx="9120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743318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EC6E083-3FD7-4744-8CB5-DD07E20AB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4" y="0"/>
            <a:ext cx="9040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119823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360C05-355F-4A89-8DF4-F53033930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6" y="0"/>
            <a:ext cx="91056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73229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502B696-48EB-44EA-8D37-23FB39610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7" y="0"/>
            <a:ext cx="9120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16096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BDA0976-5CBA-4BD9-A7EA-F2E97A856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1" y="0"/>
            <a:ext cx="90844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4097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0E14EFA-0B08-4DC0-AC29-BB18653D7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9" y="0"/>
            <a:ext cx="91077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998938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F3C147F-0E43-4864-ADE6-2B15491D6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" y="0"/>
            <a:ext cx="9122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22747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28244EC-366E-47EF-B5DD-ECB786830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2" y="0"/>
            <a:ext cx="90929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17326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22E93E5-9785-4844-9CE9-F3500CD76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" y="0"/>
            <a:ext cx="91163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752082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110F75D-ED22-401F-ACA6-1B9C92998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" y="0"/>
            <a:ext cx="91291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607551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00ADEE3-1743-44CE-A88E-FA2CC80A0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2" y="0"/>
            <a:ext cx="91035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53229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BEB35FB-698C-4DD9-A71F-93FE2FAC0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1" y="0"/>
            <a:ext cx="91184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68165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9EE5958-9D6F-4E15-A953-EC2B9AB63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8" y="0"/>
            <a:ext cx="9107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39508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DB5115E-01B2-466C-A369-1D8EAF2D7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" y="0"/>
            <a:ext cx="91248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02954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37028E4-BBC9-47F2-B9A1-28739B6F5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1" y="0"/>
            <a:ext cx="90908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93884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A8A9EDC-7C29-4787-AA96-4A71AD4A2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9" y="0"/>
            <a:ext cx="9099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14757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95BCF39-8B2F-47C2-9F64-1C8097179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2" y="0"/>
            <a:ext cx="9109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827972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96A2A6A-21A8-46C7-91AF-F4C5D73B5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2" y="0"/>
            <a:ext cx="9109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88837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72F37C2-9E56-45CE-B234-2C3D5BE94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2" y="0"/>
            <a:ext cx="9109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508788"/>
      </p:ext>
    </p:extLst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383A4F5-D48B-4BD7-829F-E32C6DDCC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" y="0"/>
            <a:ext cx="91269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73357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EB7DA30-1921-4AA5-96A2-DF210248F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" y="0"/>
            <a:ext cx="91248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87377"/>
      </p:ext>
    </p:ext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8561790-0ED3-4766-82AF-DCBFF0054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" y="0"/>
            <a:ext cx="9122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10952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7E46129-E465-4785-AE2F-BA2978949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9" y="0"/>
            <a:ext cx="91121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482684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E68752-D52E-43A6-A5D4-608633A7DF38}"/>
              </a:ext>
            </a:extLst>
          </p:cNvPr>
          <p:cNvSpPr txBox="1"/>
          <p:nvPr/>
        </p:nvSpPr>
        <p:spPr>
          <a:xfrm>
            <a:off x="179634" y="260736"/>
            <a:ext cx="885673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400">
                <a:solidFill>
                  <a:srgbClr val="008000"/>
                </a:solidFill>
                <a:latin typeface="Trebuchet MS"/>
              </a:rPr>
              <a:t>// --- В</a:t>
            </a:r>
            <a:r>
              <a:rPr lang="en-US" sz="2400">
                <a:solidFill>
                  <a:srgbClr val="008000"/>
                </a:solidFill>
                <a:latin typeface="Trebuchet MS"/>
              </a:rPr>
              <a:t>oat.h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400">
                <a:solidFill>
                  <a:srgbClr val="008000"/>
                </a:solidFill>
                <a:latin typeface="Trebuchet MS"/>
              </a:rPr>
              <a:t>// -- решение  задачи об оптимальной загрузке судна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400">
                <a:solidFill>
                  <a:srgbClr val="008000"/>
                </a:solidFill>
                <a:latin typeface="Trebuchet MS"/>
              </a:rPr>
              <a:t>//    функция возвращает доход  от перевози выбранных контейнеров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400">
                <a:solidFill>
                  <a:srgbClr val="0000FF"/>
                </a:solidFill>
                <a:latin typeface="Trebuchet MS"/>
              </a:rPr>
              <a:t>#pragma</a:t>
            </a:r>
            <a:r>
              <a:rPr lang="en-US" sz="2400">
                <a:solidFill>
                  <a:prstClr val="black"/>
                </a:solidFill>
                <a:latin typeface="Trebuchet MS"/>
              </a:rPr>
              <a:t> </a:t>
            </a:r>
            <a:r>
              <a:rPr lang="en-US" sz="2400">
                <a:solidFill>
                  <a:srgbClr val="0000FF"/>
                </a:solidFill>
                <a:latin typeface="Trebuchet MS"/>
              </a:rPr>
              <a:t>once</a:t>
            </a:r>
            <a:r>
              <a:rPr lang="en-US" sz="2400">
                <a:solidFill>
                  <a:prstClr val="black"/>
                </a:solidFill>
                <a:latin typeface="Trebuchet MS"/>
              </a:rPr>
              <a:t>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400">
                <a:solidFill>
                  <a:srgbClr val="0000FF"/>
                </a:solidFill>
                <a:latin typeface="Trebuchet MS"/>
              </a:rPr>
              <a:t>#include</a:t>
            </a:r>
            <a:r>
              <a:rPr lang="en-US" sz="2400">
                <a:solidFill>
                  <a:prstClr val="black"/>
                </a:solidFill>
                <a:latin typeface="Trebuchet MS"/>
              </a:rPr>
              <a:t> </a:t>
            </a:r>
            <a:r>
              <a:rPr lang="en-US" sz="2400">
                <a:solidFill>
                  <a:srgbClr val="A31515"/>
                </a:solidFill>
                <a:latin typeface="Trebuchet MS"/>
              </a:rPr>
              <a:t>"Combi.h"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400">
                <a:solidFill>
                  <a:srgbClr val="0000FF"/>
                </a:solidFill>
                <a:latin typeface="Trebuchet MS"/>
              </a:rPr>
              <a:t>int</a:t>
            </a:r>
            <a:r>
              <a:rPr lang="en-US" sz="2400">
                <a:solidFill>
                  <a:prstClr val="black"/>
                </a:solidFill>
                <a:latin typeface="Trebuchet MS"/>
              </a:rPr>
              <a:t> boat(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400">
                <a:solidFill>
                  <a:prstClr val="black"/>
                </a:solidFill>
                <a:latin typeface="Trebuchet MS"/>
              </a:rPr>
              <a:t>     </a:t>
            </a:r>
            <a:r>
              <a:rPr lang="ru-RU" sz="2400">
                <a:solidFill>
                  <a:srgbClr val="0000FF"/>
                </a:solidFill>
                <a:latin typeface="Trebuchet MS"/>
              </a:rPr>
              <a:t>int</a:t>
            </a:r>
            <a:r>
              <a:rPr lang="ru-RU" sz="2400">
                <a:solidFill>
                  <a:prstClr val="black"/>
                </a:solidFill>
                <a:latin typeface="Trebuchet MS"/>
              </a:rPr>
              <a:t> V,         </a:t>
            </a:r>
            <a:r>
              <a:rPr lang="ru-RU" sz="2400">
                <a:solidFill>
                  <a:srgbClr val="008000"/>
                </a:solidFill>
                <a:latin typeface="Trebuchet MS"/>
              </a:rPr>
              <a:t>// [in]  максимальный вес груза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400">
                <a:solidFill>
                  <a:prstClr val="black"/>
                </a:solidFill>
                <a:latin typeface="Trebuchet MS"/>
              </a:rPr>
              <a:t>     </a:t>
            </a:r>
            <a:r>
              <a:rPr lang="ru-RU" sz="2400">
                <a:solidFill>
                  <a:srgbClr val="0000FF"/>
                </a:solidFill>
                <a:latin typeface="Trebuchet MS"/>
              </a:rPr>
              <a:t>short</a:t>
            </a:r>
            <a:r>
              <a:rPr lang="ru-RU" sz="2400">
                <a:solidFill>
                  <a:prstClr val="black"/>
                </a:solidFill>
                <a:latin typeface="Trebuchet MS"/>
              </a:rPr>
              <a:t> m,       </a:t>
            </a:r>
            <a:r>
              <a:rPr lang="ru-RU" sz="2400">
                <a:solidFill>
                  <a:srgbClr val="008000"/>
                </a:solidFill>
                <a:latin typeface="Trebuchet MS"/>
              </a:rPr>
              <a:t>// [in]  количество мест для контейнеров   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400">
                <a:solidFill>
                  <a:prstClr val="black"/>
                </a:solidFill>
                <a:latin typeface="Trebuchet MS"/>
              </a:rPr>
              <a:t>     </a:t>
            </a:r>
            <a:r>
              <a:rPr lang="ru-RU" sz="2400">
                <a:solidFill>
                  <a:srgbClr val="0000FF"/>
                </a:solidFill>
                <a:latin typeface="Trebuchet MS"/>
              </a:rPr>
              <a:t>short</a:t>
            </a:r>
            <a:r>
              <a:rPr lang="ru-RU" sz="2400">
                <a:solidFill>
                  <a:prstClr val="black"/>
                </a:solidFill>
                <a:latin typeface="Trebuchet MS"/>
              </a:rPr>
              <a:t> n,       </a:t>
            </a:r>
            <a:r>
              <a:rPr lang="ru-RU" sz="2400">
                <a:solidFill>
                  <a:srgbClr val="008000"/>
                </a:solidFill>
                <a:latin typeface="Trebuchet MS"/>
              </a:rPr>
              <a:t>// [in]  всего контейнеров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400">
                <a:solidFill>
                  <a:prstClr val="black"/>
                </a:solidFill>
                <a:latin typeface="Trebuchet MS"/>
              </a:rPr>
              <a:t>     </a:t>
            </a:r>
            <a:r>
              <a:rPr lang="ru-RU" sz="2400">
                <a:solidFill>
                  <a:srgbClr val="0000FF"/>
                </a:solidFill>
                <a:latin typeface="Trebuchet MS"/>
              </a:rPr>
              <a:t>const</a:t>
            </a:r>
            <a:r>
              <a:rPr lang="ru-RU" sz="2400">
                <a:solidFill>
                  <a:prstClr val="black"/>
                </a:solidFill>
                <a:latin typeface="Trebuchet MS"/>
              </a:rPr>
              <a:t> </a:t>
            </a:r>
            <a:r>
              <a:rPr lang="ru-RU" sz="2400">
                <a:solidFill>
                  <a:srgbClr val="0000FF"/>
                </a:solidFill>
                <a:latin typeface="Trebuchet MS"/>
              </a:rPr>
              <a:t>int</a:t>
            </a:r>
            <a:r>
              <a:rPr lang="ru-RU" sz="2400">
                <a:solidFill>
                  <a:prstClr val="black"/>
                </a:solidFill>
                <a:latin typeface="Trebuchet MS"/>
              </a:rPr>
              <a:t> v[], </a:t>
            </a:r>
            <a:r>
              <a:rPr lang="ru-RU" sz="2400">
                <a:solidFill>
                  <a:srgbClr val="008000"/>
                </a:solidFill>
                <a:latin typeface="Trebuchet MS"/>
              </a:rPr>
              <a:t>// [in]  вес каждого контейнера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400">
                <a:solidFill>
                  <a:prstClr val="black"/>
                </a:solidFill>
                <a:latin typeface="Trebuchet MS"/>
              </a:rPr>
              <a:t>     </a:t>
            </a:r>
            <a:r>
              <a:rPr lang="ru-RU" sz="2400">
                <a:solidFill>
                  <a:srgbClr val="0000FF"/>
                </a:solidFill>
                <a:latin typeface="Trebuchet MS"/>
              </a:rPr>
              <a:t>const</a:t>
            </a:r>
            <a:r>
              <a:rPr lang="ru-RU" sz="2400">
                <a:solidFill>
                  <a:prstClr val="black"/>
                </a:solidFill>
                <a:latin typeface="Trebuchet MS"/>
              </a:rPr>
              <a:t> </a:t>
            </a:r>
            <a:r>
              <a:rPr lang="ru-RU" sz="2400">
                <a:solidFill>
                  <a:srgbClr val="0000FF"/>
                </a:solidFill>
                <a:latin typeface="Trebuchet MS"/>
              </a:rPr>
              <a:t>int</a:t>
            </a:r>
            <a:r>
              <a:rPr lang="ru-RU" sz="2400">
                <a:solidFill>
                  <a:prstClr val="black"/>
                </a:solidFill>
                <a:latin typeface="Trebuchet MS"/>
              </a:rPr>
              <a:t> c[], </a:t>
            </a:r>
            <a:r>
              <a:rPr lang="ru-RU" sz="2400">
                <a:solidFill>
                  <a:srgbClr val="008000"/>
                </a:solidFill>
                <a:latin typeface="Trebuchet MS"/>
              </a:rPr>
              <a:t>// [in]  доход от перевозки каждого контейнера   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400">
                <a:solidFill>
                  <a:prstClr val="black"/>
                </a:solidFill>
                <a:latin typeface="Trebuchet MS"/>
              </a:rPr>
              <a:t>     </a:t>
            </a:r>
            <a:r>
              <a:rPr lang="ru-RU" sz="2400">
                <a:solidFill>
                  <a:srgbClr val="0000FF"/>
                </a:solidFill>
                <a:latin typeface="Trebuchet MS"/>
              </a:rPr>
              <a:t>short</a:t>
            </a:r>
            <a:r>
              <a:rPr lang="ru-RU" sz="2400">
                <a:solidFill>
                  <a:prstClr val="black"/>
                </a:solidFill>
                <a:latin typeface="Trebuchet MS"/>
              </a:rPr>
              <a:t> r[]      </a:t>
            </a:r>
            <a:r>
              <a:rPr lang="ru-RU" sz="2400">
                <a:solidFill>
                  <a:srgbClr val="008000"/>
                </a:solidFill>
                <a:latin typeface="Trebuchet MS"/>
              </a:rPr>
              <a:t>// [out] результат: индексы выбранных контейнеров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400">
                <a:solidFill>
                  <a:prstClr val="black"/>
                </a:solidFill>
                <a:latin typeface="Trebuchet MS"/>
              </a:rPr>
              <a:t>         );</a:t>
            </a:r>
            <a:endParaRPr lang="be-BY" sz="2400" dirty="0">
              <a:solidFill>
                <a:prstClr val="black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13429962"/>
      </p:ext>
    </p:extLst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3ABFF0-0CA8-4A0A-B239-91612B574A3F}"/>
              </a:ext>
            </a:extLst>
          </p:cNvPr>
          <p:cNvSpPr txBox="1"/>
          <p:nvPr/>
        </p:nvSpPr>
        <p:spPr>
          <a:xfrm>
            <a:off x="179634" y="0"/>
            <a:ext cx="8916366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srgbClr val="008000"/>
                </a:solidFill>
                <a:latin typeface="Trebuchet MS"/>
              </a:rPr>
              <a:t>// --- В</a:t>
            </a:r>
            <a:r>
              <a:rPr lang="en-US" sz="2000">
                <a:solidFill>
                  <a:srgbClr val="008000"/>
                </a:solidFill>
                <a:latin typeface="Trebuchet MS"/>
              </a:rPr>
              <a:t>oat.cpp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0000FF"/>
                </a:solidFill>
                <a:latin typeface="Trebuchet MS"/>
              </a:rPr>
              <a:t>#include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</a:t>
            </a:r>
            <a:r>
              <a:rPr lang="en-US" sz="2000">
                <a:solidFill>
                  <a:srgbClr val="A31515"/>
                </a:solidFill>
                <a:latin typeface="Trebuchet MS"/>
              </a:rPr>
              <a:t>"stdafx.h"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0000FF"/>
                </a:solidFill>
                <a:latin typeface="Trebuchet MS"/>
              </a:rPr>
              <a:t>#include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</a:t>
            </a:r>
            <a:r>
              <a:rPr lang="en-US" sz="2000">
                <a:solidFill>
                  <a:srgbClr val="A31515"/>
                </a:solidFill>
                <a:latin typeface="Trebuchet MS"/>
              </a:rPr>
              <a:t>"Boat.h"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0000FF"/>
                </a:solidFill>
                <a:latin typeface="Trebuchet MS"/>
              </a:rPr>
              <a:t>namespace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boatfnc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prstClr val="black"/>
                </a:solidFill>
                <a:latin typeface="Trebuchet MS"/>
              </a:rPr>
              <a:t>{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calcv(combi::xcombination s, 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const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v[])  </a:t>
            </a:r>
            <a:r>
              <a:rPr lang="en-US" sz="2000">
                <a:solidFill>
                  <a:srgbClr val="008000"/>
                </a:solidFill>
                <a:latin typeface="Trebuchet MS"/>
              </a:rPr>
              <a:t>// </a:t>
            </a:r>
            <a:r>
              <a:rPr lang="be-BY" sz="2000">
                <a:solidFill>
                  <a:srgbClr val="008000"/>
                </a:solidFill>
                <a:latin typeface="Trebuchet MS"/>
              </a:rPr>
              <a:t>вес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prstClr val="black"/>
                </a:solidFill>
                <a:latin typeface="Trebuchet MS"/>
              </a:rPr>
              <a:t>{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black"/>
                </a:solidFill>
                <a:latin typeface="Trebuchet MS"/>
              </a:rPr>
              <a:t> 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rc = 0;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nn-NO" sz="2000">
                <a:solidFill>
                  <a:prstClr val="black"/>
                </a:solidFill>
                <a:latin typeface="Trebuchet MS"/>
              </a:rPr>
              <a:t>  </a:t>
            </a:r>
            <a:r>
              <a:rPr lang="nn-NO" sz="2000">
                <a:solidFill>
                  <a:srgbClr val="0000FF"/>
                </a:solidFill>
                <a:latin typeface="Trebuchet MS"/>
              </a:rPr>
              <a:t>for</a:t>
            </a:r>
            <a:r>
              <a:rPr lang="nn-NO" sz="2000">
                <a:solidFill>
                  <a:prstClr val="black"/>
                </a:solidFill>
                <a:latin typeface="Trebuchet MS"/>
              </a:rPr>
              <a:t> (</a:t>
            </a:r>
            <a:r>
              <a:rPr lang="nn-NO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nn-NO" sz="2000">
                <a:solidFill>
                  <a:prstClr val="black"/>
                </a:solidFill>
                <a:latin typeface="Trebuchet MS"/>
              </a:rPr>
              <a:t> i = 0; i &lt; s.m; i++) rc += v[s.ntx(i)];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black"/>
                </a:solidFill>
                <a:latin typeface="Trebuchet MS"/>
              </a:rPr>
              <a:t> 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return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rc;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prstClr val="black"/>
                </a:solidFill>
                <a:latin typeface="Trebuchet MS"/>
              </a:rPr>
              <a:t>};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calcc(combi::xcombination s,  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const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c[]) </a:t>
            </a:r>
            <a:r>
              <a:rPr lang="en-US" sz="2000">
                <a:solidFill>
                  <a:srgbClr val="008000"/>
                </a:solidFill>
                <a:latin typeface="Trebuchet MS"/>
              </a:rPr>
              <a:t>// </a:t>
            </a:r>
            <a:r>
              <a:rPr lang="be-BY" sz="2000">
                <a:solidFill>
                  <a:srgbClr val="008000"/>
                </a:solidFill>
                <a:latin typeface="Trebuchet MS"/>
              </a:rPr>
              <a:t>доход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prstClr val="black"/>
                </a:solidFill>
                <a:latin typeface="Trebuchet MS"/>
              </a:rPr>
              <a:t>{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black"/>
                </a:solidFill>
                <a:latin typeface="Trebuchet MS"/>
              </a:rPr>
              <a:t> 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rc = 0;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nn-NO" sz="2000">
                <a:solidFill>
                  <a:prstClr val="black"/>
                </a:solidFill>
                <a:latin typeface="Trebuchet MS"/>
              </a:rPr>
              <a:t>  </a:t>
            </a:r>
            <a:r>
              <a:rPr lang="nn-NO" sz="2000">
                <a:solidFill>
                  <a:srgbClr val="0000FF"/>
                </a:solidFill>
                <a:latin typeface="Trebuchet MS"/>
              </a:rPr>
              <a:t>for</a:t>
            </a:r>
            <a:r>
              <a:rPr lang="nn-NO" sz="2000">
                <a:solidFill>
                  <a:prstClr val="black"/>
                </a:solidFill>
                <a:latin typeface="Trebuchet MS"/>
              </a:rPr>
              <a:t> (</a:t>
            </a:r>
            <a:r>
              <a:rPr lang="nn-NO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nn-NO" sz="2000">
                <a:solidFill>
                  <a:prstClr val="black"/>
                </a:solidFill>
                <a:latin typeface="Trebuchet MS"/>
              </a:rPr>
              <a:t> i = 0; i &lt; s.m; i++) rc += c[s.ntx(i)];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black"/>
                </a:solidFill>
                <a:latin typeface="Trebuchet MS"/>
              </a:rPr>
              <a:t> 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return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rc;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prstClr val="black"/>
                </a:solidFill>
                <a:latin typeface="Trebuchet MS"/>
              </a:rPr>
              <a:t>};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0000FF"/>
                </a:solidFill>
                <a:latin typeface="Trebuchet MS"/>
              </a:rPr>
              <a:t>void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  copycomb(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short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m,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short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*r1,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const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short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*r2) </a:t>
            </a:r>
            <a:r>
              <a:rPr lang="en-US" sz="2000">
                <a:solidFill>
                  <a:srgbClr val="008000"/>
                </a:solidFill>
                <a:latin typeface="Trebuchet MS"/>
              </a:rPr>
              <a:t>// копировать  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prstClr val="black"/>
                </a:solidFill>
                <a:latin typeface="Trebuchet MS"/>
              </a:rPr>
              <a:t>{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nn-NO" sz="2000">
                <a:solidFill>
                  <a:srgbClr val="0000FF"/>
                </a:solidFill>
                <a:latin typeface="Trebuchet MS"/>
              </a:rPr>
              <a:t>for</a:t>
            </a:r>
            <a:r>
              <a:rPr lang="nn-NO" sz="2000">
                <a:solidFill>
                  <a:prstClr val="black"/>
                </a:solidFill>
                <a:latin typeface="Trebuchet MS"/>
              </a:rPr>
              <a:t> (</a:t>
            </a:r>
            <a:r>
              <a:rPr lang="nn-NO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nn-NO" sz="2000">
                <a:solidFill>
                  <a:prstClr val="black"/>
                </a:solidFill>
                <a:latin typeface="Trebuchet MS"/>
              </a:rPr>
              <a:t> i = 0; i &lt;  m; i++)  r1[i] = r2[i];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prstClr val="black"/>
                </a:solidFill>
                <a:latin typeface="Trebuchet MS"/>
              </a:rPr>
              <a:t>};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prstClr val="black"/>
                </a:solidFill>
                <a:latin typeface="Trebuchet MS"/>
              </a:rPr>
              <a:t>}</a:t>
            </a:r>
            <a:endParaRPr lang="be-BY" sz="2000" dirty="0">
              <a:solidFill>
                <a:prstClr val="black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372319979"/>
      </p:ext>
    </p:extLst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4C4E56-DFB0-4623-9137-013A81F72204}"/>
              </a:ext>
            </a:extLst>
          </p:cNvPr>
          <p:cNvSpPr txBox="1"/>
          <p:nvPr/>
        </p:nvSpPr>
        <p:spPr>
          <a:xfrm>
            <a:off x="0" y="188730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 boat(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000">
                <a:solidFill>
                  <a:prstClr val="black"/>
                </a:solidFill>
                <a:latin typeface="Trebuchet MS"/>
              </a:rPr>
              <a:t>           </a:t>
            </a:r>
            <a:r>
              <a:rPr lang="ru-RU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ru-RU" sz="2000">
                <a:solidFill>
                  <a:prstClr val="black"/>
                </a:solidFill>
                <a:latin typeface="Trebuchet MS"/>
              </a:rPr>
              <a:t> V,         </a:t>
            </a:r>
            <a:r>
              <a:rPr lang="ru-RU" sz="2000">
                <a:solidFill>
                  <a:srgbClr val="008000"/>
                </a:solidFill>
                <a:latin typeface="Trebuchet MS"/>
              </a:rPr>
              <a:t>// [in]  максимальный вес груза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000">
                <a:solidFill>
                  <a:prstClr val="black"/>
                </a:solidFill>
                <a:latin typeface="Trebuchet MS"/>
              </a:rPr>
              <a:t>           </a:t>
            </a:r>
            <a:r>
              <a:rPr lang="ru-RU" sz="2000">
                <a:solidFill>
                  <a:srgbClr val="0000FF"/>
                </a:solidFill>
                <a:latin typeface="Trebuchet MS"/>
              </a:rPr>
              <a:t>short</a:t>
            </a:r>
            <a:r>
              <a:rPr lang="ru-RU" sz="2000">
                <a:solidFill>
                  <a:prstClr val="black"/>
                </a:solidFill>
                <a:latin typeface="Trebuchet MS"/>
              </a:rPr>
              <a:t> m,       </a:t>
            </a:r>
            <a:r>
              <a:rPr lang="ru-RU" sz="2000">
                <a:solidFill>
                  <a:srgbClr val="008000"/>
                </a:solidFill>
                <a:latin typeface="Trebuchet MS"/>
              </a:rPr>
              <a:t>// [in]  количество мест для контейнеров   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000">
                <a:solidFill>
                  <a:prstClr val="black"/>
                </a:solidFill>
                <a:latin typeface="Trebuchet MS"/>
              </a:rPr>
              <a:t>	       </a:t>
            </a:r>
            <a:r>
              <a:rPr lang="ru-RU" sz="2000">
                <a:solidFill>
                  <a:srgbClr val="0000FF"/>
                </a:solidFill>
                <a:latin typeface="Trebuchet MS"/>
              </a:rPr>
              <a:t>short</a:t>
            </a:r>
            <a:r>
              <a:rPr lang="ru-RU" sz="2000">
                <a:solidFill>
                  <a:prstClr val="black"/>
                </a:solidFill>
                <a:latin typeface="Trebuchet MS"/>
              </a:rPr>
              <a:t> n,       </a:t>
            </a:r>
            <a:r>
              <a:rPr lang="ru-RU" sz="2000">
                <a:solidFill>
                  <a:srgbClr val="008000"/>
                </a:solidFill>
                <a:latin typeface="Trebuchet MS"/>
              </a:rPr>
              <a:t>// [in]  всего контейнеров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000">
                <a:solidFill>
                  <a:prstClr val="black"/>
                </a:solidFill>
                <a:latin typeface="Trebuchet MS"/>
              </a:rPr>
              <a:t>           </a:t>
            </a:r>
            <a:r>
              <a:rPr lang="ru-RU" sz="2000">
                <a:solidFill>
                  <a:srgbClr val="0000FF"/>
                </a:solidFill>
                <a:latin typeface="Trebuchet MS"/>
              </a:rPr>
              <a:t>const</a:t>
            </a:r>
            <a:r>
              <a:rPr lang="ru-RU" sz="2000">
                <a:solidFill>
                  <a:prstClr val="black"/>
                </a:solidFill>
                <a:latin typeface="Trebuchet MS"/>
              </a:rPr>
              <a:t> </a:t>
            </a:r>
            <a:r>
              <a:rPr lang="ru-RU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ru-RU" sz="2000">
                <a:solidFill>
                  <a:prstClr val="black"/>
                </a:solidFill>
                <a:latin typeface="Trebuchet MS"/>
              </a:rPr>
              <a:t> v[], </a:t>
            </a:r>
            <a:r>
              <a:rPr lang="ru-RU" sz="2000">
                <a:solidFill>
                  <a:srgbClr val="008000"/>
                </a:solidFill>
                <a:latin typeface="Trebuchet MS"/>
              </a:rPr>
              <a:t>// [in]  вес каждого контейнера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000">
                <a:solidFill>
                  <a:prstClr val="black"/>
                </a:solidFill>
                <a:latin typeface="Trebuchet MS"/>
              </a:rPr>
              <a:t>           </a:t>
            </a:r>
            <a:r>
              <a:rPr lang="ru-RU" sz="2000">
                <a:solidFill>
                  <a:srgbClr val="0000FF"/>
                </a:solidFill>
                <a:latin typeface="Trebuchet MS"/>
              </a:rPr>
              <a:t>const</a:t>
            </a:r>
            <a:r>
              <a:rPr lang="ru-RU" sz="2000">
                <a:solidFill>
                  <a:prstClr val="black"/>
                </a:solidFill>
                <a:latin typeface="Trebuchet MS"/>
              </a:rPr>
              <a:t> </a:t>
            </a:r>
            <a:r>
              <a:rPr lang="ru-RU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ru-RU" sz="2000">
                <a:solidFill>
                  <a:prstClr val="black"/>
                </a:solidFill>
                <a:latin typeface="Trebuchet MS"/>
              </a:rPr>
              <a:t> c[], </a:t>
            </a:r>
            <a:r>
              <a:rPr lang="ru-RU" sz="2000">
                <a:solidFill>
                  <a:srgbClr val="008000"/>
                </a:solidFill>
                <a:latin typeface="Trebuchet MS"/>
              </a:rPr>
              <a:t>// [in]  доход от перевозки каждого контейнера   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ru-RU" sz="2000">
                <a:solidFill>
                  <a:prstClr val="black"/>
                </a:solidFill>
                <a:latin typeface="Trebuchet MS"/>
              </a:rPr>
              <a:t>           </a:t>
            </a:r>
            <a:r>
              <a:rPr lang="ru-RU" sz="2000">
                <a:solidFill>
                  <a:srgbClr val="0000FF"/>
                </a:solidFill>
                <a:latin typeface="Trebuchet MS"/>
              </a:rPr>
              <a:t>short</a:t>
            </a:r>
            <a:r>
              <a:rPr lang="ru-RU" sz="2000">
                <a:solidFill>
                  <a:prstClr val="black"/>
                </a:solidFill>
                <a:latin typeface="Trebuchet MS"/>
              </a:rPr>
              <a:t> r[]      </a:t>
            </a:r>
            <a:r>
              <a:rPr lang="ru-RU" sz="2000">
                <a:solidFill>
                  <a:srgbClr val="008000"/>
                </a:solidFill>
                <a:latin typeface="Trebuchet MS"/>
              </a:rPr>
              <a:t>// [out] результат: индексы выбранных контейнеров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prstClr val="black"/>
                </a:solidFill>
                <a:latin typeface="Trebuchet MS"/>
              </a:rPr>
              <a:t>          )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prstClr val="black"/>
                </a:solidFill>
                <a:latin typeface="Trebuchet MS"/>
              </a:rPr>
              <a:t>{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black"/>
                </a:solidFill>
                <a:latin typeface="Trebuchet MS"/>
              </a:rPr>
              <a:t>  combi::xcombination xc(n, m);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black"/>
                </a:solidFill>
                <a:latin typeface="Trebuchet MS"/>
              </a:rPr>
              <a:t> 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int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rc = 0, i = xc.getfirst(), cc = 0; 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black"/>
                </a:solidFill>
                <a:latin typeface="Trebuchet MS"/>
              </a:rPr>
              <a:t> 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while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(i &gt; 0)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prstClr val="black"/>
                </a:solidFill>
                <a:latin typeface="Trebuchet MS"/>
              </a:rPr>
              <a:t>  {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0000FF"/>
                </a:solidFill>
                <a:latin typeface="Trebuchet MS"/>
              </a:rPr>
              <a:t>if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(boatfnc::calcv(xc,v)&lt;= V)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0000FF"/>
                </a:solidFill>
                <a:latin typeface="Trebuchet MS"/>
              </a:rPr>
              <a:t>if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((cc = boatfnc::calcc(xc,c)) &gt; rc)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black"/>
                </a:solidFill>
                <a:latin typeface="Trebuchet MS"/>
              </a:rPr>
              <a:t>                {rc = cc; boatfnc::copycomb(m, r, xc.sset);}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black"/>
                </a:solidFill>
                <a:latin typeface="Trebuchet MS"/>
              </a:rPr>
              <a:t>i = xc.getnext();              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prstClr val="black"/>
                </a:solidFill>
                <a:latin typeface="Trebuchet MS"/>
              </a:rPr>
              <a:t>  };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black"/>
                </a:solidFill>
                <a:latin typeface="Trebuchet MS"/>
              </a:rPr>
              <a:t>  </a:t>
            </a:r>
            <a:r>
              <a:rPr lang="en-US" sz="2000">
                <a:solidFill>
                  <a:srgbClr val="0000FF"/>
                </a:solidFill>
                <a:latin typeface="Trebuchet MS"/>
              </a:rPr>
              <a:t>return</a:t>
            </a:r>
            <a:r>
              <a:rPr lang="en-US" sz="2000">
                <a:solidFill>
                  <a:prstClr val="black"/>
                </a:solidFill>
                <a:latin typeface="Trebuchet MS"/>
              </a:rPr>
              <a:t> rc;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be-BY" sz="2000">
                <a:solidFill>
                  <a:prstClr val="black"/>
                </a:solidFill>
                <a:latin typeface="Trebuchet MS"/>
              </a:rPr>
              <a:t>};</a:t>
            </a:r>
            <a:endParaRPr lang="be-BY" sz="2000" dirty="0">
              <a:solidFill>
                <a:prstClr val="black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77045379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840</Words>
  <Application>Microsoft Office PowerPoint</Application>
  <PresentationFormat>Экран (4:3)</PresentationFormat>
  <Paragraphs>120</Paragraphs>
  <Slides>58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Bahnschrift Light SemiCondensed</vt:lpstr>
      <vt:lpstr>Calibri</vt:lpstr>
      <vt:lpstr>Calibri Light</vt:lpstr>
      <vt:lpstr>Century</vt:lpstr>
      <vt:lpstr>等线</vt:lpstr>
      <vt:lpstr>等线 Light</vt:lpstr>
      <vt:lpstr>Symbol</vt:lpstr>
      <vt:lpstr>Trebuchet MS</vt:lpstr>
      <vt:lpstr>Тема Office</vt:lpstr>
      <vt:lpstr>Математическое программирование</vt:lpstr>
      <vt:lpstr>Литература </vt:lpstr>
      <vt:lpstr>О математическом программировании</vt:lpstr>
      <vt:lpstr>Общая формулировка задачи математического программирования</vt:lpstr>
      <vt:lpstr>Общая формулировка задачи математического программирования</vt:lpstr>
      <vt:lpstr>Общая формулировка задачи математического программирования</vt:lpstr>
      <vt:lpstr>Принципы классификации задач математического программирования</vt:lpstr>
      <vt:lpstr>Примеры задач математического программирования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МАТЕМАТИЧЕСКОЕ ПРОГРАММИРОВАНИЕ</dc:title>
  <dc:creator>Brakovich</dc:creator>
  <cp:lastModifiedBy>User</cp:lastModifiedBy>
  <cp:revision>114</cp:revision>
  <dcterms:created xsi:type="dcterms:W3CDTF">2010-12-02T13:55:00Z</dcterms:created>
  <dcterms:modified xsi:type="dcterms:W3CDTF">2026-02-11T12:02:58Z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2C9A245EF3D94458A701954A3FBA8D82</vt:lpwstr>
  </property>
  <property fmtid="{D5CDD505-2E9C-101B-9397-08002B2CF9AE}" pid="3" name="KSOProductBuildVer">
    <vt:lpwstr>1049-11.2.0.11440</vt:lpwstr>
  </property>
</Properties>
</file>