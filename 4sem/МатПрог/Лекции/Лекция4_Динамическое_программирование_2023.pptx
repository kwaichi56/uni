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8"/>
  </p:notesMasterIdLst>
  <p:sldIdLst>
    <p:sldId id="332" r:id="rId2"/>
    <p:sldId id="281" r:id="rId3"/>
    <p:sldId id="280" r:id="rId4"/>
    <p:sldId id="300" r:id="rId5"/>
    <p:sldId id="333" r:id="rId6"/>
    <p:sldId id="301" r:id="rId7"/>
    <p:sldId id="302" r:id="rId8"/>
    <p:sldId id="334" r:id="rId9"/>
    <p:sldId id="303" r:id="rId10"/>
    <p:sldId id="285" r:id="rId11"/>
    <p:sldId id="304" r:id="rId12"/>
    <p:sldId id="305" r:id="rId13"/>
    <p:sldId id="288" r:id="rId14"/>
    <p:sldId id="289" r:id="rId15"/>
    <p:sldId id="290" r:id="rId16"/>
    <p:sldId id="256" r:id="rId17"/>
    <p:sldId id="291" r:id="rId18"/>
    <p:sldId id="257" r:id="rId19"/>
    <p:sldId id="292" r:id="rId20"/>
    <p:sldId id="293" r:id="rId21"/>
    <p:sldId id="296" r:id="rId22"/>
    <p:sldId id="258" r:id="rId23"/>
    <p:sldId id="259" r:id="rId24"/>
    <p:sldId id="294" r:id="rId25"/>
    <p:sldId id="299" r:id="rId26"/>
    <p:sldId id="335" r:id="rId27"/>
    <p:sldId id="260" r:id="rId28"/>
    <p:sldId id="298" r:id="rId29"/>
    <p:sldId id="297" r:id="rId30"/>
    <p:sldId id="336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7" r:id="rId40"/>
    <p:sldId id="339" r:id="rId41"/>
    <p:sldId id="318" r:id="rId42"/>
    <p:sldId id="319" r:id="rId43"/>
    <p:sldId id="320" r:id="rId44"/>
    <p:sldId id="321" r:id="rId45"/>
    <p:sldId id="323" r:id="rId46"/>
    <p:sldId id="324" r:id="rId47"/>
    <p:sldId id="325" r:id="rId48"/>
    <p:sldId id="337" r:id="rId49"/>
    <p:sldId id="338" r:id="rId50"/>
    <p:sldId id="326" r:id="rId51"/>
    <p:sldId id="327" r:id="rId52"/>
    <p:sldId id="328" r:id="rId53"/>
    <p:sldId id="329" r:id="rId54"/>
    <p:sldId id="330" r:id="rId55"/>
    <p:sldId id="331" r:id="rId56"/>
    <p:sldId id="346" r:id="rId57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7" autoAdjust="0"/>
    <p:restoredTop sz="96395" autoAdjust="0"/>
  </p:normalViewPr>
  <p:slideViewPr>
    <p:cSldViewPr>
      <p:cViewPr varScale="1">
        <p:scale>
          <a:sx n="111" d="100"/>
          <a:sy n="111" d="100"/>
        </p:scale>
        <p:origin x="47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169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FF73B-0582-48FE-BE4B-AFE2BEE79A90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F8B95-13B7-4759-97DE-247DC1C500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4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F8B95-13B7-4759-97DE-247DC1C500B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09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70920241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2347769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38823358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9354545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4704602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7934540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10179752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99628011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26713105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363407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4400574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t>06.03.26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67273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7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6.png"/><Relationship Id="rId4" Type="http://schemas.openxmlformats.org/officeDocument/2006/relationships/image" Target="../media/image45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7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7281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Динамическое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2891218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1415480" y="1556792"/>
            <a:ext cx="9505056" cy="347472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2800" dirty="0">
                <a:solidFill>
                  <a:srgbClr val="7030A0"/>
                </a:solidFill>
              </a:rPr>
              <a:t>Цель: </a:t>
            </a:r>
            <a:r>
              <a:rPr lang="ru-RU" sz="2800" dirty="0">
                <a:solidFill>
                  <a:schemeClr val="tx1"/>
                </a:solidFill>
              </a:rPr>
              <a:t>освоение навыков решения оптимизационных задач с использованием динамического программирования</a:t>
            </a:r>
          </a:p>
          <a:p>
            <a:pPr marL="4572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800" dirty="0">
                <a:solidFill>
                  <a:srgbClr val="7030A0"/>
                </a:solidFill>
              </a:rPr>
              <a:t>Задачи: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изучение теоретических основ динамического программирования;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освоить практическое применение динамического программирования для решения оптимизационных задач.</a:t>
            </a:r>
          </a:p>
          <a:p>
            <a:pPr marL="45720" indent="0">
              <a:buNone/>
            </a:pPr>
            <a:endParaRPr lang="be-BY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198011" y="332657"/>
            <a:ext cx="75360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7030A0"/>
                </a:solidFill>
              </a:rPr>
              <a:t>Динамическое программирование</a:t>
            </a:r>
            <a:endParaRPr lang="be-BY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3641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5640" y="188640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7030A0"/>
                </a:solidFill>
              </a:rPr>
              <a:t>План лекции</a:t>
            </a:r>
            <a:endParaRPr lang="be-BY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1504" y="1556792"/>
            <a:ext cx="9793088" cy="3474720"/>
          </a:xfrm>
        </p:spPr>
        <p:txBody>
          <a:bodyPr>
            <a:no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Теоретические основы динамического программирования 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Теоретические основы рекурсивных алгоритмов;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Решение задачи о рюкзаке;</a:t>
            </a:r>
            <a:endParaRPr lang="en-US" sz="28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r>
              <a:rPr lang="ru-RU" dirty="0"/>
              <a:t>Задача о вычислении дистанции Левенштейна;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/>
              <a:t>Решение задачи о расстановке скобок при перемножении матриц;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/>
              <a:t>Решение задачи вычисления длины наибольшей общей подпоследовательности</a:t>
            </a:r>
            <a:r>
              <a:rPr lang="en-US" dirty="0"/>
              <a:t>;</a:t>
            </a:r>
          </a:p>
          <a:p>
            <a:pPr marL="4572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endParaRPr lang="ru-RU" sz="28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endParaRPr lang="ru-RU" sz="28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2336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87488" y="332656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  <p:pic>
        <p:nvPicPr>
          <p:cNvPr id="53250" name="Picture 2" descr="Растущие столбчатые диаграммы и долевая диограмма Иллюстрация штока -  иллюстрации насчитывающей oð±ð»ðµñ‡ðµð½ð¸ðµ, ð¸ð½ñ‚ðµñ€ð½ðµñ‚: 374585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588" y="884332"/>
            <a:ext cx="6384032" cy="574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14193" y="2199921"/>
            <a:ext cx="57606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8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Динамическое программирование </a:t>
            </a:r>
            <a:r>
              <a:rPr lang="ru-RU" sz="28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используется при оптимальном планировании управляемых процессов и наиболее эффективно в случае многошаговых или многоэтапных процессов принятия решений. </a:t>
            </a:r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23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43472" y="260648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9356" y="864304"/>
            <a:ext cx="115212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Анализируется некоторая управляемая система, в которой происходят экономические, производственные, технологические или иные многошаговые или многоэтапные процессы. Для каждого из допустимых управлений задается показатель эффективности управления (целевая функция). В экономических системах показатель эффективности может представлять прибыль, затраты, рентабельность, объем производства и т.п. </a:t>
            </a:r>
            <a:endParaRPr lang="en-US" sz="2400" dirty="0">
              <a:solidFill>
                <a:srgbClr val="000000"/>
              </a:solidFill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ДП 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состоит в поиске оптимального управления, переводящего систему из начального состояния в конечное, и обеспечивающего экстремум целевой функции. 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274" name="Picture 2" descr="Что такое бизнес-система и для чего она нужна?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2" b="29974"/>
          <a:stretch/>
        </p:blipFill>
        <p:spPr bwMode="auto">
          <a:xfrm>
            <a:off x="24735" y="4437112"/>
            <a:ext cx="12192000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81486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7368" y="826920"/>
            <a:ext cx="112332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Динамическое программирование  позволяет свести глобальную оптимизацию аддитивной или мультипликативной целевой функции к поэтапной оптимизации промежуточных целевых функций. 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Аддитивная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ЦФ может быть представлена в виде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913126"/>
              </p:ext>
            </p:extLst>
          </p:nvPr>
        </p:nvGraphicFramePr>
        <p:xfrm>
          <a:off x="3431705" y="2542046"/>
          <a:ext cx="4430579" cy="1025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" name="Уравнение" r:id="rId3" imgW="1879600" imgH="444500" progId="Equation.3">
                  <p:embed/>
                </p:oleObj>
              </mc:Choice>
              <mc:Fallback>
                <p:oleObj name="Уравнение" r:id="rId3" imgW="18796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5" y="2542046"/>
                        <a:ext cx="4430579" cy="1025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07368" y="3695041"/>
            <a:ext cx="112332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где слагаемые соответствуют эффектам решений, принимаемых на отдельных этапах управляемого процесса. 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endParaRPr lang="ru-RU" sz="2400" b="1" i="1" dirty="0">
              <a:solidFill>
                <a:srgbClr val="000000"/>
              </a:solidFill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Мультипликативная</a:t>
            </a:r>
            <a:r>
              <a:rPr lang="ru-RU" sz="2400" b="1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функция представляет произведение “одношаговых” функций: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48880" y="5467871"/>
            <a:ext cx="13952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760810"/>
              </p:ext>
            </p:extLst>
          </p:nvPr>
        </p:nvGraphicFramePr>
        <p:xfrm>
          <a:off x="3448880" y="5629678"/>
          <a:ext cx="4047334" cy="1039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8" name="Уравнение" r:id="rId5" imgW="1778000" imgH="457200" progId="Equation.3">
                  <p:embed/>
                </p:oleObj>
              </mc:Choice>
              <mc:Fallback>
                <p:oleObj name="Уравнение" r:id="rId5" imgW="17780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880" y="5629678"/>
                        <a:ext cx="4047334" cy="1039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1487488" y="80338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7044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48880" y="5467871"/>
            <a:ext cx="13952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67796" y="1480031"/>
            <a:ext cx="66247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 преимуществам метода динамического программирования  по сравнению с “классическими” методами оптимизации относятся более высокая скорость расчетов и широкая область применимости. В частности, для него некритично требование линейности и дифференцируемости функций </a:t>
            </a:r>
            <a:r>
              <a:rPr lang="en-US" sz="2400" b="1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baseline="-250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 err="1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функция выигрыша может быть задана не в аналитическом, а в табличном виде.</a:t>
            </a:r>
            <a:r>
              <a:rPr lang="en-US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Другими словами, метод применим и при решении задач нелинейного и дискретного программирования.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-168696" y="187765"/>
            <a:ext cx="78488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2992" t="397" r="26147" b="-397"/>
          <a:stretch/>
        </p:blipFill>
        <p:spPr>
          <a:xfrm>
            <a:off x="7320136" y="-1"/>
            <a:ext cx="5256584" cy="689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5017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1384" y="1484784"/>
            <a:ext cx="64087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8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Классическим примером задачи ДП является планирование промышленного объединения, состоящего из </a:t>
            </a:r>
            <a:r>
              <a:rPr lang="en-US" sz="28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8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предприятий на период </a:t>
            </a:r>
            <a:r>
              <a:rPr lang="en-US" sz="28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лет. Выделяемые в начале каждого года средства должны быть распределены между предприятиями таким образом, чтобы суммарный доход за весь период планирования был максимальным. </a:t>
            </a:r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99456" y="72751"/>
            <a:ext cx="51125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52751"/>
          <a:stretch/>
        </p:blipFill>
        <p:spPr>
          <a:xfrm>
            <a:off x="7328420" y="1"/>
            <a:ext cx="48635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7473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48880" y="5467871"/>
            <a:ext cx="13952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919536" y="944699"/>
            <a:ext cx="84969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Общий доход </a:t>
            </a: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равен сумме доходов на отдельных шагах (годах)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11824" y="1463984"/>
            <a:ext cx="17839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092565"/>
              </p:ext>
            </p:extLst>
          </p:nvPr>
        </p:nvGraphicFramePr>
        <p:xfrm>
          <a:off x="4583832" y="1634098"/>
          <a:ext cx="1728192" cy="1170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3" name="Уравнение" r:id="rId3" imgW="672808" imgH="457002" progId="Equation.3">
                  <p:embed/>
                </p:oleObj>
              </mc:Choice>
              <mc:Fallback>
                <p:oleObj name="Уравнение" r:id="rId3" imgW="672808" imgH="45700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1634098"/>
                        <a:ext cx="1728192" cy="11707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919536" y="2899299"/>
            <a:ext cx="8640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Шаговое управление </a:t>
            </a: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заключается в выделении в начале года </a:t>
            </a: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предприятиям средств </a:t>
            </a: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i2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(первый индекс – номер шага (года), второй – номер предприятия), т.е. представляет вектор с </a:t>
            </a: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составляющими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098513"/>
              </p:ext>
            </p:extLst>
          </p:nvPr>
        </p:nvGraphicFramePr>
        <p:xfrm>
          <a:off x="4378515" y="4517427"/>
          <a:ext cx="3109855" cy="60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4" name="Уравнение" r:id="rId5" imgW="1282700" imgH="241300" progId="Equation.3">
                  <p:embed/>
                </p:oleObj>
              </mc:Choice>
              <mc:Fallback>
                <p:oleObj name="Уравнение" r:id="rId5" imgW="12827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515" y="4517427"/>
                        <a:ext cx="3109855" cy="606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1919805" y="5229826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сводится к поиску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такого распределения средств по предприятиям и годам (оптимального управления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чтобы получаемая суммарная прибыль была максимальна.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403694" y="118342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68620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1"/>
          <a:stretch/>
        </p:blipFill>
        <p:spPr bwMode="auto">
          <a:xfrm>
            <a:off x="-77201" y="-1"/>
            <a:ext cx="5165089" cy="6901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Прямоугольник 3"/>
          <p:cNvSpPr>
            <a:spLocks noChangeArrowheads="1"/>
          </p:cNvSpPr>
          <p:nvPr/>
        </p:nvSpPr>
        <p:spPr bwMode="auto">
          <a:xfrm>
            <a:off x="5735960" y="1124744"/>
            <a:ext cx="597666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7030A0"/>
                </a:solidFill>
                <a:latin typeface="+mn-lt"/>
              </a:rPr>
              <a:t>Ричард Эрнст Беллман</a:t>
            </a:r>
            <a:r>
              <a:rPr lang="ru-RU" altLang="ru-RU" sz="3600" dirty="0">
                <a:solidFill>
                  <a:srgbClr val="222222"/>
                </a:solidFill>
                <a:latin typeface="+mn-lt"/>
              </a:rPr>
              <a:t> (</a:t>
            </a:r>
            <a:r>
              <a:rPr lang="ru-RU" altLang="ru-RU" sz="3600" i="1" dirty="0" err="1">
                <a:solidFill>
                  <a:srgbClr val="222222"/>
                </a:solidFill>
                <a:latin typeface="+mn-lt"/>
              </a:rPr>
              <a:t>Richard</a:t>
            </a:r>
            <a:r>
              <a:rPr lang="ru-RU" altLang="ru-RU" sz="3600" i="1" dirty="0">
                <a:solidFill>
                  <a:srgbClr val="222222"/>
                </a:solidFill>
                <a:latin typeface="+mn-lt"/>
              </a:rPr>
              <a:t> </a:t>
            </a:r>
            <a:r>
              <a:rPr lang="ru-RU" altLang="ru-RU" sz="3600" i="1" dirty="0" err="1">
                <a:solidFill>
                  <a:srgbClr val="222222"/>
                </a:solidFill>
                <a:latin typeface="+mn-lt"/>
              </a:rPr>
              <a:t>Ernest</a:t>
            </a:r>
            <a:r>
              <a:rPr lang="ru-RU" altLang="ru-RU" sz="3600" i="1" dirty="0">
                <a:solidFill>
                  <a:srgbClr val="222222"/>
                </a:solidFill>
                <a:latin typeface="+mn-lt"/>
              </a:rPr>
              <a:t> </a:t>
            </a:r>
            <a:r>
              <a:rPr lang="ru-RU" altLang="ru-RU" sz="3600" i="1" dirty="0" err="1">
                <a:solidFill>
                  <a:srgbClr val="222222"/>
                </a:solidFill>
                <a:latin typeface="+mn-lt"/>
              </a:rPr>
              <a:t>Bellman</a:t>
            </a:r>
            <a:r>
              <a:rPr lang="ru-RU" altLang="ru-RU" sz="3600" dirty="0">
                <a:solidFill>
                  <a:srgbClr val="222222"/>
                </a:solidFill>
                <a:latin typeface="+mn-lt"/>
              </a:rPr>
              <a:t>; 1920—1984) — американский математик, один из ведущих специалистов в области математики и вычислительной техники</a:t>
            </a:r>
            <a:endParaRPr lang="ru-RU" alt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20599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48880" y="5467871"/>
            <a:ext cx="13952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11824" y="1463984"/>
            <a:ext cx="17839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306506" y="4748624"/>
            <a:ext cx="120893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9416" y="1052736"/>
            <a:ext cx="10729192" cy="497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ru-RU" sz="2400" b="1" cap="small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Принцип оптимальности Беллмана и алгоритм решения задач динамического программирования</a:t>
            </a: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Принципиально важно, что метод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динамического программирования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 сводится к простой оптимизации каждого шага управления независимо от других шагов. Выбор шагового управления проводится с учетом будущих последствий принимаемых решений. 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положение конкретизируется в принципе оптимальности Беллмана, составляющем основу метода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динамического программирования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Каково бы ни было состояние управляемой системы </a:t>
            </a:r>
            <a:r>
              <a:rPr lang="en-US" sz="2400" b="1" i="1" dirty="0">
                <a:solidFill>
                  <a:srgbClr val="7030A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400" dirty="0">
                <a:solidFill>
                  <a:srgbClr val="000000"/>
                </a:solidFill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перед очередным шагом, шаговое управление необходимо выбирать так, чтобы выигрыш на данном шаге плюс оптимальный выигрыш на всех последующих шагах был максимальным.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487488" y="80338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08802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31704" y="2529967"/>
            <a:ext cx="14568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48880" y="5467871"/>
            <a:ext cx="13952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11824" y="1463984"/>
            <a:ext cx="17839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306506" y="4748624"/>
            <a:ext cx="120893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710226" y="87367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ru-RU" sz="2400" b="1" cap="small" dirty="0">
                <a:solidFill>
                  <a:srgbClr val="7030A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Принцип оптимальности Беллмана и алгоритм решения задач динамического программирования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50914" y="2112838"/>
            <a:ext cx="113772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Так как среди всех шагов есть один, который можно планировать без учета его последствий (последний шаг </a:t>
            </a: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), то процесс </a:t>
            </a:r>
            <a:r>
              <a:rPr lang="ru-RU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динамического программирования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обычно проводится в направлении от конца к началу. </a:t>
            </a:r>
            <a:endParaRPr lang="ru-RU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Последний шаг планируется с учетом различных предположений о том, как закончился предпоследний (</a:t>
            </a: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)-й шаг, и для каждого из этих предположений находится условное оптимальное управление на </a:t>
            </a: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-м шаге.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Процесс продолжается, т.е. проводится оптимизация управления на предпоследнем (</a:t>
            </a: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)-м шаге с учетом всех возможных предположений об окончании (</a:t>
            </a:r>
            <a:r>
              <a:rPr lang="en-US" sz="2400" b="1" i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)-го шага и т.д. вплоть до первого шага.</a:t>
            </a:r>
            <a:endParaRPr lang="ru-RU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После определения условно оптимальных управлений на всех шагах определяется оптимальное управление для всего процесса. </a:t>
            </a:r>
            <a:endParaRPr lang="ru-RU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423022" y="208979"/>
            <a:ext cx="9433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ea typeface="Times New Roman" panose="02020603050405020304" pitchFamily="18" charset="0"/>
              </a:rPr>
              <a:t>Понятие о динамическом программировании</a:t>
            </a:r>
            <a:endParaRPr lang="ru-RU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5471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52400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0" name="Visio" r:id="rId3" imgW="9100109" imgH="6448349" progId="Visio.Drawing.6">
                  <p:embed/>
                </p:oleObj>
              </mc:Choice>
              <mc:Fallback>
                <p:oleObj name="Visio" r:id="rId3" imgW="9100109" imgH="6448349" progId="Visio.Drawing.6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676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611392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524001" y="3044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68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69" name="Rectangle 9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0" name="Rectangle 11"/>
          <p:cNvSpPr>
            <a:spLocks noChangeArrowheads="1"/>
          </p:cNvSpPr>
          <p:nvPr/>
        </p:nvSpPr>
        <p:spPr bwMode="auto">
          <a:xfrm>
            <a:off x="1524001" y="30252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1" name="Rectangle 13"/>
          <p:cNvSpPr>
            <a:spLocks noChangeArrowheads="1"/>
          </p:cNvSpPr>
          <p:nvPr/>
        </p:nvSpPr>
        <p:spPr bwMode="auto">
          <a:xfrm>
            <a:off x="1524001" y="3053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112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74" y="238336"/>
            <a:ext cx="8749452" cy="638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55986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87688" y="188641"/>
            <a:ext cx="5450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00B050"/>
                </a:solidFill>
              </a:rPr>
              <a:t>Рекурсивные алгоритмы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39416" y="1124744"/>
            <a:ext cx="103691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Многие оптимизационные алгоритмы основаны на принципе разбиения основной задачи на подзадачи, каждая из которых повторяет основную, но входные их данные таковы, что область допустимых решений становится меньше. </a:t>
            </a:r>
          </a:p>
          <a:p>
            <a:pPr algn="just"/>
            <a:r>
              <a:rPr lang="ru-RU" sz="2800" b="1" i="1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Рекурсивный алгоритм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– это алгоритм, решающий задачу путем сведения ее к решению одной или нескольких таких же задач, но в сокращенном их варианте.</a:t>
            </a:r>
            <a:endParaRPr lang="ru-RU" sz="2800" dirty="0">
              <a:latin typeface="Bahnschrift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425" y="5368822"/>
            <a:ext cx="102671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Неразрывно с понятием рекурсивного алгоритма связано понятие </a:t>
            </a:r>
            <a:r>
              <a:rPr lang="ru-RU" sz="2800" b="1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рекурсивной функции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180212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87688" y="188641"/>
            <a:ext cx="5450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00B050"/>
                </a:solidFill>
              </a:rPr>
              <a:t>Рекурсивные алгоритмы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95400" y="1340768"/>
            <a:ext cx="1087320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Существует два определения понятия рекурсивной функции 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Первое определение рекурсивной функции относится к теории вычислимости и является синонимом понятия вычислимой функции, т. е. функции, для вычисления значения которой можно указать алгоритм.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Второе определение, которое и будет использоваться здесь, происходит из области теории программирования. </a:t>
            </a:r>
          </a:p>
          <a:p>
            <a:pPr indent="323850" algn="just"/>
            <a:endParaRPr lang="en-US" sz="2800" b="1" i="1" dirty="0">
              <a:solidFill>
                <a:srgbClr val="00B050"/>
              </a:solidFill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b="1" i="1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Рекурсивная функция</a:t>
            </a:r>
            <a:r>
              <a:rPr lang="ru-RU" sz="28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– это функция, которая вызывает саму себя. </a:t>
            </a:r>
          </a:p>
        </p:txBody>
      </p:sp>
    </p:spTree>
    <p:extLst>
      <p:ext uri="{BB962C8B-B14F-4D97-AF65-F5344CB8AC3E}">
        <p14:creationId xmlns:p14="http://schemas.microsoft.com/office/powerpoint/2010/main" val="411129454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48357" y="1412776"/>
            <a:ext cx="107291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Рекурсивный алгоритм может быть записан в виде рекурсивной функции. </a:t>
            </a:r>
          </a:p>
          <a:p>
            <a:pPr algn="just"/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Классическими примерами рекурсивных функций являются функции для вычисления факториала, чисел </a:t>
            </a:r>
            <a:r>
              <a:rPr lang="ru-RU" sz="28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Фибоначчи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наибольшего общего делителя с помощью алгоритма </a:t>
            </a:r>
            <a:r>
              <a:rPr lang="ru-RU" sz="28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Эвклида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  <a:p>
            <a:pPr algn="just"/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Рекурсивную функцию всегда можно преобразовать в цикл, и, наоборот любой цикл можно представить в виде рекурсивной функции. </a:t>
            </a:r>
            <a:endParaRPr lang="ru-RU" sz="2800" dirty="0">
              <a:latin typeface="Bahnschrift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87688" y="188641"/>
            <a:ext cx="5450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00B050"/>
                </a:solidFill>
              </a:rPr>
              <a:t>Рекурсивные 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398133146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847528" y="188640"/>
            <a:ext cx="8352928" cy="3960440"/>
          </a:xfrm>
          <a:prstGeom prst="rect">
            <a:avLst/>
          </a:prstGeom>
          <a:solidFill>
            <a:srgbClr val="F8F8F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//- Рекурсивные функции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//-- вычисление факториала числа 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ru-RU" sz="2000" b="1" dirty="0">
                <a:ea typeface="Calibri"/>
                <a:cs typeface="Times New Roman"/>
              </a:rPr>
              <a:t> </a:t>
            </a:r>
            <a:r>
              <a:rPr lang="en-US" sz="2000" b="1" dirty="0">
                <a:ea typeface="Calibri"/>
                <a:cs typeface="Times New Roman"/>
              </a:rPr>
              <a:t>unsigned int fact(unsigned int x) </a:t>
            </a:r>
            <a:endParaRPr lang="ru-RU" sz="2000" b="1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{ return (x == 0)?1:x*fact(x-1); };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 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//--</a:t>
            </a:r>
            <a:r>
              <a:rPr lang="ru-RU" sz="2000" b="1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вычисление наибольшего общего делителя</a:t>
            </a:r>
            <a:r>
              <a:rPr lang="ru-RU" sz="2000" b="1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 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ru-RU" sz="2000" b="1" dirty="0">
                <a:ea typeface="Calibri"/>
                <a:cs typeface="Times New Roman"/>
              </a:rPr>
              <a:t> </a:t>
            </a:r>
            <a:r>
              <a:rPr lang="ru-RU" sz="2000" b="1" dirty="0" err="1">
                <a:ea typeface="Calibri"/>
                <a:cs typeface="Times New Roman"/>
              </a:rPr>
              <a:t>unsigned</a:t>
            </a:r>
            <a:r>
              <a:rPr lang="ru-RU" sz="2000" b="1" dirty="0">
                <a:ea typeface="Calibri"/>
                <a:cs typeface="Times New Roman"/>
              </a:rPr>
              <a:t> </a:t>
            </a:r>
            <a:r>
              <a:rPr lang="ru-RU" sz="2000" b="1" dirty="0" err="1">
                <a:ea typeface="Calibri"/>
                <a:cs typeface="Times New Roman"/>
              </a:rPr>
              <a:t>int</a:t>
            </a:r>
            <a:r>
              <a:rPr lang="ru-RU" sz="2000" b="1" dirty="0">
                <a:ea typeface="Calibri"/>
                <a:cs typeface="Times New Roman"/>
              </a:rPr>
              <a:t> </a:t>
            </a:r>
            <a:r>
              <a:rPr lang="ru-RU" sz="2000" b="1" dirty="0" err="1">
                <a:ea typeface="Calibri"/>
                <a:cs typeface="Times New Roman"/>
              </a:rPr>
              <a:t>gcd</a:t>
            </a:r>
            <a:r>
              <a:rPr lang="ru-RU" sz="2000" b="1" dirty="0">
                <a:ea typeface="Calibri"/>
                <a:cs typeface="Times New Roman"/>
              </a:rPr>
              <a:t>(</a:t>
            </a:r>
            <a:r>
              <a:rPr lang="ru-RU" sz="2000" b="1" dirty="0" err="1">
                <a:ea typeface="Calibri"/>
                <a:cs typeface="Times New Roman"/>
              </a:rPr>
              <a:t>int</a:t>
            </a:r>
            <a:r>
              <a:rPr lang="ru-RU" sz="2000" b="1" dirty="0">
                <a:ea typeface="Calibri"/>
                <a:cs typeface="Times New Roman"/>
              </a:rPr>
              <a:t> m, </a:t>
            </a:r>
            <a:r>
              <a:rPr lang="ru-RU" sz="2000" b="1" dirty="0" err="1">
                <a:ea typeface="Calibri"/>
                <a:cs typeface="Times New Roman"/>
              </a:rPr>
              <a:t>int</a:t>
            </a:r>
            <a:r>
              <a:rPr lang="ru-RU" sz="2000" b="1" dirty="0">
                <a:ea typeface="Calibri"/>
                <a:cs typeface="Times New Roman"/>
              </a:rPr>
              <a:t> n)  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 Эвклид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ru-RU" sz="2000" b="1" dirty="0">
                <a:ea typeface="Calibri"/>
                <a:cs typeface="Times New Roman"/>
              </a:rPr>
              <a:t>      </a:t>
            </a:r>
            <a:r>
              <a:rPr lang="en-US" sz="2000" b="1" dirty="0">
                <a:ea typeface="Calibri"/>
                <a:cs typeface="Times New Roman"/>
              </a:rPr>
              <a:t>{ return (n == 0)?</a:t>
            </a:r>
            <a:r>
              <a:rPr lang="en-US" sz="2000" b="1" dirty="0" err="1">
                <a:ea typeface="Calibri"/>
                <a:cs typeface="Times New Roman"/>
              </a:rPr>
              <a:t>m:gcd</a:t>
            </a:r>
            <a:r>
              <a:rPr lang="en-US" sz="2000" b="1" dirty="0">
                <a:ea typeface="Calibri"/>
                <a:cs typeface="Times New Roman"/>
              </a:rPr>
              <a:t>(n, </a:t>
            </a:r>
            <a:r>
              <a:rPr lang="en-US" sz="2000" b="1" dirty="0" err="1">
                <a:ea typeface="Calibri"/>
                <a:cs typeface="Times New Roman"/>
              </a:rPr>
              <a:t>m%n</a:t>
            </a:r>
            <a:r>
              <a:rPr lang="en-US" sz="2000" b="1" dirty="0">
                <a:ea typeface="Calibri"/>
                <a:cs typeface="Times New Roman"/>
              </a:rPr>
              <a:t>); };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 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 -- вычисление  n-</a:t>
            </a:r>
            <a:r>
              <a:rPr lang="ru-RU" sz="2000" dirty="0" err="1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го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 члена ряда Фибоначчи(1170-1250</a:t>
            </a:r>
            <a:r>
              <a:rPr lang="ru-RU" sz="2000" b="1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) 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unsigned </a:t>
            </a:r>
            <a:r>
              <a:rPr lang="en-US" sz="2000" b="1" dirty="0" err="1">
                <a:ea typeface="Calibri"/>
                <a:cs typeface="Times New Roman"/>
              </a:rPr>
              <a:t>int</a:t>
            </a:r>
            <a:r>
              <a:rPr lang="en-US" sz="2000" b="1" dirty="0">
                <a:ea typeface="Calibri"/>
                <a:cs typeface="Times New Roman"/>
              </a:rPr>
              <a:t> fib(</a:t>
            </a:r>
            <a:r>
              <a:rPr lang="en-US" sz="2000" b="1" dirty="0" err="1">
                <a:ea typeface="Calibri"/>
                <a:cs typeface="Times New Roman"/>
              </a:rPr>
              <a:t>int</a:t>
            </a:r>
            <a:r>
              <a:rPr lang="en-US" sz="2000" b="1" dirty="0">
                <a:ea typeface="Calibri"/>
                <a:cs typeface="Times New Roman"/>
              </a:rPr>
              <a:t> n) </a:t>
            </a:r>
            <a:endParaRPr lang="ru-RU" sz="2000" b="1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{ return (n &lt; 1)?0:((n == 1)?1:fib(n-1)+fib(n-2));};</a:t>
            </a:r>
            <a:endParaRPr lang="be-BY" sz="2000" dirty="0">
              <a:ea typeface="Calibri"/>
              <a:cs typeface="Times New Roman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47528" y="4293096"/>
            <a:ext cx="8352928" cy="2304256"/>
          </a:xfrm>
          <a:prstGeom prst="rect">
            <a:avLst/>
          </a:prstGeom>
          <a:solidFill>
            <a:srgbClr val="F8F8F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en-US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//-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a typeface="Calibri"/>
                <a:cs typeface="Times New Roman"/>
              </a:rPr>
              <a:t>Вычисление факториала числа при помощи цикла</a:t>
            </a:r>
            <a:endParaRPr lang="be-BY" sz="2000" dirty="0">
              <a:solidFill>
                <a:schemeClr val="accent3">
                  <a:lumMod val="50000"/>
                </a:schemeClr>
              </a:solidFill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 unsigned int fact(unsigned int x)  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  { 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	 </a:t>
            </a:r>
            <a:r>
              <a:rPr lang="en-US" sz="2000" b="1" dirty="0" err="1">
                <a:ea typeface="Calibri"/>
                <a:cs typeface="Times New Roman"/>
              </a:rPr>
              <a:t>int</a:t>
            </a:r>
            <a:r>
              <a:rPr lang="en-US" sz="2000" b="1" dirty="0">
                <a:ea typeface="Calibri"/>
                <a:cs typeface="Times New Roman"/>
              </a:rPr>
              <a:t> </a:t>
            </a:r>
            <a:r>
              <a:rPr lang="en-US" sz="2000" b="1" dirty="0" err="1">
                <a:ea typeface="Calibri"/>
                <a:cs typeface="Times New Roman"/>
              </a:rPr>
              <a:t>rc</a:t>
            </a:r>
            <a:r>
              <a:rPr lang="en-US" sz="2000" b="1" dirty="0">
                <a:ea typeface="Calibri"/>
                <a:cs typeface="Times New Roman"/>
              </a:rPr>
              <a:t> = 1; 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	 for (</a:t>
            </a:r>
            <a:r>
              <a:rPr lang="en-US" sz="2000" b="1" dirty="0" err="1">
                <a:ea typeface="Calibri"/>
                <a:cs typeface="Times New Roman"/>
              </a:rPr>
              <a:t>int</a:t>
            </a:r>
            <a:r>
              <a:rPr lang="en-US" sz="2000" b="1" dirty="0">
                <a:ea typeface="Calibri"/>
                <a:cs typeface="Times New Roman"/>
              </a:rPr>
              <a:t> i = 1; i&lt;=x; i++) </a:t>
            </a:r>
            <a:r>
              <a:rPr lang="en-US" sz="2000" b="1" dirty="0" err="1">
                <a:ea typeface="Calibri"/>
                <a:cs typeface="Times New Roman"/>
              </a:rPr>
              <a:t>rc</a:t>
            </a:r>
            <a:r>
              <a:rPr lang="en-US" sz="2000" b="1" dirty="0">
                <a:ea typeface="Calibri"/>
                <a:cs typeface="Times New Roman"/>
              </a:rPr>
              <a:t> *= i;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en-US" sz="2000" b="1" dirty="0">
                <a:ea typeface="Calibri"/>
                <a:cs typeface="Times New Roman"/>
              </a:rPr>
              <a:t>	 </a:t>
            </a:r>
            <a:r>
              <a:rPr lang="ru-RU" sz="2000" b="1" dirty="0" err="1">
                <a:ea typeface="Calibri"/>
                <a:cs typeface="Times New Roman"/>
              </a:rPr>
              <a:t>return</a:t>
            </a:r>
            <a:r>
              <a:rPr lang="ru-RU" sz="2000" b="1" dirty="0">
                <a:ea typeface="Calibri"/>
                <a:cs typeface="Times New Roman"/>
              </a:rPr>
              <a:t> </a:t>
            </a:r>
            <a:r>
              <a:rPr lang="ru-RU" sz="2000" b="1" dirty="0" err="1">
                <a:ea typeface="Calibri"/>
                <a:cs typeface="Times New Roman"/>
              </a:rPr>
              <a:t>rc</a:t>
            </a:r>
            <a:r>
              <a:rPr lang="ru-RU" sz="2000" b="1" dirty="0">
                <a:ea typeface="Calibri"/>
                <a:cs typeface="Times New Roman"/>
              </a:rPr>
              <a:t>;</a:t>
            </a:r>
            <a:endParaRPr lang="be-BY" sz="2000" dirty="0">
              <a:ea typeface="Calibri"/>
              <a:cs typeface="Times New Roman"/>
            </a:endParaRPr>
          </a:p>
          <a:p>
            <a:r>
              <a:rPr lang="ru-RU" sz="2000" b="1" dirty="0">
                <a:ea typeface="Calibri"/>
                <a:cs typeface="Times New Roman"/>
              </a:rPr>
              <a:t>   };</a:t>
            </a:r>
            <a:endParaRPr lang="be-BY" sz="20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053078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7427" y="1340768"/>
            <a:ext cx="100091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Рекурсивная запись алгоритма, как правило, не дает выигрыша в скорости его работы. Скорее наоборот, так как вызов любой функции связан с сохранением и восстановлением контекста вызывающей функции, что является затратной по времени операцией. </a:t>
            </a:r>
          </a:p>
          <a:p>
            <a:pPr indent="323850" algn="just"/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того, для хранения контекста операционной системой резервируется специальная секция памяти, называемая </a:t>
            </a:r>
            <a:r>
              <a:rPr lang="ru-RU" sz="28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системным стеком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226718" y="171843"/>
            <a:ext cx="5450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00B050"/>
                </a:solidFill>
              </a:rPr>
              <a:t>Рекурсивные 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337034584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55440" y="1124744"/>
            <a:ext cx="1022513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ea typeface="Times New Roman" panose="02020603050405020304" pitchFamily="18" charset="0"/>
              </a:rPr>
              <a:t>Если цепочка вызовов функций является длинной (иногда говорят о большой </a:t>
            </a:r>
            <a:r>
              <a:rPr lang="ru-RU" sz="2800" b="1" i="1" dirty="0">
                <a:solidFill>
                  <a:srgbClr val="00B050"/>
                </a:solidFill>
                <a:ea typeface="Times New Roman" panose="02020603050405020304" pitchFamily="18" charset="0"/>
              </a:rPr>
              <a:t>глубине рекурсии</a:t>
            </a:r>
            <a:r>
              <a:rPr lang="ru-RU" sz="2800" dirty="0">
                <a:ea typeface="Times New Roman" panose="02020603050405020304" pitchFamily="18" charset="0"/>
              </a:rPr>
              <a:t>), то это может привести к переполнению стека. Например, при вычислении факториала числа 25 глубина рекурсии достигает значения 24.              </a:t>
            </a:r>
          </a:p>
          <a:p>
            <a:pPr indent="323850" algn="just"/>
            <a:endParaRPr lang="ru-RU" sz="2800" dirty="0"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ea typeface="Times New Roman" panose="02020603050405020304" pitchFamily="18" charset="0"/>
              </a:rPr>
              <a:t>Часто рекурсивные функции, применяемые для решения оптимизационных задач, используют более одного рекурсивного вызова, каждый из которых работает приблизительно с половиной входных данных. Такую схему решения называют </a:t>
            </a:r>
            <a:r>
              <a:rPr lang="ru-RU" sz="2800" b="1" i="1" dirty="0">
                <a:solidFill>
                  <a:srgbClr val="00B050"/>
                </a:solidFill>
                <a:ea typeface="Times New Roman" panose="02020603050405020304" pitchFamily="18" charset="0"/>
              </a:rPr>
              <a:t>«разделяй и властвуй»</a:t>
            </a:r>
            <a:r>
              <a:rPr lang="ru-RU" sz="2800" dirty="0"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226718" y="188641"/>
            <a:ext cx="5450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00B050"/>
                </a:solidFill>
              </a:rPr>
              <a:t>Рекурсивные 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47142169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263352" y="1052736"/>
            <a:ext cx="117373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2800" b="1" dirty="0">
                <a:solidFill>
                  <a:srgbClr val="92D05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Решение задачи о рюкзаке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 решения задачи оптимизации, реализующей рекурсивный алгоритм с перекрывающимися подзадачами, в котором каждая такая подзадача решается один раз, а ее результат сохраняется для последующего применения, называется динамическим программированием.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Рассматриваемый здесь метод является частью более общей теории динамического программирования, основы которой разработаны Р. Беллманом. Эта теория исследует процесс пошагового решения задач оптимизации, в котором на каждом шаге из множества допустимых решений выбирается одно, оптимизирующее заданную целевую функцию.</a:t>
            </a:r>
            <a:endParaRPr lang="en-US" sz="2800" dirty="0"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363985" y="295536"/>
            <a:ext cx="75360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b="1" dirty="0">
                <a:solidFill>
                  <a:srgbClr val="92D050"/>
                </a:solidFill>
              </a:rPr>
              <a:t>Динамическое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19504006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367808" y="116633"/>
            <a:ext cx="4039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chemeClr val="accent6"/>
                </a:solidFill>
              </a:rPr>
              <a:t>Решение задачи о рюкзаке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03" y="774487"/>
            <a:ext cx="8924994" cy="595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15027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257349"/>
              </p:ext>
            </p:extLst>
          </p:nvPr>
        </p:nvGraphicFramePr>
        <p:xfrm>
          <a:off x="1703512" y="1537926"/>
          <a:ext cx="5616624" cy="88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6" name="Формула" r:id="rId3" imgW="2184400" imgH="342900" progId="Equation.3">
                  <p:embed/>
                </p:oleObj>
              </mc:Choice>
              <mc:Fallback>
                <p:oleObj name="Формула" r:id="rId3" imgW="2184400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537926"/>
                        <a:ext cx="5616624" cy="882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192446"/>
              </p:ext>
            </p:extLst>
          </p:nvPr>
        </p:nvGraphicFramePr>
        <p:xfrm>
          <a:off x="7425426" y="1872208"/>
          <a:ext cx="2951989" cy="11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7" name="Формула" r:id="rId5" imgW="1409088" imgH="571252" progId="Equation.3">
                  <p:embed/>
                </p:oleObj>
              </mc:Choice>
              <mc:Fallback>
                <p:oleObj name="Формула" r:id="rId5" imgW="1409088" imgH="57125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5426" y="1872208"/>
                        <a:ext cx="2951989" cy="11967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88892"/>
              </p:ext>
            </p:extLst>
          </p:nvPr>
        </p:nvGraphicFramePr>
        <p:xfrm>
          <a:off x="1703513" y="2780928"/>
          <a:ext cx="6024669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8" name="Формула" r:id="rId7" imgW="2387600" imgH="342900" progId="Equation.3">
                  <p:embed/>
                </p:oleObj>
              </mc:Choice>
              <mc:Fallback>
                <p:oleObj name="Формула" r:id="rId7" imgW="23876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3" y="2780928"/>
                        <a:ext cx="6024669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835028"/>
              </p:ext>
            </p:extLst>
          </p:nvPr>
        </p:nvGraphicFramePr>
        <p:xfrm>
          <a:off x="6085200" y="3391652"/>
          <a:ext cx="4268024" cy="126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9" name="Формула" r:id="rId9" imgW="1930400" imgH="571500" progId="Equation.3">
                  <p:embed/>
                </p:oleObj>
              </mc:Choice>
              <mc:Fallback>
                <p:oleObj name="Формула" r:id="rId9" imgW="1930400" imgH="571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200" y="3391652"/>
                        <a:ext cx="4268024" cy="1261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99265"/>
              </p:ext>
            </p:extLst>
          </p:nvPr>
        </p:nvGraphicFramePr>
        <p:xfrm>
          <a:off x="1706300" y="4653136"/>
          <a:ext cx="614468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0" name="Формула" r:id="rId11" imgW="2438400" imgH="342900" progId="Equation.3">
                  <p:embed/>
                </p:oleObj>
              </mc:Choice>
              <mc:Fallback>
                <p:oleObj name="Формула" r:id="rId11" imgW="2438400" imgH="342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300" y="4653136"/>
                        <a:ext cx="6144683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382566"/>
              </p:ext>
            </p:extLst>
          </p:nvPr>
        </p:nvGraphicFramePr>
        <p:xfrm>
          <a:off x="1631504" y="5634454"/>
          <a:ext cx="3744417" cy="104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1" name="Формула" r:id="rId13" imgW="2057400" imgH="571500" progId="Equation.3">
                  <p:embed/>
                </p:oleObj>
              </mc:Choice>
              <mc:Fallback>
                <p:oleObj name="Формула" r:id="rId13" imgW="2057400" imgH="5715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634454"/>
                        <a:ext cx="3744417" cy="1040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921184"/>
              </p:ext>
            </p:extLst>
          </p:nvPr>
        </p:nvGraphicFramePr>
        <p:xfrm>
          <a:off x="6096001" y="5931673"/>
          <a:ext cx="2029083" cy="593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2" name="Формула" r:id="rId15" imgW="825142" imgH="266584" progId="Equation.3">
                  <p:embed/>
                </p:oleObj>
              </mc:Choice>
              <mc:Fallback>
                <p:oleObj name="Формула" r:id="rId15" imgW="825142" imgH="26658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931673"/>
                        <a:ext cx="2029083" cy="5936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144837"/>
              </p:ext>
            </p:extLst>
          </p:nvPr>
        </p:nvGraphicFramePr>
        <p:xfrm>
          <a:off x="8256241" y="5589240"/>
          <a:ext cx="2198139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3" name="Формула" r:id="rId17" imgW="1104421" imgH="545863" progId="Equation.3">
                  <p:embed/>
                </p:oleObj>
              </mc:Choice>
              <mc:Fallback>
                <p:oleObj name="Формула" r:id="rId17" imgW="1104421" imgH="54586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1" y="5589240"/>
                        <a:ext cx="2198139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850982" y="493187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2" name="TextBox 21"/>
          <p:cNvSpPr txBox="1"/>
          <p:nvPr/>
        </p:nvSpPr>
        <p:spPr>
          <a:xfrm>
            <a:off x="7985795" y="602128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3" name="TextBox 22"/>
          <p:cNvSpPr txBox="1"/>
          <p:nvPr/>
        </p:nvSpPr>
        <p:spPr>
          <a:xfrm>
            <a:off x="5780706" y="602128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4" name="TextBox 23"/>
          <p:cNvSpPr txBox="1"/>
          <p:nvPr/>
        </p:nvSpPr>
        <p:spPr>
          <a:xfrm>
            <a:off x="5298182" y="602128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 …</a:t>
            </a:r>
            <a:endParaRPr lang="be-BY" dirty="0"/>
          </a:p>
        </p:txBody>
      </p:sp>
      <p:sp>
        <p:nvSpPr>
          <p:cNvPr id="25" name="TextBox 24"/>
          <p:cNvSpPr txBox="1"/>
          <p:nvPr/>
        </p:nvSpPr>
        <p:spPr>
          <a:xfrm>
            <a:off x="10272464" y="364502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6" name="TextBox 25"/>
          <p:cNvSpPr txBox="1"/>
          <p:nvPr/>
        </p:nvSpPr>
        <p:spPr>
          <a:xfrm>
            <a:off x="7716169" y="305966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7" name="TextBox 26"/>
          <p:cNvSpPr txBox="1"/>
          <p:nvPr/>
        </p:nvSpPr>
        <p:spPr>
          <a:xfrm>
            <a:off x="10304947" y="233958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8" name="TextBox 27"/>
          <p:cNvSpPr txBox="1"/>
          <p:nvPr/>
        </p:nvSpPr>
        <p:spPr>
          <a:xfrm>
            <a:off x="7320136" y="176352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,</a:t>
            </a:r>
            <a:endParaRPr lang="be-BY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27448" y="205678"/>
            <a:ext cx="10188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Последовательность рекуррентных соотношений, позволяющая вычислить значение максимальной стоимости рюкзака равна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261828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3" name="Прямоугольник 2"/>
          <p:cNvSpPr/>
          <p:nvPr/>
        </p:nvSpPr>
        <p:spPr>
          <a:xfrm>
            <a:off x="1010597" y="2348880"/>
            <a:ext cx="104411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Все вершины дерева, кроме корневой, изображают этапы решения. Вершины помечены двумя числами: первое число – текущая стоимость рюкзака, второе – остаток неиспользованного объема рюкзака. Все этапы образуют три слоя, что определяет глубину рекурсии. Каждой вершине (этапу) соответствует вызов рекурсивной функции.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Вершины соединены дугами, указывающими связь между этапами решения. Каждая дуга имеет метку, обозначающую предположение, при котором решается очередной этап. 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2711624" y="260649"/>
            <a:ext cx="7039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chemeClr val="accent6"/>
                </a:solidFill>
              </a:rPr>
              <a:t>Схема рекурсивного решения задачи о рюкзаке</a:t>
            </a:r>
          </a:p>
        </p:txBody>
      </p:sp>
      <p:graphicFrame>
        <p:nvGraphicFramePr>
          <p:cNvPr id="30" name="Объект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406826"/>
              </p:ext>
            </p:extLst>
          </p:nvPr>
        </p:nvGraphicFramePr>
        <p:xfrm>
          <a:off x="1187802" y="1218677"/>
          <a:ext cx="1104660" cy="564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79" name="Уравнение" r:id="rId3" imgW="431613" imgH="215806" progId="Equation.3">
                  <p:embed/>
                </p:oleObj>
              </mc:Choice>
              <mc:Fallback>
                <p:oleObj name="Уравнение" r:id="rId3" imgW="431613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802" y="1218677"/>
                        <a:ext cx="1104660" cy="564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Объект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099923"/>
              </p:ext>
            </p:extLst>
          </p:nvPr>
        </p:nvGraphicFramePr>
        <p:xfrm>
          <a:off x="2383911" y="1251400"/>
          <a:ext cx="1410666" cy="499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0" name="Уравнение" r:id="rId5" imgW="622030" imgH="215806" progId="Equation.3">
                  <p:embed/>
                </p:oleObj>
              </mc:Choice>
              <mc:Fallback>
                <p:oleObj name="Уравнение" r:id="rId5" imgW="622030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911" y="1251400"/>
                        <a:ext cx="1410666" cy="4991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Объект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895064"/>
              </p:ext>
            </p:extLst>
          </p:nvPr>
        </p:nvGraphicFramePr>
        <p:xfrm>
          <a:off x="3886026" y="1206806"/>
          <a:ext cx="1412032" cy="588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1" name="Уравнение" r:id="rId7" imgW="571252" imgH="241195" progId="Equation.3">
                  <p:embed/>
                </p:oleObj>
              </mc:Choice>
              <mc:Fallback>
                <p:oleObj name="Уравнение" r:id="rId7" imgW="571252" imgH="2411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026" y="1206806"/>
                        <a:ext cx="1412032" cy="5883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Объект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898168"/>
              </p:ext>
            </p:extLst>
          </p:nvPr>
        </p:nvGraphicFramePr>
        <p:xfrm>
          <a:off x="5389507" y="1206806"/>
          <a:ext cx="1482634" cy="588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2" name="Уравнение" r:id="rId9" imgW="596900" imgH="241300" progId="Equation.3">
                  <p:embed/>
                </p:oleObj>
              </mc:Choice>
              <mc:Fallback>
                <p:oleObj name="Уравнение" r:id="rId9" imgW="5969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507" y="1206806"/>
                        <a:ext cx="1482634" cy="5883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Объект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50041"/>
              </p:ext>
            </p:extLst>
          </p:nvPr>
        </p:nvGraphicFramePr>
        <p:xfrm>
          <a:off x="6963590" y="1241423"/>
          <a:ext cx="11477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3" name="Уравнение" r:id="rId11" imgW="507960" imgH="228600" progId="Equation.3">
                  <p:embed/>
                </p:oleObj>
              </mc:Choice>
              <mc:Fallback>
                <p:oleObj name="Уравнение" r:id="rId11" imgW="5079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590" y="1241423"/>
                        <a:ext cx="1147762" cy="519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Объект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594362"/>
              </p:ext>
            </p:extLst>
          </p:nvPr>
        </p:nvGraphicFramePr>
        <p:xfrm>
          <a:off x="8202801" y="1251262"/>
          <a:ext cx="1018846" cy="499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4" name="Уравнение" r:id="rId13" imgW="482391" imgH="241195" progId="Equation.3">
                  <p:embed/>
                </p:oleObj>
              </mc:Choice>
              <mc:Fallback>
                <p:oleObj name="Уравнение" r:id="rId13" imgW="482391" imgH="2411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2801" y="1251262"/>
                        <a:ext cx="1018846" cy="4994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Объект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378280"/>
              </p:ext>
            </p:extLst>
          </p:nvPr>
        </p:nvGraphicFramePr>
        <p:xfrm>
          <a:off x="9313096" y="1249301"/>
          <a:ext cx="1067116" cy="503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5" name="Уравнение" r:id="rId15" imgW="508000" imgH="241300" progId="Equation.3">
                  <p:embed/>
                </p:oleObj>
              </mc:Choice>
              <mc:Fallback>
                <p:oleObj name="Уравнение" r:id="rId15" imgW="508000" imgH="2413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3096" y="1249301"/>
                        <a:ext cx="1067116" cy="5033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Объект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797424"/>
              </p:ext>
            </p:extLst>
          </p:nvPr>
        </p:nvGraphicFramePr>
        <p:xfrm>
          <a:off x="10471662" y="1232305"/>
          <a:ext cx="1010216" cy="537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6" name="Уравнение" r:id="rId17" imgW="444307" imgH="241195" progId="Equation.3">
                  <p:embed/>
                </p:oleObj>
              </mc:Choice>
              <mc:Fallback>
                <p:oleObj name="Уравнение" r:id="rId17" imgW="444307" imgH="241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1662" y="1232305"/>
                        <a:ext cx="1010216" cy="5373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47763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9" name="Прямоугольник 28"/>
          <p:cNvSpPr/>
          <p:nvPr/>
        </p:nvSpPr>
        <p:spPr>
          <a:xfrm>
            <a:off x="2711624" y="90429"/>
            <a:ext cx="7039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chemeClr val="accent6"/>
                </a:solidFill>
              </a:rPr>
              <a:t>Схема рекурсивного решения задачи о рюкзаке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35360" y="1052736"/>
            <a:ext cx="727280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Для примера, рассмотрим маршрут, образованный дугами с метками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ctr"/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3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=2,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2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=1 и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=1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Первый этап в этом маршруте отмечен меткой 120, 80, означающей, что при размещении в рюкзаке двух предметов с номером 3 стоимость рюкзака станет 2∙20∙3=120 единиц, и при этом в рюкзаке останется 120 - 2∙20=80 единиц объема.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Второй этап имеет метку 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570, 30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Решение на этом этапе осуществляется в предположении, что в рюкзаке два предмета с номером 3 и один предмет с номером 2. Поэтому 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570=120+1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∙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50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∙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9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30=80-1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∙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50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9" t="15593" r="31484" b="-3250"/>
          <a:stretch/>
        </p:blipFill>
        <p:spPr>
          <a:xfrm>
            <a:off x="7824192" y="1039109"/>
            <a:ext cx="4032448" cy="52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27324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9" name="Прямоугольник 28"/>
          <p:cNvSpPr/>
          <p:nvPr/>
        </p:nvSpPr>
        <p:spPr>
          <a:xfrm>
            <a:off x="2711624" y="90429"/>
            <a:ext cx="7039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chemeClr val="accent6"/>
                </a:solidFill>
              </a:rPr>
              <a:t>Схема рекурсивного решения задачи о рюкзаке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63352" y="692696"/>
            <a:ext cx="770485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третьем этапе завершается формирование одного из допустимых решений. Неиспользованный остаток объема в 30 единиц позволяет поместить только один предмет первого типа. В окончательном решении, соответствующем этому маршруту, стоимость предметов, уложенных в рюкзак, равна 570+1∙30∙5=720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Несложно заметить, что разобранный маршрут не соответствует оптимальному решению. Оптимальным будет решение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=(0, 2, 1), а соответствующая ему стоимость – 960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Этапы этого решения обозначены закрашенными овалами. 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Из схемы видно, что в рекурсивном решении, как и в случае с использованием генератора, осуществляется полный перебор допустимых решений. 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9" t="15593" r="31484" b="-3250"/>
          <a:stretch/>
        </p:blipFill>
        <p:spPr>
          <a:xfrm>
            <a:off x="7968208" y="836712"/>
            <a:ext cx="4032448" cy="52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5424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03038"/>
              </p:ext>
            </p:extLst>
          </p:nvPr>
        </p:nvGraphicFramePr>
        <p:xfrm>
          <a:off x="1433785" y="982960"/>
          <a:ext cx="9248775" cy="554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Visio" r:id="rId3" imgW="10391220" imgH="4937814" progId="Visio.Drawing.11">
                  <p:embed/>
                </p:oleObj>
              </mc:Choice>
              <mc:Fallback>
                <p:oleObj name="Visio" r:id="rId3" imgW="10391220" imgH="493781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785" y="982960"/>
                        <a:ext cx="9248775" cy="5542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711624" y="260649"/>
            <a:ext cx="7039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chemeClr val="accent6"/>
                </a:solidFill>
              </a:rPr>
              <a:t>Схема рекурсивного решения задачи о рюкзаке</a:t>
            </a:r>
          </a:p>
        </p:txBody>
      </p:sp>
      <p:sp>
        <p:nvSpPr>
          <p:cNvPr id="14" name="Овал 13"/>
          <p:cNvSpPr/>
          <p:nvPr/>
        </p:nvSpPr>
        <p:spPr>
          <a:xfrm>
            <a:off x="6312024" y="4536604"/>
            <a:ext cx="439168" cy="33488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6312024" y="5989786"/>
            <a:ext cx="439168" cy="33488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6096000" y="3333010"/>
            <a:ext cx="439168" cy="33488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04423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767408" y="476672"/>
            <a:ext cx="1044116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600" b="1" dirty="0">
                <a:solidFill>
                  <a:srgbClr val="92D05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Решение задачи о рюкзаке</a:t>
            </a:r>
            <a:endParaRPr lang="en-US" sz="3600" b="1" dirty="0">
              <a:solidFill>
                <a:srgbClr val="92D050"/>
              </a:solidFill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ctr"/>
            <a:endParaRPr lang="ru-RU" sz="2800" dirty="0">
              <a:solidFill>
                <a:srgbClr val="92D050"/>
              </a:solidFill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Применение динамического программирования при решении оптимизационных задач обычно предполагает создание специальных таблиц для хранения промежуточных результатов.</a:t>
            </a:r>
          </a:p>
          <a:p>
            <a:pPr algn="just"/>
            <a:endParaRPr lang="ru-RU" sz="2800" dirty="0">
              <a:latin typeface="Bahnschrift" panose="020B0502040204020203" pitchFamily="34" charset="0"/>
              <a:ea typeface="Calibri" panose="020F0502020204030204" pitchFamily="34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</a:rPr>
              <a:t>Изображены таблицы, которые используются для решения задачи о рюкзаке методом динамического программирования. Векторы, определяющие размеры(</a:t>
            </a:r>
            <a:r>
              <a:rPr lang="en-US" sz="2800" dirty="0">
                <a:latin typeface="Bahnschrift" panose="020B0502040204020203" pitchFamily="34" charset="0"/>
                <a:ea typeface="Calibri" panose="020F0502020204030204" pitchFamily="34" charset="0"/>
              </a:rPr>
              <a:t>v</a:t>
            </a:r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</a:rPr>
              <a:t>) и стоимости (</a:t>
            </a:r>
            <a:r>
              <a:rPr lang="en-US" sz="2800" dirty="0">
                <a:latin typeface="Bahnschrift" panose="020B0502040204020203" pitchFamily="34" charset="0"/>
                <a:ea typeface="Calibri" panose="020F0502020204030204" pitchFamily="34" charset="0"/>
              </a:rPr>
              <a:t>c</a:t>
            </a:r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</a:rPr>
              <a:t>) типов предметов, а также величина, характеризующая вместимость рюкзака (</a:t>
            </a:r>
            <a:r>
              <a:rPr lang="en-US" sz="2800" dirty="0">
                <a:latin typeface="Bahnschrift" panose="020B0502040204020203" pitchFamily="34" charset="0"/>
                <a:ea typeface="Calibri" panose="020F0502020204030204" pitchFamily="34" charset="0"/>
              </a:rPr>
              <a:t>V</a:t>
            </a:r>
            <a:r>
              <a:rPr lang="ru-RU" sz="2800" dirty="0">
                <a:latin typeface="Bahnschrift" panose="020B0502040204020203" pitchFamily="34" charset="0"/>
                <a:ea typeface="Calibri" panose="020F0502020204030204" pitchFamily="34" charset="0"/>
              </a:rPr>
              <a:t>), заданы в верхней части рисунка.</a:t>
            </a:r>
            <a:endParaRPr lang="ru-RU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9322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805918"/>
              </p:ext>
            </p:extLst>
          </p:nvPr>
        </p:nvGraphicFramePr>
        <p:xfrm>
          <a:off x="2063552" y="-28850"/>
          <a:ext cx="8074946" cy="965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Visio" r:id="rId3" imgW="7084800" imgH="9776694" progId="Visio.Drawing.11">
                  <p:embed/>
                </p:oleObj>
              </mc:Choice>
              <mc:Fallback>
                <p:oleObj name="Visio" r:id="rId3" imgW="7084800" imgH="9776694" progId="Visio.Drawing.11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-28850"/>
                        <a:ext cx="8074946" cy="96530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2544388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9936" y="365125"/>
            <a:ext cx="5833864" cy="5944195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C000"/>
                </a:solidFill>
              </a:rPr>
              <a:t>Владимир Иосифович Левенштейн</a:t>
            </a:r>
            <a:r>
              <a:rPr lang="ru-RU" dirty="0"/>
              <a:t>  — советский и российский математик, доктор физико-математических наук.</a:t>
            </a:r>
          </a:p>
        </p:txBody>
      </p:sp>
      <p:pic>
        <p:nvPicPr>
          <p:cNvPr id="50178" name="Picture 2" descr="Владимир Иосифович Левенштейн — Циклопедия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659238"/>
            <a:ext cx="3600400" cy="535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01468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839416" y="1306751"/>
            <a:ext cx="104411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i="1" dirty="0">
                <a:solidFill>
                  <a:srgbClr val="FFC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Дистанция Левенштейна </a:t>
            </a:r>
            <a:r>
              <a:rPr lang="ru-RU" sz="2800" b="1" i="1" dirty="0">
                <a:latin typeface="Bahnschrift" panose="020B0502040204020203" pitchFamily="34" charset="0"/>
                <a:cs typeface="Times New Roman" panose="02020603050405020304" pitchFamily="18" charset="0"/>
              </a:rPr>
              <a:t>(расстояние Левенштейна, редакционное расстояние, дистанция редактирования)</a:t>
            </a:r>
            <a:r>
              <a:rPr lang="ru-RU" sz="2800" dirty="0">
                <a:latin typeface="Bahnschrift" panose="020B0502040204020203" pitchFamily="34" charset="0"/>
                <a:cs typeface="Times New Roman" panose="02020603050405020304" pitchFamily="18" charset="0"/>
              </a:rPr>
              <a:t> определяется между двумя строками и равна минимальному количеству операций вставки одного символа, удаления одного символа и замены одного символа на другой, необходимых для превращения одной строки в другую.</a:t>
            </a:r>
            <a:endParaRPr lang="be-BY" sz="28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1" name="Прямоугольник 10"/>
          <p:cNvSpPr/>
          <p:nvPr/>
        </p:nvSpPr>
        <p:spPr>
          <a:xfrm>
            <a:off x="3098957" y="256598"/>
            <a:ext cx="58112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FFC000"/>
                </a:solidFill>
              </a:rPr>
              <a:t>ДИСТАНЦИЯ  ЛЕВЕНШТЕЙНА</a:t>
            </a:r>
            <a:endParaRPr lang="be-BY" sz="3200" dirty="0">
              <a:solidFill>
                <a:srgbClr val="FFC0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1595" y="4598462"/>
            <a:ext cx="104189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Расстояние Левенштейна активно применяется для исправления ошибок в поисковых системах, в текстовых редакторах, а также в </a:t>
            </a:r>
            <a:r>
              <a:rPr lang="ru-RU" sz="28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биоинформатике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592030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32470" y="184666"/>
            <a:ext cx="65582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FFC000"/>
                </a:solidFill>
              </a:rPr>
              <a:t>Вычисление дистанции Левенштейна</a:t>
            </a:r>
            <a:endParaRPr lang="be-BY" sz="2800" dirty="0">
              <a:solidFill>
                <a:srgbClr val="FFC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23392" y="759919"/>
            <a:ext cx="108732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Пусть 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Х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Y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– две символьные строки, тогда для вычисления дистанции Левенштейна </a:t>
            </a:r>
            <a:r>
              <a:rPr lang="en-US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L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(Х,</a:t>
            </a:r>
            <a:r>
              <a:rPr lang="en-US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Y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)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между ними может быть использовано следующее рекуррентное соотношение: 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626886"/>
              </p:ext>
            </p:extLst>
          </p:nvPr>
        </p:nvGraphicFramePr>
        <p:xfrm>
          <a:off x="2423591" y="2132856"/>
          <a:ext cx="7575963" cy="4518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name="Формула" r:id="rId3" imgW="3060360" imgH="1993680" progId="Equation.3">
                  <p:embed/>
                </p:oleObj>
              </mc:Choice>
              <mc:Fallback>
                <p:oleObj name="Формула" r:id="rId3" imgW="3060360" imgH="1993680" progId="Equation.3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1" y="2132856"/>
                        <a:ext cx="7575963" cy="45187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935760" y="2564904"/>
            <a:ext cx="576064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871864" y="2564904"/>
            <a:ext cx="576064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935760" y="2996952"/>
            <a:ext cx="576064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4943872" y="2996952"/>
            <a:ext cx="576064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4288610" y="3429000"/>
            <a:ext cx="511246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428213" y="3429000"/>
            <a:ext cx="576064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288610" y="3861048"/>
            <a:ext cx="511246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5456545" y="3861048"/>
            <a:ext cx="511246" cy="43204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4916967" y="4795894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5386593" y="5226666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5103317" y="5676310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174293" y="5687543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103317" y="6125954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174293" y="6144288"/>
            <a:ext cx="511246" cy="432048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7245269" y="5712240"/>
            <a:ext cx="561789" cy="43204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8519188" y="5712240"/>
            <a:ext cx="561789" cy="43204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7608168" y="6150932"/>
            <a:ext cx="561789" cy="43204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8918420" y="6150932"/>
            <a:ext cx="561789" cy="43204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810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543" y="2491831"/>
            <a:ext cx="9036497" cy="416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84431" y="554995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100"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ru-RU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425" y="68799"/>
            <a:ext cx="102971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en-US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количество символов в заданной строке. Например, </a:t>
            </a:r>
            <a:r>
              <a:rPr lang="en-US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привет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/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– заданная строка без последнего символа. Например,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“привет”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)=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приве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/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last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последний символ заданной строки. Например,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last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привет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=“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/>
        </p:nvGraphicFramePr>
        <p:xfrm>
          <a:off x="4439816" y="2344194"/>
          <a:ext cx="20574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6" name="Формула" r:id="rId4" imgW="2057400" imgH="292100" progId="Equation.3">
                  <p:embed/>
                </p:oleObj>
              </mc:Choice>
              <mc:Fallback>
                <p:oleObj name="Формула" r:id="rId4" imgW="2057400" imgH="292100" progId="Equation.3">
                  <p:embed/>
                  <p:pic>
                    <p:nvPicPr>
                      <p:cNvPr id="13" name="Объект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2344194"/>
                        <a:ext cx="205740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27792" y="227687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  <a:endParaRPr lang="be-BY" dirty="0"/>
          </a:p>
        </p:txBody>
      </p:sp>
      <p:sp>
        <p:nvSpPr>
          <p:cNvPr id="2" name="5-конечная звезда 1"/>
          <p:cNvSpPr/>
          <p:nvPr/>
        </p:nvSpPr>
        <p:spPr>
          <a:xfrm>
            <a:off x="479378" y="68799"/>
            <a:ext cx="366355" cy="36635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5-конечная звезда 9"/>
          <p:cNvSpPr/>
          <p:nvPr/>
        </p:nvSpPr>
        <p:spPr>
          <a:xfrm>
            <a:off x="479377" y="856606"/>
            <a:ext cx="366355" cy="366355"/>
          </a:xfrm>
          <a:prstGeom prst="star5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5-конечная звезда 10"/>
          <p:cNvSpPr/>
          <p:nvPr/>
        </p:nvSpPr>
        <p:spPr>
          <a:xfrm>
            <a:off x="479376" y="1616864"/>
            <a:ext cx="366355" cy="366355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824192" y="6237312"/>
            <a:ext cx="648072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220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836712"/>
            <a:ext cx="8827934" cy="2615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41464" y="1323514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4.  </a:t>
            </a:r>
            <a:endParaRPr lang="be-BY" dirty="0"/>
          </a:p>
        </p:txBody>
      </p:sp>
      <p:sp>
        <p:nvSpPr>
          <p:cNvPr id="7" name="TextBox 6"/>
          <p:cNvSpPr txBox="1"/>
          <p:nvPr/>
        </p:nvSpPr>
        <p:spPr>
          <a:xfrm>
            <a:off x="1941464" y="2588300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5.  </a:t>
            </a:r>
            <a:endParaRPr lang="be-BY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163406"/>
              </p:ext>
            </p:extLst>
          </p:nvPr>
        </p:nvGraphicFramePr>
        <p:xfrm>
          <a:off x="8231730" y="2408280"/>
          <a:ext cx="2220247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6" name="Формула" r:id="rId4" imgW="1409700" imgH="228600" progId="Equation.3">
                  <p:embed/>
                </p:oleObj>
              </mc:Choice>
              <mc:Fallback>
                <p:oleObj name="Формула" r:id="rId4" imgW="1409700" imgH="2286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1730" y="2408280"/>
                        <a:ext cx="2220247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130115"/>
              </p:ext>
            </p:extLst>
          </p:nvPr>
        </p:nvGraphicFramePr>
        <p:xfrm>
          <a:off x="8328248" y="2779730"/>
          <a:ext cx="2016224" cy="355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7" name="Формула" r:id="rId6" imgW="1295400" imgH="228600" progId="Equation.3">
                  <p:embed/>
                </p:oleObj>
              </mc:Choice>
              <mc:Fallback>
                <p:oleObj name="Формула" r:id="rId6" imgW="1295400" imgH="22860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2779730"/>
                        <a:ext cx="2016224" cy="3558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836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84431" y="1347083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100"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ru-RU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984431" y="1575683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100"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lang="ru-RU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52883" y="4101378"/>
            <a:ext cx="10729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Шаги вычисления с </a:t>
            </a:r>
            <a:r>
              <a:rPr lang="ru-RU" sz="28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 </a:t>
            </a:r>
            <a:r>
              <a:rPr lang="ru-RU" sz="28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14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соответствуют рекурсивному погружению, а шаги с </a:t>
            </a:r>
            <a:r>
              <a:rPr lang="ru-RU" sz="28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15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 </a:t>
            </a:r>
            <a:r>
              <a:rPr lang="ru-RU" sz="28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28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– восходящему вычислению.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Нетрудно убедиться, что для превращения слова «сор» в слово «спорт» достаточно удалить (или вставить) две буквы. </a:t>
            </a:r>
          </a:p>
        </p:txBody>
      </p:sp>
    </p:spTree>
    <p:extLst>
      <p:ext uri="{BB962C8B-B14F-4D97-AF65-F5344CB8AC3E}">
        <p14:creationId xmlns:p14="http://schemas.microsoft.com/office/powerpoint/2010/main" val="203875608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467341"/>
            <a:ext cx="9036349" cy="5734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852380" y="907546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6.  </a:t>
            </a:r>
            <a:endParaRPr lang="be-BY" dirty="0"/>
          </a:p>
        </p:txBody>
      </p:sp>
      <p:sp>
        <p:nvSpPr>
          <p:cNvPr id="27" name="TextBox 26"/>
          <p:cNvSpPr txBox="1"/>
          <p:nvPr/>
        </p:nvSpPr>
        <p:spPr>
          <a:xfrm>
            <a:off x="2852380" y="2635738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7.  </a:t>
            </a:r>
            <a:endParaRPr lang="be-BY" dirty="0"/>
          </a:p>
        </p:txBody>
      </p:sp>
      <p:sp>
        <p:nvSpPr>
          <p:cNvPr id="28" name="TextBox 27"/>
          <p:cNvSpPr txBox="1"/>
          <p:nvPr/>
        </p:nvSpPr>
        <p:spPr>
          <a:xfrm>
            <a:off x="2852380" y="4003890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8.  </a:t>
            </a:r>
            <a:endParaRPr lang="be-BY" dirty="0"/>
          </a:p>
        </p:txBody>
      </p:sp>
      <p:sp>
        <p:nvSpPr>
          <p:cNvPr id="29" name="TextBox 28"/>
          <p:cNvSpPr txBox="1"/>
          <p:nvPr/>
        </p:nvSpPr>
        <p:spPr>
          <a:xfrm>
            <a:off x="2834704" y="5372042"/>
            <a:ext cx="48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9.  </a:t>
            </a:r>
            <a:endParaRPr lang="be-BY" dirty="0"/>
          </a:p>
        </p:txBody>
      </p:sp>
      <p:sp>
        <p:nvSpPr>
          <p:cNvPr id="2" name="TextBox 1"/>
          <p:cNvSpPr txBox="1"/>
          <p:nvPr/>
        </p:nvSpPr>
        <p:spPr>
          <a:xfrm>
            <a:off x="8184232" y="419125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C00000"/>
                </a:solidFill>
              </a:rPr>
              <a:t>+0</a:t>
            </a:r>
          </a:p>
        </p:txBody>
      </p:sp>
    </p:spTree>
    <p:extLst>
      <p:ext uri="{BB962C8B-B14F-4D97-AF65-F5344CB8AC3E}">
        <p14:creationId xmlns:p14="http://schemas.microsoft.com/office/powerpoint/2010/main" val="2729614425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-8828"/>
            <a:ext cx="8965753" cy="6828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9602" y="467843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10.  </a:t>
            </a:r>
            <a:endParaRPr lang="be-BY" dirty="0"/>
          </a:p>
        </p:txBody>
      </p:sp>
      <p:sp>
        <p:nvSpPr>
          <p:cNvPr id="6" name="TextBox 5"/>
          <p:cNvSpPr txBox="1"/>
          <p:nvPr/>
        </p:nvSpPr>
        <p:spPr>
          <a:xfrm>
            <a:off x="3049602" y="2196035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11.  </a:t>
            </a:r>
            <a:endParaRPr lang="be-BY" dirty="0"/>
          </a:p>
        </p:txBody>
      </p:sp>
      <p:sp>
        <p:nvSpPr>
          <p:cNvPr id="7" name="TextBox 6"/>
          <p:cNvSpPr txBox="1"/>
          <p:nvPr/>
        </p:nvSpPr>
        <p:spPr>
          <a:xfrm>
            <a:off x="3049602" y="3852219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12.  </a:t>
            </a:r>
            <a:endParaRPr lang="be-BY" dirty="0"/>
          </a:p>
        </p:txBody>
      </p:sp>
      <p:sp>
        <p:nvSpPr>
          <p:cNvPr id="8" name="TextBox 7"/>
          <p:cNvSpPr txBox="1"/>
          <p:nvPr/>
        </p:nvSpPr>
        <p:spPr>
          <a:xfrm>
            <a:off x="3049602" y="5580411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13.  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942417099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34513"/>
            <a:ext cx="8239416" cy="674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87688" y="439177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14.  </a:t>
            </a:r>
            <a:endParaRPr lang="be-BY" dirty="0"/>
          </a:p>
        </p:txBody>
      </p:sp>
      <p:sp>
        <p:nvSpPr>
          <p:cNvPr id="6" name="TextBox 5"/>
          <p:cNvSpPr txBox="1"/>
          <p:nvPr/>
        </p:nvSpPr>
        <p:spPr>
          <a:xfrm>
            <a:off x="3287688" y="1591305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15.  </a:t>
            </a:r>
            <a:endParaRPr lang="be-BY" dirty="0"/>
          </a:p>
        </p:txBody>
      </p:sp>
      <p:sp>
        <p:nvSpPr>
          <p:cNvPr id="7" name="TextBox 6"/>
          <p:cNvSpPr txBox="1"/>
          <p:nvPr/>
        </p:nvSpPr>
        <p:spPr>
          <a:xfrm>
            <a:off x="3294390" y="1960637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16.  </a:t>
            </a:r>
            <a:endParaRPr lang="be-BY" dirty="0"/>
          </a:p>
        </p:txBody>
      </p:sp>
      <p:sp>
        <p:nvSpPr>
          <p:cNvPr id="8" name="TextBox 7"/>
          <p:cNvSpPr txBox="1"/>
          <p:nvPr/>
        </p:nvSpPr>
        <p:spPr>
          <a:xfrm>
            <a:off x="3294390" y="2339291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17.  </a:t>
            </a:r>
            <a:endParaRPr lang="be-BY" dirty="0"/>
          </a:p>
        </p:txBody>
      </p:sp>
      <p:sp>
        <p:nvSpPr>
          <p:cNvPr id="9" name="TextBox 8"/>
          <p:cNvSpPr txBox="1"/>
          <p:nvPr/>
        </p:nvSpPr>
        <p:spPr>
          <a:xfrm>
            <a:off x="3287688" y="2708623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18.  </a:t>
            </a:r>
            <a:endParaRPr lang="be-BY" dirty="0"/>
          </a:p>
        </p:txBody>
      </p:sp>
      <p:sp>
        <p:nvSpPr>
          <p:cNvPr id="10" name="TextBox 9"/>
          <p:cNvSpPr txBox="1"/>
          <p:nvPr/>
        </p:nvSpPr>
        <p:spPr>
          <a:xfrm>
            <a:off x="3294390" y="3077955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19.  </a:t>
            </a:r>
            <a:endParaRPr lang="be-BY" dirty="0"/>
          </a:p>
        </p:txBody>
      </p:sp>
      <p:sp>
        <p:nvSpPr>
          <p:cNvPr id="11" name="TextBox 10"/>
          <p:cNvSpPr txBox="1"/>
          <p:nvPr/>
        </p:nvSpPr>
        <p:spPr>
          <a:xfrm>
            <a:off x="3294390" y="3447287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20.  </a:t>
            </a:r>
            <a:endParaRPr lang="be-BY" dirty="0"/>
          </a:p>
        </p:txBody>
      </p:sp>
      <p:sp>
        <p:nvSpPr>
          <p:cNvPr id="12" name="TextBox 11"/>
          <p:cNvSpPr txBox="1"/>
          <p:nvPr/>
        </p:nvSpPr>
        <p:spPr>
          <a:xfrm>
            <a:off x="3294390" y="3821542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21.  </a:t>
            </a:r>
            <a:endParaRPr lang="be-BY" dirty="0"/>
          </a:p>
        </p:txBody>
      </p:sp>
      <p:sp>
        <p:nvSpPr>
          <p:cNvPr id="13" name="TextBox 12"/>
          <p:cNvSpPr txBox="1"/>
          <p:nvPr/>
        </p:nvSpPr>
        <p:spPr>
          <a:xfrm>
            <a:off x="3287688" y="4190874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22.  </a:t>
            </a:r>
            <a:endParaRPr lang="be-BY" dirty="0"/>
          </a:p>
        </p:txBody>
      </p:sp>
      <p:sp>
        <p:nvSpPr>
          <p:cNvPr id="14" name="TextBox 13"/>
          <p:cNvSpPr txBox="1"/>
          <p:nvPr/>
        </p:nvSpPr>
        <p:spPr>
          <a:xfrm>
            <a:off x="3294390" y="4560206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23.  </a:t>
            </a:r>
            <a:endParaRPr lang="be-BY" dirty="0"/>
          </a:p>
        </p:txBody>
      </p:sp>
      <p:sp>
        <p:nvSpPr>
          <p:cNvPr id="15" name="TextBox 14"/>
          <p:cNvSpPr txBox="1"/>
          <p:nvPr/>
        </p:nvSpPr>
        <p:spPr>
          <a:xfrm>
            <a:off x="3294390" y="4929538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24.  </a:t>
            </a:r>
            <a:endParaRPr lang="be-BY" dirty="0"/>
          </a:p>
        </p:txBody>
      </p:sp>
      <p:sp>
        <p:nvSpPr>
          <p:cNvPr id="16" name="TextBox 15"/>
          <p:cNvSpPr txBox="1"/>
          <p:nvPr/>
        </p:nvSpPr>
        <p:spPr>
          <a:xfrm>
            <a:off x="3294390" y="5303793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25.  </a:t>
            </a:r>
            <a:endParaRPr lang="be-BY" dirty="0"/>
          </a:p>
        </p:txBody>
      </p:sp>
      <p:sp>
        <p:nvSpPr>
          <p:cNvPr id="17" name="TextBox 16"/>
          <p:cNvSpPr txBox="1"/>
          <p:nvPr/>
        </p:nvSpPr>
        <p:spPr>
          <a:xfrm>
            <a:off x="3287688" y="5673125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26.  </a:t>
            </a:r>
            <a:endParaRPr lang="be-BY" dirty="0"/>
          </a:p>
        </p:txBody>
      </p:sp>
      <p:sp>
        <p:nvSpPr>
          <p:cNvPr id="18" name="TextBox 17"/>
          <p:cNvSpPr txBox="1"/>
          <p:nvPr/>
        </p:nvSpPr>
        <p:spPr>
          <a:xfrm>
            <a:off x="3294390" y="6042457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27.  </a:t>
            </a:r>
            <a:endParaRPr lang="be-BY" dirty="0"/>
          </a:p>
        </p:txBody>
      </p:sp>
      <p:sp>
        <p:nvSpPr>
          <p:cNvPr id="19" name="TextBox 18"/>
          <p:cNvSpPr txBox="1"/>
          <p:nvPr/>
        </p:nvSpPr>
        <p:spPr>
          <a:xfrm>
            <a:off x="3294390" y="6411789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28.  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1910108330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34097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</a:rPr>
              <a:t>// - </a:t>
            </a:r>
            <a:r>
              <a:rPr lang="en-US" sz="1600" dirty="0" err="1">
                <a:solidFill>
                  <a:srgbClr val="008000"/>
                </a:solidFill>
              </a:rPr>
              <a:t>Levenshtein.h</a:t>
            </a:r>
            <a:r>
              <a:rPr lang="en-US" sz="1600" dirty="0">
                <a:solidFill>
                  <a:srgbClr val="008000"/>
                </a:solidFill>
              </a:rPr>
              <a:t>  </a:t>
            </a:r>
          </a:p>
          <a:p>
            <a:r>
              <a:rPr lang="be-BY" sz="1600" dirty="0">
                <a:solidFill>
                  <a:srgbClr val="008000"/>
                </a:solidFill>
              </a:rPr>
              <a:t>// -- дистанции   Левеншт</a:t>
            </a:r>
            <a:r>
              <a:rPr lang="en-US" sz="1600" dirty="0">
                <a:solidFill>
                  <a:srgbClr val="008000"/>
                </a:solidFill>
              </a:rPr>
              <a:t>e</a:t>
            </a:r>
            <a:r>
              <a:rPr lang="be-BY" sz="1600" dirty="0">
                <a:solidFill>
                  <a:srgbClr val="008000"/>
                </a:solidFill>
              </a:rPr>
              <a:t>йна (рекурсия)</a:t>
            </a:r>
          </a:p>
          <a:p>
            <a:r>
              <a:rPr lang="en-US" sz="1600" dirty="0" err="1">
                <a:solidFill>
                  <a:srgbClr val="0000FF"/>
                </a:solidFill>
              </a:rPr>
              <a:t>int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levenshtein_r</a:t>
            </a:r>
            <a:r>
              <a:rPr lang="en-US" sz="1600" dirty="0">
                <a:solidFill>
                  <a:prstClr val="black"/>
                </a:solidFill>
              </a:rPr>
              <a:t>(  </a:t>
            </a:r>
          </a:p>
          <a:p>
            <a:r>
              <a:rPr lang="ru-RU" sz="1600" dirty="0">
                <a:solidFill>
                  <a:prstClr val="black"/>
                </a:solidFill>
              </a:rPr>
              <a:t>                 </a:t>
            </a:r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lx</a:t>
            </a:r>
            <a:r>
              <a:rPr lang="ru-RU" sz="1600" dirty="0">
                <a:solidFill>
                  <a:prstClr val="black"/>
                </a:solidFill>
              </a:rPr>
              <a:t>,           </a:t>
            </a:r>
            <a:r>
              <a:rPr lang="ru-RU" sz="1600" dirty="0">
                <a:solidFill>
                  <a:srgbClr val="008000"/>
                </a:solidFill>
              </a:rPr>
              <a:t>// длина строки x </a:t>
            </a:r>
          </a:p>
          <a:p>
            <a:r>
              <a:rPr lang="ru-RU" sz="1600" dirty="0">
                <a:solidFill>
                  <a:prstClr val="black"/>
                </a:solidFill>
              </a:rPr>
              <a:t>		     </a:t>
            </a:r>
            <a:r>
              <a:rPr lang="ru-RU" sz="1600" dirty="0" err="1">
                <a:solidFill>
                  <a:srgbClr val="0000FF"/>
                </a:solidFill>
              </a:rPr>
              <a:t>const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srgbClr val="0000FF"/>
                </a:solidFill>
              </a:rPr>
              <a:t>char</a:t>
            </a:r>
            <a:r>
              <a:rPr lang="ru-RU" sz="1600" dirty="0">
                <a:solidFill>
                  <a:prstClr val="black"/>
                </a:solidFill>
              </a:rPr>
              <a:t> x[],   </a:t>
            </a:r>
            <a:r>
              <a:rPr lang="ru-RU" sz="1600" dirty="0">
                <a:solidFill>
                  <a:srgbClr val="008000"/>
                </a:solidFill>
              </a:rPr>
              <a:t>// строка длиной </a:t>
            </a:r>
            <a:r>
              <a:rPr lang="ru-RU" sz="1600" dirty="0" err="1">
                <a:solidFill>
                  <a:srgbClr val="008000"/>
                </a:solidFill>
              </a:rPr>
              <a:t>lx</a:t>
            </a:r>
            <a:endParaRPr lang="ru-RU" sz="1600" dirty="0">
              <a:solidFill>
                <a:srgbClr val="008000"/>
              </a:solidFill>
            </a:endParaRPr>
          </a:p>
          <a:p>
            <a:r>
              <a:rPr lang="ru-RU" sz="1600" dirty="0">
                <a:solidFill>
                  <a:prstClr val="black"/>
                </a:solidFill>
              </a:rPr>
              <a:t>		     </a:t>
            </a:r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ru-RU" sz="1600" dirty="0" err="1">
                <a:solidFill>
                  <a:prstClr val="black"/>
                </a:solidFill>
              </a:rPr>
              <a:t>ly</a:t>
            </a:r>
            <a:r>
              <a:rPr lang="ru-RU" sz="1600" dirty="0">
                <a:solidFill>
                  <a:prstClr val="black"/>
                </a:solidFill>
              </a:rPr>
              <a:t>,           </a:t>
            </a:r>
            <a:r>
              <a:rPr lang="ru-RU" sz="1600" dirty="0">
                <a:solidFill>
                  <a:srgbClr val="008000"/>
                </a:solidFill>
              </a:rPr>
              <a:t>// длина строки y</a:t>
            </a:r>
          </a:p>
          <a:p>
            <a:r>
              <a:rPr lang="es-ES" sz="1600" dirty="0">
                <a:solidFill>
                  <a:prstClr val="black"/>
                </a:solidFill>
              </a:rPr>
              <a:t>		     </a:t>
            </a:r>
            <a:r>
              <a:rPr lang="es-ES" sz="1600" dirty="0" err="1">
                <a:solidFill>
                  <a:srgbClr val="0000FF"/>
                </a:solidFill>
              </a:rPr>
              <a:t>const</a:t>
            </a:r>
            <a:r>
              <a:rPr lang="es-ES" sz="1600" dirty="0">
                <a:solidFill>
                  <a:prstClr val="black"/>
                </a:solidFill>
              </a:rPr>
              <a:t> </a:t>
            </a:r>
            <a:r>
              <a:rPr lang="es-ES" sz="1600" dirty="0" err="1">
                <a:solidFill>
                  <a:srgbClr val="0000FF"/>
                </a:solidFill>
              </a:rPr>
              <a:t>char</a:t>
            </a:r>
            <a:r>
              <a:rPr lang="es-ES" sz="1600" dirty="0">
                <a:solidFill>
                  <a:prstClr val="black"/>
                </a:solidFill>
              </a:rPr>
              <a:t> y[]    </a:t>
            </a:r>
            <a:r>
              <a:rPr lang="es-ES" sz="1600" dirty="0">
                <a:solidFill>
                  <a:srgbClr val="008000"/>
                </a:solidFill>
              </a:rPr>
              <a:t>// </a:t>
            </a:r>
            <a:r>
              <a:rPr lang="es-ES" sz="1600" dirty="0" err="1">
                <a:solidFill>
                  <a:srgbClr val="008000"/>
                </a:solidFill>
              </a:rPr>
              <a:t>строка</a:t>
            </a:r>
            <a:r>
              <a:rPr lang="es-ES" sz="1600" dirty="0">
                <a:solidFill>
                  <a:srgbClr val="008000"/>
                </a:solidFill>
              </a:rPr>
              <a:t> y</a:t>
            </a:r>
          </a:p>
          <a:p>
            <a:r>
              <a:rPr lang="be-BY" sz="1600" dirty="0">
                <a:solidFill>
                  <a:prstClr val="black"/>
                </a:solidFill>
              </a:rPr>
              <a:t>                 );</a:t>
            </a:r>
            <a:endParaRPr lang="be-BY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24000" y="2087464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</a:rPr>
              <a:t>// - Levenshtein.cpp 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#include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A31515"/>
                </a:solidFill>
              </a:rPr>
              <a:t>"</a:t>
            </a:r>
            <a:r>
              <a:rPr lang="en-US" sz="1600" dirty="0" err="1">
                <a:solidFill>
                  <a:srgbClr val="A31515"/>
                </a:solidFill>
              </a:rPr>
              <a:t>stdafx.h</a:t>
            </a:r>
            <a:r>
              <a:rPr lang="en-US" sz="1600" dirty="0">
                <a:solidFill>
                  <a:srgbClr val="A31515"/>
                </a:solidFill>
              </a:rPr>
              <a:t>"</a:t>
            </a:r>
          </a:p>
          <a:p>
            <a:r>
              <a:rPr lang="en-US" sz="1600" dirty="0">
                <a:solidFill>
                  <a:srgbClr val="0000FF"/>
                </a:solidFill>
              </a:rPr>
              <a:t>#include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A31515"/>
                </a:solidFill>
              </a:rPr>
              <a:t>&lt;algorithm&gt;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#include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A31515"/>
                </a:solidFill>
              </a:rPr>
              <a:t>"</a:t>
            </a:r>
            <a:r>
              <a:rPr lang="en-US" sz="1600" dirty="0" err="1">
                <a:solidFill>
                  <a:srgbClr val="A31515"/>
                </a:solidFill>
              </a:rPr>
              <a:t>Levenshtein.h</a:t>
            </a:r>
            <a:r>
              <a:rPr lang="en-US" sz="1600" dirty="0">
                <a:solidFill>
                  <a:srgbClr val="A31515"/>
                </a:solidFill>
              </a:rPr>
              <a:t>"</a:t>
            </a:r>
          </a:p>
          <a:p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min3(</a:t>
            </a:r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x1, </a:t>
            </a:r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x2, </a:t>
            </a:r>
            <a:r>
              <a:rPr lang="ru-RU" sz="1600" dirty="0" err="1">
                <a:solidFill>
                  <a:srgbClr val="0000FF"/>
                </a:solidFill>
              </a:rPr>
              <a:t>int</a:t>
            </a:r>
            <a:r>
              <a:rPr lang="ru-RU" sz="1600" dirty="0">
                <a:solidFill>
                  <a:prstClr val="black"/>
                </a:solidFill>
              </a:rPr>
              <a:t> x3) </a:t>
            </a:r>
            <a:r>
              <a:rPr lang="ru-RU" sz="1600" dirty="0">
                <a:solidFill>
                  <a:srgbClr val="008000"/>
                </a:solidFill>
              </a:rPr>
              <a:t>// выбрать минимум из 3х </a:t>
            </a:r>
          </a:p>
          <a:p>
            <a:r>
              <a:rPr lang="en-US" sz="1600" dirty="0">
                <a:solidFill>
                  <a:prstClr val="black"/>
                </a:solidFill>
              </a:rPr>
              <a:t>{ </a:t>
            </a:r>
            <a:r>
              <a:rPr lang="en-US" sz="1600" dirty="0">
                <a:solidFill>
                  <a:srgbClr val="0000FF"/>
                </a:solidFill>
              </a:rPr>
              <a:t>return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std</a:t>
            </a:r>
            <a:r>
              <a:rPr lang="en-US" sz="1600" dirty="0">
                <a:solidFill>
                  <a:prstClr val="black"/>
                </a:solidFill>
              </a:rPr>
              <a:t>::min(</a:t>
            </a:r>
            <a:r>
              <a:rPr lang="en-US" sz="1600" dirty="0" err="1">
                <a:solidFill>
                  <a:prstClr val="black"/>
                </a:solidFill>
              </a:rPr>
              <a:t>std</a:t>
            </a:r>
            <a:r>
              <a:rPr lang="en-US" sz="1600" dirty="0">
                <a:solidFill>
                  <a:prstClr val="black"/>
                </a:solidFill>
              </a:rPr>
              <a:t>::min(x1,x2),x3); }</a:t>
            </a:r>
          </a:p>
          <a:p>
            <a:r>
              <a:rPr lang="en-US" sz="1600" dirty="0" err="1">
                <a:solidFill>
                  <a:srgbClr val="0000FF"/>
                </a:solidFill>
              </a:rPr>
              <a:t>int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levenshtein_r</a:t>
            </a:r>
            <a:r>
              <a:rPr lang="en-US" sz="1600" dirty="0">
                <a:solidFill>
                  <a:prstClr val="black"/>
                </a:solidFill>
              </a:rPr>
              <a:t>(</a:t>
            </a:r>
          </a:p>
          <a:p>
            <a:r>
              <a:rPr lang="fr-FR" sz="1600" dirty="0">
                <a:solidFill>
                  <a:prstClr val="black"/>
                </a:solidFill>
              </a:rPr>
              <a:t>                 </a:t>
            </a:r>
            <a:r>
              <a:rPr lang="fr-FR" sz="1600" dirty="0" err="1">
                <a:solidFill>
                  <a:srgbClr val="0000FF"/>
                </a:solidFill>
              </a:rPr>
              <a:t>int</a:t>
            </a:r>
            <a:r>
              <a:rPr lang="fr-FR" sz="1600" dirty="0">
                <a:solidFill>
                  <a:prstClr val="black"/>
                </a:solidFill>
              </a:rPr>
              <a:t> lx, </a:t>
            </a:r>
            <a:r>
              <a:rPr lang="fr-FR" sz="1600" dirty="0" err="1">
                <a:solidFill>
                  <a:srgbClr val="0000FF"/>
                </a:solidFill>
              </a:rPr>
              <a:t>const</a:t>
            </a:r>
            <a:r>
              <a:rPr lang="fr-FR" sz="1600" dirty="0">
                <a:solidFill>
                  <a:prstClr val="black"/>
                </a:solidFill>
              </a:rPr>
              <a:t> </a:t>
            </a:r>
            <a:r>
              <a:rPr lang="fr-FR" sz="1600" dirty="0">
                <a:solidFill>
                  <a:srgbClr val="0000FF"/>
                </a:solidFill>
              </a:rPr>
              <a:t>char</a:t>
            </a:r>
            <a:r>
              <a:rPr lang="fr-FR" sz="1600" dirty="0">
                <a:solidFill>
                  <a:prstClr val="black"/>
                </a:solidFill>
              </a:rPr>
              <a:t> x[],</a:t>
            </a:r>
          </a:p>
          <a:p>
            <a:r>
              <a:rPr lang="fr-FR" sz="1600" dirty="0">
                <a:solidFill>
                  <a:prstClr val="black"/>
                </a:solidFill>
              </a:rPr>
              <a:t>                 </a:t>
            </a:r>
            <a:r>
              <a:rPr lang="fr-FR" sz="1600" dirty="0" err="1">
                <a:solidFill>
                  <a:srgbClr val="0000FF"/>
                </a:solidFill>
              </a:rPr>
              <a:t>int</a:t>
            </a:r>
            <a:r>
              <a:rPr lang="fr-FR" sz="1600" dirty="0">
                <a:solidFill>
                  <a:prstClr val="black"/>
                </a:solidFill>
              </a:rPr>
              <a:t> </a:t>
            </a:r>
            <a:r>
              <a:rPr lang="fr-FR" sz="1600" dirty="0" err="1">
                <a:solidFill>
                  <a:prstClr val="black"/>
                </a:solidFill>
              </a:rPr>
              <a:t>ly</a:t>
            </a:r>
            <a:r>
              <a:rPr lang="fr-FR" sz="1600" dirty="0">
                <a:solidFill>
                  <a:prstClr val="black"/>
                </a:solidFill>
              </a:rPr>
              <a:t>, </a:t>
            </a:r>
            <a:r>
              <a:rPr lang="fr-FR" sz="1600" dirty="0" err="1">
                <a:solidFill>
                  <a:srgbClr val="0000FF"/>
                </a:solidFill>
              </a:rPr>
              <a:t>const</a:t>
            </a:r>
            <a:r>
              <a:rPr lang="fr-FR" sz="1600" dirty="0">
                <a:solidFill>
                  <a:prstClr val="black"/>
                </a:solidFill>
              </a:rPr>
              <a:t> </a:t>
            </a:r>
            <a:r>
              <a:rPr lang="fr-FR" sz="1600" dirty="0">
                <a:solidFill>
                  <a:srgbClr val="0000FF"/>
                </a:solidFill>
              </a:rPr>
              <a:t>char</a:t>
            </a:r>
            <a:r>
              <a:rPr lang="fr-FR" sz="1600" dirty="0">
                <a:solidFill>
                  <a:prstClr val="black"/>
                </a:solidFill>
              </a:rPr>
              <a:t> y[] </a:t>
            </a:r>
            <a:r>
              <a:rPr lang="be-BY" sz="1600" dirty="0">
                <a:solidFill>
                  <a:prstClr val="black"/>
                </a:solidFill>
              </a:rPr>
              <a:t>)</a:t>
            </a:r>
          </a:p>
          <a:p>
            <a:r>
              <a:rPr lang="be-BY" sz="1600" dirty="0">
                <a:solidFill>
                  <a:prstClr val="black"/>
                </a:solidFill>
              </a:rPr>
              <a:t>{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srgbClr val="0000FF"/>
                </a:solidFill>
              </a:rPr>
              <a:t>int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0;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if</a:t>
            </a:r>
            <a:r>
              <a:rPr lang="en-US" sz="1600" dirty="0">
                <a:solidFill>
                  <a:prstClr val="black"/>
                </a:solidFill>
              </a:rPr>
              <a:t>        (lx == 0)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</a:t>
            </a:r>
            <a:r>
              <a:rPr lang="en-US" sz="1600" dirty="0" err="1">
                <a:solidFill>
                  <a:prstClr val="black"/>
                </a:solidFill>
              </a:rPr>
              <a:t>ly</a:t>
            </a:r>
            <a:r>
              <a:rPr lang="en-US" sz="1600" dirty="0">
                <a:solidFill>
                  <a:prstClr val="black"/>
                </a:solidFill>
              </a:rPr>
              <a:t>;              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else</a:t>
            </a:r>
            <a:r>
              <a:rPr lang="en-US" sz="1600" dirty="0">
                <a:solidFill>
                  <a:prstClr val="black"/>
                </a:solidFill>
              </a:rPr>
              <a:t>  </a:t>
            </a:r>
            <a:r>
              <a:rPr lang="en-US" sz="1600" dirty="0">
                <a:solidFill>
                  <a:srgbClr val="0000FF"/>
                </a:solidFill>
              </a:rPr>
              <a:t>if</a:t>
            </a:r>
            <a:r>
              <a:rPr lang="en-US" sz="1600" dirty="0">
                <a:solidFill>
                  <a:prstClr val="black"/>
                </a:solidFill>
              </a:rPr>
              <a:t>  (</a:t>
            </a:r>
            <a:r>
              <a:rPr lang="en-US" sz="1600" dirty="0" err="1">
                <a:solidFill>
                  <a:prstClr val="black"/>
                </a:solidFill>
              </a:rPr>
              <a:t>ly</a:t>
            </a:r>
            <a:r>
              <a:rPr lang="en-US" sz="1600" dirty="0">
                <a:solidFill>
                  <a:prstClr val="black"/>
                </a:solidFill>
              </a:rPr>
              <a:t> == 0)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lx;              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else</a:t>
            </a:r>
            <a:r>
              <a:rPr lang="en-US" sz="1600" dirty="0">
                <a:solidFill>
                  <a:prstClr val="black"/>
                </a:solidFill>
              </a:rPr>
              <a:t>  </a:t>
            </a:r>
            <a:r>
              <a:rPr lang="en-US" sz="1600" dirty="0">
                <a:solidFill>
                  <a:srgbClr val="0000FF"/>
                </a:solidFill>
              </a:rPr>
              <a:t>if</a:t>
            </a:r>
            <a:r>
              <a:rPr lang="en-US" sz="1600" dirty="0">
                <a:solidFill>
                  <a:prstClr val="black"/>
                </a:solidFill>
              </a:rPr>
              <a:t>  (lx == 1 &amp;&amp; </a:t>
            </a:r>
            <a:r>
              <a:rPr lang="en-US" sz="1600" dirty="0" err="1">
                <a:solidFill>
                  <a:prstClr val="black"/>
                </a:solidFill>
              </a:rPr>
              <a:t>ly</a:t>
            </a:r>
            <a:r>
              <a:rPr lang="en-US" sz="1600" dirty="0">
                <a:solidFill>
                  <a:prstClr val="black"/>
                </a:solidFill>
              </a:rPr>
              <a:t> == 1 &amp;&amp; x[0] == y[0])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0;  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else</a:t>
            </a:r>
            <a:r>
              <a:rPr lang="en-US" sz="1600" dirty="0">
                <a:solidFill>
                  <a:prstClr val="black"/>
                </a:solidFill>
              </a:rPr>
              <a:t>  </a:t>
            </a:r>
            <a:r>
              <a:rPr lang="en-US" sz="1600" dirty="0">
                <a:solidFill>
                  <a:srgbClr val="0000FF"/>
                </a:solidFill>
              </a:rPr>
              <a:t>if</a:t>
            </a:r>
            <a:r>
              <a:rPr lang="en-US" sz="1600" dirty="0">
                <a:solidFill>
                  <a:prstClr val="black"/>
                </a:solidFill>
              </a:rPr>
              <a:t>  (lx == 1 &amp;&amp; </a:t>
            </a:r>
            <a:r>
              <a:rPr lang="en-US" sz="1600" dirty="0" err="1">
                <a:solidFill>
                  <a:prstClr val="black"/>
                </a:solidFill>
              </a:rPr>
              <a:t>ly</a:t>
            </a:r>
            <a:r>
              <a:rPr lang="en-US" sz="1600" dirty="0">
                <a:solidFill>
                  <a:prstClr val="black"/>
                </a:solidFill>
              </a:rPr>
              <a:t> == 1 &amp;&amp; x[0] != y[0])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1;   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else</a:t>
            </a:r>
            <a:r>
              <a:rPr lang="en-US" sz="1600" dirty="0">
                <a:solidFill>
                  <a:prstClr val="black"/>
                </a:solidFill>
              </a:rPr>
              <a:t> 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 = min3(</a:t>
            </a:r>
          </a:p>
          <a:p>
            <a:r>
              <a:rPr lang="nn-NO" sz="1600" dirty="0">
                <a:solidFill>
                  <a:prstClr val="black"/>
                </a:solidFill>
              </a:rPr>
              <a:t>              levenshtein_r(lx-1, x, ly,   y)+1,       </a:t>
            </a:r>
          </a:p>
          <a:p>
            <a:r>
              <a:rPr lang="nn-NO" sz="1600" dirty="0">
                <a:solidFill>
                  <a:prstClr val="black"/>
                </a:solidFill>
              </a:rPr>
              <a:t>	        levenshtein_r(lx,   x, ly-1, y)+1,       </a:t>
            </a:r>
          </a:p>
          <a:p>
            <a:r>
              <a:rPr lang="es-ES" sz="1600" dirty="0">
                <a:solidFill>
                  <a:prstClr val="black"/>
                </a:solidFill>
              </a:rPr>
              <a:t>		  </a:t>
            </a:r>
            <a:r>
              <a:rPr lang="es-ES" sz="1600" dirty="0" err="1">
                <a:solidFill>
                  <a:prstClr val="black"/>
                </a:solidFill>
              </a:rPr>
              <a:t>levenshtein_r</a:t>
            </a:r>
            <a:r>
              <a:rPr lang="es-ES" sz="1600" dirty="0">
                <a:solidFill>
                  <a:prstClr val="black"/>
                </a:solidFill>
              </a:rPr>
              <a:t>(lx-1, x, ly-1, y)+(x[lx-1] == y[ly-1]?0:1)     </a:t>
            </a:r>
            <a:r>
              <a:rPr lang="be-BY" sz="1600" dirty="0">
                <a:solidFill>
                  <a:prstClr val="black"/>
                </a:solidFill>
              </a:rPr>
              <a:t> );  </a:t>
            </a:r>
          </a:p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>
                <a:solidFill>
                  <a:srgbClr val="0000FF"/>
                </a:solidFill>
              </a:rPr>
              <a:t>return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rc</a:t>
            </a:r>
            <a:r>
              <a:rPr lang="en-US" sz="1600" dirty="0">
                <a:solidFill>
                  <a:prstClr val="black"/>
                </a:solidFill>
              </a:rPr>
              <a:t>;</a:t>
            </a:r>
            <a:r>
              <a:rPr lang="ru-RU" sz="1600" dirty="0">
                <a:solidFill>
                  <a:prstClr val="black"/>
                </a:solidFill>
              </a:rPr>
              <a:t> </a:t>
            </a:r>
            <a:r>
              <a:rPr lang="be-BY" sz="1600" dirty="0">
                <a:solidFill>
                  <a:prstClr val="black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76368792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55909" y="404128"/>
            <a:ext cx="1029714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Решение задачи о расстановке </a:t>
            </a:r>
            <a:endParaRPr lang="en-US" sz="3200" b="1" dirty="0">
              <a:solidFill>
                <a:srgbClr val="C00000"/>
              </a:solidFill>
            </a:endParaRPr>
          </a:p>
          <a:p>
            <a:pPr algn="ctr"/>
            <a:r>
              <a:rPr lang="ru-RU" sz="3200" b="1" dirty="0">
                <a:solidFill>
                  <a:srgbClr val="C00000"/>
                </a:solidFill>
              </a:rPr>
              <a:t>скобок при перемножении матриц</a:t>
            </a:r>
            <a:endParaRPr lang="be-BY" sz="3200" dirty="0">
              <a:solidFill>
                <a:srgbClr val="C00000"/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700808"/>
            <a:ext cx="10818162" cy="408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235348481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55909" y="404128"/>
            <a:ext cx="1029714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Решение задачи о расстановке </a:t>
            </a:r>
            <a:endParaRPr lang="en-US" sz="3200" b="1" dirty="0">
              <a:solidFill>
                <a:srgbClr val="C00000"/>
              </a:solidFill>
            </a:endParaRPr>
          </a:p>
          <a:p>
            <a:pPr algn="ctr"/>
            <a:r>
              <a:rPr lang="ru-RU" sz="3200" b="1" dirty="0">
                <a:solidFill>
                  <a:srgbClr val="C00000"/>
                </a:solidFill>
              </a:rPr>
              <a:t>скобок при перемножении матриц</a:t>
            </a:r>
            <a:endParaRPr lang="be-BY" sz="32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17EAD9-5BD5-4A93-A8C1-96BC784DB2BE}"/>
                  </a:ext>
                </a:extLst>
              </p:cNvPr>
              <p:cNvSpPr txBox="1"/>
              <p:nvPr/>
            </p:nvSpPr>
            <p:spPr>
              <a:xfrm>
                <a:off x="695400" y="2060848"/>
                <a:ext cx="1087320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Рассмотрим произведение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матриц 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</a:t>
                </a:r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</a:t>
                </a:r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</a:t>
                </a:r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имеющих размерности соответственно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минимальное возможное количество операций умножения при вычислении произведения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j.</a:t>
                </a:r>
              </a:p>
              <a:p>
                <a:pPr algn="just"/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i,i+1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</a:t>
                </a:r>
              </a:p>
              <a:p>
                <a:pPr algn="just"/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i,i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</a:p>
              <a:p>
                <a:pPr algn="just"/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Разобьем произведение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следующим образом: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i,k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k+1,j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14:m>
                  <m:oMath xmlns:m="http://schemas.openxmlformats.org/officeDocument/2006/math">
                    <m:r>
                      <a:rPr lang="ru-RU" sz="28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Индекс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называть точкой разрыва.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17EAD9-5BD5-4A93-A8C1-96BC784DB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2060848"/>
                <a:ext cx="10873208" cy="3970318"/>
              </a:xfrm>
              <a:prstGeom prst="rect">
                <a:avLst/>
              </a:prstGeom>
              <a:blipFill>
                <a:blip r:embed="rId2"/>
                <a:stretch>
                  <a:fillRect l="-1121" t="-1536" r="-1177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081404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507365"/>
              </p:ext>
            </p:extLst>
          </p:nvPr>
        </p:nvGraphicFramePr>
        <p:xfrm>
          <a:off x="1560760" y="3448165"/>
          <a:ext cx="957580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9" name="Формула" r:id="rId3" imgW="3352800" imgH="1003300" progId="Equation.3">
                  <p:embed/>
                </p:oleObj>
              </mc:Choice>
              <mc:Fallback>
                <p:oleObj name="Формула" r:id="rId3" imgW="3352800" imgH="1003300" progId="Equation.3">
                  <p:embed/>
                  <p:pic>
                    <p:nvPicPr>
                      <p:cNvPr id="4" name="Объект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760" y="3448165"/>
                        <a:ext cx="9575800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055440" y="188640"/>
            <a:ext cx="100811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Рекуррентное соотношение, позволяющее вычислить минимальное количество операций умножения: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699FC7-13C8-45A0-B684-7817C658CFCC}"/>
              </a:ext>
            </a:extLst>
          </p:cNvPr>
          <p:cNvSpPr/>
          <p:nvPr/>
        </p:nvSpPr>
        <p:spPr>
          <a:xfrm>
            <a:off x="1108378" y="1556792"/>
            <a:ext cx="102971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Возьмите последовательность матриц и разделите ее на две подпоследовательности.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минимальную стоимость умножения каждой подпоследовательности.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Сложите эти затраты вместе и добавьте стоимость умножения двух результирующих матриц.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Сделайте это для каждой возможной позиции, в которой последовательность матриц может быть разделена, и возьмите минимум для всех из них.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50E94C-945E-48B2-BC4A-079AE032C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360" y="5373216"/>
            <a:ext cx="981212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70020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1988840"/>
            <a:ext cx="13609511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83432" y="476672"/>
            <a:ext cx="105131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Определим минимальное количество операций умножения для матриц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из рассмотренного выше примера: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ru-RU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2132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91544" y="3501008"/>
            <a:ext cx="89289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</a:rPr>
              <a:t>//- </a:t>
            </a:r>
            <a:r>
              <a:rPr lang="en-US" sz="2000" dirty="0" err="1">
                <a:solidFill>
                  <a:srgbClr val="008000"/>
                </a:solidFill>
              </a:rPr>
              <a:t>MultiMatrix.h</a:t>
            </a:r>
            <a:r>
              <a:rPr lang="en-US" sz="2000" dirty="0">
                <a:solidFill>
                  <a:srgbClr val="008000"/>
                </a:solidFill>
              </a:rPr>
              <a:t>  </a:t>
            </a:r>
          </a:p>
          <a:p>
            <a:r>
              <a:rPr lang="ru-RU" sz="2000" dirty="0">
                <a:solidFill>
                  <a:srgbClr val="0000FF"/>
                </a:solidFill>
              </a:rPr>
              <a:t>#</a:t>
            </a:r>
            <a:r>
              <a:rPr lang="ru-RU" sz="2000" dirty="0" err="1">
                <a:solidFill>
                  <a:srgbClr val="0000FF"/>
                </a:solidFill>
              </a:rPr>
              <a:t>define</a:t>
            </a:r>
            <a:r>
              <a:rPr lang="ru-RU" sz="2000" dirty="0">
                <a:solidFill>
                  <a:prstClr val="black"/>
                </a:solidFill>
              </a:rPr>
              <a:t> OPTIMALM_PARM(x) ((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*)x) </a:t>
            </a:r>
            <a:r>
              <a:rPr lang="ru-RU" sz="2000" dirty="0">
                <a:solidFill>
                  <a:srgbClr val="008000"/>
                </a:solidFill>
              </a:rPr>
              <a:t>// </a:t>
            </a:r>
            <a:r>
              <a:rPr lang="ru-RU" sz="2000" dirty="0" err="1">
                <a:solidFill>
                  <a:srgbClr val="008000"/>
                </a:solidFill>
              </a:rPr>
              <a:t>представлениe</a:t>
            </a:r>
            <a:r>
              <a:rPr lang="ru-RU" sz="2000" dirty="0">
                <a:solidFill>
                  <a:srgbClr val="008000"/>
                </a:solidFill>
              </a:rPr>
              <a:t> двумерного массива</a:t>
            </a:r>
          </a:p>
          <a:p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OptimalM</a:t>
            </a:r>
            <a:r>
              <a:rPr lang="en-US" sz="2000" dirty="0">
                <a:solidFill>
                  <a:prstClr val="black"/>
                </a:solidFill>
              </a:rPr>
              <a:t>(           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			 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 i,        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in</a:t>
            </a:r>
            <a:r>
              <a:rPr lang="ru-RU" sz="2000" dirty="0">
                <a:solidFill>
                  <a:srgbClr val="008000"/>
                </a:solidFill>
              </a:rPr>
              <a:t>] номер первой матрицы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			 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 j,        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in</a:t>
            </a:r>
            <a:r>
              <a:rPr lang="ru-RU" sz="2000" dirty="0">
                <a:solidFill>
                  <a:srgbClr val="008000"/>
                </a:solidFill>
              </a:rPr>
              <a:t>] номер последней матрицы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			 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 n,        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in</a:t>
            </a:r>
            <a:r>
              <a:rPr lang="ru-RU" sz="2000" dirty="0">
                <a:solidFill>
                  <a:srgbClr val="008000"/>
                </a:solidFill>
              </a:rPr>
              <a:t>] количество матриц</a:t>
            </a:r>
          </a:p>
          <a:p>
            <a:r>
              <a:rPr lang="ru-RU" sz="2000" dirty="0">
                <a:solidFill>
                  <a:prstClr val="black"/>
                </a:solidFill>
              </a:rPr>
              <a:t>			 </a:t>
            </a:r>
            <a:r>
              <a:rPr lang="ru-RU" sz="2000" dirty="0" err="1">
                <a:solidFill>
                  <a:srgbClr val="0000FF"/>
                </a:solidFill>
              </a:rPr>
              <a:t>const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 c[],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in</a:t>
            </a:r>
            <a:r>
              <a:rPr lang="ru-RU" sz="2000" dirty="0">
                <a:solidFill>
                  <a:srgbClr val="008000"/>
                </a:solidFill>
              </a:rPr>
              <a:t>] массив размерностей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			 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* s        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out</a:t>
            </a:r>
            <a:r>
              <a:rPr lang="ru-RU" sz="2000" dirty="0">
                <a:solidFill>
                  <a:srgbClr val="008000"/>
                </a:solidFill>
              </a:rPr>
              <a:t>] результат: позиции скобок  </a:t>
            </a:r>
          </a:p>
          <a:p>
            <a:r>
              <a:rPr lang="be-BY" sz="2000" dirty="0">
                <a:solidFill>
                  <a:prstClr val="black"/>
                </a:solidFill>
              </a:rPr>
              <a:t>		 ); </a:t>
            </a:r>
            <a:endParaRPr lang="be-BY" sz="2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23392" y="260649"/>
            <a:ext cx="109452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	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ru-RU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OptimalM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реализующая алгоритм поиска оптимальной расстановки скобок при перемножении нескольких матриц.</a:t>
            </a:r>
            <a:endParaRPr lang="ru-RU" sz="2800" dirty="0">
              <a:latin typeface="Bahnschrift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392" y="1485945"/>
            <a:ext cx="108732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	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ru-RU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OptimalM</a:t>
            </a:r>
            <a:r>
              <a:rPr lang="ru-RU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является рекурсивной, так как она в процессе своей работы вызывает саму себя. Дно рекурсии достигается при совпадении значений двух первых параметров функции. </a:t>
            </a:r>
          </a:p>
        </p:txBody>
      </p:sp>
    </p:spTree>
    <p:extLst>
      <p:ext uri="{BB962C8B-B14F-4D97-AF65-F5344CB8AC3E}">
        <p14:creationId xmlns:p14="http://schemas.microsoft.com/office/powerpoint/2010/main" val="500123282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404665"/>
            <a:ext cx="87849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// - MultiMatrix.cpp 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stdafx.h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&lt;</a:t>
            </a:r>
            <a:r>
              <a:rPr lang="en-US" dirty="0" err="1">
                <a:solidFill>
                  <a:srgbClr val="A31515"/>
                </a:solidFill>
              </a:rPr>
              <a:t>memory.h</a:t>
            </a:r>
            <a:r>
              <a:rPr lang="en-US" dirty="0">
                <a:solidFill>
                  <a:srgbClr val="A31515"/>
                </a:solidFill>
              </a:rPr>
              <a:t>&gt;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MultiMatrix.h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en-US" dirty="0">
                <a:solidFill>
                  <a:srgbClr val="0000FF"/>
                </a:solidFill>
              </a:rPr>
              <a:t>#define</a:t>
            </a:r>
            <a:r>
              <a:rPr lang="en-US" dirty="0">
                <a:solidFill>
                  <a:prstClr val="black"/>
                </a:solidFill>
              </a:rPr>
              <a:t> INFINITY  0x7fffffff</a:t>
            </a:r>
          </a:p>
          <a:p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OptimalM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i,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j,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n, </a:t>
            </a:r>
            <a:r>
              <a:rPr lang="en-US" dirty="0" err="1">
                <a:solidFill>
                  <a:srgbClr val="0000FF"/>
                </a:solidFill>
              </a:rPr>
              <a:t>const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c[],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*s) </a:t>
            </a:r>
          </a:p>
          <a:p>
            <a:r>
              <a:rPr lang="be-BY" dirty="0">
                <a:solidFill>
                  <a:prstClr val="black"/>
                </a:solidFill>
              </a:rPr>
              <a:t>{</a:t>
            </a:r>
          </a:p>
          <a:p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>
                <a:solidFill>
                  <a:srgbClr val="0000FF"/>
                </a:solidFill>
              </a:rPr>
              <a:t>#define</a:t>
            </a:r>
            <a:r>
              <a:rPr lang="pt-BR" dirty="0">
                <a:solidFill>
                  <a:prstClr val="black"/>
                </a:solidFill>
              </a:rPr>
              <a:t> OPTIMALM_S(x1,x2)  (s[(x1-1)*n+x2-1])  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o =INFINITY, </a:t>
            </a:r>
            <a:r>
              <a:rPr lang="en-US" dirty="0" err="1">
                <a:solidFill>
                  <a:prstClr val="black"/>
                </a:solidFill>
              </a:rPr>
              <a:t>bo</a:t>
            </a:r>
            <a:r>
              <a:rPr lang="en-US" dirty="0">
                <a:solidFill>
                  <a:prstClr val="black"/>
                </a:solidFill>
              </a:rPr>
              <a:t> = INFINITY;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if</a:t>
            </a:r>
            <a:r>
              <a:rPr lang="en-US" dirty="0">
                <a:solidFill>
                  <a:prstClr val="black"/>
                </a:solidFill>
              </a:rPr>
              <a:t> (i &lt; j) </a:t>
            </a:r>
          </a:p>
          <a:p>
            <a:r>
              <a:rPr lang="be-BY" dirty="0">
                <a:solidFill>
                  <a:prstClr val="black"/>
                </a:solidFill>
              </a:rPr>
              <a:t>  {</a:t>
            </a:r>
          </a:p>
          <a:p>
            <a:r>
              <a:rPr lang="nn-NO" dirty="0">
                <a:solidFill>
                  <a:prstClr val="black"/>
                </a:solidFill>
              </a:rPr>
              <a:t>     </a:t>
            </a:r>
            <a:r>
              <a:rPr lang="nn-NO" dirty="0">
                <a:solidFill>
                  <a:srgbClr val="0000FF"/>
                </a:solidFill>
              </a:rPr>
              <a:t>for</a:t>
            </a:r>
            <a:r>
              <a:rPr lang="nn-NO" dirty="0">
                <a:solidFill>
                  <a:prstClr val="black"/>
                </a:solidFill>
              </a:rPr>
              <a:t> (</a:t>
            </a:r>
            <a:r>
              <a:rPr lang="nn-NO" dirty="0">
                <a:solidFill>
                  <a:srgbClr val="0000FF"/>
                </a:solidFill>
              </a:rPr>
              <a:t>int</a:t>
            </a:r>
            <a:r>
              <a:rPr lang="nn-NO" dirty="0">
                <a:solidFill>
                  <a:prstClr val="black"/>
                </a:solidFill>
              </a:rPr>
              <a:t> k = i; k &lt; j;k++)</a:t>
            </a:r>
          </a:p>
          <a:p>
            <a:r>
              <a:rPr lang="be-BY" dirty="0">
                <a:solidFill>
                  <a:prstClr val="black"/>
                </a:solidFill>
              </a:rPr>
              <a:t>	{</a:t>
            </a:r>
          </a:p>
          <a:p>
            <a:r>
              <a:rPr lang="en-US" dirty="0">
                <a:solidFill>
                  <a:prstClr val="black"/>
                </a:solidFill>
              </a:rPr>
              <a:t>        </a:t>
            </a:r>
            <a:r>
              <a:rPr lang="en-US" dirty="0" err="1">
                <a:solidFill>
                  <a:prstClr val="black"/>
                </a:solidFill>
              </a:rPr>
              <a:t>bo</a:t>
            </a:r>
            <a:r>
              <a:rPr lang="en-US" dirty="0">
                <a:solidFill>
                  <a:prstClr val="black"/>
                </a:solidFill>
              </a:rPr>
              <a:t> = </a:t>
            </a:r>
            <a:r>
              <a:rPr lang="en-US" dirty="0" err="1">
                <a:solidFill>
                  <a:prstClr val="black"/>
                </a:solidFill>
              </a:rPr>
              <a:t>OptimalM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 err="1">
                <a:solidFill>
                  <a:prstClr val="black"/>
                </a:solidFill>
              </a:rPr>
              <a:t>i,k</a:t>
            </a:r>
            <a:r>
              <a:rPr lang="en-US" dirty="0">
                <a:solidFill>
                  <a:prstClr val="black"/>
                </a:solidFill>
              </a:rPr>
              <a:t>, n, c, s)+ </a:t>
            </a:r>
          </a:p>
          <a:p>
            <a:r>
              <a:rPr lang="pt-BR" dirty="0">
                <a:solidFill>
                  <a:prstClr val="black"/>
                </a:solidFill>
              </a:rPr>
              <a:t>             OptimalM(k+1,j,n, c, s)+ c[i- 1]*c[k]*c[j];</a:t>
            </a:r>
          </a:p>
          <a:p>
            <a:r>
              <a:rPr lang="pl-PL" dirty="0">
                <a:solidFill>
                  <a:prstClr val="black"/>
                </a:solidFill>
              </a:rPr>
              <a:t>	  </a:t>
            </a:r>
            <a:r>
              <a:rPr lang="pl-PL" dirty="0">
                <a:solidFill>
                  <a:srgbClr val="0000FF"/>
                </a:solidFill>
              </a:rPr>
              <a:t>if</a:t>
            </a:r>
            <a:r>
              <a:rPr lang="pl-PL" dirty="0">
                <a:solidFill>
                  <a:prstClr val="black"/>
                </a:solidFill>
              </a:rPr>
              <a:t> (bo &lt; o){o = bo; OPTIMALM_S(i,j) = k;}</a:t>
            </a:r>
          </a:p>
          <a:p>
            <a:r>
              <a:rPr lang="be-BY" dirty="0">
                <a:solidFill>
                  <a:prstClr val="black"/>
                </a:solidFill>
              </a:rPr>
              <a:t>	}</a:t>
            </a:r>
          </a:p>
          <a:p>
            <a:r>
              <a:rPr lang="be-BY" dirty="0">
                <a:solidFill>
                  <a:prstClr val="black"/>
                </a:solidFill>
              </a:rPr>
              <a:t>  }</a:t>
            </a:r>
          </a:p>
          <a:p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0000FF"/>
                </a:solidFill>
              </a:rPr>
              <a:t>else</a:t>
            </a:r>
            <a:r>
              <a:rPr lang="en-US" dirty="0">
                <a:solidFill>
                  <a:prstClr val="black"/>
                </a:solidFill>
              </a:rPr>
              <a:t>  o = 0; 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>
                <a:solidFill>
                  <a:prstClr val="black"/>
                </a:solidFill>
              </a:rPr>
              <a:t> o;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#</a:t>
            </a:r>
            <a:r>
              <a:rPr lang="en-US" dirty="0" err="1">
                <a:solidFill>
                  <a:srgbClr val="0000FF"/>
                </a:solidFill>
              </a:rPr>
              <a:t>undef</a:t>
            </a:r>
            <a:r>
              <a:rPr lang="en-US" dirty="0">
                <a:solidFill>
                  <a:prstClr val="black"/>
                </a:solidFill>
              </a:rPr>
              <a:t> OPTIMALM_S             </a:t>
            </a:r>
          </a:p>
          <a:p>
            <a:r>
              <a:rPr lang="be-BY" dirty="0">
                <a:solidFill>
                  <a:prstClr val="black"/>
                </a:solidFill>
              </a:rPr>
              <a:t>};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148328046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t="11936" r="5237" b="12157"/>
          <a:stretch/>
        </p:blipFill>
        <p:spPr bwMode="auto">
          <a:xfrm>
            <a:off x="2207568" y="2924944"/>
            <a:ext cx="7848872" cy="297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055440" y="476672"/>
            <a:ext cx="100091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Расстановку скобок в заданной последовательности матриц можно осуществить с помощью двумерного массива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возвращаемого функцией в последнем параметре. </a:t>
            </a:r>
            <a:endParaRPr lang="ru-RU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653628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980728"/>
            <a:ext cx="1098813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286435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332656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FFC000"/>
                </a:solidFill>
              </a:rPr>
              <a:t>Решение задачи вычисления длины наибольшей общей </a:t>
            </a:r>
            <a:r>
              <a:rPr lang="ru-RU" sz="2800" b="1" dirty="0" err="1">
                <a:solidFill>
                  <a:srgbClr val="FFC000"/>
                </a:solidFill>
              </a:rPr>
              <a:t>подпоследовательности</a:t>
            </a:r>
            <a:r>
              <a:rPr lang="ru-RU" sz="2800" b="1" dirty="0">
                <a:solidFill>
                  <a:srgbClr val="FFC000"/>
                </a:solidFill>
              </a:rPr>
              <a:t> </a:t>
            </a:r>
            <a:endParaRPr lang="be-BY" sz="2800" dirty="0">
              <a:solidFill>
                <a:srgbClr val="FFC000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82" y="1844824"/>
            <a:ext cx="10623044" cy="3684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4468113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16632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FFC000"/>
                </a:solidFill>
              </a:rPr>
              <a:t>Решение задачи вычисления длины наибольшей общей </a:t>
            </a:r>
            <a:r>
              <a:rPr lang="ru-RU" sz="2800" b="1" dirty="0" err="1">
                <a:solidFill>
                  <a:srgbClr val="FFC000"/>
                </a:solidFill>
              </a:rPr>
              <a:t>подпоследовательности</a:t>
            </a:r>
            <a:r>
              <a:rPr lang="ru-RU" sz="2800" b="1" dirty="0">
                <a:solidFill>
                  <a:srgbClr val="FFC000"/>
                </a:solidFill>
              </a:rPr>
              <a:t> </a:t>
            </a:r>
            <a:endParaRPr lang="be-BY" sz="2800" dirty="0">
              <a:solidFill>
                <a:srgbClr val="FFC000"/>
              </a:solidFill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1916832"/>
            <a:ext cx="12694203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0596686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6CCB4-305B-4F67-8A5B-5077955C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FFC000"/>
                </a:solidFill>
              </a:rPr>
              <a:t>Решение задачи вычисления длины наибольшей общей подпоследовательности </a:t>
            </a:r>
            <a:r>
              <a:rPr lang="be-BY" dirty="0">
                <a:solidFill>
                  <a:srgbClr val="FFC000"/>
                </a:solidFill>
              </a:rPr>
              <a:t/>
            </a:r>
            <a:br>
              <a:rPr lang="be-BY" dirty="0">
                <a:solidFill>
                  <a:srgbClr val="FFC000"/>
                </a:solidFill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C582F2-0217-4588-8714-5C3D59FC4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LCS (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наибольшей общей подпоследовательности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имеет оптимальную подструктуру: проблему можно разбить на более мелкие и простые подзадачи, которые, в свою очередь, можно разбить на более простые подзадачи и так далее, пока, наконец, решение не станет тривиальным. LCS, в частности, имеет перекрывающиеся подзадачи: решения подзадач высокого уровня часто повторно используют решения подзадач более низкого уровня. Проблемы с этими двумя свойствами поддаются подходам динамического программирования, при которых решения подзадач запоминаются, то есть решения подзадач сохраняются для повторного использования.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353524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332656"/>
            <a:ext cx="9559849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828940"/>
            <a:ext cx="10124660" cy="179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623392" y="3933056"/>
            <a:ext cx="109452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обозначения наибольшей общей 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подпоследовательности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используется сокращение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LCS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longest common subsequence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Рекурсивный алгоритм вычисления длины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LCS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двух последовательностей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основывается на трех следующих утверждениях: </a:t>
            </a:r>
          </a:p>
        </p:txBody>
      </p:sp>
    </p:spTree>
    <p:extLst>
      <p:ext uri="{BB962C8B-B14F-4D97-AF65-F5344CB8AC3E}">
        <p14:creationId xmlns:p14="http://schemas.microsoft.com/office/powerpoint/2010/main" val="2035970859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47" y="3284984"/>
            <a:ext cx="10347321" cy="344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487488" y="332656"/>
            <a:ext cx="94330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  <a:tabLst>
                <a:tab pos="622300" algn="l"/>
              </a:tabLst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то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-1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является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LCS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-1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-1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</a:p>
          <a:p>
            <a:pPr marL="342900" indent="-342900" algn="just">
              <a:buFont typeface="+mj-lt"/>
              <a:buAutoNum type="arabicPeriod"/>
              <a:tabLst>
                <a:tab pos="622300" algn="l"/>
              </a:tabLst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≠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≠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то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</a:t>
            </a:r>
            <a:r>
              <a:rPr lang="ru-RU" sz="2800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LCS</a:t>
            </a:r>
            <a:r>
              <a:rPr lang="ru-RU" sz="2800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-1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endParaRPr lang="ru-RU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622300" algn="l"/>
              </a:tabLst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≠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≠ 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то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LCS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={</a:t>
            </a:r>
            <a:r>
              <a:rPr lang="en-US" sz="28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8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8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-1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257662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39416" y="908720"/>
            <a:ext cx="1094521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Рассмотрим пример вычисления длины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LCS</a:t>
            </a:r>
            <a:r>
              <a:rPr lang="ru-RU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для последовательностей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=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L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Y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=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L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Вычисление осуществляется по шагам. Все шаги вычисления можно разбить на две группы: с 1 по 17 и с 18 по 26.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Первая группа соответствует рекурсивному погружению, вторая – восходящему вычислению.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Результатом вычисления является значение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4,5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=3 равное длине</a:t>
            </a:r>
            <a:r>
              <a:rPr lang="ru-RU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LCS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Нетрудно убедиться, что для последовательностей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Y</a:t>
            </a:r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существуют две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LCS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: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L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en-US" sz="28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имеющих длину </a:t>
            </a:r>
            <a:r>
              <a:rPr lang="ru-RU" sz="28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3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ru-RU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40185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1484784"/>
            <a:ext cx="7748911" cy="537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0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172" y="2058981"/>
            <a:ext cx="7951657" cy="4726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30" name="Объект 29"/>
          <p:cNvGraphicFramePr>
            <a:graphicFrameLocks noChangeAspect="1"/>
          </p:cNvGraphicFramePr>
          <p:nvPr/>
        </p:nvGraphicFramePr>
        <p:xfrm>
          <a:off x="4176769" y="116632"/>
          <a:ext cx="6467834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1" name="Формула" r:id="rId5" imgW="3530600" imgH="901700" progId="Equation.3">
                  <p:embed/>
                </p:oleObj>
              </mc:Choice>
              <mc:Fallback>
                <p:oleObj name="Формула" r:id="rId5" imgW="3530600" imgH="901700" progId="Equation.3">
                  <p:embed/>
                  <p:pic>
                    <p:nvPicPr>
                      <p:cNvPr id="30" name="Объект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69" y="116632"/>
                        <a:ext cx="6467834" cy="1656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6265" y="2034153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15.  </a:t>
            </a:r>
            <a:endParaRPr lang="be-BY" dirty="0"/>
          </a:p>
        </p:txBody>
      </p:sp>
      <p:sp>
        <p:nvSpPr>
          <p:cNvPr id="35" name="TextBox 34"/>
          <p:cNvSpPr txBox="1"/>
          <p:nvPr/>
        </p:nvSpPr>
        <p:spPr>
          <a:xfrm>
            <a:off x="6406265" y="2432751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6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36" name="TextBox 35"/>
          <p:cNvSpPr txBox="1"/>
          <p:nvPr/>
        </p:nvSpPr>
        <p:spPr>
          <a:xfrm>
            <a:off x="6406265" y="2843644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7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37" name="TextBox 36"/>
          <p:cNvSpPr txBox="1"/>
          <p:nvPr/>
        </p:nvSpPr>
        <p:spPr>
          <a:xfrm>
            <a:off x="6406265" y="3196927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8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38" name="TextBox 37"/>
          <p:cNvSpPr txBox="1"/>
          <p:nvPr/>
        </p:nvSpPr>
        <p:spPr>
          <a:xfrm>
            <a:off x="6406265" y="3635732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9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39" name="TextBox 38"/>
          <p:cNvSpPr txBox="1"/>
          <p:nvPr/>
        </p:nvSpPr>
        <p:spPr>
          <a:xfrm>
            <a:off x="6406265" y="3995772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40" name="TextBox 39"/>
          <p:cNvSpPr txBox="1"/>
          <p:nvPr/>
        </p:nvSpPr>
        <p:spPr>
          <a:xfrm>
            <a:off x="6406265" y="4427820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41" name="TextBox 40"/>
          <p:cNvSpPr txBox="1"/>
          <p:nvPr/>
        </p:nvSpPr>
        <p:spPr>
          <a:xfrm>
            <a:off x="6406265" y="4797152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42" name="TextBox 41"/>
          <p:cNvSpPr txBox="1"/>
          <p:nvPr/>
        </p:nvSpPr>
        <p:spPr>
          <a:xfrm>
            <a:off x="6384032" y="5257286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23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43" name="TextBox 42"/>
          <p:cNvSpPr txBox="1"/>
          <p:nvPr/>
        </p:nvSpPr>
        <p:spPr>
          <a:xfrm>
            <a:off x="6460292" y="5617326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24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44" name="TextBox 43"/>
          <p:cNvSpPr txBox="1"/>
          <p:nvPr/>
        </p:nvSpPr>
        <p:spPr>
          <a:xfrm>
            <a:off x="6459002" y="6049374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ru-RU" dirty="0"/>
              <a:t>5.  </a:t>
            </a:r>
            <a:endParaRPr lang="be-BY" dirty="0"/>
          </a:p>
        </p:txBody>
      </p:sp>
      <p:sp>
        <p:nvSpPr>
          <p:cNvPr id="45" name="TextBox 44"/>
          <p:cNvSpPr txBox="1"/>
          <p:nvPr/>
        </p:nvSpPr>
        <p:spPr>
          <a:xfrm>
            <a:off x="6459002" y="6418706"/>
            <a:ext cx="5718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26</a:t>
            </a:r>
            <a:r>
              <a:rPr lang="ru-RU" dirty="0"/>
              <a:t>.  </a:t>
            </a:r>
            <a:endParaRPr lang="be-BY" dirty="0"/>
          </a:p>
        </p:txBody>
      </p:sp>
      <p:sp>
        <p:nvSpPr>
          <p:cNvPr id="2" name="TextBox 1"/>
          <p:cNvSpPr txBox="1"/>
          <p:nvPr/>
        </p:nvSpPr>
        <p:spPr>
          <a:xfrm>
            <a:off x="1631504" y="116632"/>
            <a:ext cx="1586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X=A,L,D,C</a:t>
            </a:r>
            <a:endParaRPr lang="be-BY" sz="28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7606" y="640203"/>
            <a:ext cx="1974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Y=L,A,D,C,M</a:t>
            </a:r>
            <a:endParaRPr lang="be-BY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901115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44200" y="2923"/>
            <a:ext cx="912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// - </a:t>
            </a:r>
            <a:r>
              <a:rPr lang="en-US" dirty="0" err="1">
                <a:solidFill>
                  <a:srgbClr val="008000"/>
                </a:solidFill>
              </a:rPr>
              <a:t>LCS.h</a:t>
            </a:r>
            <a:endParaRPr lang="en-US" dirty="0">
              <a:solidFill>
                <a:srgbClr val="008000"/>
              </a:solidFill>
            </a:endParaRPr>
          </a:p>
          <a:p>
            <a:r>
              <a:rPr lang="be-BY" dirty="0">
                <a:solidFill>
                  <a:srgbClr val="008000"/>
                </a:solidFill>
              </a:rPr>
              <a:t>// -- рекурсивное  вычисление длины </a:t>
            </a:r>
            <a:r>
              <a:rPr lang="en-US" dirty="0">
                <a:solidFill>
                  <a:srgbClr val="008000"/>
                </a:solidFill>
              </a:rPr>
              <a:t>LCS </a:t>
            </a:r>
          </a:p>
          <a:p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lcs</a:t>
            </a:r>
            <a:r>
              <a:rPr lang="en-US" dirty="0">
                <a:solidFill>
                  <a:prstClr val="black"/>
                </a:solidFill>
              </a:rPr>
              <a:t> (                  </a:t>
            </a:r>
          </a:p>
          <a:p>
            <a:r>
              <a:rPr lang="ru-RU" dirty="0">
                <a:solidFill>
                  <a:prstClr val="black"/>
                </a:solidFill>
              </a:rPr>
              <a:t>		  </a:t>
            </a:r>
            <a:r>
              <a:rPr lang="ru-RU" dirty="0" err="1">
                <a:solidFill>
                  <a:srgbClr val="0000FF"/>
                </a:solidFill>
              </a:rPr>
              <a:t>int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lenx</a:t>
            </a:r>
            <a:r>
              <a:rPr lang="ru-RU" dirty="0">
                <a:solidFill>
                  <a:prstClr val="black"/>
                </a:solidFill>
              </a:rPr>
              <a:t>,         </a:t>
            </a:r>
            <a:r>
              <a:rPr lang="ru-RU" dirty="0">
                <a:solidFill>
                  <a:srgbClr val="008000"/>
                </a:solidFill>
              </a:rPr>
              <a:t>// длина   последовательности  X   </a:t>
            </a:r>
          </a:p>
          <a:p>
            <a:r>
              <a:rPr lang="ru-RU" dirty="0">
                <a:solidFill>
                  <a:prstClr val="black"/>
                </a:solidFill>
              </a:rPr>
              <a:t>		  </a:t>
            </a:r>
            <a:r>
              <a:rPr lang="ru-RU" dirty="0" err="1">
                <a:solidFill>
                  <a:srgbClr val="0000FF"/>
                </a:solidFill>
              </a:rPr>
              <a:t>const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srgbClr val="0000FF"/>
                </a:solidFill>
              </a:rPr>
              <a:t>char</a:t>
            </a:r>
            <a:r>
              <a:rPr lang="ru-RU" dirty="0">
                <a:solidFill>
                  <a:prstClr val="black"/>
                </a:solidFill>
              </a:rPr>
              <a:t> x[],   </a:t>
            </a:r>
            <a:r>
              <a:rPr lang="ru-RU" dirty="0">
                <a:solidFill>
                  <a:srgbClr val="008000"/>
                </a:solidFill>
              </a:rPr>
              <a:t>// последовательность X</a:t>
            </a:r>
          </a:p>
          <a:p>
            <a:r>
              <a:rPr lang="ru-RU" dirty="0">
                <a:solidFill>
                  <a:prstClr val="black"/>
                </a:solidFill>
              </a:rPr>
              <a:t>		  </a:t>
            </a:r>
            <a:r>
              <a:rPr lang="ru-RU" dirty="0" err="1">
                <a:solidFill>
                  <a:srgbClr val="0000FF"/>
                </a:solidFill>
              </a:rPr>
              <a:t>int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leny</a:t>
            </a:r>
            <a:r>
              <a:rPr lang="ru-RU" dirty="0">
                <a:solidFill>
                  <a:prstClr val="black"/>
                </a:solidFill>
              </a:rPr>
              <a:t>,         </a:t>
            </a:r>
            <a:r>
              <a:rPr lang="ru-RU" dirty="0">
                <a:solidFill>
                  <a:srgbClr val="008000"/>
                </a:solidFill>
              </a:rPr>
              <a:t>// длина   последовательности  Y</a:t>
            </a:r>
          </a:p>
          <a:p>
            <a:r>
              <a:rPr lang="ru-RU" dirty="0">
                <a:solidFill>
                  <a:prstClr val="black"/>
                </a:solidFill>
              </a:rPr>
              <a:t>		  </a:t>
            </a:r>
            <a:r>
              <a:rPr lang="ru-RU" dirty="0" err="1">
                <a:solidFill>
                  <a:srgbClr val="0000FF"/>
                </a:solidFill>
              </a:rPr>
              <a:t>const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srgbClr val="0000FF"/>
                </a:solidFill>
              </a:rPr>
              <a:t>char</a:t>
            </a:r>
            <a:r>
              <a:rPr lang="ru-RU" dirty="0">
                <a:solidFill>
                  <a:prstClr val="black"/>
                </a:solidFill>
              </a:rPr>
              <a:t> y[]    </a:t>
            </a:r>
            <a:r>
              <a:rPr lang="ru-RU" dirty="0">
                <a:solidFill>
                  <a:srgbClr val="008000"/>
                </a:solidFill>
              </a:rPr>
              <a:t>// последовательность Y</a:t>
            </a:r>
          </a:p>
          <a:p>
            <a:r>
              <a:rPr lang="be-BY" dirty="0">
                <a:solidFill>
                  <a:prstClr val="black"/>
                </a:solidFill>
              </a:rPr>
              <a:t>         );</a:t>
            </a:r>
            <a:endParaRPr lang="be-BY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24000" y="2333686"/>
            <a:ext cx="9123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// - LCS.cpp</a:t>
            </a:r>
          </a:p>
          <a:p>
            <a:r>
              <a:rPr lang="be-BY" dirty="0">
                <a:solidFill>
                  <a:srgbClr val="008000"/>
                </a:solidFill>
              </a:rPr>
              <a:t>// -- рекурсивное  вычисление длины </a:t>
            </a:r>
            <a:r>
              <a:rPr lang="en-US" dirty="0">
                <a:solidFill>
                  <a:srgbClr val="008000"/>
                </a:solidFill>
              </a:rPr>
              <a:t>LCS 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stdafx.h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&lt;algorithm&gt;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LCS.h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fr-FR" dirty="0" err="1">
                <a:solidFill>
                  <a:srgbClr val="0000FF"/>
                </a:solidFill>
              </a:rPr>
              <a:t>int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lcs</a:t>
            </a:r>
            <a:r>
              <a:rPr lang="fr-FR" dirty="0">
                <a:solidFill>
                  <a:prstClr val="black"/>
                </a:solidFill>
              </a:rPr>
              <a:t> (</a:t>
            </a:r>
            <a:r>
              <a:rPr lang="fr-FR" dirty="0" err="1">
                <a:solidFill>
                  <a:srgbClr val="0000FF"/>
                </a:solidFill>
              </a:rPr>
              <a:t>int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lenx</a:t>
            </a:r>
            <a:r>
              <a:rPr lang="fr-FR" dirty="0">
                <a:solidFill>
                  <a:prstClr val="black"/>
                </a:solidFill>
              </a:rPr>
              <a:t>, </a:t>
            </a:r>
            <a:r>
              <a:rPr lang="fr-FR" dirty="0" err="1">
                <a:solidFill>
                  <a:srgbClr val="0000FF"/>
                </a:solidFill>
              </a:rPr>
              <a:t>const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>
                <a:solidFill>
                  <a:srgbClr val="0000FF"/>
                </a:solidFill>
              </a:rPr>
              <a:t>char</a:t>
            </a:r>
            <a:r>
              <a:rPr lang="fr-FR" dirty="0">
                <a:solidFill>
                  <a:prstClr val="black"/>
                </a:solidFill>
              </a:rPr>
              <a:t> x[], </a:t>
            </a:r>
          </a:p>
          <a:p>
            <a:r>
              <a:rPr lang="fr-FR" dirty="0">
                <a:solidFill>
                  <a:prstClr val="black"/>
                </a:solidFill>
              </a:rPr>
              <a:t>	   </a:t>
            </a:r>
            <a:r>
              <a:rPr lang="fr-FR" dirty="0" err="1">
                <a:solidFill>
                  <a:srgbClr val="0000FF"/>
                </a:solidFill>
              </a:rPr>
              <a:t>int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 err="1">
                <a:solidFill>
                  <a:prstClr val="black"/>
                </a:solidFill>
              </a:rPr>
              <a:t>leny</a:t>
            </a:r>
            <a:r>
              <a:rPr lang="fr-FR" dirty="0">
                <a:solidFill>
                  <a:prstClr val="black"/>
                </a:solidFill>
              </a:rPr>
              <a:t>, </a:t>
            </a:r>
            <a:r>
              <a:rPr lang="fr-FR" dirty="0" err="1">
                <a:solidFill>
                  <a:srgbClr val="0000FF"/>
                </a:solidFill>
              </a:rPr>
              <a:t>const</a:t>
            </a:r>
            <a:r>
              <a:rPr lang="fr-FR" dirty="0">
                <a:solidFill>
                  <a:prstClr val="black"/>
                </a:solidFill>
              </a:rPr>
              <a:t> </a:t>
            </a:r>
            <a:r>
              <a:rPr lang="fr-FR" dirty="0">
                <a:solidFill>
                  <a:srgbClr val="0000FF"/>
                </a:solidFill>
              </a:rPr>
              <a:t>char</a:t>
            </a:r>
            <a:r>
              <a:rPr lang="fr-FR" dirty="0">
                <a:solidFill>
                  <a:prstClr val="black"/>
                </a:solidFill>
              </a:rPr>
              <a:t> y[])      </a:t>
            </a:r>
          </a:p>
          <a:p>
            <a:r>
              <a:rPr lang="be-BY" dirty="0">
                <a:solidFill>
                  <a:prstClr val="black"/>
                </a:solidFill>
              </a:rPr>
              <a:t>{ </a:t>
            </a:r>
          </a:p>
          <a:p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rc</a:t>
            </a:r>
            <a:r>
              <a:rPr lang="en-US" dirty="0">
                <a:solidFill>
                  <a:prstClr val="black"/>
                </a:solidFill>
              </a:rPr>
              <a:t> = 0;  </a:t>
            </a:r>
          </a:p>
          <a:p>
            <a:r>
              <a:rPr lang="en-US" dirty="0">
                <a:solidFill>
                  <a:prstClr val="black"/>
                </a:solidFill>
              </a:rPr>
              <a:t>  </a:t>
            </a:r>
            <a:r>
              <a:rPr lang="en-US" dirty="0">
                <a:solidFill>
                  <a:srgbClr val="0000FF"/>
                </a:solidFill>
              </a:rPr>
              <a:t>if</a:t>
            </a:r>
            <a:r>
              <a:rPr lang="en-US" dirty="0">
                <a:solidFill>
                  <a:prstClr val="black"/>
                </a:solidFill>
              </a:rPr>
              <a:t> (</a:t>
            </a:r>
            <a:r>
              <a:rPr lang="en-US" dirty="0" err="1">
                <a:solidFill>
                  <a:prstClr val="black"/>
                </a:solidFill>
              </a:rPr>
              <a:t>lenx</a:t>
            </a:r>
            <a:r>
              <a:rPr lang="en-US" dirty="0">
                <a:solidFill>
                  <a:prstClr val="black"/>
                </a:solidFill>
              </a:rPr>
              <a:t> &gt; 0 &amp;&amp; </a:t>
            </a:r>
            <a:r>
              <a:rPr lang="en-US" dirty="0" err="1">
                <a:solidFill>
                  <a:prstClr val="black"/>
                </a:solidFill>
              </a:rPr>
              <a:t>leny</a:t>
            </a:r>
            <a:r>
              <a:rPr lang="en-US" dirty="0">
                <a:solidFill>
                  <a:prstClr val="black"/>
                </a:solidFill>
              </a:rPr>
              <a:t> &gt; 0)</a:t>
            </a:r>
          </a:p>
          <a:p>
            <a:r>
              <a:rPr lang="be-BY" dirty="0">
                <a:solidFill>
                  <a:prstClr val="black"/>
                </a:solidFill>
              </a:rPr>
              <a:t>  {</a:t>
            </a:r>
          </a:p>
          <a:p>
            <a:r>
              <a:rPr lang="en-US" dirty="0">
                <a:solidFill>
                  <a:prstClr val="black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if</a:t>
            </a:r>
            <a:r>
              <a:rPr lang="en-US" dirty="0">
                <a:solidFill>
                  <a:prstClr val="black"/>
                </a:solidFill>
              </a:rPr>
              <a:t> (x[lenx-1] == y[leny-1]) </a:t>
            </a:r>
            <a:r>
              <a:rPr lang="en-US" dirty="0" err="1">
                <a:solidFill>
                  <a:prstClr val="black"/>
                </a:solidFill>
              </a:rPr>
              <a:t>rc</a:t>
            </a:r>
            <a:r>
              <a:rPr lang="en-US" dirty="0">
                <a:solidFill>
                  <a:prstClr val="black"/>
                </a:solidFill>
              </a:rPr>
              <a:t> = 1 + </a:t>
            </a:r>
            <a:r>
              <a:rPr lang="en-US" dirty="0" err="1">
                <a:solidFill>
                  <a:prstClr val="black"/>
                </a:solidFill>
              </a:rPr>
              <a:t>lcs</a:t>
            </a:r>
            <a:r>
              <a:rPr lang="en-US" dirty="0">
                <a:solidFill>
                  <a:prstClr val="black"/>
                </a:solidFill>
              </a:rPr>
              <a:t>(lenx-1, x,leny-1, y);    </a:t>
            </a:r>
          </a:p>
          <a:p>
            <a:r>
              <a:rPr lang="en-US" dirty="0">
                <a:solidFill>
                  <a:prstClr val="black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else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rc</a:t>
            </a:r>
            <a:r>
              <a:rPr lang="en-US" dirty="0">
                <a:solidFill>
                  <a:prstClr val="black"/>
                </a:solidFill>
              </a:rPr>
              <a:t> = </a:t>
            </a:r>
            <a:r>
              <a:rPr lang="en-US" dirty="0" err="1">
                <a:solidFill>
                  <a:prstClr val="black"/>
                </a:solidFill>
              </a:rPr>
              <a:t>std</a:t>
            </a:r>
            <a:r>
              <a:rPr lang="en-US" dirty="0">
                <a:solidFill>
                  <a:prstClr val="black"/>
                </a:solidFill>
              </a:rPr>
              <a:t>::max(</a:t>
            </a:r>
            <a:r>
              <a:rPr lang="en-US" dirty="0" err="1">
                <a:solidFill>
                  <a:prstClr val="black"/>
                </a:solidFill>
              </a:rPr>
              <a:t>lcs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 err="1">
                <a:solidFill>
                  <a:prstClr val="black"/>
                </a:solidFill>
              </a:rPr>
              <a:t>lenx</a:t>
            </a:r>
            <a:r>
              <a:rPr lang="en-US" dirty="0">
                <a:solidFill>
                  <a:prstClr val="black"/>
                </a:solidFill>
              </a:rPr>
              <a:t>, x,leny-1, y), </a:t>
            </a:r>
            <a:r>
              <a:rPr lang="en-US" dirty="0" err="1">
                <a:solidFill>
                  <a:prstClr val="black"/>
                </a:solidFill>
              </a:rPr>
              <a:t>lcs</a:t>
            </a:r>
            <a:r>
              <a:rPr lang="en-US" dirty="0">
                <a:solidFill>
                  <a:prstClr val="black"/>
                </a:solidFill>
              </a:rPr>
              <a:t>(lenx-1, </a:t>
            </a:r>
            <a:r>
              <a:rPr lang="en-US" dirty="0" err="1">
                <a:solidFill>
                  <a:prstClr val="black"/>
                </a:solidFill>
              </a:rPr>
              <a:t>x,leny</a:t>
            </a:r>
            <a:r>
              <a:rPr lang="en-US" dirty="0">
                <a:solidFill>
                  <a:prstClr val="black"/>
                </a:solidFill>
              </a:rPr>
              <a:t>, y)); </a:t>
            </a:r>
          </a:p>
          <a:p>
            <a:r>
              <a:rPr lang="be-BY" dirty="0">
                <a:solidFill>
                  <a:prstClr val="black"/>
                </a:solidFill>
              </a:rPr>
              <a:t>  }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rc</a:t>
            </a:r>
            <a:r>
              <a:rPr lang="en-US" dirty="0">
                <a:solidFill>
                  <a:prstClr val="black"/>
                </a:solidFill>
              </a:rPr>
              <a:t>;        </a:t>
            </a:r>
            <a:r>
              <a:rPr lang="en-US" dirty="0">
                <a:solidFill>
                  <a:srgbClr val="008000"/>
                </a:solidFill>
              </a:rPr>
              <a:t>//</a:t>
            </a:r>
            <a:r>
              <a:rPr lang="be-BY" dirty="0">
                <a:solidFill>
                  <a:srgbClr val="008000"/>
                </a:solidFill>
              </a:rPr>
              <a:t>длина </a:t>
            </a:r>
            <a:r>
              <a:rPr lang="en-US" dirty="0">
                <a:solidFill>
                  <a:srgbClr val="008000"/>
                </a:solidFill>
              </a:rPr>
              <a:t>LCS</a:t>
            </a:r>
          </a:p>
          <a:p>
            <a:r>
              <a:rPr lang="be-BY" dirty="0">
                <a:solidFill>
                  <a:prstClr val="black"/>
                </a:solidFill>
              </a:rPr>
              <a:t>}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4253667275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548681"/>
            <a:ext cx="892899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// - main  </a:t>
            </a:r>
          </a:p>
          <a:p>
            <a:r>
              <a:rPr lang="be-BY" dirty="0">
                <a:solidFill>
                  <a:srgbClr val="008000"/>
                </a:solidFill>
              </a:rPr>
              <a:t>// -- вычисления длины </a:t>
            </a:r>
            <a:r>
              <a:rPr lang="en-US" dirty="0">
                <a:solidFill>
                  <a:srgbClr val="008000"/>
                </a:solidFill>
              </a:rPr>
              <a:t>LCS 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stdafx.h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&lt;</a:t>
            </a:r>
            <a:r>
              <a:rPr lang="en-US" dirty="0" err="1">
                <a:solidFill>
                  <a:srgbClr val="A31515"/>
                </a:solidFill>
              </a:rPr>
              <a:t>iostream</a:t>
            </a:r>
            <a:r>
              <a:rPr lang="en-US" dirty="0">
                <a:solidFill>
                  <a:srgbClr val="A31515"/>
                </a:solidFill>
              </a:rPr>
              <a:t>&gt;</a:t>
            </a:r>
          </a:p>
          <a:p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LCS.h</a:t>
            </a:r>
            <a:r>
              <a:rPr lang="en-US" dirty="0">
                <a:solidFill>
                  <a:srgbClr val="A31515"/>
                </a:solidFill>
              </a:rPr>
              <a:t>"</a:t>
            </a:r>
          </a:p>
          <a:p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_</a:t>
            </a:r>
            <a:r>
              <a:rPr lang="en-US" dirty="0" err="1">
                <a:solidFill>
                  <a:prstClr val="black"/>
                </a:solidFill>
              </a:rPr>
              <a:t>tmain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argc</a:t>
            </a:r>
            <a:r>
              <a:rPr lang="en-US" dirty="0">
                <a:solidFill>
                  <a:prstClr val="black"/>
                </a:solidFill>
              </a:rPr>
              <a:t>, _TCHAR* </a:t>
            </a:r>
            <a:r>
              <a:rPr lang="en-US" dirty="0" err="1">
                <a:solidFill>
                  <a:prstClr val="black"/>
                </a:solidFill>
              </a:rPr>
              <a:t>argv</a:t>
            </a:r>
            <a:r>
              <a:rPr lang="en-US" dirty="0">
                <a:solidFill>
                  <a:prstClr val="black"/>
                </a:solidFill>
              </a:rPr>
              <a:t>[])</a:t>
            </a:r>
          </a:p>
          <a:p>
            <a:r>
              <a:rPr lang="be-BY" dirty="0">
                <a:solidFill>
                  <a:prstClr val="black"/>
                </a:solidFill>
              </a:rPr>
              <a:t>{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setlocale</a:t>
            </a:r>
            <a:r>
              <a:rPr lang="en-US" dirty="0">
                <a:solidFill>
                  <a:prstClr val="black"/>
                </a:solidFill>
              </a:rPr>
              <a:t>(LC_ALL, 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 err="1">
                <a:solidFill>
                  <a:srgbClr val="A31515"/>
                </a:solidFill>
              </a:rPr>
              <a:t>rus</a:t>
            </a:r>
            <a:r>
              <a:rPr lang="en-US" dirty="0">
                <a:solidFill>
                  <a:srgbClr val="A31515"/>
                </a:solidFill>
              </a:rPr>
              <a:t>"</a:t>
            </a:r>
            <a:r>
              <a:rPr lang="en-US" dirty="0">
                <a:solidFill>
                  <a:prstClr val="black"/>
                </a:solidFill>
              </a:rPr>
              <a:t>);</a:t>
            </a:r>
          </a:p>
          <a:p>
            <a:r>
              <a:rPr lang="es-ES" dirty="0">
                <a:solidFill>
                  <a:prstClr val="black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char</a:t>
            </a:r>
            <a:r>
              <a:rPr lang="es-ES" dirty="0">
                <a:solidFill>
                  <a:prstClr val="black"/>
                </a:solidFill>
              </a:rPr>
              <a:t> X[]=</a:t>
            </a:r>
            <a:r>
              <a:rPr lang="es-ES" dirty="0">
                <a:solidFill>
                  <a:srgbClr val="A31515"/>
                </a:solidFill>
              </a:rPr>
              <a:t>"ALDC"</a:t>
            </a:r>
            <a:r>
              <a:rPr lang="es-ES" dirty="0">
                <a:solidFill>
                  <a:prstClr val="black"/>
                </a:solidFill>
              </a:rPr>
              <a:t>, Y[]=</a:t>
            </a:r>
            <a:r>
              <a:rPr lang="es-ES" dirty="0">
                <a:solidFill>
                  <a:srgbClr val="A31515"/>
                </a:solidFill>
              </a:rPr>
              <a:t>"LADCM"</a:t>
            </a:r>
            <a:r>
              <a:rPr lang="es-ES" dirty="0">
                <a:solidFill>
                  <a:prstClr val="black"/>
                </a:solidFill>
              </a:rPr>
              <a:t>;</a:t>
            </a:r>
          </a:p>
          <a:p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cout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endl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>
                <a:solidFill>
                  <a:srgbClr val="A31515"/>
                </a:solidFill>
              </a:rPr>
              <a:t>"-- вычисление длины LCS для X и Y(рекурсия)"</a:t>
            </a:r>
            <a:r>
              <a:rPr lang="ru-RU" dirty="0">
                <a:solidFill>
                  <a:prstClr val="black"/>
                </a:solidFill>
              </a:rPr>
              <a:t>;</a:t>
            </a:r>
          </a:p>
          <a:p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cout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endl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>
                <a:solidFill>
                  <a:srgbClr val="A31515"/>
                </a:solidFill>
              </a:rPr>
              <a:t>"-- последовательность X: "</a:t>
            </a:r>
            <a:r>
              <a:rPr lang="ru-RU" dirty="0">
                <a:solidFill>
                  <a:prstClr val="black"/>
                </a:solidFill>
              </a:rPr>
              <a:t>&lt;&lt; X;</a:t>
            </a:r>
          </a:p>
          <a:p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cout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 err="1">
                <a:solidFill>
                  <a:prstClr val="black"/>
                </a:solidFill>
              </a:rPr>
              <a:t>std</a:t>
            </a:r>
            <a:r>
              <a:rPr lang="ru-RU" dirty="0">
                <a:solidFill>
                  <a:prstClr val="black"/>
                </a:solidFill>
              </a:rPr>
              <a:t>::</a:t>
            </a:r>
            <a:r>
              <a:rPr lang="ru-RU" dirty="0" err="1">
                <a:solidFill>
                  <a:prstClr val="black"/>
                </a:solidFill>
              </a:rPr>
              <a:t>endl</a:t>
            </a:r>
            <a:r>
              <a:rPr lang="ru-RU" dirty="0">
                <a:solidFill>
                  <a:prstClr val="black"/>
                </a:solidFill>
              </a:rPr>
              <a:t>&lt;&lt;</a:t>
            </a:r>
            <a:r>
              <a:rPr lang="ru-RU" dirty="0">
                <a:solidFill>
                  <a:srgbClr val="A31515"/>
                </a:solidFill>
              </a:rPr>
              <a:t>"-- последовательность Y: "</a:t>
            </a:r>
            <a:r>
              <a:rPr lang="ru-RU" dirty="0">
                <a:solidFill>
                  <a:prstClr val="black"/>
                </a:solidFill>
              </a:rPr>
              <a:t>&lt;&lt; Y;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prstClr val="black"/>
                </a:solidFill>
              </a:rPr>
              <a:t> s = </a:t>
            </a:r>
            <a:r>
              <a:rPr lang="en-US" dirty="0" err="1">
                <a:solidFill>
                  <a:prstClr val="black"/>
                </a:solidFill>
              </a:rPr>
              <a:t>lcs</a:t>
            </a:r>
            <a:r>
              <a:rPr lang="en-US" dirty="0">
                <a:solidFill>
                  <a:prstClr val="black"/>
                </a:solidFill>
              </a:rPr>
              <a:t>(</a:t>
            </a:r>
          </a:p>
          <a:p>
            <a:r>
              <a:rPr lang="ru-RU" dirty="0">
                <a:solidFill>
                  <a:prstClr val="black"/>
                </a:solidFill>
              </a:rPr>
              <a:t>             </a:t>
            </a:r>
            <a:r>
              <a:rPr lang="ru-RU" dirty="0" err="1">
                <a:solidFill>
                  <a:srgbClr val="0000FF"/>
                </a:solidFill>
              </a:rPr>
              <a:t>sizeof</a:t>
            </a:r>
            <a:r>
              <a:rPr lang="ru-RU" dirty="0">
                <a:solidFill>
                  <a:prstClr val="black"/>
                </a:solidFill>
              </a:rPr>
              <a:t>(X)-1,  </a:t>
            </a:r>
            <a:r>
              <a:rPr lang="ru-RU" dirty="0">
                <a:solidFill>
                  <a:srgbClr val="008000"/>
                </a:solidFill>
              </a:rPr>
              <a:t>// длина   последовательности  X   </a:t>
            </a:r>
          </a:p>
          <a:p>
            <a:r>
              <a:rPr lang="en-US" dirty="0">
                <a:solidFill>
                  <a:prstClr val="black"/>
                </a:solidFill>
              </a:rPr>
              <a:t>             </a:t>
            </a:r>
            <a:r>
              <a:rPr lang="en-US" dirty="0">
                <a:solidFill>
                  <a:srgbClr val="A31515"/>
                </a:solidFill>
              </a:rPr>
              <a:t>"ALDC"</a:t>
            </a:r>
            <a:r>
              <a:rPr lang="en-US" dirty="0">
                <a:solidFill>
                  <a:prstClr val="black"/>
                </a:solidFill>
              </a:rPr>
              <a:t>,       </a:t>
            </a:r>
            <a:r>
              <a:rPr lang="en-US" dirty="0">
                <a:solidFill>
                  <a:srgbClr val="008000"/>
                </a:solidFill>
              </a:rPr>
              <a:t>// </a:t>
            </a:r>
            <a:r>
              <a:rPr lang="be-BY" dirty="0">
                <a:solidFill>
                  <a:srgbClr val="008000"/>
                </a:solidFill>
              </a:rPr>
              <a:t>последовательность </a:t>
            </a:r>
            <a:r>
              <a:rPr lang="en-US" dirty="0">
                <a:solidFill>
                  <a:srgbClr val="008000"/>
                </a:solidFill>
              </a:rPr>
              <a:t>X</a:t>
            </a:r>
          </a:p>
          <a:p>
            <a:r>
              <a:rPr lang="ru-RU" dirty="0">
                <a:solidFill>
                  <a:prstClr val="black"/>
                </a:solidFill>
              </a:rPr>
              <a:t>             </a:t>
            </a:r>
            <a:r>
              <a:rPr lang="ru-RU" dirty="0" err="1">
                <a:solidFill>
                  <a:srgbClr val="0000FF"/>
                </a:solidFill>
              </a:rPr>
              <a:t>sizeof</a:t>
            </a:r>
            <a:r>
              <a:rPr lang="ru-RU" dirty="0">
                <a:solidFill>
                  <a:prstClr val="black"/>
                </a:solidFill>
              </a:rPr>
              <a:t>(Y)-1,  </a:t>
            </a:r>
            <a:r>
              <a:rPr lang="ru-RU" dirty="0">
                <a:solidFill>
                  <a:srgbClr val="008000"/>
                </a:solidFill>
              </a:rPr>
              <a:t>// длина   последовательности  Y</a:t>
            </a:r>
          </a:p>
          <a:p>
            <a:r>
              <a:rPr lang="en-US" dirty="0">
                <a:solidFill>
                  <a:prstClr val="black"/>
                </a:solidFill>
              </a:rPr>
              <a:t>             </a:t>
            </a:r>
            <a:r>
              <a:rPr lang="en-US" dirty="0">
                <a:solidFill>
                  <a:srgbClr val="A31515"/>
                </a:solidFill>
              </a:rPr>
              <a:t>"LADCM"</a:t>
            </a:r>
            <a:r>
              <a:rPr lang="en-US" dirty="0">
                <a:solidFill>
                  <a:prstClr val="black"/>
                </a:solidFill>
              </a:rPr>
              <a:t>       </a:t>
            </a:r>
            <a:r>
              <a:rPr lang="en-US" dirty="0">
                <a:solidFill>
                  <a:srgbClr val="008000"/>
                </a:solidFill>
              </a:rPr>
              <a:t>// </a:t>
            </a:r>
            <a:r>
              <a:rPr lang="be-BY" dirty="0">
                <a:solidFill>
                  <a:srgbClr val="008000"/>
                </a:solidFill>
              </a:rPr>
              <a:t>последовательность </a:t>
            </a:r>
            <a:r>
              <a:rPr lang="en-US" dirty="0">
                <a:solidFill>
                  <a:srgbClr val="008000"/>
                </a:solidFill>
              </a:rPr>
              <a:t>Y</a:t>
            </a:r>
          </a:p>
          <a:p>
            <a:r>
              <a:rPr lang="be-BY" dirty="0">
                <a:solidFill>
                  <a:prstClr val="black"/>
                </a:solidFill>
              </a:rPr>
              <a:t>            ); 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std</a:t>
            </a:r>
            <a:r>
              <a:rPr lang="en-US" dirty="0">
                <a:solidFill>
                  <a:prstClr val="black"/>
                </a:solidFill>
              </a:rPr>
              <a:t>::</a:t>
            </a:r>
            <a:r>
              <a:rPr lang="en-US" dirty="0" err="1">
                <a:solidFill>
                  <a:prstClr val="black"/>
                </a:solidFill>
              </a:rPr>
              <a:t>cout</a:t>
            </a:r>
            <a:r>
              <a:rPr lang="en-US" dirty="0">
                <a:solidFill>
                  <a:prstClr val="black"/>
                </a:solidFill>
              </a:rPr>
              <a:t>&lt;&lt;</a:t>
            </a:r>
            <a:r>
              <a:rPr lang="en-US" dirty="0" err="1">
                <a:solidFill>
                  <a:prstClr val="black"/>
                </a:solidFill>
              </a:rPr>
              <a:t>std</a:t>
            </a:r>
            <a:r>
              <a:rPr lang="en-US" dirty="0">
                <a:solidFill>
                  <a:prstClr val="black"/>
                </a:solidFill>
              </a:rPr>
              <a:t>::</a:t>
            </a:r>
            <a:r>
              <a:rPr lang="en-US" dirty="0" err="1">
                <a:solidFill>
                  <a:prstClr val="black"/>
                </a:solidFill>
              </a:rPr>
              <a:t>endl</a:t>
            </a:r>
            <a:r>
              <a:rPr lang="en-US" dirty="0">
                <a:solidFill>
                  <a:prstClr val="black"/>
                </a:solidFill>
              </a:rPr>
              <a:t>&lt;&lt; </a:t>
            </a:r>
            <a:r>
              <a:rPr lang="en-US" dirty="0">
                <a:solidFill>
                  <a:srgbClr val="A31515"/>
                </a:solidFill>
              </a:rPr>
              <a:t>"-- </a:t>
            </a:r>
            <a:r>
              <a:rPr lang="be-BY" dirty="0">
                <a:solidFill>
                  <a:srgbClr val="A31515"/>
                </a:solidFill>
              </a:rPr>
              <a:t>длина </a:t>
            </a:r>
            <a:r>
              <a:rPr lang="en-US" dirty="0">
                <a:solidFill>
                  <a:srgbClr val="A31515"/>
                </a:solidFill>
              </a:rPr>
              <a:t>LCS: "</a:t>
            </a:r>
            <a:r>
              <a:rPr lang="en-US" dirty="0">
                <a:solidFill>
                  <a:prstClr val="black"/>
                </a:solidFill>
              </a:rPr>
              <a:t>&lt;&lt;s&lt;&lt;</a:t>
            </a:r>
            <a:r>
              <a:rPr lang="en-US" dirty="0" err="1">
                <a:solidFill>
                  <a:prstClr val="black"/>
                </a:solidFill>
              </a:rPr>
              <a:t>std</a:t>
            </a:r>
            <a:r>
              <a:rPr lang="en-US" dirty="0">
                <a:solidFill>
                  <a:prstClr val="black"/>
                </a:solidFill>
              </a:rPr>
              <a:t>::</a:t>
            </a:r>
            <a:r>
              <a:rPr lang="en-US" dirty="0" err="1">
                <a:solidFill>
                  <a:prstClr val="black"/>
                </a:solidFill>
              </a:rPr>
              <a:t>endl</a:t>
            </a:r>
            <a:r>
              <a:rPr lang="en-US" dirty="0">
                <a:solidFill>
                  <a:prstClr val="black"/>
                </a:solidFill>
              </a:rPr>
              <a:t>;</a:t>
            </a:r>
          </a:p>
          <a:p>
            <a:r>
              <a:rPr lang="en-US" dirty="0">
                <a:solidFill>
                  <a:prstClr val="black"/>
                </a:solidFill>
              </a:rPr>
              <a:t> system(</a:t>
            </a:r>
            <a:r>
              <a:rPr lang="en-US" dirty="0">
                <a:solidFill>
                  <a:srgbClr val="A31515"/>
                </a:solidFill>
              </a:rPr>
              <a:t>"pause"</a:t>
            </a:r>
            <a:r>
              <a:rPr lang="en-US" dirty="0">
                <a:solidFill>
                  <a:prstClr val="black"/>
                </a:solidFill>
              </a:rPr>
              <a:t>);</a:t>
            </a:r>
          </a:p>
          <a:p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>
                <a:solidFill>
                  <a:prstClr val="black"/>
                </a:solidFill>
              </a:rPr>
              <a:t> 0;</a:t>
            </a:r>
          </a:p>
          <a:p>
            <a:r>
              <a:rPr lang="be-BY" dirty="0">
                <a:solidFill>
                  <a:prstClr val="black"/>
                </a:solidFill>
              </a:rPr>
              <a:t>}</a:t>
            </a:r>
            <a:endParaRPr lang="be-BY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3" t="22222" r="6629" b="19417"/>
          <a:stretch/>
        </p:blipFill>
        <p:spPr bwMode="auto">
          <a:xfrm>
            <a:off x="4900859" y="476672"/>
            <a:ext cx="5659637" cy="130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1689247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1.png">
            <a:extLst>
              <a:ext uri="{FF2B5EF4-FFF2-40B4-BE49-F238E27FC236}">
                <a16:creationId xmlns:a16="http://schemas.microsoft.com/office/drawing/2014/main" id="{50CADF2A-60CE-4B8A-9852-7757CB55266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101716" y="260648"/>
            <a:ext cx="7121820" cy="3846036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A70A5A-231D-4260-AA54-CAF75BEA2F0E}"/>
              </a:ext>
            </a:extLst>
          </p:cNvPr>
          <p:cNvSpPr txBox="1"/>
          <p:nvPr/>
        </p:nvSpPr>
        <p:spPr>
          <a:xfrm>
            <a:off x="335360" y="476672"/>
            <a:ext cx="453650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    Для построения наибольшей общей подпоследовательности используются 2 массива </a:t>
            </a:r>
            <a:r>
              <a:rPr lang="ru-RU" sz="2000" b="1" dirty="0"/>
              <a:t>С</a:t>
            </a:r>
            <a:r>
              <a:rPr lang="ru-RU" sz="2000" dirty="0"/>
              <a:t> и </a:t>
            </a:r>
            <a:r>
              <a:rPr lang="ru-RU" sz="2000" b="1" dirty="0"/>
              <a:t>В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    Номера строк матриц, начиная с первой, соответствуют номерам элементов 1 последовательности, а номера столбцов, начиная с 1, - номерам элементов 2 последовательности.</a:t>
            </a:r>
          </a:p>
          <a:p>
            <a:pPr algn="just"/>
            <a:r>
              <a:rPr lang="ru-RU" sz="2000" dirty="0"/>
              <a:t>    Массив </a:t>
            </a:r>
            <a:r>
              <a:rPr lang="ru-RU" sz="2000" b="1" dirty="0"/>
              <a:t>С</a:t>
            </a:r>
            <a:r>
              <a:rPr lang="ru-RU" sz="2000" dirty="0"/>
              <a:t> предназначен для вычисления длины </a:t>
            </a:r>
            <a:r>
              <a:rPr lang="en-US" sz="2000" dirty="0"/>
              <a:t>LCS</a:t>
            </a:r>
            <a:r>
              <a:rPr lang="ru-RU" sz="2000" dirty="0"/>
              <a:t>. Вычисление элементов осуществляется пошагово, начиная с северо-западного угла. В результате в последней строке последнего столбца находится длина </a:t>
            </a:r>
            <a:r>
              <a:rPr lang="en-US" sz="2000" dirty="0"/>
              <a:t>LCS.</a:t>
            </a:r>
            <a:endParaRPr lang="ru-RU" sz="2000" dirty="0"/>
          </a:p>
          <a:p>
            <a:pPr algn="just"/>
            <a:r>
              <a:rPr lang="ru-RU" sz="2000" dirty="0"/>
              <a:t>    Массив </a:t>
            </a:r>
            <a:r>
              <a:rPr lang="ru-RU" sz="2000" b="1" dirty="0"/>
              <a:t>В</a:t>
            </a:r>
            <a:r>
              <a:rPr lang="ru-RU" sz="2000" dirty="0"/>
              <a:t> предназначен для построения массива </a:t>
            </a:r>
            <a:r>
              <a:rPr lang="en-US" sz="2000" dirty="0"/>
              <a:t>LCS</a:t>
            </a:r>
            <a:r>
              <a:rPr lang="ru-RU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68AB0-DBAF-4F6D-B2EB-C2875E15ADEE}"/>
              </a:ext>
            </a:extLst>
          </p:cNvPr>
          <p:cNvSpPr txBox="1"/>
          <p:nvPr/>
        </p:nvSpPr>
        <p:spPr>
          <a:xfrm>
            <a:off x="5101716" y="4106684"/>
            <a:ext cx="6840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    В матрице </a:t>
            </a:r>
            <a:r>
              <a:rPr lang="ru-RU" sz="2000" b="1" dirty="0"/>
              <a:t>В</a:t>
            </a:r>
            <a:r>
              <a:rPr lang="ru-RU" sz="2000" dirty="0"/>
              <a:t> есть 3 типа символов, обозначающих направление: </a:t>
            </a:r>
            <a:r>
              <a:rPr lang="en-US" sz="2000" dirty="0"/>
              <a:t>TOP, LEFT </a:t>
            </a:r>
            <a:r>
              <a:rPr lang="ru-RU" sz="2000" dirty="0"/>
              <a:t>и </a:t>
            </a:r>
            <a:r>
              <a:rPr lang="en-US" sz="2000" dirty="0"/>
              <a:t>LEFTTOP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    Элементы массива выбираются с последнего элемента последней строки, используя значения как указатель направления перехода к следующему.</a:t>
            </a:r>
          </a:p>
          <a:p>
            <a:pPr algn="just"/>
            <a:r>
              <a:rPr lang="ru-RU" sz="2000" dirty="0"/>
              <a:t>    Выбранные элементы массива </a:t>
            </a:r>
            <a:r>
              <a:rPr lang="ru-RU" sz="2000" b="1" dirty="0"/>
              <a:t>В</a:t>
            </a:r>
            <a:r>
              <a:rPr lang="ru-RU" sz="2000" dirty="0"/>
              <a:t>, значение которых </a:t>
            </a:r>
            <a:r>
              <a:rPr lang="en-US" sz="2000" dirty="0"/>
              <a:t>LEFTTOP</a:t>
            </a:r>
            <a:r>
              <a:rPr lang="ru-RU" sz="2000" dirty="0"/>
              <a:t>, соответствуют элементам, вошедшим в </a:t>
            </a:r>
            <a:r>
              <a:rPr lang="en-US" sz="2000" dirty="0"/>
              <a:t>LCS.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038490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П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1960</TotalTime>
  <Words>2985</Words>
  <Application>Microsoft Office PowerPoint</Application>
  <PresentationFormat>Широкоэкранный</PresentationFormat>
  <Paragraphs>326</Paragraphs>
  <Slides>56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56</vt:i4>
      </vt:variant>
    </vt:vector>
  </HeadingPairs>
  <TitlesOfParts>
    <vt:vector size="66" baseType="lpstr">
      <vt:lpstr>Arial</vt:lpstr>
      <vt:lpstr>Bahnschrift</vt:lpstr>
      <vt:lpstr>Calibri</vt:lpstr>
      <vt:lpstr>Cambria Math</vt:lpstr>
      <vt:lpstr>Georgia</vt:lpstr>
      <vt:lpstr>Times New Roman</vt:lpstr>
      <vt:lpstr>Тема Office</vt:lpstr>
      <vt:lpstr>Уравнение</vt:lpstr>
      <vt:lpstr>Visio</vt:lpstr>
      <vt:lpstr>Формула</vt:lpstr>
      <vt:lpstr>Динамическое программирование</vt:lpstr>
      <vt:lpstr>Презентация PowerPoint</vt:lpstr>
      <vt:lpstr>План лекции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Владимир Иосифович Левенштейн  — советский и российский математик, доктор физико-математических наук.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Решение задачи вычисления длины наибольшей общей подпоследовательности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86</cp:revision>
  <dcterms:created xsi:type="dcterms:W3CDTF">2010-12-02T13:55:43Z</dcterms:created>
  <dcterms:modified xsi:type="dcterms:W3CDTF">2026-03-06T08:11:10Z</dcterms:modified>
</cp:coreProperties>
</file>