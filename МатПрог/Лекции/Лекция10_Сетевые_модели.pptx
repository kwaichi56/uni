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1"/>
  </p:sldMasterIdLst>
  <p:notesMasterIdLst>
    <p:notesMasterId r:id="rId44"/>
  </p:notesMasterIdLst>
  <p:sldIdLst>
    <p:sldId id="256" r:id="rId2"/>
    <p:sldId id="299" r:id="rId3"/>
    <p:sldId id="257" r:id="rId4"/>
    <p:sldId id="258" r:id="rId5"/>
    <p:sldId id="283" r:id="rId6"/>
    <p:sldId id="284" r:id="rId7"/>
    <p:sldId id="285" r:id="rId8"/>
    <p:sldId id="286" r:id="rId9"/>
    <p:sldId id="287" r:id="rId10"/>
    <p:sldId id="288" r:id="rId11"/>
    <p:sldId id="260" r:id="rId12"/>
    <p:sldId id="289" r:id="rId13"/>
    <p:sldId id="261" r:id="rId14"/>
    <p:sldId id="262" r:id="rId15"/>
    <p:sldId id="263" r:id="rId16"/>
    <p:sldId id="291" r:id="rId17"/>
    <p:sldId id="290" r:id="rId18"/>
    <p:sldId id="264" r:id="rId19"/>
    <p:sldId id="292" r:id="rId20"/>
    <p:sldId id="293" r:id="rId21"/>
    <p:sldId id="265" r:id="rId22"/>
    <p:sldId id="294" r:id="rId23"/>
    <p:sldId id="295" r:id="rId24"/>
    <p:sldId id="266" r:id="rId25"/>
    <p:sldId id="267" r:id="rId26"/>
    <p:sldId id="268" r:id="rId27"/>
    <p:sldId id="269" r:id="rId28"/>
    <p:sldId id="270" r:id="rId29"/>
    <p:sldId id="271" r:id="rId30"/>
    <p:sldId id="272" r:id="rId31"/>
    <p:sldId id="296" r:id="rId32"/>
    <p:sldId id="273" r:id="rId33"/>
    <p:sldId id="275" r:id="rId34"/>
    <p:sldId id="276" r:id="rId35"/>
    <p:sldId id="277" r:id="rId36"/>
    <p:sldId id="278" r:id="rId37"/>
    <p:sldId id="279" r:id="rId38"/>
    <p:sldId id="280" r:id="rId39"/>
    <p:sldId id="297" r:id="rId40"/>
    <p:sldId id="281" r:id="rId41"/>
    <p:sldId id="298" r:id="rId42"/>
    <p:sldId id="300" r:id="rId43"/>
  </p:sldIdLst>
  <p:sldSz cx="12192000" cy="6858000"/>
  <p:notesSz cx="7559675" cy="10691813"/>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E2D6FF82-CE61-43BB-A5DA-D1457AA2D5BF}" type="datetimeFigureOut">
              <a:rPr lang="ru-RU" smtClean="0"/>
              <a:t>29.04.2026</a:t>
            </a:fld>
            <a:endParaRPr lang="ru-RU"/>
          </a:p>
        </p:txBody>
      </p:sp>
      <p:sp>
        <p:nvSpPr>
          <p:cNvPr id="4" name="Образ слайда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24EEB995-665B-4B4D-8762-7BE05F0327AC}" type="slidenum">
              <a:rPr lang="ru-RU" smtClean="0"/>
              <a:t>‹#›</a:t>
            </a:fld>
            <a:endParaRPr lang="ru-RU"/>
          </a:p>
        </p:txBody>
      </p:sp>
    </p:spTree>
    <p:extLst>
      <p:ext uri="{BB962C8B-B14F-4D97-AF65-F5344CB8AC3E}">
        <p14:creationId xmlns:p14="http://schemas.microsoft.com/office/powerpoint/2010/main" val="78710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5" name="Нижний колонтитул 4"/>
          <p:cNvSpPr>
            <a:spLocks noGrp="1"/>
          </p:cNvSpPr>
          <p:nvPr>
            <p:ph type="ftr" sz="quarter" idx="11"/>
          </p:nvPr>
        </p:nvSpPr>
        <p:spPr/>
        <p:txBody>
          <a:bodyPr/>
          <a:lstStyle/>
          <a:p>
            <a:endParaRPr lang="ru-RU" sz="2400" b="0" strike="noStrike" spc="-1">
              <a:latin typeface="Times New Roman"/>
            </a:endParaRPr>
          </a:p>
        </p:txBody>
      </p:sp>
      <p:sp>
        <p:nvSpPr>
          <p:cNvPr id="6" name="Номер слайда 5"/>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1334589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5" name="Нижний колонтитул 4"/>
          <p:cNvSpPr>
            <a:spLocks noGrp="1"/>
          </p:cNvSpPr>
          <p:nvPr>
            <p:ph type="ftr" sz="quarter" idx="11"/>
          </p:nvPr>
        </p:nvSpPr>
        <p:spPr/>
        <p:txBody>
          <a:bodyPr/>
          <a:lstStyle/>
          <a:p>
            <a:endParaRPr lang="ru-RU" sz="2400" b="0" strike="noStrike" spc="-1">
              <a:latin typeface="Times New Roman"/>
            </a:endParaRPr>
          </a:p>
        </p:txBody>
      </p:sp>
      <p:sp>
        <p:nvSpPr>
          <p:cNvPr id="6" name="Номер слайда 5"/>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1741997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5" name="Нижний колонтитул 4"/>
          <p:cNvSpPr>
            <a:spLocks noGrp="1"/>
          </p:cNvSpPr>
          <p:nvPr>
            <p:ph type="ftr" sz="quarter" idx="11"/>
          </p:nvPr>
        </p:nvSpPr>
        <p:spPr/>
        <p:txBody>
          <a:bodyPr/>
          <a:lstStyle/>
          <a:p>
            <a:endParaRPr lang="ru-RU" sz="2400" b="0" strike="noStrike" spc="-1">
              <a:latin typeface="Times New Roman"/>
            </a:endParaRPr>
          </a:p>
        </p:txBody>
      </p:sp>
      <p:sp>
        <p:nvSpPr>
          <p:cNvPr id="6" name="Номер слайда 5"/>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3546289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6" name="Нижний колонтитул 5"/>
          <p:cNvSpPr>
            <a:spLocks noGrp="1"/>
          </p:cNvSpPr>
          <p:nvPr>
            <p:ph type="ftr" sz="quarter" idx="11"/>
          </p:nvPr>
        </p:nvSpPr>
        <p:spPr/>
        <p:txBody>
          <a:bodyPr/>
          <a:lstStyle/>
          <a:p>
            <a:endParaRPr lang="ru-RU" sz="2400" b="0" strike="noStrike" spc="-1">
              <a:latin typeface="Times New Roman"/>
            </a:endParaRPr>
          </a:p>
        </p:txBody>
      </p:sp>
      <p:sp>
        <p:nvSpPr>
          <p:cNvPr id="7" name="Номер слайда 6"/>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3692025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8" name="Нижний колонтитул 7"/>
          <p:cNvSpPr>
            <a:spLocks noGrp="1"/>
          </p:cNvSpPr>
          <p:nvPr>
            <p:ph type="ftr" sz="quarter" idx="11"/>
          </p:nvPr>
        </p:nvSpPr>
        <p:spPr/>
        <p:txBody>
          <a:bodyPr/>
          <a:lstStyle/>
          <a:p>
            <a:endParaRPr lang="ru-RU" sz="2400" b="0" strike="noStrike" spc="-1">
              <a:latin typeface="Times New Roman"/>
            </a:endParaRPr>
          </a:p>
        </p:txBody>
      </p:sp>
      <p:sp>
        <p:nvSpPr>
          <p:cNvPr id="9" name="Номер слайда 8"/>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70586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4" name="Нижний колонтитул 3"/>
          <p:cNvSpPr>
            <a:spLocks noGrp="1"/>
          </p:cNvSpPr>
          <p:nvPr>
            <p:ph type="ftr" sz="quarter" idx="11"/>
          </p:nvPr>
        </p:nvSpPr>
        <p:spPr/>
        <p:txBody>
          <a:bodyPr/>
          <a:lstStyle/>
          <a:p>
            <a:endParaRPr lang="ru-RU" sz="2400" b="0" strike="noStrike" spc="-1">
              <a:latin typeface="Times New Roman"/>
            </a:endParaRPr>
          </a:p>
        </p:txBody>
      </p:sp>
      <p:sp>
        <p:nvSpPr>
          <p:cNvPr id="5" name="Номер слайда 4"/>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4293222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3" name="Нижний колонтитул 2"/>
          <p:cNvSpPr>
            <a:spLocks noGrp="1"/>
          </p:cNvSpPr>
          <p:nvPr>
            <p:ph type="ftr" sz="quarter" idx="11"/>
          </p:nvPr>
        </p:nvSpPr>
        <p:spPr/>
        <p:txBody>
          <a:bodyPr/>
          <a:lstStyle/>
          <a:p>
            <a:endParaRPr lang="ru-RU" sz="2400" b="0" strike="noStrike" spc="-1">
              <a:latin typeface="Times New Roman"/>
            </a:endParaRPr>
          </a:p>
        </p:txBody>
      </p:sp>
      <p:sp>
        <p:nvSpPr>
          <p:cNvPr id="4" name="Номер слайда 3"/>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737677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6" name="Нижний колонтитул 5"/>
          <p:cNvSpPr>
            <a:spLocks noGrp="1"/>
          </p:cNvSpPr>
          <p:nvPr>
            <p:ph type="ftr" sz="quarter" idx="11"/>
          </p:nvPr>
        </p:nvSpPr>
        <p:spPr/>
        <p:txBody>
          <a:bodyPr/>
          <a:lstStyle/>
          <a:p>
            <a:endParaRPr lang="ru-RU" sz="2400" b="0" strike="noStrike" spc="-1">
              <a:latin typeface="Times New Roman"/>
            </a:endParaRPr>
          </a:p>
        </p:txBody>
      </p:sp>
      <p:sp>
        <p:nvSpPr>
          <p:cNvPr id="7" name="Номер слайда 6"/>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1734346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6" name="Нижний колонтитул 5"/>
          <p:cNvSpPr>
            <a:spLocks noGrp="1"/>
          </p:cNvSpPr>
          <p:nvPr>
            <p:ph type="ftr" sz="quarter" idx="11"/>
          </p:nvPr>
        </p:nvSpPr>
        <p:spPr/>
        <p:txBody>
          <a:bodyPr/>
          <a:lstStyle/>
          <a:p>
            <a:endParaRPr lang="ru-RU" sz="2400" b="0" strike="noStrike" spc="-1">
              <a:latin typeface="Times New Roman"/>
            </a:endParaRPr>
          </a:p>
        </p:txBody>
      </p:sp>
      <p:sp>
        <p:nvSpPr>
          <p:cNvPr id="7" name="Номер слайда 6"/>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3595782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5" name="Нижний колонтитул 4"/>
          <p:cNvSpPr>
            <a:spLocks noGrp="1"/>
          </p:cNvSpPr>
          <p:nvPr>
            <p:ph type="ftr" sz="quarter" idx="11"/>
          </p:nvPr>
        </p:nvSpPr>
        <p:spPr/>
        <p:txBody>
          <a:bodyPr/>
          <a:lstStyle/>
          <a:p>
            <a:endParaRPr lang="ru-RU" sz="2400" b="0" strike="noStrike" spc="-1">
              <a:latin typeface="Times New Roman"/>
            </a:endParaRPr>
          </a:p>
        </p:txBody>
      </p:sp>
      <p:sp>
        <p:nvSpPr>
          <p:cNvPr id="6" name="Номер слайда 5"/>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3072087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pPr algn="r">
              <a:lnSpc>
                <a:spcPct val="100000"/>
              </a:lnSpc>
            </a:pPr>
            <a:fld id="{CE919A68-2E90-4EB8-AAFA-24567A787B2F}"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5" name="Нижний колонтитул 4"/>
          <p:cNvSpPr>
            <a:spLocks noGrp="1"/>
          </p:cNvSpPr>
          <p:nvPr>
            <p:ph type="ftr" sz="quarter" idx="11"/>
          </p:nvPr>
        </p:nvSpPr>
        <p:spPr/>
        <p:txBody>
          <a:bodyPr/>
          <a:lstStyle/>
          <a:p>
            <a:endParaRPr lang="ru-RU" sz="2400" b="0" strike="noStrike" spc="-1">
              <a:latin typeface="Times New Roman"/>
            </a:endParaRPr>
          </a:p>
        </p:txBody>
      </p:sp>
      <p:sp>
        <p:nvSpPr>
          <p:cNvPr id="6" name="Номер слайда 5"/>
          <p:cNvSpPr>
            <a:spLocks noGrp="1"/>
          </p:cNvSpPr>
          <p:nvPr>
            <p:ph type="sldNum" sz="quarter" idx="12"/>
          </p:nvPr>
        </p:nvSpPr>
        <p:spPr/>
        <p:txBody>
          <a:bodyPr/>
          <a:lstStyle/>
          <a:p>
            <a:pPr algn="ctr">
              <a:lnSpc>
                <a:spcPct val="100000"/>
              </a:lnSpc>
            </a:pPr>
            <a:fld id="{87456263-760B-476E-802D-7BE56FE2A195}"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271091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3" name="PlaceHolder 1"/>
          <p:cNvSpPr>
            <a:spLocks noGrp="1"/>
          </p:cNvSpPr>
          <p:nvPr>
            <p:ph type="title"/>
          </p:nvPr>
        </p:nvSpPr>
        <p:spPr>
          <a:xfrm>
            <a:off x="2390880" y="4372200"/>
            <a:ext cx="8682720" cy="1142640"/>
          </a:xfrm>
          <a:prstGeom prst="rect">
            <a:avLst/>
          </a:prstGeom>
        </p:spPr>
        <p:txBody>
          <a:bodyPr lIns="0" tIns="0" rIns="0" bIns="0" anchor="ctr">
            <a:noAutofit/>
          </a:bodyPr>
          <a:lstStyle/>
          <a:p>
            <a:endParaRPr lang="be-BY" sz="1800" b="0" strike="noStrike" spc="-1" dirty="0">
              <a:solidFill>
                <a:srgbClr val="000000"/>
              </a:solidFill>
              <a:latin typeface="Trebuchet MS"/>
            </a:endParaRPr>
          </a:p>
        </p:txBody>
      </p:sp>
      <p:sp>
        <p:nvSpPr>
          <p:cNvPr id="14" name="PlaceHolder 2"/>
          <p:cNvSpPr>
            <a:spLocks noGrp="1"/>
          </p:cNvSpPr>
          <p:nvPr>
            <p:ph type="subTitle"/>
          </p:nvPr>
        </p:nvSpPr>
        <p:spPr>
          <a:xfrm>
            <a:off x="1524000" y="731520"/>
            <a:ext cx="8533920" cy="3474360"/>
          </a:xfrm>
          <a:prstGeom prst="rect">
            <a:avLst/>
          </a:prstGeom>
        </p:spPr>
        <p:txBody>
          <a:bodyPr lIns="0" tIns="0" rIns="0" bIns="0" anchor="ctr">
            <a:noAutofit/>
          </a:bodyPr>
          <a:lstStyle/>
          <a:p>
            <a:pPr algn="ctr"/>
            <a:endParaRPr lang="ru-RU" sz="3200" b="0" strike="noStrike" spc="-1" dirty="0">
              <a:latin typeface="Arial"/>
            </a:endParaRPr>
          </a:p>
        </p:txBody>
      </p:sp>
    </p:spTree>
    <p:extLst>
      <p:ext uri="{BB962C8B-B14F-4D97-AF65-F5344CB8AC3E}">
        <p14:creationId xmlns:p14="http://schemas.microsoft.com/office/powerpoint/2010/main" val="2857988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r">
              <a:lnSpc>
                <a:spcPct val="100000"/>
              </a:lnSpc>
            </a:pPr>
            <a:fld id="{416D8CA0-4C06-4467-B6C8-D9ED9CCB7D64}" type="datetime">
              <a:rPr lang="be-BY" sz="1100" b="1" strike="noStrike" spc="-1" smtClean="0">
                <a:solidFill>
                  <a:srgbClr val="808080"/>
                </a:solidFill>
                <a:latin typeface="Trebuchet MS"/>
              </a:rPr>
              <a:t>29.04.26</a:t>
            </a:fld>
            <a:endParaRPr lang="ru-RU" sz="1100" b="0" strike="noStrike" spc="-1">
              <a:latin typeface="Times New Roman"/>
            </a:endParaRPr>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sz="2400" b="0" strike="noStrike" spc="-1">
              <a:latin typeface="Times New Roman"/>
            </a:endParaRPr>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lnSpc>
                <a:spcPct val="100000"/>
              </a:lnSpc>
            </a:pPr>
            <a:fld id="{2C85A1E7-EAE5-406D-8769-3520D0F873BB}" type="slidenum">
              <a:rPr lang="be-BY" sz="1200" b="1" strike="noStrike" spc="-1" smtClean="0">
                <a:solidFill>
                  <a:srgbClr val="808080"/>
                </a:solidFill>
                <a:latin typeface="Trebuchet MS"/>
              </a:rPr>
              <a:t>‹#›</a:t>
            </a:fld>
            <a:endParaRPr lang="ru-RU" sz="1200" b="0" strike="noStrike" spc="-1">
              <a:latin typeface="Times New Roman"/>
            </a:endParaRPr>
          </a:p>
        </p:txBody>
      </p:sp>
    </p:spTree>
    <p:extLst>
      <p:ext uri="{BB962C8B-B14F-4D97-AF65-F5344CB8AC3E}">
        <p14:creationId xmlns:p14="http://schemas.microsoft.com/office/powerpoint/2010/main" val="359451886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1591673" y="2598583"/>
            <a:ext cx="8856720" cy="1792800"/>
          </a:xfrm>
          <a:prstGeom prst="rect">
            <a:avLst/>
          </a:prstGeom>
          <a:noFill/>
          <a:ln>
            <a:noFill/>
          </a:ln>
        </p:spPr>
        <p:txBody>
          <a:bodyPr>
            <a:noAutofit/>
          </a:bodyPr>
          <a:lstStyle/>
          <a:p>
            <a:pPr marL="182880" algn="ctr"/>
            <a:r>
              <a:rPr lang="ru-RU" sz="6600" b="1" spc="-1" dirty="0">
                <a:solidFill>
                  <a:srgbClr val="00B0F0"/>
                </a:solidFill>
                <a:latin typeface="Trebuchet MS"/>
              </a:rPr>
              <a:t>Сетевые модели</a:t>
            </a:r>
            <a:endParaRPr lang="be-BY" sz="6600" spc="-1" dirty="0">
              <a:solidFill>
                <a:srgbClr val="00B0F0"/>
              </a:solidFill>
              <a:latin typeface="Trebuchet MS"/>
            </a:endParaRP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1703640" y="116640"/>
            <a:ext cx="8856720" cy="1792800"/>
          </a:xfrm>
          <a:prstGeom prst="rect">
            <a:avLst/>
          </a:prstGeom>
          <a:noFill/>
          <a:ln>
            <a:noFill/>
          </a:ln>
        </p:spPr>
        <p:txBody>
          <a:bodyPr>
            <a:noAutofit/>
          </a:bodyPr>
          <a:lstStyle/>
          <a:p>
            <a:pPr marL="182880" algn="ctr"/>
            <a:r>
              <a:rPr lang="ru-RU" sz="5400" b="1" spc="-1" dirty="0">
                <a:solidFill>
                  <a:srgbClr val="00B0F0"/>
                </a:solidFill>
                <a:latin typeface="Trebuchet MS"/>
              </a:rPr>
              <a:t>Сетевые модели</a:t>
            </a:r>
            <a:endParaRPr lang="be-BY" sz="5400" spc="-1" dirty="0">
              <a:solidFill>
                <a:srgbClr val="00B0F0"/>
              </a:solidFill>
              <a:latin typeface="Trebuchet MS"/>
            </a:endParaRPr>
          </a:p>
        </p:txBody>
      </p:sp>
      <p:sp>
        <p:nvSpPr>
          <p:cNvPr id="95" name="CustomShape 2"/>
          <p:cNvSpPr/>
          <p:nvPr/>
        </p:nvSpPr>
        <p:spPr>
          <a:xfrm>
            <a:off x="1524180" y="1564567"/>
            <a:ext cx="9143640" cy="3474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
              <a:spcBef>
                <a:spcPts val="720"/>
              </a:spcBef>
              <a:spcAft>
                <a:spcPts val="300"/>
              </a:spcAft>
            </a:pPr>
            <a:r>
              <a:rPr lang="ru-RU" sz="3600" spc="-1" dirty="0">
                <a:solidFill>
                  <a:srgbClr val="00B0F0"/>
                </a:solidFill>
                <a:latin typeface="Trebuchet MS"/>
              </a:rPr>
              <a:t>Цель: </a:t>
            </a:r>
            <a:r>
              <a:rPr lang="ru-RU" sz="3600" spc="-1" dirty="0">
                <a:solidFill>
                  <a:srgbClr val="000000"/>
                </a:solidFill>
                <a:latin typeface="Trebuchet MS"/>
              </a:rPr>
              <a:t>освоение навыков решения</a:t>
            </a:r>
            <a:r>
              <a:rPr lang="en-US" sz="3600" spc="-1" dirty="0">
                <a:solidFill>
                  <a:srgbClr val="000000"/>
                </a:solidFill>
                <a:latin typeface="Trebuchet MS"/>
              </a:rPr>
              <a:t> </a:t>
            </a:r>
            <a:r>
              <a:rPr lang="ru-RU" sz="3600" spc="-1" dirty="0">
                <a:solidFill>
                  <a:srgbClr val="000000"/>
                </a:solidFill>
                <a:latin typeface="Trebuchet MS"/>
              </a:rPr>
              <a:t>задач на основе методов сетевого планирования.</a:t>
            </a:r>
            <a:endParaRPr lang="ru-RU" sz="3600" spc="-1" dirty="0">
              <a:latin typeface="Arial"/>
            </a:endParaRPr>
          </a:p>
          <a:p>
            <a:pPr marL="45720">
              <a:spcBef>
                <a:spcPts val="720"/>
              </a:spcBef>
              <a:spcAft>
                <a:spcPts val="300"/>
              </a:spcAft>
            </a:pPr>
            <a:r>
              <a:rPr lang="ru-RU" sz="3600" spc="-1" dirty="0">
                <a:solidFill>
                  <a:srgbClr val="00B0F0"/>
                </a:solidFill>
                <a:latin typeface="Trebuchet MS"/>
              </a:rPr>
              <a:t>Задачи: </a:t>
            </a:r>
            <a:endParaRPr lang="ru-RU" sz="3600" spc="-1" dirty="0">
              <a:solidFill>
                <a:srgbClr val="00B0F0"/>
              </a:solidFill>
              <a:latin typeface="Arial"/>
            </a:endParaRPr>
          </a:p>
          <a:p>
            <a:pPr marL="228600" indent="-182520">
              <a:spcBef>
                <a:spcPts val="720"/>
              </a:spcBef>
              <a:spcAft>
                <a:spcPts val="300"/>
              </a:spcAft>
              <a:buClr>
                <a:srgbClr val="00B0F0"/>
              </a:buClr>
              <a:buSzPct val="130000"/>
              <a:buFont typeface="Arial"/>
              <a:buChar char="•"/>
            </a:pPr>
            <a:r>
              <a:rPr lang="ru-RU" sz="3600" spc="-1" dirty="0">
                <a:solidFill>
                  <a:srgbClr val="000000"/>
                </a:solidFill>
                <a:latin typeface="Trebuchet MS"/>
              </a:rPr>
              <a:t> изучение теоретических основ;</a:t>
            </a:r>
            <a:endParaRPr lang="ru-RU" sz="3600" spc="-1" dirty="0">
              <a:latin typeface="Arial"/>
            </a:endParaRPr>
          </a:p>
          <a:p>
            <a:pPr marL="228600" indent="-182520">
              <a:spcBef>
                <a:spcPts val="720"/>
              </a:spcBef>
              <a:spcAft>
                <a:spcPts val="300"/>
              </a:spcAft>
              <a:buClr>
                <a:srgbClr val="00B0F0"/>
              </a:buClr>
              <a:buSzPct val="130000"/>
              <a:buFont typeface="Arial"/>
              <a:buChar char="•"/>
            </a:pPr>
            <a:r>
              <a:rPr lang="ru-RU" sz="3600" spc="-1" dirty="0">
                <a:solidFill>
                  <a:srgbClr val="000000"/>
                </a:solidFill>
                <a:latin typeface="Trebuchet MS"/>
              </a:rPr>
              <a:t> освоение навыков построения сетевого графика.</a:t>
            </a:r>
            <a:endParaRPr lang="ru-RU" sz="3600" spc="-1" dirty="0">
              <a:latin typeface="Arial"/>
            </a:endParaRPr>
          </a:p>
          <a:p>
            <a:pPr marL="45720">
              <a:spcBef>
                <a:spcPts val="720"/>
              </a:spcBef>
              <a:spcAft>
                <a:spcPts val="300"/>
              </a:spcAft>
            </a:pPr>
            <a:endParaRPr lang="ru-RU" sz="3600" spc="-1" dirty="0">
              <a:latin typeface="Arial"/>
            </a:endParaRPr>
          </a:p>
        </p:txBody>
      </p:sp>
    </p:spTree>
    <p:extLst>
      <p:ext uri="{BB962C8B-B14F-4D97-AF65-F5344CB8AC3E}">
        <p14:creationId xmlns:p14="http://schemas.microsoft.com/office/powerpoint/2010/main" val="151694663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2115480" y="1484640"/>
            <a:ext cx="7992360" cy="3474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560160" indent="-514080">
              <a:spcBef>
                <a:spcPts val="561"/>
              </a:spcBef>
              <a:spcAft>
                <a:spcPts val="300"/>
              </a:spcAft>
              <a:buClr>
                <a:srgbClr val="00B0F0"/>
              </a:buClr>
              <a:buSzPct val="130000"/>
              <a:buFont typeface="Trebuchet MS"/>
              <a:buAutoNum type="arabicPeriod"/>
            </a:pPr>
            <a:r>
              <a:rPr lang="ru-RU" sz="3200" b="1" spc="-1" dirty="0">
                <a:latin typeface="Times New Roman"/>
              </a:rPr>
              <a:t>Методы сетевого планирования</a:t>
            </a:r>
            <a:r>
              <a:rPr lang="en-US" sz="3200" b="1" spc="-1" dirty="0">
                <a:latin typeface="Times New Roman"/>
              </a:rPr>
              <a:t> </a:t>
            </a:r>
            <a:r>
              <a:rPr lang="ru-RU" sz="3200" b="1" spc="-1" dirty="0">
                <a:latin typeface="Times New Roman"/>
              </a:rPr>
              <a:t> и управления;</a:t>
            </a:r>
            <a:endParaRPr lang="ru-RU" sz="3200" spc="-1" dirty="0">
              <a:latin typeface="Arial"/>
            </a:endParaRPr>
          </a:p>
          <a:p>
            <a:pPr marL="560160" indent="-514080">
              <a:spcBef>
                <a:spcPts val="561"/>
              </a:spcBef>
              <a:spcAft>
                <a:spcPts val="300"/>
              </a:spcAft>
              <a:buClr>
                <a:srgbClr val="00B0F0"/>
              </a:buClr>
              <a:buSzPct val="130000"/>
              <a:buFont typeface="Trebuchet MS"/>
              <a:buAutoNum type="arabicPeriod"/>
            </a:pPr>
            <a:r>
              <a:rPr lang="ru-RU" sz="3200" b="1" spc="-1" dirty="0">
                <a:latin typeface="Times New Roman"/>
              </a:rPr>
              <a:t>Основные понятия</a:t>
            </a:r>
            <a:r>
              <a:rPr lang="en-US" sz="3200" b="1" spc="-1" dirty="0">
                <a:latin typeface="Times New Roman"/>
              </a:rPr>
              <a:t> </a:t>
            </a:r>
            <a:r>
              <a:rPr lang="ru-RU" sz="3200" b="1" spc="-1" dirty="0">
                <a:latin typeface="Times New Roman"/>
              </a:rPr>
              <a:t>о сетевых моделях</a:t>
            </a:r>
            <a:endParaRPr lang="ru-RU" sz="3200" spc="-1" dirty="0">
              <a:latin typeface="Arial"/>
            </a:endParaRPr>
          </a:p>
          <a:p>
            <a:pPr marL="560160" indent="-514080">
              <a:spcBef>
                <a:spcPts val="561"/>
              </a:spcBef>
              <a:spcAft>
                <a:spcPts val="300"/>
              </a:spcAft>
              <a:buClr>
                <a:srgbClr val="00B0F0"/>
              </a:buClr>
              <a:buSzPct val="130000"/>
              <a:buFont typeface="Trebuchet MS"/>
              <a:buAutoNum type="arabicPeriod"/>
            </a:pPr>
            <a:r>
              <a:rPr lang="ru-RU" sz="3200" b="1" spc="-1" dirty="0">
                <a:latin typeface="Times New Roman"/>
              </a:rPr>
              <a:t> Комплекс операций проекта разработки </a:t>
            </a:r>
            <a:r>
              <a:rPr lang="ru-RU" sz="3200" b="1" spc="-1" dirty="0" err="1">
                <a:latin typeface="Times New Roman"/>
              </a:rPr>
              <a:t>web</a:t>
            </a:r>
            <a:r>
              <a:rPr lang="ru-RU" sz="3200" b="1" spc="-1" dirty="0">
                <a:latin typeface="Times New Roman"/>
              </a:rPr>
              <a:t>-приложения WSP</a:t>
            </a:r>
            <a:r>
              <a:rPr lang="en-US" sz="3200" b="1" spc="-1" dirty="0">
                <a:latin typeface="Times New Roman"/>
              </a:rPr>
              <a:t>;</a:t>
            </a:r>
            <a:endParaRPr lang="ru-RU" sz="3200" spc="-1" dirty="0">
              <a:latin typeface="Arial"/>
            </a:endParaRPr>
          </a:p>
          <a:p>
            <a:pPr marL="560160" indent="-514080">
              <a:spcBef>
                <a:spcPts val="561"/>
              </a:spcBef>
              <a:spcAft>
                <a:spcPts val="300"/>
              </a:spcAft>
              <a:buClr>
                <a:srgbClr val="00B0F0"/>
              </a:buClr>
              <a:buSzPct val="130000"/>
              <a:buFont typeface="Trebuchet MS"/>
              <a:buAutoNum type="arabicPeriod"/>
            </a:pPr>
            <a:r>
              <a:rPr lang="ru-RU" sz="3200" b="1" spc="-1" dirty="0">
                <a:latin typeface="Times New Roman"/>
              </a:rPr>
              <a:t> Нумерация событий комплекса операций проекта WSP;</a:t>
            </a:r>
            <a:endParaRPr lang="ru-RU" sz="3200" spc="-1" dirty="0">
              <a:latin typeface="Arial"/>
            </a:endParaRPr>
          </a:p>
          <a:p>
            <a:pPr marL="560160" indent="-514080">
              <a:spcBef>
                <a:spcPts val="561"/>
              </a:spcBef>
              <a:spcAft>
                <a:spcPts val="300"/>
              </a:spcAft>
              <a:buClr>
                <a:srgbClr val="00B0F0"/>
              </a:buClr>
              <a:buSzPct val="130000"/>
              <a:buFont typeface="Trebuchet MS"/>
              <a:buAutoNum type="arabicPeriod"/>
            </a:pPr>
            <a:r>
              <a:rPr lang="ru-RU" sz="3200" b="1" spc="-1" dirty="0">
                <a:latin typeface="Times New Roman"/>
              </a:rPr>
              <a:t> Построение сетевого графика.</a:t>
            </a:r>
            <a:endParaRPr lang="ru-RU" sz="3200" spc="-1" dirty="0">
              <a:latin typeface="Arial"/>
            </a:endParaRPr>
          </a:p>
          <a:p>
            <a:pPr marL="45720">
              <a:spcBef>
                <a:spcPts val="720"/>
              </a:spcBef>
              <a:spcAft>
                <a:spcPts val="300"/>
              </a:spcAft>
            </a:pPr>
            <a:endParaRPr lang="ru-RU" sz="2800" spc="-1" dirty="0">
              <a:latin typeface="Arial"/>
            </a:endParaRPr>
          </a:p>
          <a:p>
            <a:pPr>
              <a:spcBef>
                <a:spcPts val="720"/>
              </a:spcBef>
              <a:spcAft>
                <a:spcPts val="300"/>
              </a:spcAft>
            </a:pPr>
            <a:endParaRPr lang="ru-RU" sz="2800" spc="-1" dirty="0">
              <a:latin typeface="Arial"/>
            </a:endParaRPr>
          </a:p>
          <a:p>
            <a:pPr>
              <a:spcBef>
                <a:spcPts val="720"/>
              </a:spcBef>
              <a:spcAft>
                <a:spcPts val="300"/>
              </a:spcAft>
            </a:pPr>
            <a:endParaRPr lang="ru-RU" sz="2800" spc="-1" dirty="0">
              <a:latin typeface="Arial"/>
            </a:endParaRPr>
          </a:p>
          <a:p>
            <a:pPr>
              <a:spcBef>
                <a:spcPts val="720"/>
              </a:spcBef>
              <a:spcAft>
                <a:spcPts val="300"/>
              </a:spcAft>
            </a:pPr>
            <a:endParaRPr lang="ru-RU" sz="2800" spc="-1" dirty="0">
              <a:latin typeface="Arial"/>
            </a:endParaRPr>
          </a:p>
        </p:txBody>
      </p:sp>
      <p:sp>
        <p:nvSpPr>
          <p:cNvPr id="97" name="CustomShape 2"/>
          <p:cNvSpPr/>
          <p:nvPr/>
        </p:nvSpPr>
        <p:spPr>
          <a:xfrm>
            <a:off x="2855640" y="316600"/>
            <a:ext cx="6512040" cy="1142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5400" b="1" spc="-1" dirty="0">
                <a:solidFill>
                  <a:srgbClr val="404040"/>
                </a:solidFill>
                <a:latin typeface="Trebuchet MS"/>
              </a:rPr>
              <a:t>План лекции</a:t>
            </a:r>
            <a:endParaRPr lang="ru-RU" sz="5400" spc="-1" dirty="0">
              <a:latin typeface="Arial"/>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2156840" y="3325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99" name="CustomShape 2"/>
          <p:cNvSpPr/>
          <p:nvPr/>
        </p:nvSpPr>
        <p:spPr>
          <a:xfrm>
            <a:off x="1052803" y="1769059"/>
            <a:ext cx="10086393" cy="439975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	В практике управления проектами методы планирования и управления, в основе которых лежит сетевая модель, объединены под общим названием – </a:t>
            </a:r>
            <a:r>
              <a:rPr lang="ru-RU" sz="2800" b="1" spc="-1" dirty="0">
                <a:solidFill>
                  <a:srgbClr val="000000"/>
                </a:solidFill>
                <a:latin typeface="Times New Roman"/>
                <a:ea typeface="Times New Roman"/>
              </a:rPr>
              <a:t>сетевое планирование и управление (СПУ)</a:t>
            </a:r>
            <a:r>
              <a:rPr lang="ru-RU" sz="2800" spc="-1" dirty="0">
                <a:solidFill>
                  <a:srgbClr val="000000"/>
                </a:solidFill>
                <a:latin typeface="Times New Roman"/>
                <a:ea typeface="Times New Roman"/>
              </a:rPr>
              <a:t>. </a:t>
            </a:r>
          </a:p>
          <a:p>
            <a:pPr algn="just">
              <a:lnSpc>
                <a:spcPct val="100000"/>
              </a:lnSpc>
            </a:pPr>
            <a:r>
              <a:rPr lang="ru-RU" sz="2800" spc="-1" dirty="0">
                <a:solidFill>
                  <a:srgbClr val="000000"/>
                </a:solidFill>
                <a:latin typeface="Times New Roman"/>
              </a:rPr>
              <a:t>	Как правило, СПУ применяется при планировании сложных комплексных проектов, таких как строительство и реконструкция, научно-исследовательские и конструкторские работы, подготовка к выпуску продукции, развертывание медицинских и профилактических мероприятий, разработка программного обеспечения и т. д.</a:t>
            </a:r>
            <a:endParaRPr lang="ru-RU" sz="2800" spc="-1" dirty="0">
              <a:latin typeface="Arial"/>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2156840" y="3325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99" name="CustomShape 2"/>
          <p:cNvSpPr/>
          <p:nvPr/>
        </p:nvSpPr>
        <p:spPr>
          <a:xfrm>
            <a:off x="1549400" y="2086300"/>
            <a:ext cx="8856720" cy="353797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spc="-1" dirty="0">
                <a:solidFill>
                  <a:srgbClr val="000000"/>
                </a:solidFill>
                <a:latin typeface="Times New Roman"/>
                <a:ea typeface="Times New Roman"/>
              </a:rPr>
              <a:t>Основные разновидности методов сетевого планирования и управления (СПУ): </a:t>
            </a:r>
            <a:endParaRPr lang="ru-RU" sz="2800" spc="-1" dirty="0">
              <a:latin typeface="Arial"/>
            </a:endParaRPr>
          </a:p>
          <a:p>
            <a:pPr marL="457200" indent="-456840" algn="just">
              <a:buClr>
                <a:srgbClr val="000000"/>
              </a:buClr>
              <a:buFont typeface="Arial"/>
              <a:buChar char="•"/>
            </a:pPr>
            <a:r>
              <a:rPr lang="ru-RU" sz="2800" b="1" i="1" spc="-1" dirty="0">
                <a:solidFill>
                  <a:srgbClr val="000000"/>
                </a:solidFill>
                <a:latin typeface="Times New Roman"/>
                <a:ea typeface="Times New Roman"/>
              </a:rPr>
              <a:t>метод оценки и обзора программ </a:t>
            </a:r>
            <a:r>
              <a:rPr lang="ru-RU" sz="2800" spc="-1" dirty="0">
                <a:solidFill>
                  <a:srgbClr val="000000"/>
                </a:solidFill>
                <a:latin typeface="Times New Roman"/>
                <a:ea typeface="Times New Roman"/>
              </a:rPr>
              <a:t>(</a:t>
            </a:r>
            <a:r>
              <a:rPr lang="ru-RU" sz="2800" spc="-1" dirty="0" err="1">
                <a:solidFill>
                  <a:srgbClr val="000000"/>
                </a:solidFill>
                <a:latin typeface="Times New Roman"/>
                <a:ea typeface="Times New Roman"/>
              </a:rPr>
              <a:t>Program</a:t>
            </a:r>
            <a:r>
              <a:rPr lang="ru-RU" sz="2800" spc="-1" dirty="0">
                <a:solidFill>
                  <a:srgbClr val="000000"/>
                </a:solidFill>
                <a:latin typeface="Times New Roman"/>
                <a:ea typeface="Times New Roman"/>
              </a:rPr>
              <a:t> </a:t>
            </a:r>
            <a:r>
              <a:rPr lang="ru-RU" sz="2800" spc="-1" dirty="0" err="1">
                <a:solidFill>
                  <a:srgbClr val="000000"/>
                </a:solidFill>
                <a:latin typeface="Times New Roman"/>
                <a:ea typeface="Times New Roman"/>
              </a:rPr>
              <a:t>Evaluation</a:t>
            </a:r>
            <a:r>
              <a:rPr lang="ru-RU" sz="2800" spc="-1" dirty="0">
                <a:solidFill>
                  <a:srgbClr val="000000"/>
                </a:solidFill>
                <a:latin typeface="Times New Roman"/>
                <a:ea typeface="Times New Roman"/>
              </a:rPr>
              <a:t> </a:t>
            </a:r>
            <a:r>
              <a:rPr lang="ru-RU" sz="2800" spc="-1" dirty="0" err="1">
                <a:solidFill>
                  <a:srgbClr val="000000"/>
                </a:solidFill>
                <a:latin typeface="Times New Roman"/>
                <a:ea typeface="Times New Roman"/>
              </a:rPr>
              <a:t>and</a:t>
            </a:r>
            <a:r>
              <a:rPr lang="ru-RU" sz="2800" spc="-1" dirty="0">
                <a:solidFill>
                  <a:srgbClr val="000000"/>
                </a:solidFill>
                <a:latin typeface="Times New Roman"/>
                <a:ea typeface="Times New Roman"/>
              </a:rPr>
              <a:t> </a:t>
            </a:r>
            <a:r>
              <a:rPr lang="ru-RU" sz="2800" spc="-1" dirty="0" err="1">
                <a:solidFill>
                  <a:srgbClr val="000000"/>
                </a:solidFill>
                <a:latin typeface="Times New Roman"/>
                <a:ea typeface="Times New Roman"/>
              </a:rPr>
              <a:t>Review</a:t>
            </a:r>
            <a:r>
              <a:rPr lang="ru-RU" sz="2800" spc="-1" dirty="0">
                <a:solidFill>
                  <a:srgbClr val="000000"/>
                </a:solidFill>
                <a:latin typeface="Times New Roman"/>
                <a:ea typeface="Times New Roman"/>
              </a:rPr>
              <a:t> </a:t>
            </a:r>
            <a:r>
              <a:rPr lang="ru-RU" sz="2800" spc="-1" dirty="0" err="1">
                <a:solidFill>
                  <a:srgbClr val="000000"/>
                </a:solidFill>
                <a:latin typeface="Times New Roman"/>
                <a:ea typeface="Times New Roman"/>
              </a:rPr>
              <a:t>Technique</a:t>
            </a:r>
            <a:r>
              <a:rPr lang="ru-RU" sz="2800" spc="-1" dirty="0">
                <a:solidFill>
                  <a:srgbClr val="000000"/>
                </a:solidFill>
                <a:latin typeface="Times New Roman"/>
                <a:ea typeface="Times New Roman"/>
              </a:rPr>
              <a:t> - PERT)</a:t>
            </a:r>
          </a:p>
          <a:p>
            <a:pPr marL="457200" indent="-456840" algn="just">
              <a:buClr>
                <a:srgbClr val="000000"/>
              </a:buClr>
              <a:buFont typeface="Arial"/>
              <a:buChar char="•"/>
            </a:pPr>
            <a:r>
              <a:rPr lang="ru-RU" sz="2800" b="1" i="1" spc="-1" dirty="0">
                <a:solidFill>
                  <a:srgbClr val="000000"/>
                </a:solidFill>
                <a:latin typeface="Times New Roman"/>
                <a:ea typeface="Times New Roman"/>
              </a:rPr>
              <a:t>метод критического пути </a:t>
            </a:r>
            <a:r>
              <a:rPr lang="ru-RU" sz="2800" spc="-1" dirty="0">
                <a:solidFill>
                  <a:srgbClr val="000000"/>
                </a:solidFill>
                <a:latin typeface="Times New Roman"/>
                <a:ea typeface="Times New Roman"/>
              </a:rPr>
              <a:t>(</a:t>
            </a:r>
            <a:r>
              <a:rPr lang="ru-RU" sz="2800" spc="-1" dirty="0" err="1">
                <a:solidFill>
                  <a:srgbClr val="000000"/>
                </a:solidFill>
                <a:latin typeface="Times New Roman"/>
                <a:ea typeface="Times New Roman"/>
              </a:rPr>
              <a:t>Critical</a:t>
            </a:r>
            <a:r>
              <a:rPr lang="ru-RU" sz="2800" spc="-1" dirty="0">
                <a:solidFill>
                  <a:srgbClr val="000000"/>
                </a:solidFill>
                <a:latin typeface="Times New Roman"/>
                <a:ea typeface="Times New Roman"/>
              </a:rPr>
              <a:t> </a:t>
            </a:r>
            <a:r>
              <a:rPr lang="ru-RU" sz="2800" spc="-1" dirty="0" err="1">
                <a:solidFill>
                  <a:srgbClr val="000000"/>
                </a:solidFill>
                <a:latin typeface="Times New Roman"/>
                <a:ea typeface="Times New Roman"/>
              </a:rPr>
              <a:t>Path</a:t>
            </a:r>
            <a:r>
              <a:rPr lang="ru-RU" sz="2800" spc="-1" dirty="0">
                <a:solidFill>
                  <a:srgbClr val="000000"/>
                </a:solidFill>
                <a:latin typeface="Times New Roman"/>
                <a:ea typeface="Times New Roman"/>
              </a:rPr>
              <a:t> </a:t>
            </a:r>
            <a:r>
              <a:rPr lang="ru-RU" sz="2800" spc="-1" dirty="0" err="1">
                <a:solidFill>
                  <a:srgbClr val="000000"/>
                </a:solidFill>
                <a:latin typeface="Times New Roman"/>
                <a:ea typeface="Times New Roman"/>
              </a:rPr>
              <a:t>Method</a:t>
            </a:r>
            <a:r>
              <a:rPr lang="ru-RU" sz="2800" spc="-1" dirty="0">
                <a:solidFill>
                  <a:srgbClr val="000000"/>
                </a:solidFill>
                <a:latin typeface="Times New Roman"/>
                <a:ea typeface="Times New Roman"/>
              </a:rPr>
              <a:t> - СРМ)</a:t>
            </a:r>
            <a:endParaRPr lang="ru-RU" sz="2800" spc="-1" dirty="0">
              <a:solidFill>
                <a:srgbClr val="000000"/>
              </a:solidFill>
              <a:latin typeface="Arial"/>
              <a:ea typeface="Times New Roman"/>
            </a:endParaRPr>
          </a:p>
          <a:p>
            <a:pPr marL="457200" indent="-456840" algn="just">
              <a:buClr>
                <a:srgbClr val="000000"/>
              </a:buClr>
              <a:buFont typeface="Arial"/>
              <a:buChar char="•"/>
            </a:pPr>
            <a:r>
              <a:rPr lang="ru-RU" sz="2800" b="1" i="1" spc="-1" dirty="0">
                <a:solidFill>
                  <a:srgbClr val="000000"/>
                </a:solidFill>
                <a:latin typeface="Times New Roman" panose="02020603050405020304" pitchFamily="18" charset="0"/>
                <a:cs typeface="Times New Roman" panose="02020603050405020304" pitchFamily="18" charset="0"/>
              </a:rPr>
              <a:t>метод графической оценки и анализа проекта </a:t>
            </a:r>
            <a:r>
              <a:rPr lang="ru-RU" sz="2800" spc="-1" dirty="0">
                <a:solidFill>
                  <a:srgbClr val="000000"/>
                </a:solidFill>
                <a:latin typeface="Times New Roman" panose="02020603050405020304" pitchFamily="18" charset="0"/>
                <a:cs typeface="Times New Roman" panose="02020603050405020304" pitchFamily="18" charset="0"/>
              </a:rPr>
              <a:t>(</a:t>
            </a:r>
            <a:r>
              <a:rPr lang="en-US" sz="2800" spc="-1" dirty="0">
                <a:solidFill>
                  <a:srgbClr val="000000"/>
                </a:solidFill>
                <a:latin typeface="Times New Roman" panose="02020603050405020304" pitchFamily="18" charset="0"/>
                <a:cs typeface="Times New Roman" panose="02020603050405020304" pitchFamily="18" charset="0"/>
              </a:rPr>
              <a:t>Graphical Evaluation and </a:t>
            </a:r>
            <a:r>
              <a:rPr lang="ru-RU" sz="2800" spc="-1" dirty="0" err="1">
                <a:solidFill>
                  <a:srgbClr val="000000"/>
                </a:solidFill>
                <a:latin typeface="Times New Roman"/>
                <a:ea typeface="Times New Roman"/>
              </a:rPr>
              <a:t>Review</a:t>
            </a:r>
            <a:r>
              <a:rPr lang="ru-RU" sz="2800" spc="-1" dirty="0">
                <a:solidFill>
                  <a:srgbClr val="000000"/>
                </a:solidFill>
                <a:latin typeface="Times New Roman"/>
                <a:ea typeface="Times New Roman"/>
              </a:rPr>
              <a:t> </a:t>
            </a:r>
            <a:r>
              <a:rPr lang="ru-RU" sz="2800" spc="-1" dirty="0" err="1">
                <a:solidFill>
                  <a:srgbClr val="000000"/>
                </a:solidFill>
                <a:latin typeface="Times New Roman"/>
                <a:ea typeface="Times New Roman"/>
              </a:rPr>
              <a:t>Technique</a:t>
            </a:r>
            <a:r>
              <a:rPr lang="ru-RU" sz="2800" spc="-1" dirty="0">
                <a:solidFill>
                  <a:srgbClr val="000000"/>
                </a:solidFill>
                <a:latin typeface="Times New Roman"/>
                <a:ea typeface="Times New Roman"/>
              </a:rPr>
              <a:t> </a:t>
            </a:r>
            <a:r>
              <a:rPr lang="en-US" sz="2800" spc="-1" dirty="0">
                <a:solidFill>
                  <a:srgbClr val="000000"/>
                </a:solidFill>
                <a:latin typeface="Times New Roman"/>
                <a:ea typeface="Times New Roman"/>
              </a:rPr>
              <a:t>- GERT)</a:t>
            </a:r>
            <a:endParaRPr lang="ru-RU" sz="2800" spc="-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03391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2156840" y="3325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99" name="CustomShape 2"/>
          <p:cNvSpPr/>
          <p:nvPr/>
        </p:nvSpPr>
        <p:spPr>
          <a:xfrm>
            <a:off x="1052803" y="1769059"/>
            <a:ext cx="10086393" cy="224531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	Методы планирования и управления проектом на основе сетевой модели получили свое развитие в 50-х годах прошлого века, когда для проекта создания ракетной системы «</a:t>
            </a:r>
            <a:r>
              <a:rPr lang="en-US" sz="2800" spc="-1" dirty="0">
                <a:solidFill>
                  <a:srgbClr val="000000"/>
                </a:solidFill>
                <a:latin typeface="Times New Roman"/>
                <a:ea typeface="Times New Roman"/>
              </a:rPr>
              <a:t>Polaris</a:t>
            </a:r>
            <a:r>
              <a:rPr lang="ru-RU" sz="2800" spc="-1" dirty="0">
                <a:solidFill>
                  <a:srgbClr val="000000"/>
                </a:solidFill>
                <a:latin typeface="Times New Roman"/>
                <a:ea typeface="Times New Roman"/>
              </a:rPr>
              <a:t>» была разработана техника оценки и анализа проектов - </a:t>
            </a:r>
            <a:r>
              <a:rPr lang="ru-RU" sz="2800" b="1" spc="-1" dirty="0" err="1">
                <a:solidFill>
                  <a:srgbClr val="000000"/>
                </a:solidFill>
                <a:latin typeface="Times New Roman"/>
                <a:ea typeface="Times New Roman"/>
              </a:rPr>
              <a:t>Program</a:t>
            </a:r>
            <a:r>
              <a:rPr lang="ru-RU" sz="2800" b="1" spc="-1" dirty="0">
                <a:solidFill>
                  <a:srgbClr val="000000"/>
                </a:solidFill>
                <a:latin typeface="Times New Roman"/>
                <a:ea typeface="Times New Roman"/>
              </a:rPr>
              <a:t> </a:t>
            </a:r>
            <a:r>
              <a:rPr lang="ru-RU" sz="2800" b="1" spc="-1" dirty="0" err="1">
                <a:solidFill>
                  <a:srgbClr val="000000"/>
                </a:solidFill>
                <a:latin typeface="Times New Roman"/>
                <a:ea typeface="Times New Roman"/>
              </a:rPr>
              <a:t>Evaluation</a:t>
            </a:r>
            <a:r>
              <a:rPr lang="ru-RU" sz="2800" b="1" spc="-1" dirty="0">
                <a:solidFill>
                  <a:srgbClr val="000000"/>
                </a:solidFill>
                <a:latin typeface="Times New Roman"/>
                <a:ea typeface="Times New Roman"/>
              </a:rPr>
              <a:t> </a:t>
            </a:r>
            <a:r>
              <a:rPr lang="ru-RU" sz="2800" b="1" spc="-1" dirty="0" err="1">
                <a:solidFill>
                  <a:srgbClr val="000000"/>
                </a:solidFill>
                <a:latin typeface="Times New Roman"/>
                <a:ea typeface="Times New Roman"/>
              </a:rPr>
              <a:t>and</a:t>
            </a:r>
            <a:r>
              <a:rPr lang="ru-RU" sz="2800" b="1" spc="-1" dirty="0">
                <a:solidFill>
                  <a:srgbClr val="000000"/>
                </a:solidFill>
                <a:latin typeface="Times New Roman"/>
                <a:ea typeface="Times New Roman"/>
              </a:rPr>
              <a:t> </a:t>
            </a:r>
            <a:r>
              <a:rPr lang="ru-RU" sz="2800" b="1" spc="-1" dirty="0" err="1">
                <a:solidFill>
                  <a:srgbClr val="000000"/>
                </a:solidFill>
                <a:latin typeface="Times New Roman"/>
                <a:ea typeface="Times New Roman"/>
              </a:rPr>
              <a:t>Review</a:t>
            </a:r>
            <a:r>
              <a:rPr lang="ru-RU" sz="2800" b="1" spc="-1" dirty="0">
                <a:solidFill>
                  <a:srgbClr val="000000"/>
                </a:solidFill>
                <a:latin typeface="Times New Roman"/>
                <a:ea typeface="Times New Roman"/>
              </a:rPr>
              <a:t> </a:t>
            </a:r>
            <a:r>
              <a:rPr lang="ru-RU" sz="2800" b="1" spc="-1" dirty="0" err="1">
                <a:solidFill>
                  <a:srgbClr val="000000"/>
                </a:solidFill>
                <a:latin typeface="Times New Roman"/>
                <a:ea typeface="Times New Roman"/>
              </a:rPr>
              <a:t>Technique</a:t>
            </a:r>
            <a:r>
              <a:rPr lang="ru-RU" sz="2800" b="1" spc="-1" dirty="0">
                <a:solidFill>
                  <a:srgbClr val="000000"/>
                </a:solidFill>
                <a:latin typeface="Times New Roman"/>
                <a:ea typeface="Times New Roman"/>
              </a:rPr>
              <a:t> (</a:t>
            </a:r>
            <a:r>
              <a:rPr lang="en-US" sz="2800" b="1" spc="-1" dirty="0">
                <a:solidFill>
                  <a:srgbClr val="000000"/>
                </a:solidFill>
                <a:latin typeface="Times New Roman"/>
                <a:ea typeface="Times New Roman"/>
              </a:rPr>
              <a:t>PERT)</a:t>
            </a:r>
            <a:r>
              <a:rPr lang="ru-RU" sz="2800" spc="-1" dirty="0">
                <a:solidFill>
                  <a:srgbClr val="000000"/>
                </a:solidFill>
                <a:latin typeface="Times New Roman"/>
                <a:ea typeface="Times New Roman"/>
              </a:rPr>
              <a:t>.</a:t>
            </a:r>
            <a:endParaRPr lang="ru-RU" sz="2800" spc="-1" dirty="0">
              <a:latin typeface="Arial"/>
            </a:endParaRPr>
          </a:p>
        </p:txBody>
      </p:sp>
      <p:pic>
        <p:nvPicPr>
          <p:cNvPr id="4" name="Рисунок 3">
            <a:extLst>
              <a:ext uri="{FF2B5EF4-FFF2-40B4-BE49-F238E27FC236}">
                <a16:creationId xmlns:a16="http://schemas.microsoft.com/office/drawing/2014/main" id="{22354082-C045-4574-B9E9-8310AD39CCEC}"/>
              </a:ext>
            </a:extLst>
          </p:cNvPr>
          <p:cNvPicPr>
            <a:picLocks noChangeAspect="1"/>
          </p:cNvPicPr>
          <p:nvPr/>
        </p:nvPicPr>
        <p:blipFill rotWithShape="1">
          <a:blip r:embed="rId2"/>
          <a:srcRect t="8023" b="20917"/>
          <a:stretch/>
        </p:blipFill>
        <p:spPr>
          <a:xfrm>
            <a:off x="0" y="4544008"/>
            <a:ext cx="12214710" cy="2313992"/>
          </a:xfrm>
          <a:prstGeom prst="rect">
            <a:avLst/>
          </a:prstGeom>
        </p:spPr>
      </p:pic>
    </p:spTree>
    <p:extLst>
      <p:ext uri="{BB962C8B-B14F-4D97-AF65-F5344CB8AC3E}">
        <p14:creationId xmlns:p14="http://schemas.microsoft.com/office/powerpoint/2010/main" val="378400549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2156840" y="3325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99" name="CustomShape 2"/>
          <p:cNvSpPr/>
          <p:nvPr/>
        </p:nvSpPr>
        <p:spPr>
          <a:xfrm>
            <a:off x="1052803" y="1769059"/>
            <a:ext cx="10086393" cy="439975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	</a:t>
            </a:r>
            <a:r>
              <a:rPr lang="en-US" sz="2800" spc="-1" dirty="0">
                <a:solidFill>
                  <a:srgbClr val="000000"/>
                </a:solidFill>
                <a:latin typeface="Times New Roman"/>
                <a:ea typeface="Times New Roman"/>
              </a:rPr>
              <a:t>PERT</a:t>
            </a:r>
            <a:r>
              <a:rPr lang="ru-RU" sz="2800" spc="-1" dirty="0">
                <a:solidFill>
                  <a:srgbClr val="000000"/>
                </a:solidFill>
                <a:latin typeface="Times New Roman"/>
                <a:ea typeface="Times New Roman"/>
              </a:rPr>
              <a:t> – это способ анализа проекта. Основной задачей анализа является определение времени, которое необходимо на выполнение отдельных </a:t>
            </a:r>
            <a:r>
              <a:rPr lang="ru-RU" sz="2800" spc="-1" dirty="0" err="1">
                <a:solidFill>
                  <a:srgbClr val="000000"/>
                </a:solidFill>
                <a:latin typeface="Times New Roman"/>
                <a:ea typeface="Times New Roman"/>
              </a:rPr>
              <a:t>подпроектов</a:t>
            </a:r>
            <a:r>
              <a:rPr lang="ru-RU" sz="2800" spc="-1" dirty="0">
                <a:solidFill>
                  <a:srgbClr val="000000"/>
                </a:solidFill>
                <a:latin typeface="Times New Roman"/>
                <a:ea typeface="Times New Roman"/>
              </a:rPr>
              <a:t> и всего проекта в целом.</a:t>
            </a:r>
          </a:p>
          <a:p>
            <a:pPr algn="just">
              <a:lnSpc>
                <a:spcPct val="100000"/>
              </a:lnSpc>
            </a:pPr>
            <a:r>
              <a:rPr lang="ru-RU" sz="2800" spc="-1" dirty="0">
                <a:solidFill>
                  <a:srgbClr val="000000"/>
                </a:solidFill>
                <a:latin typeface="Times New Roman"/>
              </a:rPr>
              <a:t>	Метод </a:t>
            </a:r>
            <a:r>
              <a:rPr lang="en-US" sz="2800" spc="-1" dirty="0">
                <a:solidFill>
                  <a:srgbClr val="000000"/>
                </a:solidFill>
                <a:latin typeface="Times New Roman"/>
                <a:ea typeface="Times New Roman"/>
              </a:rPr>
              <a:t>PERT</a:t>
            </a:r>
            <a:r>
              <a:rPr lang="ru-RU" sz="2800" spc="-1" dirty="0">
                <a:solidFill>
                  <a:srgbClr val="000000"/>
                </a:solidFill>
                <a:latin typeface="Times New Roman"/>
                <a:ea typeface="Times New Roman"/>
              </a:rPr>
              <a:t> допускает наличие некоторой неопределенности, позволяя осуществлять первоначальное планирование без точных характеристик всех составляющих проекта.</a:t>
            </a:r>
          </a:p>
          <a:p>
            <a:pPr algn="just">
              <a:lnSpc>
                <a:spcPct val="100000"/>
              </a:lnSpc>
            </a:pPr>
            <a:r>
              <a:rPr lang="ru-RU" sz="2800" spc="-1" dirty="0">
                <a:solidFill>
                  <a:srgbClr val="000000"/>
                </a:solidFill>
                <a:latin typeface="Times New Roman"/>
              </a:rPr>
              <a:t>	</a:t>
            </a:r>
            <a:r>
              <a:rPr lang="en-US" sz="2800" spc="-1" dirty="0">
                <a:solidFill>
                  <a:srgbClr val="000000"/>
                </a:solidFill>
                <a:latin typeface="Times New Roman"/>
                <a:ea typeface="Times New Roman"/>
              </a:rPr>
              <a:t> PERT</a:t>
            </a:r>
            <a:r>
              <a:rPr lang="ru-RU" sz="2800" spc="-1" dirty="0">
                <a:solidFill>
                  <a:srgbClr val="000000"/>
                </a:solidFill>
                <a:latin typeface="Times New Roman"/>
                <a:ea typeface="Times New Roman"/>
              </a:rPr>
              <a:t> предназначен для очень масштабных и сложных процессов и, как правило, применяется для выполнения научно-исследовательских и конструкторских работ.</a:t>
            </a:r>
            <a:endParaRPr lang="ru-RU" sz="2800" spc="-1" dirty="0">
              <a:latin typeface="Arial"/>
            </a:endParaRPr>
          </a:p>
        </p:txBody>
      </p:sp>
    </p:spTree>
    <p:extLst>
      <p:ext uri="{BB962C8B-B14F-4D97-AF65-F5344CB8AC3E}">
        <p14:creationId xmlns:p14="http://schemas.microsoft.com/office/powerpoint/2010/main" val="34027716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2156840" y="3325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99" name="CustomShape 2"/>
          <p:cNvSpPr/>
          <p:nvPr/>
        </p:nvSpPr>
        <p:spPr>
          <a:xfrm>
            <a:off x="934308" y="1693993"/>
            <a:ext cx="10346094" cy="2676202"/>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	Основой </a:t>
            </a:r>
            <a:r>
              <a:rPr lang="en-US" sz="2800" spc="-1" dirty="0">
                <a:solidFill>
                  <a:srgbClr val="000000"/>
                </a:solidFill>
                <a:latin typeface="Times New Roman"/>
                <a:ea typeface="Times New Roman"/>
              </a:rPr>
              <a:t>PERT</a:t>
            </a:r>
            <a:r>
              <a:rPr lang="ru-RU" sz="2800" spc="-1" dirty="0">
                <a:solidFill>
                  <a:srgbClr val="000000"/>
                </a:solidFill>
                <a:latin typeface="Times New Roman"/>
                <a:ea typeface="Times New Roman"/>
              </a:rPr>
              <a:t> являются сети, описывающие последовательность операций проекта. Каждая дуга сети интерпретируется как элементарная операция проекта. Ей приписываются количественные характеристики: ожидаемая продолжительность операции и выделяемые объемы ресурсов. Продолжительность операции может быть случайной величиной.</a:t>
            </a:r>
            <a:endParaRPr lang="ru-RU" sz="2800" spc="-1" dirty="0">
              <a:latin typeface="Arial"/>
            </a:endParaRPr>
          </a:p>
        </p:txBody>
      </p:sp>
      <p:pic>
        <p:nvPicPr>
          <p:cNvPr id="4" name="Рисунок 3">
            <a:extLst>
              <a:ext uri="{FF2B5EF4-FFF2-40B4-BE49-F238E27FC236}">
                <a16:creationId xmlns:a16="http://schemas.microsoft.com/office/drawing/2014/main" id="{22354082-C045-4574-B9E9-8310AD39CCEC}"/>
              </a:ext>
            </a:extLst>
          </p:cNvPr>
          <p:cNvPicPr>
            <a:picLocks noChangeAspect="1"/>
          </p:cNvPicPr>
          <p:nvPr/>
        </p:nvPicPr>
        <p:blipFill rotWithShape="1">
          <a:blip r:embed="rId2"/>
          <a:srcRect t="8023" b="20917"/>
          <a:stretch/>
        </p:blipFill>
        <p:spPr>
          <a:xfrm>
            <a:off x="0" y="4544008"/>
            <a:ext cx="12214710" cy="2313992"/>
          </a:xfrm>
          <a:prstGeom prst="rect">
            <a:avLst/>
          </a:prstGeom>
        </p:spPr>
      </p:pic>
    </p:spTree>
    <p:extLst>
      <p:ext uri="{BB962C8B-B14F-4D97-AF65-F5344CB8AC3E}">
        <p14:creationId xmlns:p14="http://schemas.microsoft.com/office/powerpoint/2010/main" val="393105846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2156840" y="3325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99" name="CustomShape 2"/>
          <p:cNvSpPr/>
          <p:nvPr/>
        </p:nvSpPr>
        <p:spPr>
          <a:xfrm>
            <a:off x="934308" y="1693993"/>
            <a:ext cx="10346094" cy="224531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	 </a:t>
            </a:r>
            <a:r>
              <a:rPr lang="ru-RU" sz="2800" b="1" spc="-1" dirty="0">
                <a:solidFill>
                  <a:srgbClr val="000000"/>
                </a:solidFill>
                <a:latin typeface="Times New Roman"/>
                <a:ea typeface="Times New Roman"/>
              </a:rPr>
              <a:t>СРМ (</a:t>
            </a:r>
            <a:r>
              <a:rPr lang="ru-RU" sz="2800" b="1" spc="-1" dirty="0" err="1">
                <a:solidFill>
                  <a:srgbClr val="000000"/>
                </a:solidFill>
                <a:latin typeface="Times New Roman"/>
                <a:ea typeface="Times New Roman"/>
              </a:rPr>
              <a:t>Critical</a:t>
            </a:r>
            <a:r>
              <a:rPr lang="ru-RU" sz="2800" b="1" spc="-1" dirty="0">
                <a:solidFill>
                  <a:srgbClr val="000000"/>
                </a:solidFill>
                <a:latin typeface="Times New Roman"/>
                <a:ea typeface="Times New Roman"/>
              </a:rPr>
              <a:t> </a:t>
            </a:r>
            <a:r>
              <a:rPr lang="ru-RU" sz="2800" b="1" spc="-1" dirty="0" err="1">
                <a:solidFill>
                  <a:srgbClr val="000000"/>
                </a:solidFill>
                <a:latin typeface="Times New Roman"/>
                <a:ea typeface="Times New Roman"/>
              </a:rPr>
              <a:t>Path</a:t>
            </a:r>
            <a:r>
              <a:rPr lang="ru-RU" sz="2800" b="1" spc="-1" dirty="0">
                <a:solidFill>
                  <a:srgbClr val="000000"/>
                </a:solidFill>
                <a:latin typeface="Times New Roman"/>
                <a:ea typeface="Times New Roman"/>
              </a:rPr>
              <a:t> </a:t>
            </a:r>
            <a:r>
              <a:rPr lang="ru-RU" sz="2800" b="1" spc="-1" dirty="0" err="1">
                <a:solidFill>
                  <a:srgbClr val="000000"/>
                </a:solidFill>
                <a:latin typeface="Times New Roman"/>
                <a:ea typeface="Times New Roman"/>
              </a:rPr>
              <a:t>Method</a:t>
            </a:r>
            <a:r>
              <a:rPr lang="ru-RU" sz="2800" b="1" spc="-1" dirty="0">
                <a:solidFill>
                  <a:srgbClr val="000000"/>
                </a:solidFill>
                <a:latin typeface="Times New Roman"/>
                <a:ea typeface="Times New Roman"/>
              </a:rPr>
              <a:t>) </a:t>
            </a:r>
            <a:r>
              <a:rPr lang="ru-RU" sz="2800" spc="-1" dirty="0">
                <a:solidFill>
                  <a:srgbClr val="000000"/>
                </a:solidFill>
                <a:latin typeface="Times New Roman"/>
                <a:ea typeface="Times New Roman"/>
              </a:rPr>
              <a:t>– метод критического пути, разработанный американской химической корпорацией </a:t>
            </a:r>
            <a:r>
              <a:rPr lang="en-US" sz="2800" spc="-1" dirty="0">
                <a:solidFill>
                  <a:srgbClr val="000000"/>
                </a:solidFill>
                <a:latin typeface="Times New Roman"/>
                <a:ea typeface="Times New Roman"/>
              </a:rPr>
              <a:t>DuPont</a:t>
            </a:r>
            <a:r>
              <a:rPr lang="ru-RU" sz="2800" spc="-1" dirty="0">
                <a:solidFill>
                  <a:srgbClr val="000000"/>
                </a:solidFill>
                <a:latin typeface="Times New Roman"/>
                <a:ea typeface="Times New Roman"/>
              </a:rPr>
              <a:t> независимо от </a:t>
            </a:r>
            <a:r>
              <a:rPr lang="en-US" sz="2800" spc="-1" dirty="0">
                <a:solidFill>
                  <a:srgbClr val="000000"/>
                </a:solidFill>
                <a:latin typeface="Times New Roman"/>
                <a:ea typeface="Times New Roman"/>
              </a:rPr>
              <a:t>PERT</a:t>
            </a:r>
            <a:r>
              <a:rPr lang="ru-RU" sz="2800" spc="-1" dirty="0">
                <a:solidFill>
                  <a:srgbClr val="000000"/>
                </a:solidFill>
                <a:latin typeface="Times New Roman"/>
                <a:ea typeface="Times New Roman"/>
              </a:rPr>
              <a:t> и примерно в то же время. Основным отличием этого метода является то, что любая операция в </a:t>
            </a:r>
            <a:r>
              <a:rPr lang="en-US" sz="2800" spc="-1" dirty="0">
                <a:solidFill>
                  <a:srgbClr val="000000"/>
                </a:solidFill>
                <a:latin typeface="Times New Roman"/>
                <a:ea typeface="Times New Roman"/>
              </a:rPr>
              <a:t>CPM </a:t>
            </a:r>
            <a:r>
              <a:rPr lang="ru-RU" sz="2800" spc="-1" dirty="0">
                <a:solidFill>
                  <a:srgbClr val="000000"/>
                </a:solidFill>
                <a:latin typeface="Times New Roman"/>
                <a:ea typeface="Times New Roman"/>
              </a:rPr>
              <a:t>может иметь только детерминированную продолжительность.</a:t>
            </a:r>
            <a:endParaRPr lang="ru-RU" sz="2800" spc="-1" dirty="0">
              <a:latin typeface="Arial"/>
            </a:endParaRPr>
          </a:p>
        </p:txBody>
      </p:sp>
      <p:pic>
        <p:nvPicPr>
          <p:cNvPr id="4" name="Рисунок 3">
            <a:extLst>
              <a:ext uri="{FF2B5EF4-FFF2-40B4-BE49-F238E27FC236}">
                <a16:creationId xmlns:a16="http://schemas.microsoft.com/office/drawing/2014/main" id="{22354082-C045-4574-B9E9-8310AD39CCEC}"/>
              </a:ext>
            </a:extLst>
          </p:cNvPr>
          <p:cNvPicPr>
            <a:picLocks noChangeAspect="1"/>
          </p:cNvPicPr>
          <p:nvPr/>
        </p:nvPicPr>
        <p:blipFill rotWithShape="1">
          <a:blip r:embed="rId2"/>
          <a:srcRect t="8023" b="20917"/>
          <a:stretch/>
        </p:blipFill>
        <p:spPr>
          <a:xfrm>
            <a:off x="0" y="4544008"/>
            <a:ext cx="12214710" cy="2313992"/>
          </a:xfrm>
          <a:prstGeom prst="rect">
            <a:avLst/>
          </a:prstGeom>
        </p:spPr>
      </p:pic>
    </p:spTree>
    <p:extLst>
      <p:ext uri="{BB962C8B-B14F-4D97-AF65-F5344CB8AC3E}">
        <p14:creationId xmlns:p14="http://schemas.microsoft.com/office/powerpoint/2010/main" val="3457690117"/>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2156840" y="3325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99" name="CustomShape 2"/>
          <p:cNvSpPr/>
          <p:nvPr/>
        </p:nvSpPr>
        <p:spPr>
          <a:xfrm>
            <a:off x="1037823" y="2030316"/>
            <a:ext cx="10086393" cy="3968864"/>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	В 1966 г. в США был разработан метод </a:t>
            </a:r>
            <a:r>
              <a:rPr lang="en-US" sz="2800" b="1" spc="-1" dirty="0">
                <a:solidFill>
                  <a:srgbClr val="000000"/>
                </a:solidFill>
                <a:latin typeface="Times New Roman"/>
                <a:ea typeface="Times New Roman"/>
              </a:rPr>
              <a:t>GERT (</a:t>
            </a:r>
            <a:r>
              <a:rPr lang="en-US" sz="2800" b="1" spc="-1" dirty="0">
                <a:solidFill>
                  <a:srgbClr val="000000"/>
                </a:solidFill>
                <a:latin typeface="Times New Roman" panose="02020603050405020304" pitchFamily="18" charset="0"/>
                <a:cs typeface="Times New Roman" panose="02020603050405020304" pitchFamily="18" charset="0"/>
              </a:rPr>
              <a:t>Graphical Evaluation and </a:t>
            </a:r>
            <a:r>
              <a:rPr lang="ru-RU" sz="2800" b="1" spc="-1" dirty="0" err="1">
                <a:solidFill>
                  <a:srgbClr val="000000"/>
                </a:solidFill>
                <a:latin typeface="Times New Roman"/>
                <a:ea typeface="Times New Roman"/>
              </a:rPr>
              <a:t>Review</a:t>
            </a:r>
            <a:r>
              <a:rPr lang="ru-RU" sz="2800" b="1" spc="-1" dirty="0">
                <a:solidFill>
                  <a:srgbClr val="000000"/>
                </a:solidFill>
                <a:latin typeface="Times New Roman"/>
                <a:ea typeface="Times New Roman"/>
              </a:rPr>
              <a:t> </a:t>
            </a:r>
            <a:r>
              <a:rPr lang="ru-RU" sz="2800" b="1" spc="-1" dirty="0" err="1">
                <a:solidFill>
                  <a:srgbClr val="000000"/>
                </a:solidFill>
                <a:latin typeface="Times New Roman"/>
                <a:ea typeface="Times New Roman"/>
              </a:rPr>
              <a:t>Technique</a:t>
            </a:r>
            <a:r>
              <a:rPr lang="en-US" sz="2800" b="1" spc="-1" dirty="0">
                <a:solidFill>
                  <a:srgbClr val="000000"/>
                </a:solidFill>
                <a:latin typeface="Times New Roman"/>
                <a:ea typeface="Times New Roman"/>
              </a:rPr>
              <a:t>)</a:t>
            </a:r>
            <a:r>
              <a:rPr lang="ru-RU" sz="2800" spc="-1" dirty="0">
                <a:solidFill>
                  <a:srgbClr val="000000"/>
                </a:solidFill>
                <a:latin typeface="Times New Roman"/>
                <a:ea typeface="Times New Roman"/>
              </a:rPr>
              <a:t> – метод графической оценки и анализа проекта, который тоже основывается на сетевой модели, но допускает использование вероятностных характеристик при описании связей между операциями.</a:t>
            </a:r>
          </a:p>
          <a:p>
            <a:pPr algn="just">
              <a:lnSpc>
                <a:spcPct val="100000"/>
              </a:lnSpc>
            </a:pPr>
            <a:r>
              <a:rPr lang="ru-RU" sz="2800" spc="-1" dirty="0">
                <a:solidFill>
                  <a:srgbClr val="000000"/>
                </a:solidFill>
                <a:latin typeface="Times New Roman"/>
              </a:rPr>
              <a:t>	В условиях неопределенности </a:t>
            </a:r>
            <a:r>
              <a:rPr lang="en-US" sz="2800" spc="-1" dirty="0">
                <a:solidFill>
                  <a:srgbClr val="000000"/>
                </a:solidFill>
                <a:latin typeface="Times New Roman"/>
              </a:rPr>
              <a:t>GERT </a:t>
            </a:r>
            <a:r>
              <a:rPr lang="ru-RU" sz="2800" spc="-1" dirty="0">
                <a:solidFill>
                  <a:srgbClr val="000000"/>
                </a:solidFill>
                <a:latin typeface="Times New Roman"/>
              </a:rPr>
              <a:t>позволяет более адекватно моделировать планы, особенно, если сложно определить точную последовательность выполнения операций проекта.</a:t>
            </a:r>
            <a:endParaRPr lang="ru-RU" sz="2800" spc="-1" dirty="0">
              <a:latin typeface="Arial"/>
            </a:endParaRPr>
          </a:p>
        </p:txBody>
      </p:sp>
    </p:spTree>
    <p:extLst>
      <p:ext uri="{BB962C8B-B14F-4D97-AF65-F5344CB8AC3E}">
        <p14:creationId xmlns:p14="http://schemas.microsoft.com/office/powerpoint/2010/main" val="224192846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1"/>
          <p:cNvSpPr/>
          <p:nvPr/>
        </p:nvSpPr>
        <p:spPr>
          <a:xfrm>
            <a:off x="2207640" y="1166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103" name="CustomShape 2"/>
          <p:cNvSpPr/>
          <p:nvPr/>
        </p:nvSpPr>
        <p:spPr>
          <a:xfrm>
            <a:off x="699208" y="1543957"/>
            <a:ext cx="10865223" cy="491681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r>
              <a:rPr lang="ru-RU" sz="2800" spc="-1" dirty="0">
                <a:solidFill>
                  <a:srgbClr val="000000"/>
                </a:solidFill>
                <a:latin typeface="Times New Roman"/>
                <a:ea typeface="Times New Roman"/>
              </a:rPr>
              <a:t>	Характерной особенностью сложных комплексных проектов является то, что они состоят из отдельных элементарных операций (иногда говорят работ). Операции связаны между собой таким образом, что выполнение некоторых из них не может быть начато раньше, чем завершатся другие.</a:t>
            </a:r>
          </a:p>
          <a:p>
            <a:pPr algn="just">
              <a:lnSpc>
                <a:spcPct val="130000"/>
              </a:lnSpc>
            </a:pPr>
            <a:r>
              <a:rPr lang="ru-RU" sz="2800" spc="-1" dirty="0">
                <a:solidFill>
                  <a:srgbClr val="000000"/>
                </a:solidFill>
                <a:latin typeface="Times New Roman"/>
                <a:ea typeface="Times New Roman"/>
              </a:rPr>
              <a:t>	СПУ включает три основных этапа:</a:t>
            </a:r>
            <a:endParaRPr lang="ru-RU" sz="2800" spc="-1" dirty="0">
              <a:latin typeface="Arial"/>
            </a:endParaRPr>
          </a:p>
          <a:p>
            <a:pPr marL="800280" lvl="1" indent="-342720" algn="just">
              <a:lnSpc>
                <a:spcPct val="130000"/>
              </a:lnSpc>
              <a:buClr>
                <a:srgbClr val="000000"/>
              </a:buClr>
              <a:buFont typeface="Symbol"/>
              <a:buChar char=""/>
            </a:pPr>
            <a:r>
              <a:rPr lang="ru-RU" sz="2800" b="1" i="1" spc="-1" dirty="0">
                <a:solidFill>
                  <a:srgbClr val="000000"/>
                </a:solidFill>
                <a:latin typeface="Times New Roman"/>
                <a:ea typeface="Times New Roman"/>
              </a:rPr>
              <a:t>Структурное планирование</a:t>
            </a:r>
            <a:endParaRPr lang="ru-RU" sz="2800" spc="-1" dirty="0">
              <a:latin typeface="Arial"/>
            </a:endParaRPr>
          </a:p>
          <a:p>
            <a:pPr marL="800280" lvl="1" indent="-342720" algn="just">
              <a:lnSpc>
                <a:spcPct val="130000"/>
              </a:lnSpc>
              <a:buClr>
                <a:srgbClr val="000000"/>
              </a:buClr>
              <a:buFont typeface="Symbol"/>
              <a:buChar char=""/>
            </a:pPr>
            <a:r>
              <a:rPr lang="ru-RU" sz="2800" b="1" i="1" spc="-1" dirty="0">
                <a:solidFill>
                  <a:srgbClr val="000000"/>
                </a:solidFill>
                <a:latin typeface="Times New Roman"/>
                <a:ea typeface="Times New Roman"/>
              </a:rPr>
              <a:t>Календарное планирование</a:t>
            </a:r>
            <a:endParaRPr lang="ru-RU" sz="2800" spc="-1" dirty="0">
              <a:latin typeface="Arial"/>
            </a:endParaRPr>
          </a:p>
          <a:p>
            <a:pPr marL="800280" lvl="1" indent="-342720" algn="just">
              <a:lnSpc>
                <a:spcPct val="130000"/>
              </a:lnSpc>
              <a:buClr>
                <a:srgbClr val="000000"/>
              </a:buClr>
              <a:buFont typeface="Symbol"/>
              <a:buChar char=""/>
            </a:pPr>
            <a:r>
              <a:rPr lang="ru-RU" sz="2800" b="1" i="1" spc="-1" dirty="0">
                <a:solidFill>
                  <a:srgbClr val="000000"/>
                </a:solidFill>
                <a:latin typeface="Times New Roman"/>
                <a:ea typeface="Times New Roman"/>
              </a:rPr>
              <a:t>Оперативное управление</a:t>
            </a:r>
            <a:r>
              <a:rPr lang="ru-RU" sz="2800" spc="-1" dirty="0">
                <a:solidFill>
                  <a:srgbClr val="000000"/>
                </a:solidFill>
                <a:latin typeface="Times New Roman"/>
                <a:ea typeface="Times New Roman"/>
              </a:rPr>
              <a:t>.</a:t>
            </a:r>
            <a:endParaRPr lang="ru-RU" sz="2800" spc="-1" dirty="0">
              <a:latin typeface="Arial"/>
            </a:endParaRPr>
          </a:p>
          <a:p>
            <a:pPr algn="just">
              <a:lnSpc>
                <a:spcPct val="100000"/>
              </a:lnSpc>
            </a:pPr>
            <a:endParaRPr lang="ru-RU" sz="2800" spc="-1" dirty="0">
              <a:latin typeface="Arial"/>
            </a:endParaRP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1"/>
          <p:cNvSpPr/>
          <p:nvPr/>
        </p:nvSpPr>
        <p:spPr>
          <a:xfrm>
            <a:off x="2207640" y="1166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103" name="CustomShape 2"/>
          <p:cNvSpPr/>
          <p:nvPr/>
        </p:nvSpPr>
        <p:spPr>
          <a:xfrm>
            <a:off x="699208" y="1543957"/>
            <a:ext cx="10865223" cy="439975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b="1" i="1" spc="-1" dirty="0">
                <a:solidFill>
                  <a:srgbClr val="000000"/>
                </a:solidFill>
                <a:latin typeface="Times New Roman"/>
                <a:ea typeface="Times New Roman"/>
              </a:rPr>
              <a:t>	Структурное планирование</a:t>
            </a:r>
            <a:r>
              <a:rPr lang="ru-RU" sz="2800" spc="-1" dirty="0">
                <a:solidFill>
                  <a:srgbClr val="000000"/>
                </a:solidFill>
                <a:latin typeface="Times New Roman"/>
                <a:ea typeface="Times New Roman"/>
              </a:rPr>
              <a:t> начинается с разбиения проекта на четко определенные отдельные операции. Для каждой операции определяется продолжительность и другие количественные характеристики. </a:t>
            </a:r>
          </a:p>
          <a:p>
            <a:pPr algn="just">
              <a:lnSpc>
                <a:spcPct val="100000"/>
              </a:lnSpc>
            </a:pPr>
            <a:r>
              <a:rPr lang="ru-RU" sz="2800" spc="-1" dirty="0">
                <a:solidFill>
                  <a:srgbClr val="000000"/>
                </a:solidFill>
                <a:latin typeface="Times New Roman"/>
                <a:ea typeface="Times New Roman"/>
              </a:rPr>
              <a:t>	Затем строится </a:t>
            </a:r>
            <a:r>
              <a:rPr lang="ru-RU" sz="2800" b="1" i="1" spc="-1" dirty="0">
                <a:solidFill>
                  <a:srgbClr val="000000"/>
                </a:solidFill>
                <a:latin typeface="Times New Roman"/>
                <a:ea typeface="Times New Roman"/>
              </a:rPr>
              <a:t>сетевой график</a:t>
            </a:r>
            <a:r>
              <a:rPr lang="ru-RU" sz="2800" spc="-1" dirty="0">
                <a:solidFill>
                  <a:srgbClr val="000000"/>
                </a:solidFill>
                <a:latin typeface="Times New Roman"/>
                <a:ea typeface="Times New Roman"/>
              </a:rPr>
              <a:t>, который представляет взаимосвязи работ проекта, то есть, все операции связываются в сеть, представляющую последовательность их выполнение в проекте. </a:t>
            </a:r>
          </a:p>
          <a:p>
            <a:pPr algn="just">
              <a:lnSpc>
                <a:spcPct val="100000"/>
              </a:lnSpc>
            </a:pPr>
            <a:r>
              <a:rPr lang="ru-RU" sz="2800" spc="-1" dirty="0">
                <a:solidFill>
                  <a:srgbClr val="000000"/>
                </a:solidFill>
                <a:latin typeface="Times New Roman"/>
                <a:ea typeface="Times New Roman"/>
              </a:rPr>
              <a:t>	Такое построение позволяет детально анализировать все работы и вносить улучшения в структуру проекта еще до начала его реализации.</a:t>
            </a:r>
            <a:endParaRPr lang="ru-RU" sz="2800" spc="-1" dirty="0">
              <a:latin typeface="Arial"/>
            </a:endParaRPr>
          </a:p>
        </p:txBody>
      </p:sp>
    </p:spTree>
    <p:extLst>
      <p:ext uri="{BB962C8B-B14F-4D97-AF65-F5344CB8AC3E}">
        <p14:creationId xmlns:p14="http://schemas.microsoft.com/office/powerpoint/2010/main" val="249636383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2207640" y="412476"/>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105" name="CustomShape 2"/>
          <p:cNvSpPr/>
          <p:nvPr/>
        </p:nvSpPr>
        <p:spPr>
          <a:xfrm>
            <a:off x="732826" y="1925598"/>
            <a:ext cx="10797988" cy="3968864"/>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b="1" i="1" spc="-1" dirty="0">
                <a:solidFill>
                  <a:srgbClr val="000000"/>
                </a:solidFill>
                <a:latin typeface="Times New Roman"/>
                <a:ea typeface="Times New Roman"/>
              </a:rPr>
              <a:t>	Календарное планирование</a:t>
            </a:r>
            <a:r>
              <a:rPr lang="ru-RU" sz="2800" spc="-1" dirty="0">
                <a:solidFill>
                  <a:srgbClr val="000000"/>
                </a:solidFill>
                <a:latin typeface="Times New Roman"/>
                <a:ea typeface="Times New Roman"/>
              </a:rPr>
              <a:t> предусматривает построение календарного графика, определяющего моменты </a:t>
            </a:r>
            <a:r>
              <a:rPr lang="ru-RU" sz="2800" u="sng" spc="-1" dirty="0">
                <a:solidFill>
                  <a:srgbClr val="000000"/>
                </a:solidFill>
                <a:latin typeface="Times New Roman"/>
                <a:ea typeface="Times New Roman"/>
              </a:rPr>
              <a:t>начала</a:t>
            </a:r>
            <a:r>
              <a:rPr lang="ru-RU" sz="2800" spc="-1" dirty="0">
                <a:solidFill>
                  <a:srgbClr val="000000"/>
                </a:solidFill>
                <a:latin typeface="Times New Roman"/>
                <a:ea typeface="Times New Roman"/>
              </a:rPr>
              <a:t> и </a:t>
            </a:r>
            <a:r>
              <a:rPr lang="ru-RU" sz="2800" u="sng" spc="-1" dirty="0">
                <a:solidFill>
                  <a:srgbClr val="000000"/>
                </a:solidFill>
                <a:latin typeface="Times New Roman"/>
                <a:ea typeface="Times New Roman"/>
              </a:rPr>
              <a:t>окончания</a:t>
            </a:r>
            <a:r>
              <a:rPr lang="ru-RU" sz="2800" spc="-1" dirty="0">
                <a:solidFill>
                  <a:srgbClr val="000000"/>
                </a:solidFill>
                <a:latin typeface="Times New Roman"/>
                <a:ea typeface="Times New Roman"/>
              </a:rPr>
              <a:t> каждой работы и другие временные характеристики сетевого графика. Это позволяет, в частности, выявлять </a:t>
            </a:r>
            <a:r>
              <a:rPr lang="ru-RU" sz="2800" b="1" i="1" spc="-1" dirty="0">
                <a:solidFill>
                  <a:srgbClr val="000000"/>
                </a:solidFill>
                <a:latin typeface="Times New Roman"/>
                <a:ea typeface="Times New Roman"/>
              </a:rPr>
              <a:t>критические операции</a:t>
            </a:r>
            <a:r>
              <a:rPr lang="ru-RU" sz="2800" spc="-1" dirty="0">
                <a:solidFill>
                  <a:srgbClr val="000000"/>
                </a:solidFill>
                <a:latin typeface="Times New Roman"/>
                <a:ea typeface="Times New Roman"/>
              </a:rPr>
              <a:t>, которым необходимо уделять особое внимание, чтобы закончить проект в директивный срок. Во время календарного планирования определяются </a:t>
            </a:r>
            <a:r>
              <a:rPr lang="ru-RU" sz="2800" u="sng" spc="-1" dirty="0">
                <a:solidFill>
                  <a:srgbClr val="000000"/>
                </a:solidFill>
                <a:latin typeface="Times New Roman"/>
                <a:ea typeface="Times New Roman"/>
              </a:rPr>
              <a:t>временные характеристики</a:t>
            </a:r>
            <a:r>
              <a:rPr lang="ru-RU" sz="2800" spc="-1" dirty="0">
                <a:solidFill>
                  <a:srgbClr val="000000"/>
                </a:solidFill>
                <a:latin typeface="Times New Roman"/>
                <a:ea typeface="Times New Roman"/>
              </a:rPr>
              <a:t> всех работ с целью </a:t>
            </a:r>
            <a:r>
              <a:rPr lang="ru-RU" sz="2800" b="1" i="1" spc="-1" dirty="0">
                <a:solidFill>
                  <a:srgbClr val="000000"/>
                </a:solidFill>
                <a:latin typeface="Times New Roman"/>
                <a:ea typeface="Times New Roman"/>
              </a:rPr>
              <a:t>оптимизации сетевой модели</a:t>
            </a:r>
            <a:r>
              <a:rPr lang="ru-RU" sz="2800" spc="-1" dirty="0">
                <a:solidFill>
                  <a:srgbClr val="000000"/>
                </a:solidFill>
                <a:latin typeface="Times New Roman"/>
                <a:ea typeface="Times New Roman"/>
              </a:rPr>
              <a:t>, которая улучшает эффективность использования какого-либо ресурса.</a:t>
            </a:r>
            <a:endParaRPr lang="ru-RU" sz="2800" spc="-1" dirty="0">
              <a:latin typeface="Arial"/>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2207820" y="548440"/>
            <a:ext cx="7848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spcBef>
                <a:spcPts val="1199"/>
              </a:spcBef>
              <a:spcAft>
                <a:spcPts val="300"/>
              </a:spcAft>
            </a:pPr>
            <a:r>
              <a:rPr lang="ru-RU" sz="3600" b="1" spc="-1" dirty="0">
                <a:solidFill>
                  <a:srgbClr val="00B0F0"/>
                </a:solidFill>
              </a:rPr>
              <a:t>Понятие о методах сетевого планирования </a:t>
            </a:r>
            <a:r>
              <a:rPr lang="ru-RU" sz="3600" b="1" spc="-1" dirty="0">
                <a:solidFill>
                  <a:srgbClr val="00B0F0"/>
                </a:solidFill>
                <a:ea typeface="Times New Roman"/>
              </a:rPr>
              <a:t> и управления</a:t>
            </a:r>
            <a:endParaRPr lang="ru-RU" sz="3600" spc="-1" dirty="0">
              <a:solidFill>
                <a:srgbClr val="00B0F0"/>
              </a:solidFill>
            </a:endParaRPr>
          </a:p>
        </p:txBody>
      </p:sp>
      <p:sp>
        <p:nvSpPr>
          <p:cNvPr id="107" name="CustomShape 2"/>
          <p:cNvSpPr/>
          <p:nvPr/>
        </p:nvSpPr>
        <p:spPr>
          <a:xfrm>
            <a:off x="813551" y="2017386"/>
            <a:ext cx="10636898" cy="224531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	В ходе </a:t>
            </a:r>
            <a:r>
              <a:rPr lang="ru-RU" sz="2800" b="1" i="1" spc="-1" dirty="0">
                <a:solidFill>
                  <a:srgbClr val="000000"/>
                </a:solidFill>
                <a:latin typeface="Times New Roman"/>
                <a:ea typeface="Times New Roman"/>
              </a:rPr>
              <a:t>оперативного управления</a:t>
            </a:r>
            <a:r>
              <a:rPr lang="ru-RU" sz="2800" spc="-1" dirty="0">
                <a:solidFill>
                  <a:srgbClr val="000000"/>
                </a:solidFill>
                <a:latin typeface="Times New Roman"/>
                <a:ea typeface="Times New Roman"/>
              </a:rPr>
              <a:t> используются сетевой и календарный графики для составления периодических отчетов о ходе выполнения проекта. При этом сетевая модель может подвергаться оперативной корректировке, вследствие чего будет разрабатываться новый календарный план остальной части проекта.</a:t>
            </a:r>
            <a:endParaRPr lang="ru-RU" sz="2800" spc="-1" dirty="0">
              <a:latin typeface="Arial"/>
            </a:endParaRPr>
          </a:p>
        </p:txBody>
      </p:sp>
      <p:pic>
        <p:nvPicPr>
          <p:cNvPr id="4" name="Рисунок 3">
            <a:extLst>
              <a:ext uri="{FF2B5EF4-FFF2-40B4-BE49-F238E27FC236}">
                <a16:creationId xmlns:a16="http://schemas.microsoft.com/office/drawing/2014/main" id="{0B765024-CF6F-497B-9C10-24A26953DE08}"/>
              </a:ext>
            </a:extLst>
          </p:cNvPr>
          <p:cNvPicPr>
            <a:picLocks noChangeAspect="1"/>
          </p:cNvPicPr>
          <p:nvPr/>
        </p:nvPicPr>
        <p:blipFill rotWithShape="1">
          <a:blip r:embed="rId2"/>
          <a:srcRect t="8023" b="20917"/>
          <a:stretch/>
        </p:blipFill>
        <p:spPr>
          <a:xfrm>
            <a:off x="0" y="4544008"/>
            <a:ext cx="12214710" cy="2313992"/>
          </a:xfrm>
          <a:prstGeom prst="rect">
            <a:avLst/>
          </a:prstGeom>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1811640" y="472240"/>
            <a:ext cx="856872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09" name="CustomShape 2"/>
          <p:cNvSpPr/>
          <p:nvPr/>
        </p:nvSpPr>
        <p:spPr>
          <a:xfrm>
            <a:off x="876449" y="1229124"/>
            <a:ext cx="10461812" cy="439975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ru-RU" sz="2800" b="1" i="1"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Будем называть </a:t>
            </a:r>
            <a:r>
              <a:rPr lang="ru-RU" sz="2800" b="1" i="1" dirty="0">
                <a:latin typeface="Times New Roman" panose="02020603050405020304" pitchFamily="18" charset="0"/>
                <a:ea typeface="Times New Roman" panose="02020603050405020304" pitchFamily="18" charset="0"/>
              </a:rPr>
              <a:t>проектом</a:t>
            </a:r>
            <a:r>
              <a:rPr lang="ru-RU" sz="2800" dirty="0">
                <a:latin typeface="Times New Roman" panose="02020603050405020304" pitchFamily="18" charset="0"/>
                <a:ea typeface="Times New Roman" panose="02020603050405020304" pitchFamily="18" charset="0"/>
              </a:rPr>
              <a:t> деятельность, имеющую начало и конец во времени и направленную на достижение определенного результата. Результатом проекта может быть определенный продукт (построенное здание, разработанное программное обеспечение, собранное оборудование и т.д.) или услуга (транспортировка грузов, обучение персонала, медицинское обслуживание и т.п.). Часто успешное выполнение проекта называют </a:t>
            </a:r>
            <a:r>
              <a:rPr lang="ru-RU" sz="2800" b="1" i="1" dirty="0">
                <a:latin typeface="Times New Roman" panose="02020603050405020304" pitchFamily="18" charset="0"/>
                <a:ea typeface="Times New Roman" panose="02020603050405020304" pitchFamily="18" charset="0"/>
              </a:rPr>
              <a:t>реализацией проекта</a:t>
            </a:r>
            <a:r>
              <a:rPr lang="ru-RU" sz="2800" dirty="0">
                <a:latin typeface="Times New Roman" panose="02020603050405020304" pitchFamily="18" charset="0"/>
                <a:ea typeface="Times New Roman" panose="02020603050405020304" pitchFamily="18" charset="0"/>
              </a:rPr>
              <a:t> или просто говорят – </a:t>
            </a:r>
            <a:r>
              <a:rPr lang="ru-RU" sz="2800" b="1" i="1" dirty="0">
                <a:latin typeface="Times New Roman" panose="02020603050405020304" pitchFamily="18" charset="0"/>
                <a:ea typeface="Times New Roman" panose="02020603050405020304" pitchFamily="18" charset="0"/>
              </a:rPr>
              <a:t>процесс реализован</a:t>
            </a:r>
            <a:r>
              <a:rPr lang="ru-RU" sz="2800" dirty="0">
                <a:latin typeface="Times New Roman" panose="02020603050405020304" pitchFamily="18" charset="0"/>
                <a:ea typeface="Times New Roman" panose="02020603050405020304" pitchFamily="18" charset="0"/>
              </a:rPr>
              <a:t>.</a:t>
            </a:r>
            <a:endParaRPr lang="ru-RU" sz="2400" dirty="0">
              <a:latin typeface="Times New Roman" panose="02020603050405020304" pitchFamily="18" charset="0"/>
              <a:ea typeface="Times New Roman" panose="02020603050405020304" pitchFamily="18" charset="0"/>
            </a:endParaRPr>
          </a:p>
          <a:p>
            <a:pPr algn="just">
              <a:lnSpc>
                <a:spcPct val="100000"/>
              </a:lnSpc>
            </a:pPr>
            <a:endParaRPr lang="ru-RU" sz="2800" spc="-1" dirty="0">
              <a:latin typeface="Arial"/>
            </a:endParaRPr>
          </a:p>
        </p:txBody>
      </p:sp>
      <p:pic>
        <p:nvPicPr>
          <p:cNvPr id="4" name="Рисунок 3">
            <a:extLst>
              <a:ext uri="{FF2B5EF4-FFF2-40B4-BE49-F238E27FC236}">
                <a16:creationId xmlns:a16="http://schemas.microsoft.com/office/drawing/2014/main" id="{CFE0E2ED-3874-4CDC-8609-0B52B6180DC2}"/>
              </a:ext>
            </a:extLst>
          </p:cNvPr>
          <p:cNvPicPr>
            <a:picLocks noChangeAspect="1"/>
          </p:cNvPicPr>
          <p:nvPr/>
        </p:nvPicPr>
        <p:blipFill rotWithShape="1">
          <a:blip r:embed="rId2"/>
          <a:srcRect t="8023" b="20917"/>
          <a:stretch/>
        </p:blipFill>
        <p:spPr>
          <a:xfrm>
            <a:off x="0" y="5346441"/>
            <a:ext cx="12214710" cy="2313992"/>
          </a:xfrm>
          <a:prstGeom prst="rect">
            <a:avLst/>
          </a:prstGeom>
        </p:spPr>
      </p:pic>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1811640" y="472240"/>
            <a:ext cx="856872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09" name="CustomShape 2"/>
          <p:cNvSpPr/>
          <p:nvPr/>
        </p:nvSpPr>
        <p:spPr>
          <a:xfrm>
            <a:off x="865094" y="1372822"/>
            <a:ext cx="10461812" cy="3107089"/>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ru-RU" sz="2800" b="1" i="1"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Как правило, проект представляется в виде ряда элементарных работ, которые называют </a:t>
            </a:r>
            <a:r>
              <a:rPr lang="ru-RU" sz="2800" b="1" i="1" dirty="0">
                <a:latin typeface="Times New Roman" panose="02020603050405020304" pitchFamily="18" charset="0"/>
                <a:ea typeface="Times New Roman" panose="02020603050405020304" pitchFamily="18" charset="0"/>
              </a:rPr>
              <a:t>операциями</a:t>
            </a:r>
            <a:r>
              <a:rPr lang="ru-RU" sz="2800" dirty="0">
                <a:latin typeface="Times New Roman" panose="02020603050405020304" pitchFamily="18" charset="0"/>
                <a:ea typeface="Times New Roman" panose="02020603050405020304" pitchFamily="18" charset="0"/>
              </a:rPr>
              <a:t>. Некоторые операции могут быть выполнены только после завершения одной или нескольких других операций. В этом случае говорят о </a:t>
            </a:r>
            <a:r>
              <a:rPr lang="ru-RU" sz="2800" b="1" i="1" dirty="0">
                <a:latin typeface="Times New Roman" panose="02020603050405020304" pitchFamily="18" charset="0"/>
                <a:ea typeface="Times New Roman" panose="02020603050405020304" pitchFamily="18" charset="0"/>
              </a:rPr>
              <a:t>зависимости </a:t>
            </a:r>
            <a:r>
              <a:rPr lang="ru-RU" sz="2800" dirty="0">
                <a:latin typeface="Times New Roman" panose="02020603050405020304" pitchFamily="18" charset="0"/>
                <a:ea typeface="Times New Roman" panose="02020603050405020304" pitchFamily="18" charset="0"/>
              </a:rPr>
              <a:t>операций. Совокупность операций проекта и их зависимостей называется </a:t>
            </a:r>
            <a:r>
              <a:rPr lang="ru-RU" sz="2800" b="1" i="1" dirty="0">
                <a:latin typeface="Times New Roman" panose="02020603050405020304" pitchFamily="18" charset="0"/>
                <a:ea typeface="Times New Roman" panose="02020603050405020304" pitchFamily="18" charset="0"/>
              </a:rPr>
              <a:t>комплексом операций</a:t>
            </a:r>
            <a:r>
              <a:rPr lang="ru-RU" sz="2800" dirty="0">
                <a:latin typeface="Times New Roman" panose="02020603050405020304" pitchFamily="18" charset="0"/>
                <a:ea typeface="Times New Roman" panose="02020603050405020304" pitchFamily="18" charset="0"/>
              </a:rPr>
              <a:t>. </a:t>
            </a:r>
            <a:endParaRPr lang="ru-RU" sz="2400" dirty="0">
              <a:latin typeface="Times New Roman" panose="02020603050405020304" pitchFamily="18" charset="0"/>
              <a:ea typeface="Times New Roman" panose="02020603050405020304" pitchFamily="18" charset="0"/>
            </a:endParaRPr>
          </a:p>
          <a:p>
            <a:pPr algn="just">
              <a:lnSpc>
                <a:spcPct val="100000"/>
              </a:lnSpc>
            </a:pPr>
            <a:endParaRPr lang="ru-RU" sz="2800" spc="-1" dirty="0">
              <a:latin typeface="Arial"/>
            </a:endParaRPr>
          </a:p>
        </p:txBody>
      </p:sp>
      <p:pic>
        <p:nvPicPr>
          <p:cNvPr id="4" name="Рисунок 3">
            <a:extLst>
              <a:ext uri="{FF2B5EF4-FFF2-40B4-BE49-F238E27FC236}">
                <a16:creationId xmlns:a16="http://schemas.microsoft.com/office/drawing/2014/main" id="{CFE0E2ED-3874-4CDC-8609-0B52B6180DC2}"/>
              </a:ext>
            </a:extLst>
          </p:cNvPr>
          <p:cNvPicPr>
            <a:picLocks noChangeAspect="1"/>
          </p:cNvPicPr>
          <p:nvPr/>
        </p:nvPicPr>
        <p:blipFill rotWithShape="1">
          <a:blip r:embed="rId2"/>
          <a:srcRect t="8023" b="20917"/>
          <a:stretch/>
        </p:blipFill>
        <p:spPr>
          <a:xfrm>
            <a:off x="0" y="4544008"/>
            <a:ext cx="12214710" cy="2313992"/>
          </a:xfrm>
          <a:prstGeom prst="rect">
            <a:avLst/>
          </a:prstGeom>
        </p:spPr>
      </p:pic>
    </p:spTree>
    <p:extLst>
      <p:ext uri="{BB962C8B-B14F-4D97-AF65-F5344CB8AC3E}">
        <p14:creationId xmlns:p14="http://schemas.microsoft.com/office/powerpoint/2010/main" val="3364391293"/>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1811640" y="472240"/>
            <a:ext cx="856872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09" name="CustomShape 2"/>
          <p:cNvSpPr/>
          <p:nvPr/>
        </p:nvSpPr>
        <p:spPr>
          <a:xfrm>
            <a:off x="865094" y="2016635"/>
            <a:ext cx="10461812" cy="3537976"/>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b="1" i="1" spc="-1" dirty="0">
                <a:solidFill>
                  <a:srgbClr val="000000"/>
                </a:solidFill>
                <a:latin typeface="Times New Roman"/>
                <a:ea typeface="Times New Roman"/>
              </a:rPr>
              <a:t>	Сетевой моделью</a:t>
            </a:r>
            <a:r>
              <a:rPr lang="ru-RU" sz="2800" spc="-1" dirty="0">
                <a:solidFill>
                  <a:srgbClr val="000000"/>
                </a:solidFill>
                <a:latin typeface="Times New Roman"/>
                <a:ea typeface="Times New Roman"/>
              </a:rPr>
              <a:t> называется модель, отражающая комплекс работ (операций) и событий, связанных с реализацией некоторого проекта в их логической и технологической последовательности и связи. Анализ сетевой модели, представленной в </a:t>
            </a:r>
            <a:r>
              <a:rPr lang="ru-RU" sz="2800" u="sng" spc="-1" dirty="0">
                <a:solidFill>
                  <a:srgbClr val="000000"/>
                </a:solidFill>
                <a:latin typeface="Times New Roman"/>
                <a:ea typeface="Times New Roman"/>
              </a:rPr>
              <a:t>графической</a:t>
            </a:r>
            <a:r>
              <a:rPr lang="ru-RU" sz="2800" spc="-1" dirty="0">
                <a:solidFill>
                  <a:srgbClr val="000000"/>
                </a:solidFill>
                <a:latin typeface="Times New Roman"/>
                <a:ea typeface="Times New Roman"/>
              </a:rPr>
              <a:t> или </a:t>
            </a:r>
            <a:r>
              <a:rPr lang="ru-RU" sz="2800" u="sng" spc="-1" dirty="0">
                <a:solidFill>
                  <a:srgbClr val="000000"/>
                </a:solidFill>
                <a:latin typeface="Times New Roman"/>
                <a:ea typeface="Times New Roman"/>
              </a:rPr>
              <a:t>табличной</a:t>
            </a:r>
            <a:r>
              <a:rPr lang="ru-RU" sz="2800" spc="-1" dirty="0">
                <a:solidFill>
                  <a:srgbClr val="000000"/>
                </a:solidFill>
                <a:latin typeface="Times New Roman"/>
                <a:ea typeface="Times New Roman"/>
              </a:rPr>
              <a:t> форме, позволяет выявить взаимосвязи этапов проекта и определить оптимальный порядок выполнения этих этапов, например, для сокращения сроков выполнения всего комплекса работ. </a:t>
            </a:r>
            <a:endParaRPr lang="ru-RU" sz="2800" spc="-1" dirty="0">
              <a:latin typeface="Arial"/>
            </a:endParaRPr>
          </a:p>
        </p:txBody>
      </p:sp>
    </p:spTree>
    <p:extLst>
      <p:ext uri="{BB962C8B-B14F-4D97-AF65-F5344CB8AC3E}">
        <p14:creationId xmlns:p14="http://schemas.microsoft.com/office/powerpoint/2010/main" val="262553300"/>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ustomShape 1"/>
          <p:cNvSpPr/>
          <p:nvPr/>
        </p:nvSpPr>
        <p:spPr>
          <a:xfrm>
            <a:off x="1883640" y="319840"/>
            <a:ext cx="849672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11" name="CustomShape 2"/>
          <p:cNvSpPr/>
          <p:nvPr/>
        </p:nvSpPr>
        <p:spPr>
          <a:xfrm>
            <a:off x="712835" y="1540759"/>
            <a:ext cx="10838330" cy="483063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en-US" sz="2800" spc="-1" dirty="0">
                <a:solidFill>
                  <a:srgbClr val="000000"/>
                </a:solidFill>
                <a:latin typeface="Times New Roman"/>
                <a:ea typeface="Times New Roman"/>
              </a:rPr>
              <a:t>	</a:t>
            </a:r>
            <a:r>
              <a:rPr lang="ru-RU" sz="2800" spc="-1" dirty="0">
                <a:solidFill>
                  <a:srgbClr val="000000"/>
                </a:solidFill>
                <a:latin typeface="Times New Roman"/>
                <a:ea typeface="Times New Roman"/>
              </a:rPr>
              <a:t>Сетевая модель обычно представляется </a:t>
            </a:r>
            <a:r>
              <a:rPr lang="ru-RU" sz="2800" b="1" i="1" spc="-1" dirty="0">
                <a:solidFill>
                  <a:srgbClr val="000000"/>
                </a:solidFill>
                <a:latin typeface="Times New Roman"/>
                <a:ea typeface="Times New Roman"/>
              </a:rPr>
              <a:t>сетевым графиком</a:t>
            </a:r>
            <a:r>
              <a:rPr lang="ru-RU" sz="2800" spc="-1" dirty="0">
                <a:solidFill>
                  <a:srgbClr val="000000"/>
                </a:solidFill>
                <a:latin typeface="Times New Roman"/>
                <a:ea typeface="Times New Roman"/>
              </a:rPr>
              <a:t>, определяющим логическую взаимосвязь и взаимообусловленность входящих в него элементарных операций (работ).</a:t>
            </a:r>
            <a:endParaRPr lang="ru-RU" sz="2800" spc="-1" dirty="0">
              <a:latin typeface="Arial"/>
            </a:endParaRPr>
          </a:p>
          <a:p>
            <a:pPr algn="just">
              <a:lnSpc>
                <a:spcPct val="100000"/>
              </a:lnSpc>
            </a:pPr>
            <a:r>
              <a:rPr lang="en-US" sz="2800" spc="-1" dirty="0">
                <a:solidFill>
                  <a:srgbClr val="000000"/>
                </a:solidFill>
                <a:latin typeface="Times New Roman"/>
                <a:ea typeface="Times New Roman"/>
              </a:rPr>
              <a:t>	</a:t>
            </a:r>
            <a:r>
              <a:rPr lang="ru-RU" sz="2800" spc="-1" dirty="0">
                <a:solidFill>
                  <a:srgbClr val="000000"/>
                </a:solidFill>
                <a:latin typeface="Times New Roman"/>
                <a:ea typeface="Times New Roman"/>
              </a:rPr>
              <a:t>Сетевые  графики  представляют  собой ориентированные  графы, дугам или вершинам которых приписаны некоторые числовые значения. </a:t>
            </a:r>
            <a:endParaRPr lang="ru-RU" sz="2800" spc="-1" dirty="0">
              <a:latin typeface="Arial"/>
            </a:endParaRPr>
          </a:p>
          <a:p>
            <a:pPr algn="just">
              <a:lnSpc>
                <a:spcPct val="100000"/>
              </a:lnSpc>
            </a:pPr>
            <a:r>
              <a:rPr lang="en-US" sz="2800" spc="-1" dirty="0">
                <a:solidFill>
                  <a:srgbClr val="000000"/>
                </a:solidFill>
                <a:latin typeface="Times New Roman"/>
                <a:ea typeface="Times New Roman"/>
              </a:rPr>
              <a:t>	</a:t>
            </a:r>
            <a:r>
              <a:rPr lang="ru-RU" sz="2800" spc="-1" dirty="0">
                <a:solidFill>
                  <a:srgbClr val="000000"/>
                </a:solidFill>
                <a:latin typeface="Times New Roman"/>
                <a:ea typeface="Times New Roman"/>
              </a:rPr>
              <a:t>Последовательность дуг или ребер, ведущая от некоторой вершины к другой, образует </a:t>
            </a:r>
            <a:r>
              <a:rPr lang="ru-RU" sz="2800" b="1" i="1" spc="-1" dirty="0">
                <a:solidFill>
                  <a:srgbClr val="000000"/>
                </a:solidFill>
                <a:latin typeface="Times New Roman"/>
                <a:ea typeface="Times New Roman"/>
              </a:rPr>
              <a:t>путь</a:t>
            </a:r>
            <a:r>
              <a:rPr lang="ru-RU" sz="2800" spc="-1" dirty="0">
                <a:solidFill>
                  <a:srgbClr val="000000"/>
                </a:solidFill>
                <a:latin typeface="Times New Roman"/>
                <a:ea typeface="Times New Roman"/>
              </a:rPr>
              <a:t>. </a:t>
            </a:r>
            <a:endParaRPr lang="ru-RU" sz="2800" spc="-1" dirty="0">
              <a:latin typeface="Arial"/>
            </a:endParaRPr>
          </a:p>
          <a:p>
            <a:pPr algn="just">
              <a:lnSpc>
                <a:spcPct val="100000"/>
              </a:lnSpc>
            </a:pPr>
            <a:r>
              <a:rPr lang="en-US" sz="2800" spc="-1" dirty="0">
                <a:solidFill>
                  <a:srgbClr val="000000"/>
                </a:solidFill>
                <a:latin typeface="Times New Roman"/>
                <a:ea typeface="Times New Roman"/>
              </a:rPr>
              <a:t>	</a:t>
            </a:r>
            <a:r>
              <a:rPr lang="ru-RU" sz="2800" spc="-1" dirty="0">
                <a:solidFill>
                  <a:srgbClr val="000000"/>
                </a:solidFill>
                <a:latin typeface="Times New Roman"/>
                <a:ea typeface="Times New Roman"/>
              </a:rPr>
              <a:t>Как правило, вершины, называемые </a:t>
            </a:r>
            <a:r>
              <a:rPr lang="ru-RU" sz="2800" b="1" i="1" spc="-1" dirty="0">
                <a:solidFill>
                  <a:srgbClr val="000000"/>
                </a:solidFill>
                <a:latin typeface="Times New Roman"/>
                <a:ea typeface="Times New Roman"/>
              </a:rPr>
              <a:t>событиями</a:t>
            </a:r>
            <a:r>
              <a:rPr lang="ru-RU" sz="2800" spc="-1" dirty="0">
                <a:solidFill>
                  <a:srgbClr val="000000"/>
                </a:solidFill>
                <a:latin typeface="Times New Roman"/>
                <a:ea typeface="Times New Roman"/>
              </a:rPr>
              <a:t>, соответствуют моментам времени начала или окончания одной или нескольких операций, а дуги – операциям.</a:t>
            </a:r>
            <a:endParaRPr lang="ru-RU" sz="2800" spc="-1" dirty="0">
              <a:latin typeface="Arial"/>
            </a:endParaRP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1811640" y="472240"/>
            <a:ext cx="856872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09" name="CustomShape 2"/>
          <p:cNvSpPr/>
          <p:nvPr/>
        </p:nvSpPr>
        <p:spPr>
          <a:xfrm>
            <a:off x="865094" y="1652741"/>
            <a:ext cx="10461812" cy="439975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ru-RU" sz="2800" b="1" i="1"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Каждой операции комплекса соответствует два момента времени: начала и окончания операции. Эти моменты называются </a:t>
            </a:r>
            <a:r>
              <a:rPr lang="ru-RU" sz="2800" b="1" i="1" dirty="0">
                <a:latin typeface="Times New Roman" panose="02020603050405020304" pitchFamily="18" charset="0"/>
                <a:ea typeface="Times New Roman" panose="02020603050405020304" pitchFamily="18" charset="0"/>
              </a:rPr>
              <a:t>событиями</a:t>
            </a:r>
            <a:r>
              <a:rPr lang="ru-RU" sz="2800" dirty="0">
                <a:latin typeface="Times New Roman" panose="02020603050405020304" pitchFamily="18" charset="0"/>
                <a:ea typeface="Times New Roman" panose="02020603050405020304" pitchFamily="18" charset="0"/>
              </a:rPr>
              <a:t>. Событие, в отличие от операции, не имеет протяженности по времени и является просто фиксацией факта начала или окончания операции. Если операции </a:t>
            </a:r>
            <a:r>
              <a:rPr lang="ru-RU" sz="2800" i="1" dirty="0">
                <a:latin typeface="Times New Roman" panose="02020603050405020304" pitchFamily="18" charset="0"/>
                <a:ea typeface="Times New Roman" panose="02020603050405020304" pitchFamily="18" charset="0"/>
              </a:rPr>
              <a:t>а</a:t>
            </a:r>
            <a:r>
              <a:rPr lang="ru-RU" sz="2800" dirty="0">
                <a:latin typeface="Times New Roman" panose="02020603050405020304" pitchFamily="18" charset="0"/>
                <a:ea typeface="Times New Roman" panose="02020603050405020304" pitchFamily="18" charset="0"/>
              </a:rPr>
              <a:t> предшествует операция </a:t>
            </a:r>
            <a:r>
              <a:rPr lang="en-US" sz="2800" i="1" dirty="0">
                <a:latin typeface="Times New Roman" panose="02020603050405020304" pitchFamily="18" charset="0"/>
                <a:ea typeface="Times New Roman" panose="02020603050405020304" pitchFamily="18" charset="0"/>
              </a:rPr>
              <a:t>b</a:t>
            </a:r>
            <a:r>
              <a:rPr lang="en-US" sz="2800" dirty="0">
                <a:latin typeface="Times New Roman" panose="02020603050405020304" pitchFamily="18" charset="0"/>
                <a:ea typeface="Times New Roman" panose="02020603050405020304" pitchFamily="18" charset="0"/>
              </a:rPr>
              <a:t> </a:t>
            </a:r>
            <a:r>
              <a:rPr lang="ru-RU" sz="2800" dirty="0">
                <a:latin typeface="Times New Roman" panose="02020603050405020304" pitchFamily="18" charset="0"/>
                <a:ea typeface="Times New Roman" panose="02020603050405020304" pitchFamily="18" charset="0"/>
              </a:rPr>
              <a:t>(или по другому – операция</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a</a:t>
            </a:r>
            <a:r>
              <a:rPr lang="en-US" sz="2800" dirty="0">
                <a:latin typeface="Times New Roman" panose="02020603050405020304" pitchFamily="18" charset="0"/>
                <a:ea typeface="Times New Roman" panose="02020603050405020304" pitchFamily="18" charset="0"/>
              </a:rPr>
              <a:t> </a:t>
            </a:r>
            <a:r>
              <a:rPr lang="ru-RU" sz="2800" b="1" i="1" dirty="0">
                <a:latin typeface="Times New Roman" panose="02020603050405020304" pitchFamily="18" charset="0"/>
                <a:ea typeface="Times New Roman" panose="02020603050405020304" pitchFamily="18" charset="0"/>
              </a:rPr>
              <a:t>опирается</a:t>
            </a:r>
            <a:r>
              <a:rPr lang="ru-RU" sz="2800" dirty="0">
                <a:latin typeface="Times New Roman" panose="02020603050405020304" pitchFamily="18" charset="0"/>
                <a:ea typeface="Times New Roman" panose="02020603050405020304" pitchFamily="18" charset="0"/>
              </a:rPr>
              <a:t> на</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b</a:t>
            </a:r>
            <a:r>
              <a:rPr lang="ru-RU" sz="2800" dirty="0">
                <a:latin typeface="Times New Roman" panose="02020603050405020304" pitchFamily="18" charset="0"/>
                <a:ea typeface="Times New Roman" panose="02020603050405020304" pitchFamily="18" charset="0"/>
              </a:rPr>
              <a:t>), а операция</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b</a:t>
            </a:r>
            <a:r>
              <a:rPr lang="en-US" sz="2800" dirty="0">
                <a:latin typeface="Times New Roman" panose="02020603050405020304" pitchFamily="18" charset="0"/>
                <a:ea typeface="Times New Roman" panose="02020603050405020304" pitchFamily="18" charset="0"/>
              </a:rPr>
              <a:t> </a:t>
            </a:r>
            <a:r>
              <a:rPr lang="ru-RU" sz="2800" dirty="0">
                <a:latin typeface="Times New Roman" panose="02020603050405020304" pitchFamily="18" charset="0"/>
                <a:ea typeface="Times New Roman" panose="02020603050405020304" pitchFamily="18" charset="0"/>
              </a:rPr>
              <a:t>имеет только одну последующую операцию, то событие, соответствующее окончанию операции </a:t>
            </a:r>
            <a:r>
              <a:rPr lang="ru-RU" sz="2800" i="1" dirty="0">
                <a:latin typeface="Times New Roman" panose="02020603050405020304" pitchFamily="18" charset="0"/>
                <a:ea typeface="Times New Roman" panose="02020603050405020304" pitchFamily="18" charset="0"/>
              </a:rPr>
              <a:t>b</a:t>
            </a:r>
            <a:r>
              <a:rPr lang="ru-RU" sz="2800" dirty="0">
                <a:latin typeface="Times New Roman" panose="02020603050405020304" pitchFamily="18" charset="0"/>
                <a:ea typeface="Times New Roman" panose="02020603050405020304" pitchFamily="18" charset="0"/>
              </a:rPr>
              <a:t>, будет являться одновременно событием, соответствующим началу операции</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a</a:t>
            </a:r>
            <a:r>
              <a:rPr lang="ru-RU" sz="2800" dirty="0">
                <a:latin typeface="Times New Roman" panose="02020603050405020304" pitchFamily="18" charset="0"/>
                <a:ea typeface="Times New Roman" panose="02020603050405020304" pitchFamily="18" charset="0"/>
              </a:rPr>
              <a:t>. </a:t>
            </a:r>
            <a:endParaRPr lang="ru-RU" sz="2400" dirty="0">
              <a:latin typeface="Times New Roman" panose="02020603050405020304" pitchFamily="18" charset="0"/>
              <a:ea typeface="Times New Roman" panose="02020603050405020304" pitchFamily="18" charset="0"/>
            </a:endParaRPr>
          </a:p>
          <a:p>
            <a:pPr algn="just">
              <a:lnSpc>
                <a:spcPct val="100000"/>
              </a:lnSpc>
            </a:pPr>
            <a:endParaRPr lang="ru-RU" sz="2800" spc="-1" dirty="0">
              <a:latin typeface="Arial"/>
            </a:endParaRPr>
          </a:p>
        </p:txBody>
      </p:sp>
    </p:spTree>
    <p:extLst>
      <p:ext uri="{BB962C8B-B14F-4D97-AF65-F5344CB8AC3E}">
        <p14:creationId xmlns:p14="http://schemas.microsoft.com/office/powerpoint/2010/main" val="723065956"/>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CustomShape 1"/>
          <p:cNvSpPr/>
          <p:nvPr/>
        </p:nvSpPr>
        <p:spPr>
          <a:xfrm>
            <a:off x="1811640" y="472240"/>
            <a:ext cx="856872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09" name="CustomShape 2"/>
          <p:cNvSpPr/>
          <p:nvPr/>
        </p:nvSpPr>
        <p:spPr>
          <a:xfrm>
            <a:off x="865094" y="1277018"/>
            <a:ext cx="10461812" cy="3107089"/>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ru-RU" sz="2800" b="1" i="1"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Как правило, для обозначения событий используют целые положительные числа. При таком обозначении каждой операции соответствует пара</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&lt;</a:t>
            </a:r>
            <a:r>
              <a:rPr lang="en-US" sz="2800" i="1" dirty="0" err="1">
                <a:latin typeface="Times New Roman" panose="02020603050405020304" pitchFamily="18" charset="0"/>
                <a:ea typeface="Times New Roman" panose="02020603050405020304" pitchFamily="18" charset="0"/>
              </a:rPr>
              <a:t>i</a:t>
            </a:r>
            <a:r>
              <a:rPr lang="en-US" sz="2800" i="1" dirty="0">
                <a:latin typeface="Times New Roman" panose="02020603050405020304" pitchFamily="18" charset="0"/>
                <a:ea typeface="Times New Roman" panose="02020603050405020304" pitchFamily="18" charset="0"/>
              </a:rPr>
              <a:t>, j&gt;</a:t>
            </a:r>
            <a:r>
              <a:rPr lang="ru-RU" sz="2800" dirty="0">
                <a:latin typeface="Times New Roman" panose="02020603050405020304" pitchFamily="18" charset="0"/>
                <a:ea typeface="Times New Roman" panose="02020603050405020304" pitchFamily="18" charset="0"/>
              </a:rPr>
              <a:t>, где</a:t>
            </a:r>
            <a:r>
              <a:rPr lang="en-US" sz="2800" dirty="0">
                <a:latin typeface="Times New Roman" panose="02020603050405020304" pitchFamily="18" charset="0"/>
                <a:ea typeface="Times New Roman" panose="02020603050405020304" pitchFamily="18" charset="0"/>
              </a:rPr>
              <a:t> </a:t>
            </a:r>
            <a:r>
              <a:rPr lang="en-US" sz="2800" i="1" dirty="0" err="1">
                <a:latin typeface="Times New Roman" panose="02020603050405020304" pitchFamily="18" charset="0"/>
                <a:ea typeface="Times New Roman" panose="02020603050405020304" pitchFamily="18" charset="0"/>
              </a:rPr>
              <a:t>i</a:t>
            </a:r>
            <a:r>
              <a:rPr lang="en-US" sz="2800" i="1" dirty="0">
                <a:latin typeface="Times New Roman" panose="02020603050405020304" pitchFamily="18" charset="0"/>
                <a:ea typeface="Times New Roman" panose="02020603050405020304" pitchFamily="18" charset="0"/>
              </a:rPr>
              <a:t> </a:t>
            </a:r>
            <a:r>
              <a:rPr lang="ru-RU" sz="2800" dirty="0">
                <a:latin typeface="Times New Roman" panose="02020603050405020304" pitchFamily="18" charset="0"/>
                <a:ea typeface="Times New Roman" panose="02020603050405020304" pitchFamily="18" charset="0"/>
              </a:rPr>
              <a:t>– номер </a:t>
            </a:r>
            <a:r>
              <a:rPr lang="ru-RU" sz="2800" b="1" i="1" dirty="0">
                <a:latin typeface="Times New Roman" panose="02020603050405020304" pitchFamily="18" charset="0"/>
                <a:ea typeface="Times New Roman" panose="02020603050405020304" pitchFamily="18" charset="0"/>
              </a:rPr>
              <a:t>начального</a:t>
            </a:r>
            <a:r>
              <a:rPr lang="ru-RU" sz="2800" dirty="0">
                <a:latin typeface="Times New Roman" panose="02020603050405020304" pitchFamily="18" charset="0"/>
                <a:ea typeface="Times New Roman" panose="02020603050405020304" pitchFamily="18" charset="0"/>
              </a:rPr>
              <a:t>, а</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j</a:t>
            </a:r>
            <a:r>
              <a:rPr lang="en-US" sz="2800" dirty="0">
                <a:latin typeface="Times New Roman" panose="02020603050405020304" pitchFamily="18" charset="0"/>
                <a:ea typeface="Times New Roman" panose="02020603050405020304" pitchFamily="18" charset="0"/>
              </a:rPr>
              <a:t> </a:t>
            </a:r>
            <a:r>
              <a:rPr lang="ru-RU" sz="2800" dirty="0">
                <a:latin typeface="Times New Roman" panose="02020603050405020304" pitchFamily="18" charset="0"/>
                <a:ea typeface="Times New Roman" panose="02020603050405020304" pitchFamily="18" charset="0"/>
              </a:rPr>
              <a:t>– </a:t>
            </a:r>
            <a:r>
              <a:rPr lang="ru-RU" sz="2800" b="1" i="1" dirty="0">
                <a:latin typeface="Times New Roman" panose="02020603050405020304" pitchFamily="18" charset="0"/>
                <a:ea typeface="Times New Roman" panose="02020603050405020304" pitchFamily="18" charset="0"/>
              </a:rPr>
              <a:t>конечного события</a:t>
            </a:r>
            <a:r>
              <a:rPr lang="ru-RU" sz="2800" dirty="0">
                <a:latin typeface="Times New Roman" panose="02020603050405020304" pitchFamily="18" charset="0"/>
                <a:ea typeface="Times New Roman" panose="02020603050405020304" pitchFamily="18" charset="0"/>
              </a:rPr>
              <a:t> операции. При этом говорят, что </a:t>
            </a:r>
            <a:r>
              <a:rPr lang="ru-RU" sz="2800" b="1" i="1" dirty="0">
                <a:latin typeface="Times New Roman" panose="02020603050405020304" pitchFamily="18" charset="0"/>
                <a:ea typeface="Times New Roman" panose="02020603050405020304" pitchFamily="18" charset="0"/>
              </a:rPr>
              <a:t>операция инцидентна событиям</a:t>
            </a:r>
            <a:r>
              <a:rPr lang="ru-RU" sz="2800" dirty="0">
                <a:latin typeface="Times New Roman" panose="02020603050405020304" pitchFamily="18" charset="0"/>
                <a:ea typeface="Times New Roman" panose="02020603050405020304" pitchFamily="18" charset="0"/>
              </a:rPr>
              <a:t> </a:t>
            </a:r>
            <a:r>
              <a:rPr lang="en-US" sz="2800" i="1" dirty="0" err="1">
                <a:latin typeface="Times New Roman" panose="02020603050405020304" pitchFamily="18" charset="0"/>
                <a:ea typeface="Times New Roman" panose="02020603050405020304" pitchFamily="18" charset="0"/>
              </a:rPr>
              <a:t>i</a:t>
            </a:r>
            <a:r>
              <a:rPr lang="en-US" sz="2800" dirty="0">
                <a:latin typeface="Times New Roman" panose="02020603050405020304" pitchFamily="18" charset="0"/>
                <a:ea typeface="Times New Roman" panose="02020603050405020304" pitchFamily="18" charset="0"/>
              </a:rPr>
              <a:t> </a:t>
            </a:r>
            <a:r>
              <a:rPr lang="ru-RU" sz="2800" dirty="0">
                <a:latin typeface="Times New Roman" panose="02020603050405020304" pitchFamily="18" charset="0"/>
                <a:ea typeface="Times New Roman" panose="02020603050405020304" pitchFamily="18" charset="0"/>
              </a:rPr>
              <a:t>и</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j</a:t>
            </a:r>
            <a:r>
              <a:rPr lang="ru-RU" sz="2800" dirty="0">
                <a:latin typeface="Times New Roman" panose="02020603050405020304" pitchFamily="18" charset="0"/>
                <a:ea typeface="Times New Roman" panose="02020603050405020304" pitchFamily="18" charset="0"/>
              </a:rPr>
              <a:t>, и наоборот, события </a:t>
            </a:r>
            <a:r>
              <a:rPr lang="en-US" sz="2800" i="1" dirty="0" err="1">
                <a:latin typeface="Times New Roman" panose="02020603050405020304" pitchFamily="18" charset="0"/>
                <a:ea typeface="Times New Roman" panose="02020603050405020304" pitchFamily="18" charset="0"/>
              </a:rPr>
              <a:t>i</a:t>
            </a:r>
            <a:r>
              <a:rPr lang="en-US" sz="2800" dirty="0">
                <a:latin typeface="Times New Roman" panose="02020603050405020304" pitchFamily="18" charset="0"/>
                <a:ea typeface="Times New Roman" panose="02020603050405020304" pitchFamily="18" charset="0"/>
              </a:rPr>
              <a:t> </a:t>
            </a:r>
            <a:r>
              <a:rPr lang="ru-RU" sz="2800" dirty="0">
                <a:latin typeface="Times New Roman" panose="02020603050405020304" pitchFamily="18" charset="0"/>
                <a:ea typeface="Times New Roman" panose="02020603050405020304" pitchFamily="18" charset="0"/>
              </a:rPr>
              <a:t>и </a:t>
            </a:r>
            <a:r>
              <a:rPr lang="en-US" sz="2800" i="1" dirty="0">
                <a:latin typeface="Times New Roman" panose="02020603050405020304" pitchFamily="18" charset="0"/>
                <a:ea typeface="Times New Roman" panose="02020603050405020304" pitchFamily="18" charset="0"/>
              </a:rPr>
              <a:t>j</a:t>
            </a:r>
            <a:r>
              <a:rPr lang="en-US" sz="2800" dirty="0">
                <a:latin typeface="Times New Roman" panose="02020603050405020304" pitchFamily="18" charset="0"/>
                <a:ea typeface="Times New Roman" panose="02020603050405020304" pitchFamily="18" charset="0"/>
              </a:rPr>
              <a:t> </a:t>
            </a:r>
            <a:r>
              <a:rPr lang="ru-RU" sz="2800" b="1" i="1" dirty="0">
                <a:latin typeface="Times New Roman" panose="02020603050405020304" pitchFamily="18" charset="0"/>
                <a:ea typeface="Times New Roman" panose="02020603050405020304" pitchFamily="18" charset="0"/>
              </a:rPr>
              <a:t>инциденты операции</a:t>
            </a:r>
            <a:r>
              <a:rPr lang="ru-RU" sz="2800" dirty="0">
                <a:latin typeface="Times New Roman" panose="02020603050405020304" pitchFamily="18" charset="0"/>
                <a:ea typeface="Times New Roman" panose="02020603050405020304" pitchFamily="18" charset="0"/>
              </a:rPr>
              <a:t>. Часто для обозначения операции используют пару</a:t>
            </a:r>
            <a:r>
              <a:rPr lang="en-US" sz="2800" dirty="0">
                <a:latin typeface="Times New Roman" panose="02020603050405020304" pitchFamily="18" charset="0"/>
                <a:ea typeface="Times New Roman" panose="02020603050405020304" pitchFamily="18" charset="0"/>
              </a:rPr>
              <a:t> </a:t>
            </a:r>
            <a:r>
              <a:rPr lang="en-US" sz="2800" i="1" dirty="0">
                <a:latin typeface="Times New Roman" panose="02020603050405020304" pitchFamily="18" charset="0"/>
                <a:ea typeface="Times New Roman" panose="02020603050405020304" pitchFamily="18" charset="0"/>
              </a:rPr>
              <a:t>&lt;</a:t>
            </a:r>
            <a:r>
              <a:rPr lang="en-US" sz="2800" i="1" dirty="0" err="1">
                <a:latin typeface="Times New Roman" panose="02020603050405020304" pitchFamily="18" charset="0"/>
                <a:ea typeface="Times New Roman" panose="02020603050405020304" pitchFamily="18" charset="0"/>
              </a:rPr>
              <a:t>i</a:t>
            </a:r>
            <a:r>
              <a:rPr lang="en-US" sz="2800" i="1" dirty="0">
                <a:latin typeface="Times New Roman" panose="02020603050405020304" pitchFamily="18" charset="0"/>
                <a:ea typeface="Times New Roman" panose="02020603050405020304" pitchFamily="18" charset="0"/>
              </a:rPr>
              <a:t>, j&gt; </a:t>
            </a:r>
            <a:r>
              <a:rPr lang="ru-RU" sz="2800" dirty="0">
                <a:latin typeface="Times New Roman" panose="02020603050405020304" pitchFamily="18" charset="0"/>
                <a:ea typeface="Times New Roman" panose="02020603050405020304" pitchFamily="18" charset="0"/>
              </a:rPr>
              <a:t>номеров инцидентных событий. </a:t>
            </a:r>
            <a:endParaRPr lang="ru-RU" sz="2800" spc="-1" dirty="0">
              <a:latin typeface="Arial"/>
            </a:endParaRPr>
          </a:p>
        </p:txBody>
      </p:sp>
      <p:pic>
        <p:nvPicPr>
          <p:cNvPr id="4" name="Рисунок 3">
            <a:extLst>
              <a:ext uri="{FF2B5EF4-FFF2-40B4-BE49-F238E27FC236}">
                <a16:creationId xmlns:a16="http://schemas.microsoft.com/office/drawing/2014/main" id="{900EF98C-B219-47DB-9FBE-6F4BF58FED35}"/>
              </a:ext>
            </a:extLst>
          </p:cNvPr>
          <p:cNvPicPr>
            <a:picLocks noChangeAspect="1"/>
          </p:cNvPicPr>
          <p:nvPr/>
        </p:nvPicPr>
        <p:blipFill rotWithShape="1">
          <a:blip r:embed="rId2"/>
          <a:srcRect t="8023" b="20917"/>
          <a:stretch/>
        </p:blipFill>
        <p:spPr>
          <a:xfrm>
            <a:off x="0" y="4544008"/>
            <a:ext cx="12214710" cy="2313992"/>
          </a:xfrm>
          <a:prstGeom prst="rect">
            <a:avLst/>
          </a:prstGeom>
        </p:spPr>
      </p:pic>
    </p:spTree>
    <p:extLst>
      <p:ext uri="{BB962C8B-B14F-4D97-AF65-F5344CB8AC3E}">
        <p14:creationId xmlns:p14="http://schemas.microsoft.com/office/powerpoint/2010/main" val="402498172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1"/>
          <p:cNvSpPr/>
          <p:nvPr/>
        </p:nvSpPr>
        <p:spPr>
          <a:xfrm>
            <a:off x="1871070" y="396040"/>
            <a:ext cx="875466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13" name="CustomShape 2"/>
          <p:cNvSpPr/>
          <p:nvPr/>
        </p:nvSpPr>
        <p:spPr>
          <a:xfrm>
            <a:off x="825500" y="1264194"/>
            <a:ext cx="10845800" cy="4722916"/>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en-US" sz="2700" spc="-1" dirty="0">
                <a:solidFill>
                  <a:srgbClr val="000000"/>
                </a:solidFill>
                <a:latin typeface="Times New Roman"/>
                <a:ea typeface="Times New Roman"/>
              </a:rPr>
              <a:t>	</a:t>
            </a:r>
            <a:r>
              <a:rPr lang="ru-RU" sz="2700" spc="-1" dirty="0">
                <a:solidFill>
                  <a:srgbClr val="000000"/>
                </a:solidFill>
                <a:latin typeface="Times New Roman"/>
                <a:ea typeface="Times New Roman"/>
              </a:rPr>
              <a:t>Различают три вида событий: </a:t>
            </a:r>
            <a:r>
              <a:rPr lang="ru-RU" sz="2700" b="1" i="1" spc="-1" dirty="0">
                <a:solidFill>
                  <a:srgbClr val="000000"/>
                </a:solidFill>
                <a:latin typeface="Times New Roman"/>
                <a:ea typeface="Times New Roman"/>
              </a:rPr>
              <a:t>исходное</a:t>
            </a:r>
            <a:r>
              <a:rPr lang="ru-RU" sz="2700" spc="-1" dirty="0">
                <a:solidFill>
                  <a:srgbClr val="000000"/>
                </a:solidFill>
                <a:latin typeface="Times New Roman"/>
                <a:ea typeface="Times New Roman"/>
              </a:rPr>
              <a:t>, </a:t>
            </a:r>
            <a:r>
              <a:rPr lang="ru-RU" sz="2700" b="1" i="1" spc="-1" dirty="0">
                <a:solidFill>
                  <a:srgbClr val="000000"/>
                </a:solidFill>
                <a:latin typeface="Times New Roman"/>
                <a:ea typeface="Times New Roman"/>
              </a:rPr>
              <a:t>завершающее</a:t>
            </a:r>
            <a:r>
              <a:rPr lang="ru-RU" sz="2700" spc="-1" dirty="0">
                <a:solidFill>
                  <a:srgbClr val="000000"/>
                </a:solidFill>
                <a:latin typeface="Times New Roman"/>
                <a:ea typeface="Times New Roman"/>
              </a:rPr>
              <a:t> и </a:t>
            </a:r>
            <a:r>
              <a:rPr lang="ru-RU" sz="2700" b="1" i="1" spc="-1" dirty="0">
                <a:solidFill>
                  <a:srgbClr val="000000"/>
                </a:solidFill>
                <a:latin typeface="Times New Roman"/>
                <a:ea typeface="Times New Roman"/>
              </a:rPr>
              <a:t>промежуточное</a:t>
            </a:r>
            <a:r>
              <a:rPr lang="ru-RU" sz="2700" spc="-1" dirty="0">
                <a:solidFill>
                  <a:srgbClr val="000000"/>
                </a:solidFill>
                <a:latin typeface="Times New Roman"/>
                <a:ea typeface="Times New Roman"/>
              </a:rPr>
              <a:t>. </a:t>
            </a:r>
          </a:p>
          <a:p>
            <a:pPr algn="just">
              <a:lnSpc>
                <a:spcPct val="100000"/>
              </a:lnSpc>
            </a:pPr>
            <a:r>
              <a:rPr lang="ru-RU" sz="2700" b="1" i="1" spc="-1" dirty="0">
                <a:solidFill>
                  <a:srgbClr val="000000"/>
                </a:solidFill>
                <a:latin typeface="Times New Roman"/>
                <a:ea typeface="Times New Roman" panose="02020603050405020304" pitchFamily="18" charset="0"/>
              </a:rPr>
              <a:t>	</a:t>
            </a:r>
            <a:r>
              <a:rPr lang="ru-RU" sz="2800" b="1" i="1" dirty="0">
                <a:latin typeface="Times New Roman" panose="02020603050405020304" pitchFamily="18" charset="0"/>
                <a:ea typeface="Times New Roman" panose="02020603050405020304" pitchFamily="18" charset="0"/>
              </a:rPr>
              <a:t>Исходным событием</a:t>
            </a:r>
            <a:r>
              <a:rPr lang="ru-RU" sz="2800" dirty="0">
                <a:latin typeface="Times New Roman" panose="02020603050405020304" pitchFamily="18" charset="0"/>
                <a:ea typeface="Times New Roman" panose="02020603050405020304" pitchFamily="18" charset="0"/>
              </a:rPr>
              <a:t> называется событие, которое не является конечным ни для одной операции комплекса, с</a:t>
            </a:r>
            <a:r>
              <a:rPr lang="ru-RU" sz="2700" spc="-1" dirty="0">
                <a:solidFill>
                  <a:srgbClr val="000000"/>
                </a:solidFill>
                <a:latin typeface="Times New Roman"/>
                <a:ea typeface="Times New Roman"/>
              </a:rPr>
              <a:t> начинается выполнение комплекса операций. </a:t>
            </a:r>
          </a:p>
          <a:p>
            <a:pPr algn="just">
              <a:lnSpc>
                <a:spcPct val="100000"/>
              </a:lnSpc>
            </a:pPr>
            <a:r>
              <a:rPr lang="ru-RU" sz="2700" b="1" i="1" spc="-1" dirty="0">
                <a:solidFill>
                  <a:srgbClr val="000000"/>
                </a:solidFill>
                <a:latin typeface="Times New Roman"/>
                <a:ea typeface="Times New Roman"/>
              </a:rPr>
              <a:t>	</a:t>
            </a:r>
            <a:r>
              <a:rPr lang="ru-RU" sz="2800" b="1" i="1" dirty="0">
                <a:latin typeface="Times New Roman" panose="02020603050405020304" pitchFamily="18" charset="0"/>
                <a:ea typeface="Times New Roman" panose="02020603050405020304" pitchFamily="18" charset="0"/>
              </a:rPr>
              <a:t>Завершающим событием</a:t>
            </a:r>
            <a:r>
              <a:rPr lang="ru-RU" sz="2800" dirty="0">
                <a:latin typeface="Times New Roman" panose="02020603050405020304" pitchFamily="18" charset="0"/>
                <a:ea typeface="Times New Roman" panose="02020603050405020304" pitchFamily="18" charset="0"/>
              </a:rPr>
              <a:t> называется событие, которое не является начальным ни для одной операции комплекса, оно</a:t>
            </a:r>
            <a:r>
              <a:rPr lang="ru-RU" sz="2700" spc="-1" dirty="0">
                <a:solidFill>
                  <a:srgbClr val="000000"/>
                </a:solidFill>
                <a:latin typeface="Times New Roman"/>
                <a:ea typeface="Times New Roman"/>
              </a:rPr>
              <a:t> соответствует достижению конечной цели. </a:t>
            </a:r>
          </a:p>
          <a:p>
            <a:pPr algn="just">
              <a:lnSpc>
                <a:spcPct val="100000"/>
              </a:lnSpc>
            </a:pPr>
            <a:r>
              <a:rPr lang="ru-RU" sz="2700" spc="-1" dirty="0">
                <a:solidFill>
                  <a:srgbClr val="000000"/>
                </a:solidFill>
                <a:latin typeface="Times New Roman"/>
                <a:ea typeface="Times New Roman"/>
              </a:rPr>
              <a:t>	К </a:t>
            </a:r>
            <a:r>
              <a:rPr lang="ru-RU" sz="2700" b="1" i="1" spc="-1" dirty="0">
                <a:solidFill>
                  <a:srgbClr val="000000"/>
                </a:solidFill>
                <a:latin typeface="Times New Roman"/>
                <a:ea typeface="Times New Roman"/>
              </a:rPr>
              <a:t>промежуточным</a:t>
            </a:r>
            <a:r>
              <a:rPr lang="ru-RU" sz="2700" spc="-1" dirty="0">
                <a:solidFill>
                  <a:srgbClr val="000000"/>
                </a:solidFill>
                <a:latin typeface="Times New Roman"/>
                <a:ea typeface="Times New Roman"/>
              </a:rPr>
              <a:t> относятся все прочие события. </a:t>
            </a:r>
            <a:r>
              <a:rPr lang="ru-RU" sz="2700" i="1" spc="-1" dirty="0">
                <a:solidFill>
                  <a:srgbClr val="000000"/>
                </a:solidFill>
                <a:latin typeface="Times New Roman"/>
                <a:ea typeface="Times New Roman"/>
              </a:rPr>
              <a:t>Предполагается, что события не имеют продолжительности во времени.</a:t>
            </a:r>
            <a:endParaRPr lang="ru-RU" sz="2700" spc="-1" dirty="0">
              <a:latin typeface="Arial"/>
            </a:endParaRP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1"/>
          <p:cNvSpPr/>
          <p:nvPr/>
        </p:nvSpPr>
        <p:spPr>
          <a:xfrm>
            <a:off x="1871070" y="396040"/>
            <a:ext cx="875466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13" name="CustomShape 2"/>
          <p:cNvSpPr/>
          <p:nvPr/>
        </p:nvSpPr>
        <p:spPr>
          <a:xfrm>
            <a:off x="825500" y="1338838"/>
            <a:ext cx="10845800" cy="2660813"/>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en-US" sz="2700" spc="-1" dirty="0">
                <a:solidFill>
                  <a:srgbClr val="000000"/>
                </a:solidFill>
                <a:latin typeface="Times New Roman"/>
                <a:ea typeface="Times New Roman"/>
              </a:rPr>
              <a:t>	</a:t>
            </a:r>
            <a:r>
              <a:rPr lang="ru-RU" sz="2800" b="1" i="1" dirty="0">
                <a:latin typeface="Times New Roman" panose="02020603050405020304" pitchFamily="18" charset="0"/>
                <a:ea typeface="Times New Roman" panose="02020603050405020304" pitchFamily="18" charset="0"/>
              </a:rPr>
              <a:t>Моментом свершения события </a:t>
            </a:r>
            <a:r>
              <a:rPr lang="ru-RU" sz="2800" dirty="0">
                <a:latin typeface="Times New Roman" panose="02020603050405020304" pitchFamily="18" charset="0"/>
                <a:ea typeface="Times New Roman" panose="02020603050405020304" pitchFamily="18" charset="0"/>
              </a:rPr>
              <a:t>считается момент окончания всех операций, для которых это событие является завершающим, то есть</a:t>
            </a:r>
            <a:r>
              <a:rPr lang="ru-RU" sz="2700" spc="-1" dirty="0">
                <a:solidFill>
                  <a:srgbClr val="000000"/>
                </a:solidFill>
                <a:latin typeface="Times New Roman"/>
                <a:ea typeface="Times New Roman"/>
              </a:rPr>
              <a:t> момент окончания выполнения </a:t>
            </a:r>
            <a:r>
              <a:rPr lang="ru-RU" sz="2700" u="sng" spc="-1" dirty="0">
                <a:solidFill>
                  <a:srgbClr val="000000"/>
                </a:solidFill>
                <a:latin typeface="Times New Roman"/>
                <a:ea typeface="Times New Roman"/>
              </a:rPr>
              <a:t>всех входящих в это событие операций</a:t>
            </a:r>
            <a:r>
              <a:rPr lang="ru-RU" sz="2700" spc="-1" dirty="0">
                <a:solidFill>
                  <a:srgbClr val="000000"/>
                </a:solidFill>
                <a:latin typeface="Times New Roman"/>
                <a:ea typeface="Times New Roman"/>
              </a:rPr>
              <a:t>. </a:t>
            </a:r>
            <a:endParaRPr lang="ru-RU" sz="2700" spc="-1" dirty="0">
              <a:latin typeface="Arial"/>
            </a:endParaRPr>
          </a:p>
          <a:p>
            <a:pPr algn="just">
              <a:lnSpc>
                <a:spcPct val="100000"/>
              </a:lnSpc>
            </a:pPr>
            <a:r>
              <a:rPr lang="en-US" sz="2700"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Любая операция не может быть начата, если не свершилось событие, являющееся начальным для этой операции. </a:t>
            </a:r>
            <a:endParaRPr lang="ru-RU" sz="2700" spc="-1" dirty="0">
              <a:solidFill>
                <a:srgbClr val="000000"/>
              </a:solidFill>
              <a:latin typeface="Times New Roman"/>
              <a:ea typeface="Times New Roman"/>
            </a:endParaRPr>
          </a:p>
        </p:txBody>
      </p:sp>
      <p:pic>
        <p:nvPicPr>
          <p:cNvPr id="4" name="Рисунок 3">
            <a:extLst>
              <a:ext uri="{FF2B5EF4-FFF2-40B4-BE49-F238E27FC236}">
                <a16:creationId xmlns:a16="http://schemas.microsoft.com/office/drawing/2014/main" id="{99CBA09D-C6A0-4557-AD25-D0F80023DF8D}"/>
              </a:ext>
            </a:extLst>
          </p:cNvPr>
          <p:cNvPicPr>
            <a:picLocks noChangeAspect="1"/>
          </p:cNvPicPr>
          <p:nvPr/>
        </p:nvPicPr>
        <p:blipFill rotWithShape="1">
          <a:blip r:embed="rId2"/>
          <a:srcRect t="8023" b="20917"/>
          <a:stretch/>
        </p:blipFill>
        <p:spPr>
          <a:xfrm>
            <a:off x="0" y="4544008"/>
            <a:ext cx="12214710" cy="2313992"/>
          </a:xfrm>
          <a:prstGeom prst="rect">
            <a:avLst/>
          </a:prstGeom>
        </p:spPr>
      </p:pic>
    </p:spTree>
    <p:extLst>
      <p:ext uri="{BB962C8B-B14F-4D97-AF65-F5344CB8AC3E}">
        <p14:creationId xmlns:p14="http://schemas.microsoft.com/office/powerpoint/2010/main" val="2227827868"/>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CustomShape 1"/>
          <p:cNvSpPr/>
          <p:nvPr/>
        </p:nvSpPr>
        <p:spPr>
          <a:xfrm>
            <a:off x="1871070" y="396040"/>
            <a:ext cx="875466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13" name="CustomShape 2"/>
          <p:cNvSpPr/>
          <p:nvPr/>
        </p:nvSpPr>
        <p:spPr>
          <a:xfrm>
            <a:off x="825500" y="1238918"/>
            <a:ext cx="10845800" cy="3107089"/>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en-US" sz="2700"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В общем случае комплекс операции может иметь несколько исходных и несколько завершающих событий (в этом случае говорят о </a:t>
            </a:r>
            <a:r>
              <a:rPr lang="ru-RU" sz="2800" b="1" i="1" dirty="0">
                <a:latin typeface="Times New Roman" panose="02020603050405020304" pitchFamily="18" charset="0"/>
                <a:ea typeface="Times New Roman" panose="02020603050405020304" pitchFamily="18" charset="0"/>
              </a:rPr>
              <a:t>многоцелевом комплексе</a:t>
            </a:r>
            <a:r>
              <a:rPr lang="ru-RU" sz="2800" dirty="0">
                <a:latin typeface="Times New Roman" panose="02020603050405020304" pitchFamily="18" charset="0"/>
                <a:ea typeface="Times New Roman" panose="02020603050405020304" pitchFamily="18" charset="0"/>
              </a:rPr>
              <a:t>). В обоих случаях добавление одной общей предшествующей операции для всех исходных событий или одной последующей для всех завершающих сводит комплекс операций к виду с одним исходным и одним завершающим событием. В дальнейшем будут рассматриваться только такие комплексы. </a:t>
            </a:r>
            <a:endParaRPr lang="ru-RU" sz="2700" spc="-1" dirty="0">
              <a:solidFill>
                <a:srgbClr val="000000"/>
              </a:solidFill>
              <a:latin typeface="Times New Roman"/>
              <a:ea typeface="Times New Roman"/>
            </a:endParaRPr>
          </a:p>
        </p:txBody>
      </p:sp>
      <p:pic>
        <p:nvPicPr>
          <p:cNvPr id="4" name="Рисунок 3">
            <a:extLst>
              <a:ext uri="{FF2B5EF4-FFF2-40B4-BE49-F238E27FC236}">
                <a16:creationId xmlns:a16="http://schemas.microsoft.com/office/drawing/2014/main" id="{99CBA09D-C6A0-4557-AD25-D0F80023DF8D}"/>
              </a:ext>
            </a:extLst>
          </p:cNvPr>
          <p:cNvPicPr>
            <a:picLocks noChangeAspect="1"/>
          </p:cNvPicPr>
          <p:nvPr/>
        </p:nvPicPr>
        <p:blipFill rotWithShape="1">
          <a:blip r:embed="rId2"/>
          <a:srcRect t="8023" b="20917"/>
          <a:stretch/>
        </p:blipFill>
        <p:spPr>
          <a:xfrm>
            <a:off x="0" y="4758612"/>
            <a:ext cx="12214710" cy="2313992"/>
          </a:xfrm>
          <a:prstGeom prst="rect">
            <a:avLst/>
          </a:prstGeom>
        </p:spPr>
      </p:pic>
    </p:spTree>
    <p:extLst>
      <p:ext uri="{BB962C8B-B14F-4D97-AF65-F5344CB8AC3E}">
        <p14:creationId xmlns:p14="http://schemas.microsoft.com/office/powerpoint/2010/main" val="403502942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CustomShape 1"/>
          <p:cNvSpPr/>
          <p:nvPr/>
        </p:nvSpPr>
        <p:spPr>
          <a:xfrm>
            <a:off x="1847640" y="226022"/>
            <a:ext cx="865306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15" name="CustomShape 2"/>
          <p:cNvSpPr/>
          <p:nvPr/>
        </p:nvSpPr>
        <p:spPr>
          <a:xfrm>
            <a:off x="787400" y="1052641"/>
            <a:ext cx="10515600" cy="3968864"/>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Различают три вида операций:</a:t>
            </a:r>
            <a:endParaRPr lang="ru-RU" sz="2800" spc="-1" dirty="0">
              <a:latin typeface="Arial"/>
            </a:endParaRPr>
          </a:p>
          <a:p>
            <a:pPr marL="343080" indent="-342720" algn="just">
              <a:buClr>
                <a:srgbClr val="000000"/>
              </a:buClr>
              <a:buFont typeface="StarSymbol"/>
              <a:buAutoNum type="arabicParenR"/>
            </a:pPr>
            <a:r>
              <a:rPr lang="ru-RU" sz="2800" spc="-1" dirty="0">
                <a:solidFill>
                  <a:srgbClr val="000000"/>
                </a:solidFill>
                <a:latin typeface="Times New Roman"/>
                <a:ea typeface="Times New Roman"/>
              </a:rPr>
              <a:t>действительная операция</a:t>
            </a:r>
            <a:r>
              <a:rPr lang="ru-RU" sz="2800" b="1" i="1" spc="-1" dirty="0">
                <a:solidFill>
                  <a:srgbClr val="000000"/>
                </a:solidFill>
                <a:latin typeface="Times New Roman"/>
                <a:ea typeface="Times New Roman"/>
              </a:rPr>
              <a:t>   (                 )  требует затрат времени и ресурсов (разработка проекта, подвоз материалов, выполнение монтажных работ и т. п.);</a:t>
            </a:r>
            <a:endParaRPr lang="ru-RU" sz="2800" spc="-1" dirty="0">
              <a:latin typeface="Arial"/>
            </a:endParaRPr>
          </a:p>
          <a:p>
            <a:pPr marL="457200" indent="-456840" algn="just">
              <a:buClr>
                <a:srgbClr val="000000"/>
              </a:buClr>
              <a:buFont typeface="StarSymbol"/>
              <a:buAutoNum type="arabicParenR"/>
            </a:pPr>
            <a:r>
              <a:rPr lang="ru-RU" sz="2800" spc="-1" dirty="0">
                <a:solidFill>
                  <a:srgbClr val="000000"/>
                </a:solidFill>
                <a:latin typeface="Times New Roman"/>
                <a:ea typeface="Times New Roman"/>
              </a:rPr>
              <a:t>операция - ожидание</a:t>
            </a:r>
            <a:r>
              <a:rPr lang="ru-RU" sz="2800" b="1" i="1" spc="-1" dirty="0">
                <a:solidFill>
                  <a:srgbClr val="000000"/>
                </a:solidFill>
                <a:latin typeface="Times New Roman"/>
                <a:ea typeface="Times New Roman"/>
              </a:rPr>
              <a:t>  (                ) требует только затрат времени (затвердение бетона, сушка штукатурки перед началом малярных работ, рост растений и т. д.);</a:t>
            </a:r>
            <a:endParaRPr lang="ru-RU" sz="2800" spc="-1" dirty="0">
              <a:latin typeface="Arial"/>
            </a:endParaRPr>
          </a:p>
          <a:p>
            <a:pPr marL="457200" indent="-456840" algn="just">
              <a:buClr>
                <a:srgbClr val="000000"/>
              </a:buClr>
              <a:buFont typeface="StarSymbol"/>
              <a:buAutoNum type="arabicParenR"/>
            </a:pPr>
            <a:r>
              <a:rPr lang="ru-RU" sz="2800" spc="-1" dirty="0">
                <a:solidFill>
                  <a:srgbClr val="000000"/>
                </a:solidFill>
                <a:latin typeface="Times New Roman"/>
                <a:ea typeface="Times New Roman"/>
              </a:rPr>
              <a:t>фиктивная операция</a:t>
            </a:r>
            <a:r>
              <a:rPr lang="ru-RU" sz="2800" b="1" i="1" spc="-1" dirty="0">
                <a:solidFill>
                  <a:srgbClr val="000000"/>
                </a:solidFill>
                <a:latin typeface="Times New Roman"/>
                <a:ea typeface="Times New Roman"/>
              </a:rPr>
              <a:t> (               ) - технологическая или ресурсная зависимость в выполнении некоторых операций.</a:t>
            </a:r>
            <a:endParaRPr lang="ru-RU" sz="2800" spc="-1" dirty="0">
              <a:latin typeface="Arial"/>
            </a:endParaRPr>
          </a:p>
        </p:txBody>
      </p:sp>
      <p:sp>
        <p:nvSpPr>
          <p:cNvPr id="116" name="Line 3"/>
          <p:cNvSpPr/>
          <p:nvPr/>
        </p:nvSpPr>
        <p:spPr>
          <a:xfrm>
            <a:off x="6201500" y="1772640"/>
            <a:ext cx="1440000" cy="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17" name="Line 4"/>
          <p:cNvSpPr/>
          <p:nvPr/>
        </p:nvSpPr>
        <p:spPr>
          <a:xfrm>
            <a:off x="5376000" y="3069200"/>
            <a:ext cx="1296000" cy="0"/>
          </a:xfrm>
          <a:prstGeom prst="line">
            <a:avLst/>
          </a:prstGeom>
          <a:ln w="9360">
            <a:solidFill>
              <a:srgbClr val="000000"/>
            </a:solidFill>
            <a:prstDash val="lgDashDot"/>
            <a:round/>
            <a:tailEnd type="triangle" w="med" len="med"/>
          </a:ln>
        </p:spPr>
        <p:style>
          <a:lnRef idx="0">
            <a:scrgbClr r="0" g="0" b="0"/>
          </a:lnRef>
          <a:fillRef idx="0">
            <a:scrgbClr r="0" g="0" b="0"/>
          </a:fillRef>
          <a:effectRef idx="0">
            <a:scrgbClr r="0" g="0" b="0"/>
          </a:effectRef>
          <a:fontRef idx="minor"/>
        </p:style>
      </p:sp>
      <p:sp>
        <p:nvSpPr>
          <p:cNvPr id="118" name="Line 5"/>
          <p:cNvSpPr/>
          <p:nvPr/>
        </p:nvSpPr>
        <p:spPr>
          <a:xfrm>
            <a:off x="5230140" y="4331500"/>
            <a:ext cx="1226160" cy="0"/>
          </a:xfrm>
          <a:prstGeom prst="line">
            <a:avLst/>
          </a:prstGeom>
          <a:ln w="9360">
            <a:solidFill>
              <a:srgbClr val="000000"/>
            </a:solidFill>
            <a:prstDash val="lgDash"/>
            <a:round/>
            <a:tailEnd type="triangle" w="med" len="med"/>
          </a:ln>
        </p:spPr>
        <p:style>
          <a:lnRef idx="0">
            <a:scrgbClr r="0" g="0" b="0"/>
          </a:lnRef>
          <a:fillRef idx="0">
            <a:scrgbClr r="0" g="0" b="0"/>
          </a:fillRef>
          <a:effectRef idx="0">
            <a:scrgbClr r="0" g="0" b="0"/>
          </a:effectRef>
          <a:fontRef idx="minor"/>
        </p:style>
      </p:sp>
      <p:pic>
        <p:nvPicPr>
          <p:cNvPr id="7" name="Рисунок 6">
            <a:extLst>
              <a:ext uri="{FF2B5EF4-FFF2-40B4-BE49-F238E27FC236}">
                <a16:creationId xmlns:a16="http://schemas.microsoft.com/office/drawing/2014/main" id="{1C2BB128-DFFC-4095-86EC-97771B9F3C3D}"/>
              </a:ext>
            </a:extLst>
          </p:cNvPr>
          <p:cNvPicPr>
            <a:picLocks noChangeAspect="1"/>
          </p:cNvPicPr>
          <p:nvPr/>
        </p:nvPicPr>
        <p:blipFill rotWithShape="1">
          <a:blip r:embed="rId2"/>
          <a:srcRect t="8023" b="20917"/>
          <a:stretch/>
        </p:blipFill>
        <p:spPr>
          <a:xfrm>
            <a:off x="0" y="5296368"/>
            <a:ext cx="12214710" cy="2313992"/>
          </a:xfrm>
          <a:prstGeom prst="rect">
            <a:avLst/>
          </a:prstGeom>
        </p:spPr>
      </p:pic>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1735619" y="433302"/>
            <a:ext cx="879276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20" name="CustomShape 2"/>
          <p:cNvSpPr/>
          <p:nvPr/>
        </p:nvSpPr>
        <p:spPr>
          <a:xfrm>
            <a:off x="1282549" y="1441249"/>
            <a:ext cx="9698901" cy="439975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При построении сетевых графиков соблюдается ряд правил:</a:t>
            </a:r>
            <a:endParaRPr lang="ru-RU" sz="2800" spc="-1" dirty="0">
              <a:latin typeface="Arial"/>
            </a:endParaRPr>
          </a:p>
          <a:p>
            <a:pPr marL="514440" indent="-514080" algn="just">
              <a:buClr>
                <a:srgbClr val="000000"/>
              </a:buClr>
              <a:buFont typeface="Trebuchet MS"/>
              <a:buAutoNum type="arabicPeriod"/>
            </a:pPr>
            <a:r>
              <a:rPr lang="ru-RU" sz="2800" spc="-1" dirty="0">
                <a:solidFill>
                  <a:srgbClr val="000000"/>
                </a:solidFill>
                <a:latin typeface="Times New Roman"/>
                <a:ea typeface="Times New Roman"/>
              </a:rPr>
              <a:t>в сети не должно быть событий (кроме  исходного), в которые не входит ни одна дуга;</a:t>
            </a:r>
            <a:endParaRPr lang="ru-RU" sz="2800" spc="-1" dirty="0">
              <a:latin typeface="Arial"/>
            </a:endParaRPr>
          </a:p>
          <a:p>
            <a:pPr marL="514440" indent="-514080" algn="just">
              <a:buClr>
                <a:srgbClr val="000000"/>
              </a:buClr>
              <a:buFont typeface="Trebuchet MS"/>
              <a:buAutoNum type="arabicPeriod"/>
            </a:pPr>
            <a:r>
              <a:rPr lang="ru-RU" sz="2800" spc="-1" dirty="0">
                <a:solidFill>
                  <a:srgbClr val="000000"/>
                </a:solidFill>
                <a:latin typeface="Times New Roman"/>
                <a:ea typeface="Times New Roman"/>
              </a:rPr>
              <a:t>не должно быть событий (кроме  завершающего), из которых не выходит ни одной дуги;</a:t>
            </a:r>
            <a:endParaRPr lang="ru-RU" sz="2800" spc="-1" dirty="0">
              <a:latin typeface="Arial"/>
            </a:endParaRPr>
          </a:p>
          <a:p>
            <a:pPr marL="514440" indent="-514080" algn="just">
              <a:buClr>
                <a:srgbClr val="000000"/>
              </a:buClr>
              <a:buFont typeface="Trebuchet MS"/>
              <a:buAutoNum type="arabicPeriod"/>
            </a:pPr>
            <a:r>
              <a:rPr lang="ru-RU" sz="2800" spc="-1" dirty="0">
                <a:solidFill>
                  <a:srgbClr val="000000"/>
                </a:solidFill>
                <a:latin typeface="Times New Roman"/>
                <a:ea typeface="Times New Roman"/>
              </a:rPr>
              <a:t>сеть не должна содержать замкнутых контуров (циклов);</a:t>
            </a:r>
            <a:endParaRPr lang="ru-RU" sz="2800" spc="-1" dirty="0">
              <a:latin typeface="Arial"/>
            </a:endParaRPr>
          </a:p>
          <a:p>
            <a:pPr marL="514440" indent="-514080" algn="just">
              <a:buClr>
                <a:srgbClr val="000000"/>
              </a:buClr>
              <a:buFont typeface="Trebuchet MS"/>
              <a:buAutoNum type="arabicPeriod"/>
            </a:pPr>
            <a:r>
              <a:rPr lang="ru-RU" sz="2800" b="1" i="1" spc="-1" dirty="0">
                <a:solidFill>
                  <a:srgbClr val="000000"/>
                </a:solidFill>
                <a:latin typeface="Times New Roman"/>
                <a:ea typeface="Times New Roman"/>
              </a:rPr>
              <a:t>любая пара событий сетевого графика может быть соединена не  более чем одной дугой; </a:t>
            </a:r>
            <a:endParaRPr lang="ru-RU" sz="2800" spc="-1" dirty="0">
              <a:latin typeface="Arial"/>
            </a:endParaRPr>
          </a:p>
          <a:p>
            <a:pPr marL="514440" indent="-514080" algn="just">
              <a:buClr>
                <a:srgbClr val="000000"/>
              </a:buClr>
              <a:buFont typeface="Trebuchet MS"/>
              <a:buAutoNum type="arabicPeriod"/>
            </a:pPr>
            <a:r>
              <a:rPr lang="ru-RU" sz="2800" b="1" i="1" spc="-1" dirty="0">
                <a:solidFill>
                  <a:srgbClr val="000000"/>
                </a:solidFill>
                <a:latin typeface="Times New Roman"/>
                <a:ea typeface="Times New Roman"/>
              </a:rPr>
              <a:t>номер </a:t>
            </a:r>
            <a:r>
              <a:rPr lang="ru-RU" sz="2800" spc="-1" dirty="0">
                <a:solidFill>
                  <a:srgbClr val="000000"/>
                </a:solidFill>
                <a:latin typeface="Times New Roman"/>
                <a:ea typeface="Times New Roman"/>
              </a:rPr>
              <a:t>начального</a:t>
            </a:r>
            <a:r>
              <a:rPr lang="ru-RU" sz="2800" b="1" i="1" spc="-1" dirty="0">
                <a:solidFill>
                  <a:srgbClr val="000000"/>
                </a:solidFill>
                <a:latin typeface="Times New Roman"/>
                <a:ea typeface="Times New Roman"/>
              </a:rPr>
              <a:t> события любой операции должен быть меньше номера ее </a:t>
            </a:r>
            <a:r>
              <a:rPr lang="ru-RU" sz="2800" spc="-1" dirty="0">
                <a:solidFill>
                  <a:srgbClr val="000000"/>
                </a:solidFill>
                <a:latin typeface="Times New Roman"/>
                <a:ea typeface="Times New Roman"/>
              </a:rPr>
              <a:t>конечного</a:t>
            </a:r>
            <a:r>
              <a:rPr lang="ru-RU" sz="2800" b="1" i="1" spc="-1" dirty="0">
                <a:solidFill>
                  <a:srgbClr val="000000"/>
                </a:solidFill>
                <a:latin typeface="Times New Roman"/>
                <a:ea typeface="Times New Roman"/>
              </a:rPr>
              <a:t> события. </a:t>
            </a:r>
            <a:endParaRPr lang="ru-RU" sz="2800" spc="-1" dirty="0">
              <a:latin typeface="Arial"/>
            </a:endParaRP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CustomShape 1"/>
          <p:cNvSpPr/>
          <p:nvPr/>
        </p:nvSpPr>
        <p:spPr>
          <a:xfrm>
            <a:off x="1829130" y="139924"/>
            <a:ext cx="867846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sp>
        <p:nvSpPr>
          <p:cNvPr id="122" name="CustomShape 2"/>
          <p:cNvSpPr/>
          <p:nvPr/>
        </p:nvSpPr>
        <p:spPr>
          <a:xfrm>
            <a:off x="863600" y="1115001"/>
            <a:ext cx="10312400" cy="181442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ru-RU" sz="2800" spc="-1" dirty="0">
                <a:solidFill>
                  <a:srgbClr val="000000"/>
                </a:solidFill>
                <a:latin typeface="Times New Roman"/>
                <a:ea typeface="Times New Roman"/>
              </a:rPr>
              <a:t>Например, для трех одновременно выполняемых операций  </a:t>
            </a:r>
            <a:r>
              <a:rPr lang="en-US" sz="2800" b="1" i="1" spc="-1" dirty="0">
                <a:solidFill>
                  <a:srgbClr val="000000"/>
                </a:solidFill>
                <a:latin typeface="Times New Roman"/>
                <a:ea typeface="Times New Roman"/>
              </a:rPr>
              <a:t>b</a:t>
            </a:r>
            <a:r>
              <a:rPr lang="ru-RU" sz="2800" spc="-1" dirty="0">
                <a:solidFill>
                  <a:srgbClr val="000000"/>
                </a:solidFill>
                <a:latin typeface="Times New Roman"/>
                <a:ea typeface="Times New Roman"/>
              </a:rPr>
              <a:t>, </a:t>
            </a:r>
            <a:r>
              <a:rPr lang="en-US" sz="2800" b="1" i="1" spc="-1" dirty="0">
                <a:solidFill>
                  <a:srgbClr val="000000"/>
                </a:solidFill>
                <a:latin typeface="Times New Roman"/>
                <a:ea typeface="Times New Roman"/>
              </a:rPr>
              <a:t>c</a:t>
            </a:r>
            <a:r>
              <a:rPr lang="ru-RU" sz="2800" spc="-1" dirty="0">
                <a:solidFill>
                  <a:srgbClr val="000000"/>
                </a:solidFill>
                <a:latin typeface="Times New Roman"/>
                <a:ea typeface="Times New Roman"/>
              </a:rPr>
              <a:t>, </a:t>
            </a:r>
            <a:r>
              <a:rPr lang="en-US" sz="2800" b="1" i="1" spc="-1" dirty="0">
                <a:solidFill>
                  <a:srgbClr val="000000"/>
                </a:solidFill>
                <a:latin typeface="Times New Roman"/>
                <a:ea typeface="Times New Roman"/>
              </a:rPr>
              <a:t>d</a:t>
            </a:r>
            <a:r>
              <a:rPr lang="en-US" sz="2800" spc="-1" dirty="0">
                <a:solidFill>
                  <a:srgbClr val="000000"/>
                </a:solidFill>
                <a:latin typeface="Times New Roman"/>
                <a:ea typeface="Times New Roman"/>
              </a:rPr>
              <a:t> </a:t>
            </a:r>
            <a:r>
              <a:rPr lang="ru-RU" sz="2800" spc="-1" dirty="0">
                <a:solidFill>
                  <a:srgbClr val="000000"/>
                </a:solidFill>
                <a:latin typeface="Times New Roman"/>
                <a:ea typeface="Times New Roman"/>
              </a:rPr>
              <a:t>возникает путаница из-за того,  что они имеют одинаковое обозначение  (3,6).   В этом случае вводятся дополнительные события и новые фиктивные операции;</a:t>
            </a:r>
            <a:endParaRPr lang="ru-RU" sz="2800" spc="-1" dirty="0">
              <a:latin typeface="Arial"/>
            </a:endParaRPr>
          </a:p>
        </p:txBody>
      </p:sp>
      <p:pic>
        <p:nvPicPr>
          <p:cNvPr id="123" name="Рисунок 3"/>
          <p:cNvPicPr/>
          <p:nvPr/>
        </p:nvPicPr>
        <p:blipFill>
          <a:blip r:embed="rId2"/>
          <a:stretch/>
        </p:blipFill>
        <p:spPr>
          <a:xfrm>
            <a:off x="1775640" y="3031560"/>
            <a:ext cx="8785440" cy="3493440"/>
          </a:xfrm>
          <a:prstGeom prst="rect">
            <a:avLst/>
          </a:prstGeom>
          <a:ln>
            <a:noFill/>
          </a:ln>
        </p:spPr>
      </p:pic>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CustomShape 1"/>
          <p:cNvSpPr/>
          <p:nvPr/>
        </p:nvSpPr>
        <p:spPr>
          <a:xfrm>
            <a:off x="2027640" y="162375"/>
            <a:ext cx="8477260" cy="644877"/>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Основные понятия</a:t>
            </a:r>
            <a:r>
              <a:rPr lang="en-US" sz="3600" b="1" spc="-1" dirty="0">
                <a:solidFill>
                  <a:srgbClr val="00B0F0"/>
                </a:solidFill>
              </a:rPr>
              <a:t> </a:t>
            </a:r>
            <a:r>
              <a:rPr lang="ru-RU" sz="3600" b="1" spc="-1" dirty="0">
                <a:solidFill>
                  <a:srgbClr val="00B0F0"/>
                </a:solidFill>
              </a:rPr>
              <a:t>о сетевых моделях</a:t>
            </a:r>
            <a:endParaRPr lang="ru-RU" sz="3600" spc="-1" dirty="0">
              <a:solidFill>
                <a:srgbClr val="00B0F0"/>
              </a:solidFill>
            </a:endParaRPr>
          </a:p>
        </p:txBody>
      </p:sp>
      <p:graphicFrame>
        <p:nvGraphicFramePr>
          <p:cNvPr id="125" name="Table 2"/>
          <p:cNvGraphicFramePr/>
          <p:nvPr>
            <p:extLst>
              <p:ext uri="{D42A27DB-BD31-4B8C-83A1-F6EECF244321}">
                <p14:modId xmlns:p14="http://schemas.microsoft.com/office/powerpoint/2010/main" val="3458981444"/>
              </p:ext>
            </p:extLst>
          </p:nvPr>
        </p:nvGraphicFramePr>
        <p:xfrm>
          <a:off x="889500" y="1002732"/>
          <a:ext cx="6480360" cy="3505200"/>
        </p:xfrm>
        <a:graphic>
          <a:graphicData uri="http://schemas.openxmlformats.org/drawingml/2006/table">
            <a:tbl>
              <a:tblPr>
                <a:tableStyleId>{5940675A-B579-460E-94D1-54222C63F5DA}</a:tableStyleId>
              </a:tblPr>
              <a:tblGrid>
                <a:gridCol w="1257480">
                  <a:extLst>
                    <a:ext uri="{9D8B030D-6E8A-4147-A177-3AD203B41FA5}">
                      <a16:colId xmlns:a16="http://schemas.microsoft.com/office/drawing/2014/main" val="20000"/>
                    </a:ext>
                  </a:extLst>
                </a:gridCol>
                <a:gridCol w="2929320">
                  <a:extLst>
                    <a:ext uri="{9D8B030D-6E8A-4147-A177-3AD203B41FA5}">
                      <a16:colId xmlns:a16="http://schemas.microsoft.com/office/drawing/2014/main" val="20001"/>
                    </a:ext>
                  </a:extLst>
                </a:gridCol>
                <a:gridCol w="2293560">
                  <a:extLst>
                    <a:ext uri="{9D8B030D-6E8A-4147-A177-3AD203B41FA5}">
                      <a16:colId xmlns:a16="http://schemas.microsoft.com/office/drawing/2014/main" val="20002"/>
                    </a:ext>
                  </a:extLst>
                </a:gridCol>
              </a:tblGrid>
              <a:tr h="0">
                <a:tc>
                  <a:txBody>
                    <a:bodyPr/>
                    <a:lstStyle/>
                    <a:p>
                      <a:pPr>
                        <a:lnSpc>
                          <a:spcPct val="130000"/>
                        </a:lnSpc>
                      </a:pPr>
                      <a:r>
                        <a:rPr lang="ru-RU" sz="1400" strike="noStrike" spc="-1"/>
                        <a:t> </a:t>
                      </a:r>
                    </a:p>
                    <a:p>
                      <a:pPr>
                        <a:lnSpc>
                          <a:spcPct val="130000"/>
                        </a:lnSpc>
                      </a:pPr>
                      <a:r>
                        <a:rPr lang="ru-RU" sz="1400" strike="noStrike" spc="-1"/>
                        <a:t>Работа</a:t>
                      </a:r>
                      <a:endParaRPr lang="ru-RU" sz="1400" b="0" strike="noStrike" spc="-1">
                        <a:latin typeface="Arial"/>
                      </a:endParaRPr>
                    </a:p>
                  </a:txBody>
                  <a:tcPr marL="68400" marR="68400"/>
                </a:tc>
                <a:tc>
                  <a:txBody>
                    <a:bodyPr/>
                    <a:lstStyle/>
                    <a:p>
                      <a:pPr algn="ctr">
                        <a:lnSpc>
                          <a:spcPct val="130000"/>
                        </a:lnSpc>
                      </a:pPr>
                      <a:r>
                        <a:rPr lang="ru-RU" sz="1400" strike="noStrike" spc="-1" dirty="0"/>
                        <a:t>Непосредственно предшествующие </a:t>
                      </a:r>
                    </a:p>
                    <a:p>
                      <a:pPr algn="ctr">
                        <a:lnSpc>
                          <a:spcPct val="130000"/>
                        </a:lnSpc>
                      </a:pPr>
                      <a:r>
                        <a:rPr lang="ru-RU" sz="1400" strike="noStrike" spc="-1" dirty="0"/>
                        <a:t>работы</a:t>
                      </a:r>
                      <a:endParaRPr lang="ru-RU" sz="1400" b="0" strike="noStrike" spc="-1" dirty="0">
                        <a:latin typeface="Arial"/>
                      </a:endParaRPr>
                    </a:p>
                  </a:txBody>
                  <a:tcPr marL="68400" marR="68400"/>
                </a:tc>
                <a:tc>
                  <a:txBody>
                    <a:bodyPr/>
                    <a:lstStyle/>
                    <a:p>
                      <a:pPr algn="ctr">
                        <a:lnSpc>
                          <a:spcPct val="130000"/>
                        </a:lnSpc>
                      </a:pPr>
                      <a:r>
                        <a:rPr lang="ru-RU" sz="1400" strike="noStrike" spc="-1"/>
                        <a:t> </a:t>
                      </a:r>
                    </a:p>
                    <a:p>
                      <a:pPr algn="ctr">
                        <a:lnSpc>
                          <a:spcPct val="130000"/>
                        </a:lnSpc>
                      </a:pPr>
                      <a:r>
                        <a:rPr lang="ru-RU" sz="1400" strike="noStrike" spc="-1"/>
                        <a:t>Время выполнения</a:t>
                      </a:r>
                      <a:endParaRPr lang="ru-RU" sz="1400" b="0" strike="noStrike" spc="-1">
                        <a:latin typeface="Arial"/>
                      </a:endParaRPr>
                    </a:p>
                  </a:txBody>
                  <a:tcPr marL="68400" marR="68400"/>
                </a:tc>
                <a:extLst>
                  <a:ext uri="{0D108BD9-81ED-4DB2-BD59-A6C34878D82A}">
                    <a16:rowId xmlns:a16="http://schemas.microsoft.com/office/drawing/2014/main" val="10000"/>
                  </a:ext>
                </a:extLst>
              </a:tr>
              <a:tr h="0">
                <a:tc>
                  <a:txBody>
                    <a:bodyPr/>
                    <a:lstStyle/>
                    <a:p>
                      <a:pPr algn="ctr">
                        <a:lnSpc>
                          <a:spcPct val="130000"/>
                        </a:lnSpc>
                      </a:pPr>
                      <a:r>
                        <a:rPr lang="ru-RU" sz="1400" strike="noStrike" spc="-1"/>
                        <a:t>A</a:t>
                      </a:r>
                      <a:endParaRPr lang="ru-RU" sz="1400" b="0" strike="noStrike" spc="-1">
                        <a:latin typeface="Arial"/>
                      </a:endParaRPr>
                    </a:p>
                  </a:txBody>
                  <a:tcPr marL="68400" marR="68400"/>
                </a:tc>
                <a:tc>
                  <a:txBody>
                    <a:bodyPr/>
                    <a:lstStyle/>
                    <a:p>
                      <a:pPr algn="ctr">
                        <a:lnSpc>
                          <a:spcPct val="130000"/>
                        </a:lnSpc>
                      </a:pPr>
                      <a:r>
                        <a:rPr lang="ru-RU" sz="1400" strike="noStrike" spc="-1"/>
                        <a:t>---</a:t>
                      </a:r>
                      <a:endParaRPr lang="ru-RU" sz="1400" b="0" strike="noStrike" spc="-1">
                        <a:latin typeface="Arial"/>
                      </a:endParaRPr>
                    </a:p>
                  </a:txBody>
                  <a:tcPr marL="68400" marR="68400"/>
                </a:tc>
                <a:tc>
                  <a:txBody>
                    <a:bodyPr/>
                    <a:lstStyle/>
                    <a:p>
                      <a:pPr algn="ctr">
                        <a:lnSpc>
                          <a:spcPct val="130000"/>
                        </a:lnSpc>
                      </a:pPr>
                      <a:r>
                        <a:rPr lang="en-US" sz="1400" strike="noStrike" spc="-1"/>
                        <a:t>t</a:t>
                      </a:r>
                      <a:r>
                        <a:rPr lang="en-US" sz="1400" strike="noStrike" spc="-1" baseline="-25000"/>
                        <a:t>A</a:t>
                      </a:r>
                      <a:endParaRPr lang="ru-RU" sz="1400" b="0" strike="noStrike" spc="-1">
                        <a:latin typeface="Arial"/>
                      </a:endParaRPr>
                    </a:p>
                  </a:txBody>
                  <a:tcPr marL="68400" marR="68400"/>
                </a:tc>
                <a:extLst>
                  <a:ext uri="{0D108BD9-81ED-4DB2-BD59-A6C34878D82A}">
                    <a16:rowId xmlns:a16="http://schemas.microsoft.com/office/drawing/2014/main" val="10001"/>
                  </a:ext>
                </a:extLst>
              </a:tr>
              <a:tr h="0">
                <a:tc>
                  <a:txBody>
                    <a:bodyPr/>
                    <a:lstStyle/>
                    <a:p>
                      <a:pPr algn="ctr">
                        <a:lnSpc>
                          <a:spcPct val="130000"/>
                        </a:lnSpc>
                      </a:pPr>
                      <a:r>
                        <a:rPr lang="ru-RU" sz="1400" strike="noStrike" spc="-1"/>
                        <a:t>B</a:t>
                      </a:r>
                      <a:endParaRPr lang="ru-RU" sz="1400" b="0" strike="noStrike" spc="-1">
                        <a:latin typeface="Arial"/>
                      </a:endParaRPr>
                    </a:p>
                  </a:txBody>
                  <a:tcPr marL="68400" marR="68400"/>
                </a:tc>
                <a:tc>
                  <a:txBody>
                    <a:bodyPr/>
                    <a:lstStyle/>
                    <a:p>
                      <a:pPr algn="ctr">
                        <a:lnSpc>
                          <a:spcPct val="130000"/>
                        </a:lnSpc>
                      </a:pPr>
                      <a:r>
                        <a:rPr lang="ru-RU" sz="1400" strike="noStrike" spc="-1"/>
                        <a:t>---</a:t>
                      </a:r>
                      <a:endParaRPr lang="ru-RU" sz="1400" b="0" strike="noStrike" spc="-1">
                        <a:latin typeface="Arial"/>
                      </a:endParaRPr>
                    </a:p>
                  </a:txBody>
                  <a:tcPr marL="68400" marR="68400"/>
                </a:tc>
                <a:tc>
                  <a:txBody>
                    <a:bodyPr/>
                    <a:lstStyle/>
                    <a:p>
                      <a:pPr algn="ctr">
                        <a:lnSpc>
                          <a:spcPct val="130000"/>
                        </a:lnSpc>
                      </a:pPr>
                      <a:r>
                        <a:rPr lang="en-US" sz="1400" strike="noStrike" spc="-1"/>
                        <a:t>t</a:t>
                      </a:r>
                      <a:r>
                        <a:rPr lang="en-US" sz="1400" strike="noStrike" spc="-1" baseline="-25000"/>
                        <a:t>B</a:t>
                      </a:r>
                      <a:endParaRPr lang="ru-RU" sz="1400" b="0" strike="noStrike" spc="-1">
                        <a:latin typeface="Arial"/>
                      </a:endParaRPr>
                    </a:p>
                  </a:txBody>
                  <a:tcPr marL="68400" marR="68400"/>
                </a:tc>
                <a:extLst>
                  <a:ext uri="{0D108BD9-81ED-4DB2-BD59-A6C34878D82A}">
                    <a16:rowId xmlns:a16="http://schemas.microsoft.com/office/drawing/2014/main" val="10002"/>
                  </a:ext>
                </a:extLst>
              </a:tr>
              <a:tr h="0">
                <a:tc>
                  <a:txBody>
                    <a:bodyPr/>
                    <a:lstStyle/>
                    <a:p>
                      <a:pPr algn="ctr">
                        <a:lnSpc>
                          <a:spcPct val="130000"/>
                        </a:lnSpc>
                      </a:pPr>
                      <a:r>
                        <a:rPr lang="ru-RU" sz="1400" strike="noStrike" spc="-1"/>
                        <a:t>C</a:t>
                      </a:r>
                      <a:endParaRPr lang="ru-RU" sz="1400" b="0" strike="noStrike" spc="-1">
                        <a:latin typeface="Arial"/>
                      </a:endParaRPr>
                    </a:p>
                  </a:txBody>
                  <a:tcPr marL="68400" marR="68400"/>
                </a:tc>
                <a:tc>
                  <a:txBody>
                    <a:bodyPr/>
                    <a:lstStyle/>
                    <a:p>
                      <a:pPr algn="ctr">
                        <a:lnSpc>
                          <a:spcPct val="130000"/>
                        </a:lnSpc>
                      </a:pPr>
                      <a:r>
                        <a:rPr lang="ru-RU" sz="1400" strike="noStrike" spc="-1"/>
                        <a:t>B</a:t>
                      </a:r>
                      <a:endParaRPr lang="ru-RU" sz="1400" b="0" strike="noStrike" spc="-1">
                        <a:latin typeface="Arial"/>
                      </a:endParaRPr>
                    </a:p>
                  </a:txBody>
                  <a:tcPr marL="68400" marR="68400"/>
                </a:tc>
                <a:tc>
                  <a:txBody>
                    <a:bodyPr/>
                    <a:lstStyle/>
                    <a:p>
                      <a:pPr algn="ctr">
                        <a:lnSpc>
                          <a:spcPct val="130000"/>
                        </a:lnSpc>
                      </a:pPr>
                      <a:r>
                        <a:rPr lang="en-US" sz="1400" strike="noStrike" spc="-1"/>
                        <a:t>t</a:t>
                      </a:r>
                      <a:r>
                        <a:rPr lang="en-US" sz="1400" strike="noStrike" spc="-1" baseline="-25000"/>
                        <a:t>C</a:t>
                      </a:r>
                      <a:endParaRPr lang="ru-RU" sz="1400" b="0" strike="noStrike" spc="-1">
                        <a:latin typeface="Arial"/>
                      </a:endParaRPr>
                    </a:p>
                  </a:txBody>
                  <a:tcPr marL="68400" marR="68400"/>
                </a:tc>
                <a:extLst>
                  <a:ext uri="{0D108BD9-81ED-4DB2-BD59-A6C34878D82A}">
                    <a16:rowId xmlns:a16="http://schemas.microsoft.com/office/drawing/2014/main" val="10003"/>
                  </a:ext>
                </a:extLst>
              </a:tr>
              <a:tr h="0">
                <a:tc>
                  <a:txBody>
                    <a:bodyPr/>
                    <a:lstStyle/>
                    <a:p>
                      <a:pPr algn="ctr">
                        <a:lnSpc>
                          <a:spcPct val="130000"/>
                        </a:lnSpc>
                      </a:pPr>
                      <a:r>
                        <a:rPr lang="ru-RU" sz="1400" strike="noStrike" spc="-1"/>
                        <a:t>D</a:t>
                      </a:r>
                      <a:endParaRPr lang="ru-RU" sz="1400" b="0" strike="noStrike" spc="-1">
                        <a:latin typeface="Arial"/>
                      </a:endParaRPr>
                    </a:p>
                  </a:txBody>
                  <a:tcPr marL="68400" marR="68400"/>
                </a:tc>
                <a:tc>
                  <a:txBody>
                    <a:bodyPr/>
                    <a:lstStyle/>
                    <a:p>
                      <a:pPr algn="ctr">
                        <a:lnSpc>
                          <a:spcPct val="130000"/>
                        </a:lnSpc>
                      </a:pPr>
                      <a:r>
                        <a:rPr lang="ru-RU" sz="1400" strike="noStrike" spc="-1"/>
                        <a:t>A, C</a:t>
                      </a:r>
                      <a:endParaRPr lang="ru-RU" sz="1400" b="0" strike="noStrike" spc="-1">
                        <a:latin typeface="Arial"/>
                      </a:endParaRPr>
                    </a:p>
                  </a:txBody>
                  <a:tcPr marL="68400" marR="68400"/>
                </a:tc>
                <a:tc>
                  <a:txBody>
                    <a:bodyPr/>
                    <a:lstStyle/>
                    <a:p>
                      <a:pPr algn="ctr">
                        <a:lnSpc>
                          <a:spcPct val="130000"/>
                        </a:lnSpc>
                      </a:pPr>
                      <a:r>
                        <a:rPr lang="en-US" sz="1400" strike="noStrike" spc="-1"/>
                        <a:t>t</a:t>
                      </a:r>
                      <a:r>
                        <a:rPr lang="en-US" sz="1400" strike="noStrike" spc="-1" baseline="-25000"/>
                        <a:t>D</a:t>
                      </a:r>
                      <a:endParaRPr lang="ru-RU" sz="1400" b="0" strike="noStrike" spc="-1">
                        <a:latin typeface="Arial"/>
                      </a:endParaRPr>
                    </a:p>
                  </a:txBody>
                  <a:tcPr marL="68400" marR="68400"/>
                </a:tc>
                <a:extLst>
                  <a:ext uri="{0D108BD9-81ED-4DB2-BD59-A6C34878D82A}">
                    <a16:rowId xmlns:a16="http://schemas.microsoft.com/office/drawing/2014/main" val="10004"/>
                  </a:ext>
                </a:extLst>
              </a:tr>
              <a:tr h="0">
                <a:tc>
                  <a:txBody>
                    <a:bodyPr/>
                    <a:lstStyle/>
                    <a:p>
                      <a:pPr algn="ctr">
                        <a:lnSpc>
                          <a:spcPct val="130000"/>
                        </a:lnSpc>
                      </a:pPr>
                      <a:r>
                        <a:rPr lang="ru-RU" sz="1400" strike="noStrike" spc="-1"/>
                        <a:t>E</a:t>
                      </a:r>
                      <a:endParaRPr lang="ru-RU" sz="1400" b="0" strike="noStrike" spc="-1">
                        <a:latin typeface="Arial"/>
                      </a:endParaRPr>
                    </a:p>
                  </a:txBody>
                  <a:tcPr marL="68400" marR="68400"/>
                </a:tc>
                <a:tc>
                  <a:txBody>
                    <a:bodyPr/>
                    <a:lstStyle/>
                    <a:p>
                      <a:pPr algn="ctr">
                        <a:lnSpc>
                          <a:spcPct val="130000"/>
                        </a:lnSpc>
                      </a:pPr>
                      <a:r>
                        <a:rPr lang="ru-RU" sz="1400" strike="noStrike" spc="-1"/>
                        <a:t>C</a:t>
                      </a:r>
                      <a:endParaRPr lang="ru-RU" sz="1400" b="0" strike="noStrike" spc="-1">
                        <a:latin typeface="Arial"/>
                      </a:endParaRPr>
                    </a:p>
                  </a:txBody>
                  <a:tcPr marL="68400" marR="68400"/>
                </a:tc>
                <a:tc>
                  <a:txBody>
                    <a:bodyPr/>
                    <a:lstStyle/>
                    <a:p>
                      <a:pPr algn="ctr">
                        <a:lnSpc>
                          <a:spcPct val="130000"/>
                        </a:lnSpc>
                      </a:pPr>
                      <a:r>
                        <a:rPr lang="en-US" sz="1400" strike="noStrike" spc="-1"/>
                        <a:t>t</a:t>
                      </a:r>
                      <a:r>
                        <a:rPr lang="en-US" sz="1400" strike="noStrike" spc="-1" baseline="-25000"/>
                        <a:t>E</a:t>
                      </a:r>
                      <a:endParaRPr lang="ru-RU" sz="1400" b="0" strike="noStrike" spc="-1">
                        <a:latin typeface="Arial"/>
                      </a:endParaRPr>
                    </a:p>
                  </a:txBody>
                  <a:tcPr marL="68400" marR="68400"/>
                </a:tc>
                <a:extLst>
                  <a:ext uri="{0D108BD9-81ED-4DB2-BD59-A6C34878D82A}">
                    <a16:rowId xmlns:a16="http://schemas.microsoft.com/office/drawing/2014/main" val="10005"/>
                  </a:ext>
                </a:extLst>
              </a:tr>
              <a:tr h="0">
                <a:tc>
                  <a:txBody>
                    <a:bodyPr/>
                    <a:lstStyle/>
                    <a:p>
                      <a:pPr algn="ctr">
                        <a:lnSpc>
                          <a:spcPct val="130000"/>
                        </a:lnSpc>
                      </a:pPr>
                      <a:r>
                        <a:rPr lang="ru-RU" sz="1400" strike="noStrike" spc="-1"/>
                        <a:t>F</a:t>
                      </a:r>
                      <a:endParaRPr lang="ru-RU" sz="1400" b="0" strike="noStrike" spc="-1">
                        <a:latin typeface="Arial"/>
                      </a:endParaRPr>
                    </a:p>
                  </a:txBody>
                  <a:tcPr marL="68400" marR="68400"/>
                </a:tc>
                <a:tc>
                  <a:txBody>
                    <a:bodyPr/>
                    <a:lstStyle/>
                    <a:p>
                      <a:pPr algn="ctr">
                        <a:lnSpc>
                          <a:spcPct val="130000"/>
                        </a:lnSpc>
                      </a:pPr>
                      <a:r>
                        <a:rPr lang="ru-RU" sz="1400" strike="noStrike" spc="-1"/>
                        <a:t>C</a:t>
                      </a:r>
                      <a:endParaRPr lang="ru-RU" sz="1400" b="0" strike="noStrike" spc="-1">
                        <a:latin typeface="Arial"/>
                      </a:endParaRPr>
                    </a:p>
                  </a:txBody>
                  <a:tcPr marL="68400" marR="68400"/>
                </a:tc>
                <a:tc>
                  <a:txBody>
                    <a:bodyPr/>
                    <a:lstStyle/>
                    <a:p>
                      <a:pPr algn="ctr">
                        <a:lnSpc>
                          <a:spcPct val="130000"/>
                        </a:lnSpc>
                      </a:pPr>
                      <a:r>
                        <a:rPr lang="en-US" sz="1400" strike="noStrike" spc="-1"/>
                        <a:t>t</a:t>
                      </a:r>
                      <a:r>
                        <a:rPr lang="en-US" sz="1400" strike="noStrike" spc="-1" baseline="-25000"/>
                        <a:t>F</a:t>
                      </a:r>
                      <a:endParaRPr lang="ru-RU" sz="1400" b="0" strike="noStrike" spc="-1">
                        <a:latin typeface="Arial"/>
                      </a:endParaRPr>
                    </a:p>
                  </a:txBody>
                  <a:tcPr marL="68400" marR="68400"/>
                </a:tc>
                <a:extLst>
                  <a:ext uri="{0D108BD9-81ED-4DB2-BD59-A6C34878D82A}">
                    <a16:rowId xmlns:a16="http://schemas.microsoft.com/office/drawing/2014/main" val="10006"/>
                  </a:ext>
                </a:extLst>
              </a:tr>
              <a:tr h="0">
                <a:tc>
                  <a:txBody>
                    <a:bodyPr/>
                    <a:lstStyle/>
                    <a:p>
                      <a:pPr algn="ctr">
                        <a:lnSpc>
                          <a:spcPct val="130000"/>
                        </a:lnSpc>
                      </a:pPr>
                      <a:r>
                        <a:rPr lang="ru-RU" sz="1400" strike="noStrike" spc="-1"/>
                        <a:t>G</a:t>
                      </a:r>
                      <a:endParaRPr lang="ru-RU" sz="1400" b="0" strike="noStrike" spc="-1">
                        <a:latin typeface="Arial"/>
                      </a:endParaRPr>
                    </a:p>
                  </a:txBody>
                  <a:tcPr marL="68400" marR="68400"/>
                </a:tc>
                <a:tc>
                  <a:txBody>
                    <a:bodyPr/>
                    <a:lstStyle/>
                    <a:p>
                      <a:pPr algn="ctr">
                        <a:lnSpc>
                          <a:spcPct val="130000"/>
                        </a:lnSpc>
                      </a:pPr>
                      <a:r>
                        <a:rPr lang="ru-RU" sz="1400" strike="noStrike" spc="-1"/>
                        <a:t>D, E, F</a:t>
                      </a:r>
                      <a:endParaRPr lang="ru-RU" sz="1400" b="0" strike="noStrike" spc="-1">
                        <a:latin typeface="Arial"/>
                      </a:endParaRPr>
                    </a:p>
                  </a:txBody>
                  <a:tcPr marL="68400" marR="68400"/>
                </a:tc>
                <a:tc>
                  <a:txBody>
                    <a:bodyPr/>
                    <a:lstStyle/>
                    <a:p>
                      <a:pPr algn="ctr">
                        <a:lnSpc>
                          <a:spcPct val="130000"/>
                        </a:lnSpc>
                      </a:pPr>
                      <a:r>
                        <a:rPr lang="en-US" sz="1400" strike="noStrike" spc="-1" dirty="0" err="1"/>
                        <a:t>t</a:t>
                      </a:r>
                      <a:r>
                        <a:rPr lang="en-US" sz="1400" strike="noStrike" spc="-1" baseline="-25000" dirty="0" err="1"/>
                        <a:t>G</a:t>
                      </a:r>
                      <a:endParaRPr lang="ru-RU" sz="1400" b="0" strike="noStrike" spc="-1" dirty="0">
                        <a:latin typeface="Arial"/>
                      </a:endParaRPr>
                    </a:p>
                  </a:txBody>
                  <a:tcPr marL="68400" marR="68400"/>
                </a:tc>
                <a:extLst>
                  <a:ext uri="{0D108BD9-81ED-4DB2-BD59-A6C34878D82A}">
                    <a16:rowId xmlns:a16="http://schemas.microsoft.com/office/drawing/2014/main" val="10007"/>
                  </a:ext>
                </a:extLst>
              </a:tr>
            </a:tbl>
          </a:graphicData>
        </a:graphic>
      </p:graphicFrame>
      <p:sp>
        <p:nvSpPr>
          <p:cNvPr id="126" name="CustomShape 3"/>
          <p:cNvSpPr/>
          <p:nvPr/>
        </p:nvSpPr>
        <p:spPr>
          <a:xfrm>
            <a:off x="3215640" y="2971800"/>
            <a:ext cx="9143640" cy="456840"/>
          </a:xfrm>
          <a:prstGeom prst="rect">
            <a:avLst/>
          </a:prstGeom>
          <a:noFill/>
          <a:ln>
            <a:noFill/>
          </a:ln>
        </p:spPr>
        <p:style>
          <a:lnRef idx="0">
            <a:scrgbClr r="0" g="0" b="0"/>
          </a:lnRef>
          <a:fillRef idx="0">
            <a:scrgbClr r="0" g="0" b="0"/>
          </a:fillRef>
          <a:effectRef idx="0">
            <a:scrgbClr r="0" g="0" b="0"/>
          </a:effectRef>
          <a:fontRef idx="minor"/>
        </p:style>
      </p:sp>
      <p:grpSp>
        <p:nvGrpSpPr>
          <p:cNvPr id="127" name="Group 4"/>
          <p:cNvGrpSpPr/>
          <p:nvPr/>
        </p:nvGrpSpPr>
        <p:grpSpPr>
          <a:xfrm>
            <a:off x="6733540" y="3772080"/>
            <a:ext cx="4782600" cy="3085920"/>
            <a:chOff x="1691640" y="3727440"/>
            <a:chExt cx="4782600" cy="3085920"/>
          </a:xfrm>
        </p:grpSpPr>
        <p:sp>
          <p:nvSpPr>
            <p:cNvPr id="128" name="CustomShape 5"/>
            <p:cNvSpPr/>
            <p:nvPr/>
          </p:nvSpPr>
          <p:spPr>
            <a:xfrm>
              <a:off x="1691640" y="3727440"/>
              <a:ext cx="4782600" cy="3085920"/>
            </a:xfrm>
            <a:prstGeom prst="rect">
              <a:avLst/>
            </a:prstGeom>
            <a:noFill/>
            <a:ln>
              <a:noFill/>
            </a:ln>
          </p:spPr>
          <p:style>
            <a:lnRef idx="0">
              <a:scrgbClr r="0" g="0" b="0"/>
            </a:lnRef>
            <a:fillRef idx="0">
              <a:scrgbClr r="0" g="0" b="0"/>
            </a:fillRef>
            <a:effectRef idx="0">
              <a:scrgbClr r="0" g="0" b="0"/>
            </a:effectRef>
            <a:fontRef idx="minor"/>
          </p:style>
        </p:sp>
        <p:sp>
          <p:nvSpPr>
            <p:cNvPr id="129" name="CustomShape 6"/>
            <p:cNvSpPr/>
            <p:nvPr/>
          </p:nvSpPr>
          <p:spPr>
            <a:xfrm>
              <a:off x="4451040" y="3841560"/>
              <a:ext cx="342360" cy="30960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200" b="1" spc="-1">
                  <a:solidFill>
                    <a:srgbClr val="000000"/>
                  </a:solidFill>
                  <a:latin typeface="Arial"/>
                  <a:ea typeface="Times New Roman"/>
                </a:rPr>
                <a:t>D</a:t>
              </a:r>
              <a:endParaRPr lang="ru-RU" sz="1200" spc="-1">
                <a:latin typeface="Arial"/>
              </a:endParaRPr>
            </a:p>
          </p:txBody>
        </p:sp>
        <p:sp>
          <p:nvSpPr>
            <p:cNvPr id="130" name="CustomShape 7"/>
            <p:cNvSpPr/>
            <p:nvPr/>
          </p:nvSpPr>
          <p:spPr>
            <a:xfrm>
              <a:off x="3291840" y="6470640"/>
              <a:ext cx="342360" cy="342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200" b="1" spc="-1">
                  <a:solidFill>
                    <a:srgbClr val="000000"/>
                  </a:solidFill>
                  <a:latin typeface="Arial"/>
                  <a:ea typeface="Times New Roman"/>
                </a:rPr>
                <a:t>C</a:t>
              </a:r>
              <a:endParaRPr lang="ru-RU" sz="1200" spc="-1">
                <a:latin typeface="Arial"/>
              </a:endParaRPr>
            </a:p>
          </p:txBody>
        </p:sp>
        <p:sp>
          <p:nvSpPr>
            <p:cNvPr id="131" name="CustomShape 8"/>
            <p:cNvSpPr/>
            <p:nvPr/>
          </p:nvSpPr>
          <p:spPr>
            <a:xfrm>
              <a:off x="4434840" y="6470640"/>
              <a:ext cx="342360" cy="342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200" b="1" spc="-1">
                  <a:solidFill>
                    <a:srgbClr val="000000"/>
                  </a:solidFill>
                  <a:latin typeface="Arial"/>
                  <a:ea typeface="Times New Roman"/>
                </a:rPr>
                <a:t>F</a:t>
              </a:r>
              <a:endParaRPr lang="ru-RU" sz="1200" spc="-1">
                <a:latin typeface="Arial"/>
              </a:endParaRPr>
            </a:p>
          </p:txBody>
        </p:sp>
        <p:grpSp>
          <p:nvGrpSpPr>
            <p:cNvPr id="132" name="Group 9"/>
            <p:cNvGrpSpPr/>
            <p:nvPr/>
          </p:nvGrpSpPr>
          <p:grpSpPr>
            <a:xfrm>
              <a:off x="2073240" y="4002840"/>
              <a:ext cx="4401000" cy="2467440"/>
              <a:chOff x="2073240" y="4002840"/>
              <a:chExt cx="4401000" cy="2467440"/>
            </a:xfrm>
          </p:grpSpPr>
          <p:sp>
            <p:nvSpPr>
              <p:cNvPr id="133" name="CustomShape 10"/>
              <p:cNvSpPr/>
              <p:nvPr/>
            </p:nvSpPr>
            <p:spPr>
              <a:xfrm>
                <a:off x="3861360" y="4013640"/>
                <a:ext cx="45684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400" b="1" spc="-1">
                    <a:solidFill>
                      <a:srgbClr val="000000"/>
                    </a:solidFill>
                    <a:latin typeface="Arial"/>
                    <a:ea typeface="Times New Roman"/>
                  </a:rPr>
                  <a:t>4</a:t>
                </a:r>
                <a:endParaRPr lang="ru-RU" sz="1400" spc="-1">
                  <a:latin typeface="Arial"/>
                </a:endParaRPr>
              </a:p>
            </p:txBody>
          </p:sp>
          <p:sp>
            <p:nvSpPr>
              <p:cNvPr id="134" name="CustomShape 11"/>
              <p:cNvSpPr/>
              <p:nvPr/>
            </p:nvSpPr>
            <p:spPr>
              <a:xfrm>
                <a:off x="5010120" y="4002840"/>
                <a:ext cx="45684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400" b="1" spc="-1">
                    <a:solidFill>
                      <a:srgbClr val="000000"/>
                    </a:solidFill>
                    <a:latin typeface="Arial"/>
                    <a:ea typeface="Times New Roman"/>
                  </a:rPr>
                  <a:t>6</a:t>
                </a:r>
                <a:endParaRPr lang="ru-RU" sz="1400" spc="-1">
                  <a:latin typeface="Arial"/>
                </a:endParaRPr>
              </a:p>
            </p:txBody>
          </p:sp>
          <p:sp>
            <p:nvSpPr>
              <p:cNvPr id="135" name="CustomShape 12"/>
              <p:cNvSpPr/>
              <p:nvPr/>
            </p:nvSpPr>
            <p:spPr>
              <a:xfrm>
                <a:off x="2073240" y="4540680"/>
                <a:ext cx="45612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400" b="1" spc="-1">
                    <a:solidFill>
                      <a:srgbClr val="000000"/>
                    </a:solidFill>
                    <a:latin typeface="Arial"/>
                    <a:ea typeface="Times New Roman"/>
                  </a:rPr>
                  <a:t>1</a:t>
                </a:r>
                <a:endParaRPr lang="ru-RU" sz="1400" spc="-1">
                  <a:latin typeface="Arial"/>
                </a:endParaRPr>
              </a:p>
            </p:txBody>
          </p:sp>
          <p:sp>
            <p:nvSpPr>
              <p:cNvPr id="136" name="CustomShape 13"/>
              <p:cNvSpPr/>
              <p:nvPr/>
            </p:nvSpPr>
            <p:spPr>
              <a:xfrm>
                <a:off x="6018120" y="5029560"/>
                <a:ext cx="45612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400" b="1" spc="-1">
                    <a:solidFill>
                      <a:srgbClr val="000000"/>
                    </a:solidFill>
                    <a:latin typeface="Arial"/>
                    <a:ea typeface="Times New Roman"/>
                  </a:rPr>
                  <a:t>7</a:t>
                </a:r>
                <a:endParaRPr lang="ru-RU" sz="1400" spc="-1">
                  <a:latin typeface="Arial"/>
                </a:endParaRPr>
              </a:p>
            </p:txBody>
          </p:sp>
          <p:sp>
            <p:nvSpPr>
              <p:cNvPr id="137" name="CustomShape 14"/>
              <p:cNvSpPr/>
              <p:nvPr/>
            </p:nvSpPr>
            <p:spPr>
              <a:xfrm>
                <a:off x="2662560" y="6005160"/>
                <a:ext cx="45684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400" b="1" spc="-1">
                    <a:solidFill>
                      <a:srgbClr val="000000"/>
                    </a:solidFill>
                    <a:latin typeface="Arial"/>
                    <a:ea typeface="Times New Roman"/>
                  </a:rPr>
                  <a:t>2</a:t>
                </a:r>
                <a:endParaRPr lang="ru-RU" sz="1400" spc="-1">
                  <a:latin typeface="Arial"/>
                </a:endParaRPr>
              </a:p>
            </p:txBody>
          </p:sp>
          <p:sp>
            <p:nvSpPr>
              <p:cNvPr id="138" name="CustomShape 15"/>
              <p:cNvSpPr/>
              <p:nvPr/>
            </p:nvSpPr>
            <p:spPr>
              <a:xfrm>
                <a:off x="3870360" y="6013440"/>
                <a:ext cx="45684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400" b="1" spc="-1">
                    <a:solidFill>
                      <a:srgbClr val="000000"/>
                    </a:solidFill>
                    <a:latin typeface="Arial"/>
                    <a:ea typeface="Times New Roman"/>
                  </a:rPr>
                  <a:t>3</a:t>
                </a:r>
                <a:endParaRPr lang="ru-RU" sz="1400" spc="-1">
                  <a:latin typeface="Arial"/>
                </a:endParaRPr>
              </a:p>
            </p:txBody>
          </p:sp>
          <p:sp>
            <p:nvSpPr>
              <p:cNvPr id="139" name="CustomShape 16"/>
              <p:cNvSpPr/>
              <p:nvPr/>
            </p:nvSpPr>
            <p:spPr>
              <a:xfrm>
                <a:off x="5006160" y="6013440"/>
                <a:ext cx="456840" cy="456840"/>
              </a:xfrm>
              <a:prstGeom prst="ellipse">
                <a:avLst/>
              </a:prstGeom>
              <a:solidFill>
                <a:srgbClr val="FFFFFF"/>
              </a:solidFill>
              <a:ln w="9360">
                <a:solidFill>
                  <a:srgbClr val="000000"/>
                </a:solidFill>
                <a:round/>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400" b="1" spc="-1">
                    <a:solidFill>
                      <a:srgbClr val="000000"/>
                    </a:solidFill>
                    <a:latin typeface="Arial"/>
                    <a:ea typeface="Times New Roman"/>
                  </a:rPr>
                  <a:t>5</a:t>
                </a:r>
                <a:endParaRPr lang="ru-RU" sz="1400" spc="-1">
                  <a:latin typeface="Arial"/>
                </a:endParaRPr>
              </a:p>
            </p:txBody>
          </p:sp>
          <p:sp>
            <p:nvSpPr>
              <p:cNvPr id="140" name="Line 17"/>
              <p:cNvSpPr/>
              <p:nvPr/>
            </p:nvSpPr>
            <p:spPr>
              <a:xfrm flipV="1">
                <a:off x="2491560" y="4298760"/>
                <a:ext cx="1371600" cy="34272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41" name="Line 18"/>
              <p:cNvSpPr/>
              <p:nvPr/>
            </p:nvSpPr>
            <p:spPr>
              <a:xfrm>
                <a:off x="4320360" y="4242240"/>
                <a:ext cx="685800" cy="36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42" name="Line 19"/>
              <p:cNvSpPr/>
              <p:nvPr/>
            </p:nvSpPr>
            <p:spPr>
              <a:xfrm>
                <a:off x="2377080" y="4984560"/>
                <a:ext cx="457200" cy="102852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43" name="Line 20"/>
              <p:cNvSpPr/>
              <p:nvPr/>
            </p:nvSpPr>
            <p:spPr>
              <a:xfrm>
                <a:off x="3087720" y="6241680"/>
                <a:ext cx="799920" cy="72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44" name="Line 21"/>
              <p:cNvSpPr/>
              <p:nvPr/>
            </p:nvSpPr>
            <p:spPr>
              <a:xfrm>
                <a:off x="4320360" y="6241680"/>
                <a:ext cx="685800" cy="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45" name="Line 22"/>
              <p:cNvSpPr/>
              <p:nvPr/>
            </p:nvSpPr>
            <p:spPr>
              <a:xfrm flipV="1">
                <a:off x="4205880" y="4412880"/>
                <a:ext cx="914400" cy="160020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46" name="Line 23"/>
              <p:cNvSpPr/>
              <p:nvPr/>
            </p:nvSpPr>
            <p:spPr>
              <a:xfrm>
                <a:off x="5421960" y="4396320"/>
                <a:ext cx="685800" cy="68580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47" name="Line 24"/>
              <p:cNvSpPr/>
              <p:nvPr/>
            </p:nvSpPr>
            <p:spPr>
              <a:xfrm flipV="1">
                <a:off x="4100040" y="4470840"/>
                <a:ext cx="360" cy="1529640"/>
              </a:xfrm>
              <a:prstGeom prst="line">
                <a:avLst/>
              </a:prstGeom>
              <a:ln w="9360">
                <a:solidFill>
                  <a:srgbClr val="000000"/>
                </a:solidFill>
                <a:prstDash val="dashDot"/>
                <a:round/>
                <a:tailEnd type="triangle" w="med" len="med"/>
              </a:ln>
            </p:spPr>
            <p:style>
              <a:lnRef idx="0">
                <a:scrgbClr r="0" g="0" b="0"/>
              </a:lnRef>
              <a:fillRef idx="0">
                <a:scrgbClr r="0" g="0" b="0"/>
              </a:fillRef>
              <a:effectRef idx="0">
                <a:scrgbClr r="0" g="0" b="0"/>
              </a:effectRef>
              <a:fontRef idx="minor"/>
            </p:style>
          </p:sp>
          <p:sp>
            <p:nvSpPr>
              <p:cNvPr id="148" name="Line 25"/>
              <p:cNvSpPr/>
              <p:nvPr/>
            </p:nvSpPr>
            <p:spPr>
              <a:xfrm flipV="1">
                <a:off x="5234400" y="4469400"/>
                <a:ext cx="720" cy="1529640"/>
              </a:xfrm>
              <a:prstGeom prst="line">
                <a:avLst/>
              </a:prstGeom>
              <a:ln w="9360">
                <a:solidFill>
                  <a:srgbClr val="000000"/>
                </a:solidFill>
                <a:prstDash val="dashDot"/>
                <a:round/>
                <a:tailEnd type="triangle" w="med" len="med"/>
              </a:ln>
            </p:spPr>
            <p:style>
              <a:lnRef idx="0">
                <a:scrgbClr r="0" g="0" b="0"/>
              </a:lnRef>
              <a:fillRef idx="0">
                <a:scrgbClr r="0" g="0" b="0"/>
              </a:fillRef>
              <a:effectRef idx="0">
                <a:scrgbClr r="0" g="0" b="0"/>
              </a:effectRef>
              <a:fontRef idx="minor"/>
            </p:style>
          </p:sp>
          <p:sp>
            <p:nvSpPr>
              <p:cNvPr id="149" name="CustomShape 26"/>
              <p:cNvSpPr/>
              <p:nvPr/>
            </p:nvSpPr>
            <p:spPr>
              <a:xfrm>
                <a:off x="2794680" y="4103280"/>
                <a:ext cx="342360" cy="342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200" b="1" spc="-1">
                    <a:solidFill>
                      <a:srgbClr val="000000"/>
                    </a:solidFill>
                    <a:latin typeface="Arial"/>
                    <a:ea typeface="Times New Roman"/>
                  </a:rPr>
                  <a:t>A</a:t>
                </a:r>
                <a:endParaRPr lang="ru-RU" sz="1200" spc="-1">
                  <a:latin typeface="Arial"/>
                </a:endParaRPr>
              </a:p>
            </p:txBody>
          </p:sp>
          <p:sp>
            <p:nvSpPr>
              <p:cNvPr id="150" name="CustomShape 27"/>
              <p:cNvSpPr/>
              <p:nvPr/>
            </p:nvSpPr>
            <p:spPr>
              <a:xfrm>
                <a:off x="2150280" y="5441760"/>
                <a:ext cx="342360" cy="342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200" b="1" spc="-1">
                    <a:solidFill>
                      <a:srgbClr val="000000"/>
                    </a:solidFill>
                    <a:latin typeface="Arial"/>
                    <a:ea typeface="Times New Roman"/>
                  </a:rPr>
                  <a:t>B</a:t>
                </a:r>
                <a:endParaRPr lang="ru-RU" sz="1200" spc="-1">
                  <a:latin typeface="Arial"/>
                </a:endParaRPr>
              </a:p>
            </p:txBody>
          </p:sp>
          <p:sp>
            <p:nvSpPr>
              <p:cNvPr id="151" name="CustomShape 28"/>
              <p:cNvSpPr/>
              <p:nvPr/>
            </p:nvSpPr>
            <p:spPr>
              <a:xfrm>
                <a:off x="4320360" y="4755960"/>
                <a:ext cx="342360" cy="342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200" b="1" spc="-1">
                    <a:solidFill>
                      <a:srgbClr val="000000"/>
                    </a:solidFill>
                    <a:latin typeface="Arial"/>
                    <a:ea typeface="Times New Roman"/>
                  </a:rPr>
                  <a:t>E</a:t>
                </a:r>
                <a:endParaRPr lang="ru-RU" sz="1200" spc="-1">
                  <a:latin typeface="Arial"/>
                </a:endParaRPr>
              </a:p>
            </p:txBody>
          </p:sp>
          <p:sp>
            <p:nvSpPr>
              <p:cNvPr id="152" name="CustomShape 29"/>
              <p:cNvSpPr/>
              <p:nvPr/>
            </p:nvSpPr>
            <p:spPr>
              <a:xfrm>
                <a:off x="5806080" y="4298760"/>
                <a:ext cx="342360" cy="342720"/>
              </a:xfrm>
              <a:prstGeom prst="rect">
                <a:avLst/>
              </a:prstGeom>
              <a:solidFill>
                <a:srgbClr val="FFFFFF"/>
              </a:solid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1200" b="1" spc="-1">
                    <a:solidFill>
                      <a:srgbClr val="000000"/>
                    </a:solidFill>
                    <a:latin typeface="Arial"/>
                    <a:ea typeface="Times New Roman"/>
                  </a:rPr>
                  <a:t>G</a:t>
                </a:r>
                <a:endParaRPr lang="ru-RU" sz="1200" spc="-1">
                  <a:latin typeface="Arial"/>
                </a:endParaRPr>
              </a:p>
            </p:txBody>
          </p:sp>
        </p:grpSp>
      </p:grpSp>
    </p:spTree>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1054100" y="72001"/>
            <a:ext cx="10121900" cy="119887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Комплекс операций проекта разработки </a:t>
            </a:r>
            <a:r>
              <a:rPr lang="ru-RU" sz="3600" b="1" spc="-1" dirty="0" err="1">
                <a:solidFill>
                  <a:srgbClr val="00B0F0"/>
                </a:solidFill>
              </a:rPr>
              <a:t>web</a:t>
            </a:r>
            <a:r>
              <a:rPr lang="ru-RU" sz="3600" b="1" spc="-1" dirty="0">
                <a:solidFill>
                  <a:srgbClr val="00B0F0"/>
                </a:solidFill>
              </a:rPr>
              <a:t>-приложения WSP</a:t>
            </a:r>
            <a:endParaRPr lang="ru-RU" sz="3600" spc="-1" dirty="0">
              <a:solidFill>
                <a:srgbClr val="00B0F0"/>
              </a:solidFill>
            </a:endParaRPr>
          </a:p>
        </p:txBody>
      </p:sp>
      <p:graphicFrame>
        <p:nvGraphicFramePr>
          <p:cNvPr id="154" name="Table 2"/>
          <p:cNvGraphicFramePr/>
          <p:nvPr>
            <p:extLst>
              <p:ext uri="{D42A27DB-BD31-4B8C-83A1-F6EECF244321}">
                <p14:modId xmlns:p14="http://schemas.microsoft.com/office/powerpoint/2010/main" val="520065212"/>
              </p:ext>
            </p:extLst>
          </p:nvPr>
        </p:nvGraphicFramePr>
        <p:xfrm>
          <a:off x="850899" y="1312560"/>
          <a:ext cx="10553700" cy="5169012"/>
        </p:xfrm>
        <a:graphic>
          <a:graphicData uri="http://schemas.openxmlformats.org/drawingml/2006/table">
            <a:tbl>
              <a:tblPr/>
              <a:tblGrid>
                <a:gridCol w="1481654">
                  <a:extLst>
                    <a:ext uri="{9D8B030D-6E8A-4147-A177-3AD203B41FA5}">
                      <a16:colId xmlns:a16="http://schemas.microsoft.com/office/drawing/2014/main" val="20000"/>
                    </a:ext>
                  </a:extLst>
                </a:gridCol>
                <a:gridCol w="4804099">
                  <a:extLst>
                    <a:ext uri="{9D8B030D-6E8A-4147-A177-3AD203B41FA5}">
                      <a16:colId xmlns:a16="http://schemas.microsoft.com/office/drawing/2014/main" val="20001"/>
                    </a:ext>
                  </a:extLst>
                </a:gridCol>
                <a:gridCol w="2629702">
                  <a:extLst>
                    <a:ext uri="{9D8B030D-6E8A-4147-A177-3AD203B41FA5}">
                      <a16:colId xmlns:a16="http://schemas.microsoft.com/office/drawing/2014/main" val="20002"/>
                    </a:ext>
                  </a:extLst>
                </a:gridCol>
                <a:gridCol w="1638245">
                  <a:extLst>
                    <a:ext uri="{9D8B030D-6E8A-4147-A177-3AD203B41FA5}">
                      <a16:colId xmlns:a16="http://schemas.microsoft.com/office/drawing/2014/main" val="20003"/>
                    </a:ext>
                  </a:extLst>
                </a:gridCol>
              </a:tblGrid>
              <a:tr h="1163940">
                <a:tc>
                  <a:txBody>
                    <a:bodyPr/>
                    <a:lstStyle/>
                    <a:p>
                      <a:pPr algn="ctr">
                        <a:lnSpc>
                          <a:spcPct val="115000"/>
                        </a:lnSpc>
                      </a:pPr>
                      <a:r>
                        <a:rPr lang="ru-RU" sz="2400" b="0" strike="noStrike" spc="-1">
                          <a:solidFill>
                            <a:srgbClr val="000000"/>
                          </a:solidFill>
                          <a:latin typeface="Times New Roman"/>
                          <a:ea typeface="Times New Roman"/>
                        </a:rPr>
                        <a:t>Код</a:t>
                      </a:r>
                      <a:endParaRPr lang="ru-RU" sz="2400" b="0" strike="noStrike" spc="-1">
                        <a:latin typeface="Arial"/>
                      </a:endParaRPr>
                    </a:p>
                    <a:p>
                      <a:pPr algn="ctr">
                        <a:lnSpc>
                          <a:spcPct val="115000"/>
                        </a:lnSpc>
                      </a:pPr>
                      <a:r>
                        <a:rPr lang="ru-RU" sz="2400" b="0" strike="noStrike" spc="-1">
                          <a:solidFill>
                            <a:srgbClr val="000000"/>
                          </a:solidFill>
                          <a:latin typeface="Times New Roman"/>
                          <a:ea typeface="Times New Roman"/>
                        </a:rPr>
                        <a:t>операции</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Наименование операции</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Предшествую-щие операции</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dirty="0">
                          <a:solidFill>
                            <a:srgbClr val="000000"/>
                          </a:solidFill>
                          <a:latin typeface="Times New Roman"/>
                        </a:rPr>
                        <a:t>t</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420840">
                <a:tc gridSpan="4">
                  <a:txBody>
                    <a:bodyPr/>
                    <a:lstStyle/>
                    <a:p>
                      <a:pPr algn="ctr">
                        <a:lnSpc>
                          <a:spcPct val="115000"/>
                        </a:lnSpc>
                      </a:pPr>
                      <a:r>
                        <a:rPr lang="en-US" sz="2400" b="0" strike="noStrike" spc="-1">
                          <a:solidFill>
                            <a:srgbClr val="000000"/>
                          </a:solidFill>
                          <a:latin typeface="Times New Roman"/>
                          <a:ea typeface="Times New Roman"/>
                        </a:rPr>
                        <a:t>I</a:t>
                      </a:r>
                      <a:r>
                        <a:rPr lang="ru-RU" sz="2400" b="0" strike="noStrike" spc="-1">
                          <a:solidFill>
                            <a:srgbClr val="000000"/>
                          </a:solidFill>
                          <a:latin typeface="Times New Roman"/>
                          <a:ea typeface="Times New Roman"/>
                        </a:rPr>
                        <a:t>. АНАЛИЗ</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extLst>
                  <a:ext uri="{0D108BD9-81ED-4DB2-BD59-A6C34878D82A}">
                    <a16:rowId xmlns:a16="http://schemas.microsoft.com/office/drawing/2014/main" val="10001"/>
                  </a:ext>
                </a:extLst>
              </a:tr>
              <a:tr h="42084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Системный анализ</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15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42084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dirty="0">
                          <a:solidFill>
                            <a:srgbClr val="000000"/>
                          </a:solidFill>
                          <a:latin typeface="Times New Roman"/>
                          <a:ea typeface="Times New Roman"/>
                        </a:rPr>
                        <a:t>Анализ требований</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20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420840">
                <a:tc gridSpan="4">
                  <a:txBody>
                    <a:bodyPr/>
                    <a:lstStyle/>
                    <a:p>
                      <a:pPr algn="ctr">
                        <a:lnSpc>
                          <a:spcPct val="115000"/>
                        </a:lnSpc>
                      </a:pPr>
                      <a:r>
                        <a:rPr lang="en-US" sz="2400" b="0" strike="noStrike" spc="-1">
                          <a:solidFill>
                            <a:srgbClr val="000000"/>
                          </a:solidFill>
                          <a:latin typeface="Times New Roman"/>
                          <a:ea typeface="Times New Roman"/>
                        </a:rPr>
                        <a:t>II. </a:t>
                      </a:r>
                      <a:r>
                        <a:rPr lang="ru-RU" sz="2400" b="0" strike="noStrike" spc="-1">
                          <a:solidFill>
                            <a:srgbClr val="000000"/>
                          </a:solidFill>
                          <a:latin typeface="Times New Roman"/>
                          <a:ea typeface="Times New Roman"/>
                        </a:rPr>
                        <a:t>ПРОЕКТИРОВАНИЕ</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extLst>
                  <a:ext uri="{0D108BD9-81ED-4DB2-BD59-A6C34878D82A}">
                    <a16:rowId xmlns:a16="http://schemas.microsoft.com/office/drawing/2014/main" val="10004"/>
                  </a:ext>
                </a:extLst>
              </a:tr>
              <a:tr h="42084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Проектирование базы данных</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2,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10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r h="42084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Проектирование классов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Z2</a:t>
                      </a:r>
                      <a:r>
                        <a:rPr lang="ru-RU" sz="2400" b="0" strike="noStrike" spc="-1">
                          <a:solidFill>
                            <a:srgbClr val="000000"/>
                          </a:solidFill>
                          <a:latin typeface="Times New Roman"/>
                          <a:ea typeface="Times New Roman"/>
                        </a:rPr>
                        <a:t>,</a:t>
                      </a:r>
                      <a:r>
                        <a:rPr lang="en-US" sz="2400" b="0" strike="noStrike" spc="-1">
                          <a:solidFill>
                            <a:srgbClr val="000000"/>
                          </a:solidFill>
                          <a:latin typeface="Times New Roman"/>
                          <a:ea typeface="Times New Roman"/>
                        </a:rPr>
                        <a:t> Z17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20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r h="841320">
                <a:tc>
                  <a:txBody>
                    <a:bodyPr/>
                    <a:lstStyle/>
                    <a:p>
                      <a:pPr algn="ctr">
                        <a:lnSpc>
                          <a:spcPct val="115000"/>
                        </a:lnSpc>
                      </a:pPr>
                      <a:r>
                        <a:rPr lang="en-US" sz="2400" b="0" strike="noStrike" spc="-1">
                          <a:solidFill>
                            <a:srgbClr val="000000"/>
                          </a:solidFill>
                          <a:latin typeface="Times New Roman"/>
                          <a:ea typeface="Times New Roman"/>
                        </a:rPr>
                        <a:t>Z5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Проектирование интерфейсов пользователей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Z15</a:t>
                      </a: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dirty="0">
                          <a:solidFill>
                            <a:srgbClr val="000000"/>
                          </a:solidFill>
                          <a:latin typeface="Times New Roman"/>
                          <a:ea typeface="Times New Roman"/>
                        </a:rPr>
                        <a:t>5</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7"/>
                  </a:ext>
                </a:extLst>
              </a:tr>
            </a:tbl>
          </a:graphicData>
        </a:graphic>
      </p:graphicFrame>
    </p:spTree>
  </p:cSld>
  <p:clrMapOvr>
    <a:masterClrMapping/>
  </p:clrMapOvr>
  <p:transition spd="slow">
    <p:push dir="u"/>
  </p:transition>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presetID="10" presetClass="entr" fill="hold" nodeType="with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fade">
                                      <p:cBhvr additive="repl">
                                        <p:cTn id="7"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 name="Table 1"/>
          <p:cNvGraphicFramePr/>
          <p:nvPr>
            <p:extLst>
              <p:ext uri="{D42A27DB-BD31-4B8C-83A1-F6EECF244321}">
                <p14:modId xmlns:p14="http://schemas.microsoft.com/office/powerpoint/2010/main" val="2111874545"/>
              </p:ext>
            </p:extLst>
          </p:nvPr>
        </p:nvGraphicFramePr>
        <p:xfrm>
          <a:off x="1041400" y="1442040"/>
          <a:ext cx="10261600" cy="4005072"/>
        </p:xfrm>
        <a:graphic>
          <a:graphicData uri="http://schemas.openxmlformats.org/drawingml/2006/table">
            <a:tbl>
              <a:tblPr/>
              <a:tblGrid>
                <a:gridCol w="1346991">
                  <a:extLst>
                    <a:ext uri="{9D8B030D-6E8A-4147-A177-3AD203B41FA5}">
                      <a16:colId xmlns:a16="http://schemas.microsoft.com/office/drawing/2014/main" val="20000"/>
                    </a:ext>
                  </a:extLst>
                </a:gridCol>
                <a:gridCol w="4367471">
                  <a:extLst>
                    <a:ext uri="{9D8B030D-6E8A-4147-A177-3AD203B41FA5}">
                      <a16:colId xmlns:a16="http://schemas.microsoft.com/office/drawing/2014/main" val="20001"/>
                    </a:ext>
                  </a:extLst>
                </a:gridCol>
                <a:gridCol w="2390697">
                  <a:extLst>
                    <a:ext uri="{9D8B030D-6E8A-4147-A177-3AD203B41FA5}">
                      <a16:colId xmlns:a16="http://schemas.microsoft.com/office/drawing/2014/main" val="20002"/>
                    </a:ext>
                  </a:extLst>
                </a:gridCol>
                <a:gridCol w="2156441">
                  <a:extLst>
                    <a:ext uri="{9D8B030D-6E8A-4147-A177-3AD203B41FA5}">
                      <a16:colId xmlns:a16="http://schemas.microsoft.com/office/drawing/2014/main" val="20003"/>
                    </a:ext>
                  </a:extLst>
                </a:gridCol>
              </a:tblGrid>
              <a:tr h="501480">
                <a:tc gridSpan="4">
                  <a:txBody>
                    <a:bodyPr/>
                    <a:lstStyle/>
                    <a:p>
                      <a:pPr algn="ctr">
                        <a:lnSpc>
                          <a:spcPct val="115000"/>
                        </a:lnSpc>
                      </a:pPr>
                      <a:r>
                        <a:rPr lang="en-US" sz="2400" b="0" strike="noStrike" spc="-1">
                          <a:solidFill>
                            <a:srgbClr val="000000"/>
                          </a:solidFill>
                          <a:latin typeface="Times New Roman"/>
                          <a:ea typeface="Times New Roman"/>
                        </a:rPr>
                        <a:t>III</a:t>
                      </a:r>
                      <a:r>
                        <a:rPr lang="ru-RU" sz="2400" b="0" strike="noStrike" spc="-1">
                          <a:solidFill>
                            <a:srgbClr val="000000"/>
                          </a:solidFill>
                          <a:latin typeface="Times New Roman"/>
                          <a:ea typeface="Times New Roman"/>
                        </a:rPr>
                        <a:t>. КОДИРОВАНИЕ</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extLst>
                  <a:ext uri="{0D108BD9-81ED-4DB2-BD59-A6C34878D82A}">
                    <a16:rowId xmlns:a16="http://schemas.microsoft.com/office/drawing/2014/main" val="10000"/>
                  </a:ext>
                </a:extLst>
              </a:tr>
              <a:tr h="7750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Кодирование интерфейсов пользователей</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15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014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Кодирование процедур СУБД</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3,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15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501480">
                <a:tc>
                  <a:txBody>
                    <a:bodyPr/>
                    <a:lstStyle/>
                    <a:p>
                      <a:pPr algn="ctr">
                        <a:lnSpc>
                          <a:spcPct val="115000"/>
                        </a:lnSpc>
                      </a:pPr>
                      <a:r>
                        <a:rPr lang="en-US" sz="2400" b="0" strike="noStrike" spc="-1">
                          <a:solidFill>
                            <a:srgbClr val="000000"/>
                          </a:solidFill>
                          <a:latin typeface="Times New Roman"/>
                          <a:ea typeface="Times New Roman"/>
                        </a:rPr>
                        <a:t>Z8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Кодирование классов</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3,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30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501480">
                <a:tc gridSpan="4">
                  <a:txBody>
                    <a:bodyPr/>
                    <a:lstStyle/>
                    <a:p>
                      <a:pPr algn="ctr">
                        <a:lnSpc>
                          <a:spcPct val="115000"/>
                        </a:lnSpc>
                      </a:pPr>
                      <a:r>
                        <a:rPr lang="en-US" sz="2400" b="0" strike="noStrike" spc="-1">
                          <a:solidFill>
                            <a:srgbClr val="000000"/>
                          </a:solidFill>
                          <a:latin typeface="Times New Roman"/>
                          <a:ea typeface="Times New Roman"/>
                        </a:rPr>
                        <a:t>IV</a:t>
                      </a:r>
                      <a:r>
                        <a:rPr lang="ru-RU" sz="2400" b="0" strike="noStrike" spc="-1">
                          <a:solidFill>
                            <a:srgbClr val="000000"/>
                          </a:solidFill>
                          <a:latin typeface="Times New Roman"/>
                          <a:ea typeface="Times New Roman"/>
                        </a:rPr>
                        <a:t>. ТЕСТИРОВАНИЕ</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extLst>
                  <a:ext uri="{0D108BD9-81ED-4DB2-BD59-A6C34878D82A}">
                    <a16:rowId xmlns:a16="http://schemas.microsoft.com/office/drawing/2014/main" val="10004"/>
                  </a:ext>
                </a:extLst>
              </a:tr>
              <a:tr h="5014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Функциональное тестирование</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a:t>
                      </a:r>
                      <a:r>
                        <a:rPr lang="en-US" sz="2400" b="0" strike="noStrike" spc="-1">
                          <a:solidFill>
                            <a:srgbClr val="000000"/>
                          </a:solidFill>
                          <a:latin typeface="Times New Roman"/>
                          <a:ea typeface="Times New Roman"/>
                        </a:rPr>
                        <a:t> Z</a:t>
                      </a:r>
                      <a:r>
                        <a:rPr lang="ru-RU" sz="2400" b="0" strike="noStrike" spc="-1">
                          <a:solidFill>
                            <a:srgbClr val="000000"/>
                          </a:solidFill>
                          <a:latin typeface="Times New Roman"/>
                          <a:ea typeface="Times New Roman"/>
                        </a:rPr>
                        <a:t>8,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18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30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r h="50112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Структурное тестирование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a:t>
                      </a:r>
                      <a:r>
                        <a:rPr lang="en-US" sz="2400" b="0" strike="noStrike" spc="-1">
                          <a:solidFill>
                            <a:srgbClr val="000000"/>
                          </a:solidFill>
                          <a:latin typeface="Times New Roman"/>
                          <a:ea typeface="Times New Roman"/>
                        </a:rPr>
                        <a:t> Z</a:t>
                      </a:r>
                      <a:r>
                        <a:rPr lang="ru-RU" sz="2400" b="0" strike="noStrike" spc="-1">
                          <a:solidFill>
                            <a:srgbClr val="000000"/>
                          </a:solidFill>
                          <a:latin typeface="Times New Roman"/>
                          <a:ea typeface="Times New Roman"/>
                        </a:rPr>
                        <a:t>8,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dirty="0">
                          <a:solidFill>
                            <a:srgbClr val="000000"/>
                          </a:solidFill>
                          <a:latin typeface="Times New Roman"/>
                          <a:ea typeface="Times New Roman"/>
                        </a:rPr>
                        <a:t>25</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bl>
          </a:graphicData>
        </a:graphic>
      </p:graphicFrame>
    </p:spTree>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6" name="Table 1"/>
          <p:cNvGraphicFramePr/>
          <p:nvPr>
            <p:extLst>
              <p:ext uri="{D42A27DB-BD31-4B8C-83A1-F6EECF244321}">
                <p14:modId xmlns:p14="http://schemas.microsoft.com/office/powerpoint/2010/main" val="101667289"/>
              </p:ext>
            </p:extLst>
          </p:nvPr>
        </p:nvGraphicFramePr>
        <p:xfrm>
          <a:off x="1143000" y="925440"/>
          <a:ext cx="10058400" cy="5120640"/>
        </p:xfrm>
        <a:graphic>
          <a:graphicData uri="http://schemas.openxmlformats.org/drawingml/2006/table">
            <a:tbl>
              <a:tblPr/>
              <a:tblGrid>
                <a:gridCol w="1329074">
                  <a:extLst>
                    <a:ext uri="{9D8B030D-6E8A-4147-A177-3AD203B41FA5}">
                      <a16:colId xmlns:a16="http://schemas.microsoft.com/office/drawing/2014/main" val="20000"/>
                    </a:ext>
                  </a:extLst>
                </a:gridCol>
                <a:gridCol w="4309306">
                  <a:extLst>
                    <a:ext uri="{9D8B030D-6E8A-4147-A177-3AD203B41FA5}">
                      <a16:colId xmlns:a16="http://schemas.microsoft.com/office/drawing/2014/main" val="20001"/>
                    </a:ext>
                  </a:extLst>
                </a:gridCol>
                <a:gridCol w="2359068">
                  <a:extLst>
                    <a:ext uri="{9D8B030D-6E8A-4147-A177-3AD203B41FA5}">
                      <a16:colId xmlns:a16="http://schemas.microsoft.com/office/drawing/2014/main" val="20002"/>
                    </a:ext>
                  </a:extLst>
                </a:gridCol>
                <a:gridCol w="2060952">
                  <a:extLst>
                    <a:ext uri="{9D8B030D-6E8A-4147-A177-3AD203B41FA5}">
                      <a16:colId xmlns:a16="http://schemas.microsoft.com/office/drawing/2014/main" val="20003"/>
                    </a:ext>
                  </a:extLst>
                </a:gridCol>
              </a:tblGrid>
              <a:tr h="416880">
                <a:tc gridSpan="4">
                  <a:txBody>
                    <a:bodyPr/>
                    <a:lstStyle/>
                    <a:p>
                      <a:pPr algn="ctr">
                        <a:lnSpc>
                          <a:spcPct val="115000"/>
                        </a:lnSpc>
                      </a:pPr>
                      <a:r>
                        <a:rPr lang="en-US" sz="2400" b="0" strike="noStrike" spc="-1">
                          <a:solidFill>
                            <a:srgbClr val="000000"/>
                          </a:solidFill>
                          <a:latin typeface="Times New Roman"/>
                          <a:ea typeface="Times New Roman"/>
                        </a:rPr>
                        <a:t>V</a:t>
                      </a:r>
                      <a:r>
                        <a:rPr lang="ru-RU" sz="2400" b="0" strike="noStrike" spc="-1">
                          <a:solidFill>
                            <a:srgbClr val="000000"/>
                          </a:solidFill>
                          <a:latin typeface="Times New Roman"/>
                          <a:ea typeface="Times New Roman"/>
                        </a:rPr>
                        <a:t>. ВНЕДРЕНИЕ</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extLst>
                  <a:ext uri="{0D108BD9-81ED-4DB2-BD59-A6C34878D82A}">
                    <a16:rowId xmlns:a16="http://schemas.microsoft.com/office/drawing/2014/main" val="10000"/>
                  </a:ext>
                </a:extLst>
              </a:tr>
              <a:tr h="4168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Разработка документации</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8,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10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4168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Обучение пользователей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20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4168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Испытание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10,</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11</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60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4168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Завершение работ</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4"/>
                  </a:ext>
                </a:extLst>
              </a:tr>
              <a:tr h="416880">
                <a:tc gridSpan="4">
                  <a:txBody>
                    <a:bodyPr/>
                    <a:lstStyle/>
                    <a:p>
                      <a:pPr algn="ctr">
                        <a:lnSpc>
                          <a:spcPct val="115000"/>
                        </a:lnSpc>
                      </a:pPr>
                      <a:r>
                        <a:rPr lang="en-US" sz="2400" b="0" strike="noStrike" spc="-1">
                          <a:solidFill>
                            <a:srgbClr val="000000"/>
                          </a:solidFill>
                          <a:latin typeface="Times New Roman"/>
                          <a:ea typeface="Times New Roman"/>
                        </a:rPr>
                        <a:t>VI</a:t>
                      </a:r>
                      <a:r>
                        <a:rPr lang="ru-RU" sz="2400" b="0" strike="noStrike" spc="-1">
                          <a:solidFill>
                            <a:srgbClr val="000000"/>
                          </a:solidFill>
                          <a:latin typeface="Times New Roman"/>
                          <a:ea typeface="Times New Roman"/>
                        </a:rPr>
                        <a:t>. ДОПОЛНИТЕЛЬНЫЕ РАБОТЫ</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tc hMerge="1">
                  <a:txBody>
                    <a:bodyPr/>
                    <a:lstStyle/>
                    <a:p>
                      <a:endParaRPr lang="ru-RU"/>
                    </a:p>
                  </a:txBody>
                  <a:tcPr marL="90000" marR="90000">
                    <a:solidFill>
                      <a:srgbClr val="729FCF"/>
                    </a:solidFill>
                  </a:tcPr>
                </a:tc>
                <a:extLst>
                  <a:ext uri="{0D108BD9-81ED-4DB2-BD59-A6C34878D82A}">
                    <a16:rowId xmlns:a16="http://schemas.microsoft.com/office/drawing/2014/main" val="10005"/>
                  </a:ext>
                </a:extLst>
              </a:tr>
              <a:tr h="4168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Установка СУБД</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r h="4168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16</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Установка </a:t>
                      </a:r>
                      <a:r>
                        <a:rPr lang="en-US" sz="2400" b="0" strike="noStrike" spc="-1">
                          <a:solidFill>
                            <a:srgbClr val="000000"/>
                          </a:solidFill>
                          <a:latin typeface="Times New Roman"/>
                          <a:ea typeface="Times New Roman"/>
                        </a:rPr>
                        <a:t>web</a:t>
                      </a:r>
                      <a:r>
                        <a:rPr lang="ru-RU" sz="2400" b="0" strike="noStrike" spc="-1">
                          <a:solidFill>
                            <a:srgbClr val="000000"/>
                          </a:solidFill>
                          <a:latin typeface="Times New Roman"/>
                          <a:ea typeface="Times New Roman"/>
                        </a:rPr>
                        <a:t>-сервера</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7"/>
                  </a:ext>
                </a:extLst>
              </a:tr>
              <a:tr h="41688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Установка инструментария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8"/>
                  </a:ext>
                </a:extLst>
              </a:tr>
              <a:tr h="419040">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Подготовка полигона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dirty="0">
                          <a:solidFill>
                            <a:srgbClr val="000000"/>
                          </a:solidFill>
                          <a:latin typeface="Times New Roman"/>
                          <a:ea typeface="Times New Roman"/>
                        </a:rPr>
                        <a:t>4</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9"/>
                  </a:ext>
                </a:extLst>
              </a:tr>
            </a:tbl>
          </a:graphicData>
        </a:graphic>
      </p:graphicFrame>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454321" y="116062"/>
            <a:ext cx="11355355" cy="119887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spcBef>
                <a:spcPts val="1199"/>
              </a:spcBef>
              <a:spcAft>
                <a:spcPts val="300"/>
              </a:spcAft>
            </a:pPr>
            <a:r>
              <a:rPr lang="ru-RU" sz="3600" b="1" spc="-1" dirty="0">
                <a:solidFill>
                  <a:srgbClr val="00B0F0"/>
                </a:solidFill>
              </a:rPr>
              <a:t>Комплекс операций проекта разработки </a:t>
            </a:r>
            <a:r>
              <a:rPr lang="ru-RU" sz="3600" b="1" spc="-1" dirty="0" err="1">
                <a:solidFill>
                  <a:srgbClr val="00B0F0"/>
                </a:solidFill>
              </a:rPr>
              <a:t>web</a:t>
            </a:r>
            <a:r>
              <a:rPr lang="ru-RU" sz="3600" b="1" spc="-1" dirty="0">
                <a:solidFill>
                  <a:srgbClr val="00B0F0"/>
                </a:solidFill>
              </a:rPr>
              <a:t>-приложения WSP</a:t>
            </a:r>
            <a:endParaRPr lang="ru-RU" sz="3600" spc="-1" dirty="0">
              <a:solidFill>
                <a:srgbClr val="00B0F0"/>
              </a:solidFill>
            </a:endParaRPr>
          </a:p>
        </p:txBody>
      </p:sp>
      <p:sp>
        <p:nvSpPr>
          <p:cNvPr id="120" name="CustomShape 2"/>
          <p:cNvSpPr/>
          <p:nvPr/>
        </p:nvSpPr>
        <p:spPr>
          <a:xfrm>
            <a:off x="545430" y="1314937"/>
            <a:ext cx="11192249" cy="526152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ru-RU" sz="2800" dirty="0">
                <a:latin typeface="Times New Roman" panose="02020603050405020304" pitchFamily="18" charset="0"/>
                <a:ea typeface="Times New Roman" panose="02020603050405020304" pitchFamily="18" charset="0"/>
              </a:rPr>
              <a:t>Все работы проекта в приведенном примере разбиты на 6 групп. Каждой операции присвоен код, указаны продолжительности их выполнения и список предшествующих операций. Проанализировав приведенный в таблице комплекс операций, не сложно выявить следующее: </a:t>
            </a:r>
            <a:endParaRPr lang="ru-RU" sz="2400" dirty="0">
              <a:latin typeface="Times New Roman" panose="02020603050405020304" pitchFamily="18" charset="0"/>
              <a:ea typeface="Times New Roman" panose="02020603050405020304" pitchFamily="18" charset="0"/>
            </a:endParaRPr>
          </a:p>
          <a:p>
            <a:pPr marL="800100" lvl="1" indent="-342900" algn="just">
              <a:buFont typeface="+mj-lt"/>
              <a:buAutoNum type="arabicParenR"/>
            </a:pPr>
            <a:r>
              <a:rPr lang="ru-RU" sz="2800" dirty="0">
                <a:latin typeface="Times New Roman" panose="02020603050405020304" pitchFamily="18" charset="0"/>
                <a:ea typeface="Times New Roman" panose="02020603050405020304" pitchFamily="18" charset="0"/>
              </a:rPr>
              <a:t>у операции Z1 нет предшествующих операций; </a:t>
            </a:r>
            <a:endParaRPr lang="ru-RU" sz="2400" dirty="0">
              <a:latin typeface="Times New Roman" panose="02020603050405020304" pitchFamily="18" charset="0"/>
              <a:ea typeface="Times New Roman" panose="02020603050405020304" pitchFamily="18" charset="0"/>
            </a:endParaRPr>
          </a:p>
          <a:p>
            <a:pPr marL="800100" lvl="1" indent="-342900" algn="just">
              <a:buFont typeface="+mj-lt"/>
              <a:buAutoNum type="arabicParenR"/>
            </a:pPr>
            <a:r>
              <a:rPr lang="ru-RU" sz="2800" dirty="0">
                <a:latin typeface="Times New Roman" panose="02020603050405020304" pitchFamily="18" charset="0"/>
                <a:ea typeface="Times New Roman" panose="02020603050405020304" pitchFamily="18" charset="0"/>
              </a:rPr>
              <a:t>у операции Z14 нет последующих операций;</a:t>
            </a:r>
            <a:endParaRPr lang="ru-RU" sz="2400" dirty="0">
              <a:latin typeface="Times New Roman" panose="02020603050405020304" pitchFamily="18" charset="0"/>
              <a:ea typeface="Times New Roman" panose="02020603050405020304" pitchFamily="18" charset="0"/>
            </a:endParaRPr>
          </a:p>
          <a:p>
            <a:pPr marL="800100" lvl="1" indent="-342900" algn="just">
              <a:buFont typeface="+mj-lt"/>
              <a:buAutoNum type="arabicParenR"/>
            </a:pPr>
            <a:r>
              <a:rPr lang="ru-RU" sz="2800" dirty="0">
                <a:latin typeface="Times New Roman" panose="02020603050405020304" pitchFamily="18" charset="0"/>
                <a:ea typeface="Times New Roman" panose="02020603050405020304" pitchFamily="18" charset="0"/>
              </a:rPr>
              <a:t>все операции кроме  Z5, Z12, Z13 и Z14</a:t>
            </a:r>
            <a:r>
              <a:rPr lang="ru-RU" sz="2800" dirty="0">
                <a:solidFill>
                  <a:srgbClr val="FF0000"/>
                </a:solidFill>
                <a:latin typeface="Times New Roman" panose="02020603050405020304" pitchFamily="18" charset="0"/>
                <a:ea typeface="Times New Roman" panose="02020603050405020304" pitchFamily="18" charset="0"/>
              </a:rPr>
              <a:t> </a:t>
            </a:r>
            <a:r>
              <a:rPr lang="ru-RU" sz="2800" dirty="0">
                <a:latin typeface="Times New Roman" panose="02020603050405020304" pitchFamily="18" charset="0"/>
                <a:ea typeface="Times New Roman" panose="02020603050405020304" pitchFamily="18" charset="0"/>
              </a:rPr>
              <a:t>предшествуют нескольким операциям. </a:t>
            </a:r>
            <a:endParaRPr lang="ru-RU" sz="2400" dirty="0">
              <a:latin typeface="Times New Roman" panose="02020603050405020304" pitchFamily="18" charset="0"/>
              <a:ea typeface="Times New Roman" panose="02020603050405020304" pitchFamily="18" charset="0"/>
            </a:endParaRPr>
          </a:p>
          <a:p>
            <a:pPr indent="323850" algn="just">
              <a:spcAft>
                <a:spcPts val="0"/>
              </a:spcAft>
            </a:pPr>
            <a:r>
              <a:rPr lang="ru-RU" sz="2800" dirty="0">
                <a:latin typeface="Times New Roman" panose="02020603050405020304" pitchFamily="18" charset="0"/>
                <a:ea typeface="Times New Roman" panose="02020603050405020304" pitchFamily="18" charset="0"/>
              </a:rPr>
              <a:t>В соответствии с определением начальное событие операции Z1 является исходным, а завершающее событие операции Z14 – завершающим событием комплекса операций. </a:t>
            </a:r>
            <a:endParaRPr lang="ru-RU" sz="2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29658185"/>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a:off x="1658539" y="-15796"/>
            <a:ext cx="9018559" cy="1107996"/>
          </a:xfrm>
          <a:prstGeom prst="rect">
            <a:avLst/>
          </a:prstGeom>
          <a:noFill/>
          <a:ln>
            <a:noFill/>
          </a:ln>
        </p:spPr>
        <p:style>
          <a:lnRef idx="0">
            <a:scrgbClr r="0" g="0" b="0"/>
          </a:lnRef>
          <a:fillRef idx="0">
            <a:scrgbClr r="0" g="0" b="0"/>
          </a:fillRef>
          <a:effectRef idx="0">
            <a:scrgbClr r="0" g="0" b="0"/>
          </a:effectRef>
          <a:fontRef idx="minor"/>
        </p:style>
        <p:txBody>
          <a:bodyPr wrap="none" lIns="0" tIns="0" rIns="0" bIns="0">
            <a:spAutoFit/>
          </a:bodyPr>
          <a:lstStyle/>
          <a:p>
            <a:pPr algn="ctr">
              <a:spcBef>
                <a:spcPts val="1199"/>
              </a:spcBef>
              <a:spcAft>
                <a:spcPts val="300"/>
              </a:spcAft>
            </a:pPr>
            <a:r>
              <a:rPr lang="ru-RU" sz="3600" b="1" spc="-1" dirty="0">
                <a:solidFill>
                  <a:srgbClr val="00B0F0"/>
                </a:solidFill>
              </a:rPr>
              <a:t>Нумерация событий комплекса операций </a:t>
            </a:r>
            <a:r>
              <a:rPr dirty="0">
                <a:solidFill>
                  <a:srgbClr val="00B0F0"/>
                </a:solidFill>
              </a:rPr>
              <a:t/>
            </a:r>
            <a:br>
              <a:rPr dirty="0">
                <a:solidFill>
                  <a:srgbClr val="00B0F0"/>
                </a:solidFill>
              </a:rPr>
            </a:br>
            <a:r>
              <a:rPr lang="ru-RU" sz="3600" b="1" spc="-1" dirty="0">
                <a:solidFill>
                  <a:srgbClr val="00B0F0"/>
                </a:solidFill>
              </a:rPr>
              <a:t>проекта WSP</a:t>
            </a:r>
            <a:endParaRPr lang="ru-RU" sz="3600" b="1" spc="-1" dirty="0">
              <a:solidFill>
                <a:srgbClr val="00B0F0"/>
              </a:solidFill>
              <a:ea typeface="Microsoft YaHei"/>
            </a:endParaRPr>
          </a:p>
        </p:txBody>
      </p:sp>
      <p:graphicFrame>
        <p:nvGraphicFramePr>
          <p:cNvPr id="158" name="Table 2"/>
          <p:cNvGraphicFramePr/>
          <p:nvPr>
            <p:extLst>
              <p:ext uri="{D42A27DB-BD31-4B8C-83A1-F6EECF244321}">
                <p14:modId xmlns:p14="http://schemas.microsoft.com/office/powerpoint/2010/main" val="48329942"/>
              </p:ext>
            </p:extLst>
          </p:nvPr>
        </p:nvGraphicFramePr>
        <p:xfrm>
          <a:off x="744919" y="1092200"/>
          <a:ext cx="10845801" cy="5565199"/>
        </p:xfrm>
        <a:graphic>
          <a:graphicData uri="http://schemas.openxmlformats.org/drawingml/2006/table">
            <a:tbl>
              <a:tblPr/>
              <a:tblGrid>
                <a:gridCol w="2036485">
                  <a:extLst>
                    <a:ext uri="{9D8B030D-6E8A-4147-A177-3AD203B41FA5}">
                      <a16:colId xmlns:a16="http://schemas.microsoft.com/office/drawing/2014/main" val="20000"/>
                    </a:ext>
                  </a:extLst>
                </a:gridCol>
                <a:gridCol w="2596223">
                  <a:extLst>
                    <a:ext uri="{9D8B030D-6E8A-4147-A177-3AD203B41FA5}">
                      <a16:colId xmlns:a16="http://schemas.microsoft.com/office/drawing/2014/main" val="20001"/>
                    </a:ext>
                  </a:extLst>
                </a:gridCol>
                <a:gridCol w="3446762">
                  <a:extLst>
                    <a:ext uri="{9D8B030D-6E8A-4147-A177-3AD203B41FA5}">
                      <a16:colId xmlns:a16="http://schemas.microsoft.com/office/drawing/2014/main" val="20002"/>
                    </a:ext>
                  </a:extLst>
                </a:gridCol>
                <a:gridCol w="2766331">
                  <a:extLst>
                    <a:ext uri="{9D8B030D-6E8A-4147-A177-3AD203B41FA5}">
                      <a16:colId xmlns:a16="http://schemas.microsoft.com/office/drawing/2014/main" val="20003"/>
                    </a:ext>
                  </a:extLst>
                </a:gridCol>
              </a:tblGrid>
              <a:tr h="956623">
                <a:tc>
                  <a:txBody>
                    <a:bodyPr/>
                    <a:lstStyle/>
                    <a:p>
                      <a:pPr algn="ctr">
                        <a:lnSpc>
                          <a:spcPct val="115000"/>
                        </a:lnSpc>
                      </a:pPr>
                      <a:r>
                        <a:rPr lang="ru-RU" sz="2400" b="0" strike="noStrike" spc="-1">
                          <a:solidFill>
                            <a:srgbClr val="000000"/>
                          </a:solidFill>
                          <a:latin typeface="Times New Roman"/>
                          <a:ea typeface="Times New Roman"/>
                        </a:rPr>
                        <a:t>Начальное </a:t>
                      </a:r>
                      <a:endParaRPr lang="ru-RU" sz="2400" b="0" strike="noStrike" spc="-1">
                        <a:latin typeface="Arial"/>
                      </a:endParaRPr>
                    </a:p>
                    <a:p>
                      <a:pPr algn="ctr">
                        <a:lnSpc>
                          <a:spcPct val="115000"/>
                        </a:lnSpc>
                      </a:pPr>
                      <a:r>
                        <a:rPr lang="ru-RU" sz="2400" b="0" strike="noStrike" spc="-1">
                          <a:solidFill>
                            <a:srgbClr val="000000"/>
                          </a:solidFill>
                          <a:latin typeface="Times New Roman"/>
                          <a:ea typeface="Times New Roman"/>
                        </a:rPr>
                        <a:t>событие</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Код</a:t>
                      </a:r>
                      <a:endParaRPr lang="ru-RU" sz="2400" b="0" strike="noStrike" spc="-1">
                        <a:latin typeface="Arial"/>
                      </a:endParaRPr>
                    </a:p>
                    <a:p>
                      <a:pPr algn="ctr">
                        <a:lnSpc>
                          <a:spcPct val="115000"/>
                        </a:lnSpc>
                      </a:pPr>
                      <a:r>
                        <a:rPr lang="ru-RU" sz="2400" b="0" strike="noStrike" spc="-1">
                          <a:solidFill>
                            <a:srgbClr val="000000"/>
                          </a:solidFill>
                          <a:latin typeface="Times New Roman"/>
                          <a:ea typeface="Times New Roman"/>
                        </a:rPr>
                        <a:t>операции</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dirty="0">
                          <a:solidFill>
                            <a:srgbClr val="000000"/>
                          </a:solidFill>
                          <a:latin typeface="Times New Roman"/>
                          <a:ea typeface="Times New Roman"/>
                        </a:rPr>
                        <a:t>Предшествующие </a:t>
                      </a:r>
                      <a:endParaRPr lang="ru-RU" sz="2400" b="0" strike="noStrike" spc="-1" dirty="0">
                        <a:latin typeface="Arial"/>
                      </a:endParaRPr>
                    </a:p>
                    <a:p>
                      <a:pPr algn="ctr">
                        <a:lnSpc>
                          <a:spcPct val="115000"/>
                        </a:lnSpc>
                      </a:pPr>
                      <a:r>
                        <a:rPr lang="ru-RU" sz="2400" b="0" strike="noStrike" spc="-1" dirty="0">
                          <a:solidFill>
                            <a:srgbClr val="000000"/>
                          </a:solidFill>
                          <a:latin typeface="Times New Roman"/>
                          <a:ea typeface="Times New Roman"/>
                        </a:rPr>
                        <a:t>операции</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Конечное событие</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502214">
                <a:tc>
                  <a:txBody>
                    <a:bodyPr/>
                    <a:lstStyle/>
                    <a:p>
                      <a:pPr algn="ctr">
                        <a:lnSpc>
                          <a:spcPct val="115000"/>
                        </a:lnSpc>
                      </a:pPr>
                      <a:r>
                        <a:rPr lang="ru-RU" sz="2400" b="0" strike="noStrike" spc="-1">
                          <a:solidFill>
                            <a:srgbClr val="000000"/>
                          </a:solidFill>
                          <a:latin typeface="Times New Roman"/>
                          <a:ea typeface="Times New Roman"/>
                        </a:rPr>
                        <a:t>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02214">
                <a:tc>
                  <a:txBody>
                    <a:bodyPr/>
                    <a:lstStyle/>
                    <a:p>
                      <a:pPr algn="ctr">
                        <a:lnSpc>
                          <a:spcPct val="115000"/>
                        </a:lnSpc>
                      </a:pPr>
                      <a:r>
                        <a:rPr lang="ru-RU" sz="2400" b="0" strike="noStrike" spc="-1">
                          <a:solidFill>
                            <a:srgbClr val="000000"/>
                          </a:solidFill>
                          <a:latin typeface="Times New Roman"/>
                          <a:ea typeface="Times New Roman"/>
                        </a:rPr>
                        <a:t>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ru-RU" sz="2400" b="0" strike="noStrike" spc="-1">
                          <a:solidFill>
                            <a:srgbClr val="000000"/>
                          </a:solidFill>
                          <a:latin typeface="Times New Roman"/>
                          <a:ea typeface="Times New Roman"/>
                        </a:rPr>
                        <a:t>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502214">
                <a:tc>
                  <a:txBody>
                    <a:bodyPr/>
                    <a:lstStyle/>
                    <a:p>
                      <a:pPr algn="ctr">
                        <a:lnSpc>
                          <a:spcPct val="115000"/>
                        </a:lnSpc>
                      </a:pPr>
                      <a:r>
                        <a:rPr lang="ru-RU" sz="2400" b="0" strike="noStrike" spc="-1">
                          <a:solidFill>
                            <a:srgbClr val="000000"/>
                          </a:solidFill>
                          <a:latin typeface="Times New Roman"/>
                          <a:ea typeface="Times New Roman"/>
                        </a:rPr>
                        <a:t>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2,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dirty="0">
                          <a:solidFill>
                            <a:srgbClr val="000000"/>
                          </a:solidFill>
                          <a:latin typeface="Times New Roman"/>
                          <a:ea typeface="Times New Roman"/>
                        </a:rPr>
                        <a:t>5</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502214">
                <a:tc>
                  <a:txBody>
                    <a:bodyPr/>
                    <a:lstStyle/>
                    <a:p>
                      <a:pPr algn="ctr">
                        <a:lnSpc>
                          <a:spcPct val="115000"/>
                        </a:lnSpc>
                      </a:pPr>
                      <a:r>
                        <a:rPr lang="en-US" sz="2400" b="0" strike="noStrike" spc="-1">
                          <a:solidFill>
                            <a:srgbClr val="000000"/>
                          </a:solidFill>
                          <a:latin typeface="Times New Roman"/>
                          <a:ea typeface="Times New Roman"/>
                        </a:rPr>
                        <a:t>6</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Z2</a:t>
                      </a:r>
                      <a:r>
                        <a:rPr lang="ru-RU" sz="2400" b="0" strike="noStrike" spc="-1">
                          <a:solidFill>
                            <a:srgbClr val="000000"/>
                          </a:solidFill>
                          <a:latin typeface="Times New Roman"/>
                          <a:ea typeface="Times New Roman"/>
                        </a:rPr>
                        <a:t>,</a:t>
                      </a:r>
                      <a:r>
                        <a:rPr lang="en-US" sz="2400" b="0" strike="noStrike" spc="-1">
                          <a:solidFill>
                            <a:srgbClr val="000000"/>
                          </a:solidFill>
                          <a:latin typeface="Times New Roman"/>
                          <a:ea typeface="Times New Roman"/>
                        </a:rPr>
                        <a:t> Z17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4"/>
                  </a:ext>
                </a:extLst>
              </a:tr>
              <a:tr h="502214">
                <a:tc>
                  <a:txBody>
                    <a:bodyPr/>
                    <a:lstStyle/>
                    <a:p>
                      <a:pPr algn="ctr">
                        <a:lnSpc>
                          <a:spcPct val="115000"/>
                        </a:lnSpc>
                      </a:pPr>
                      <a:r>
                        <a:rPr lang="en-US" sz="2400" b="0" strike="noStrike" spc="-1">
                          <a:solidFill>
                            <a:srgbClr val="000000"/>
                          </a:solidFill>
                          <a:latin typeface="Times New Roman"/>
                          <a:ea typeface="Times New Roman"/>
                        </a:rPr>
                        <a:t>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Z15</a:t>
                      </a: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9</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r h="502214">
                <a:tc>
                  <a:txBody>
                    <a:bodyPr/>
                    <a:lstStyle/>
                    <a:p>
                      <a:pPr algn="ctr">
                        <a:lnSpc>
                          <a:spcPct val="115000"/>
                        </a:lnSpc>
                      </a:pPr>
                      <a:r>
                        <a:rPr lang="en-US" sz="2400" b="0" strike="noStrike" spc="-1">
                          <a:solidFill>
                            <a:srgbClr val="000000"/>
                          </a:solidFill>
                          <a:latin typeface="Times New Roman"/>
                          <a:ea typeface="Times New Roman"/>
                        </a:rPr>
                        <a:t>10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11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r h="502214">
                <a:tc>
                  <a:txBody>
                    <a:bodyPr/>
                    <a:lstStyle/>
                    <a:p>
                      <a:pPr algn="ctr">
                        <a:lnSpc>
                          <a:spcPct val="115000"/>
                        </a:lnSpc>
                      </a:pPr>
                      <a:r>
                        <a:rPr lang="ru-RU" sz="2400" b="0" strike="noStrike" spc="-1">
                          <a:solidFill>
                            <a:srgbClr val="000000"/>
                          </a:solidFill>
                          <a:latin typeface="Times New Roman"/>
                          <a:ea typeface="Times New Roman"/>
                        </a:rPr>
                        <a:t>1</a:t>
                      </a:r>
                      <a:r>
                        <a:rPr lang="en-US" sz="2400" b="0" strike="noStrike" spc="-1">
                          <a:solidFill>
                            <a:srgbClr val="000000"/>
                          </a:solidFill>
                          <a:latin typeface="Times New Roman"/>
                          <a:ea typeface="Times New Roman"/>
                        </a:rPr>
                        <a:t>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3,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13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7"/>
                  </a:ext>
                </a:extLst>
              </a:tr>
              <a:tr h="502214">
                <a:tc>
                  <a:txBody>
                    <a:bodyPr/>
                    <a:lstStyle/>
                    <a:p>
                      <a:pPr algn="ctr">
                        <a:lnSpc>
                          <a:spcPct val="115000"/>
                        </a:lnSpc>
                      </a:pPr>
                      <a:r>
                        <a:rPr lang="ru-RU" sz="2400" b="0" strike="noStrike" spc="-1">
                          <a:solidFill>
                            <a:srgbClr val="000000"/>
                          </a:solidFill>
                          <a:latin typeface="Times New Roman"/>
                          <a:ea typeface="Times New Roman"/>
                        </a:rPr>
                        <a:t>1</a:t>
                      </a:r>
                      <a:r>
                        <a:rPr lang="en-US" sz="2400" b="0" strike="noStrike" spc="-1">
                          <a:solidFill>
                            <a:srgbClr val="000000"/>
                          </a:solidFill>
                          <a:latin typeface="Times New Roman"/>
                          <a:ea typeface="Times New Roman"/>
                        </a:rPr>
                        <a:t>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en-US" sz="2400" b="0" strike="noStrike" spc="-1">
                          <a:solidFill>
                            <a:srgbClr val="000000"/>
                          </a:solidFill>
                          <a:latin typeface="Times New Roman"/>
                          <a:ea typeface="Times New Roman"/>
                        </a:rPr>
                        <a:t> Z</a:t>
                      </a:r>
                      <a:r>
                        <a:rPr lang="ru-RU" sz="2400" b="0" strike="noStrike" spc="-1">
                          <a:solidFill>
                            <a:srgbClr val="000000"/>
                          </a:solidFill>
                          <a:latin typeface="Times New Roman"/>
                          <a:ea typeface="Times New Roman"/>
                        </a:rPr>
                        <a:t>3,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4,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15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8"/>
                  </a:ext>
                </a:extLst>
              </a:tr>
              <a:tr h="502214">
                <a:tc>
                  <a:txBody>
                    <a:bodyPr/>
                    <a:lstStyle/>
                    <a:p>
                      <a:pPr algn="ctr">
                        <a:lnSpc>
                          <a:spcPct val="115000"/>
                        </a:lnSpc>
                      </a:pPr>
                      <a:r>
                        <a:rPr lang="ru-RU" sz="2400" b="0" strike="noStrike" spc="-1">
                          <a:solidFill>
                            <a:srgbClr val="000000"/>
                          </a:solidFill>
                          <a:latin typeface="Times New Roman"/>
                          <a:ea typeface="Times New Roman"/>
                        </a:rPr>
                        <a:t>1</a:t>
                      </a:r>
                      <a:r>
                        <a:rPr lang="en-US" sz="2400" b="0" strike="noStrike" spc="-1">
                          <a:solidFill>
                            <a:srgbClr val="000000"/>
                          </a:solidFill>
                          <a:latin typeface="Times New Roman"/>
                          <a:ea typeface="Times New Roman"/>
                        </a:rPr>
                        <a:t>6</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a:t>
                      </a:r>
                      <a:r>
                        <a:rPr lang="en-US" sz="2400" b="0" strike="noStrike" spc="-1">
                          <a:solidFill>
                            <a:srgbClr val="000000"/>
                          </a:solidFill>
                          <a:latin typeface="Times New Roman"/>
                          <a:ea typeface="Times New Roman"/>
                        </a:rPr>
                        <a:t> Z</a:t>
                      </a:r>
                      <a:r>
                        <a:rPr lang="ru-RU" sz="2400" b="0" strike="noStrike" spc="-1">
                          <a:solidFill>
                            <a:srgbClr val="000000"/>
                          </a:solidFill>
                          <a:latin typeface="Times New Roman"/>
                          <a:ea typeface="Times New Roman"/>
                        </a:rPr>
                        <a:t>8,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dirty="0">
                          <a:solidFill>
                            <a:srgbClr val="000000"/>
                          </a:solidFill>
                          <a:latin typeface="Times New Roman"/>
                          <a:ea typeface="Times New Roman"/>
                        </a:rPr>
                        <a:t>17</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9"/>
                  </a:ext>
                </a:extLst>
              </a:tr>
            </a:tbl>
          </a:graphicData>
        </a:graphic>
      </p:graphicFrame>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 name="Table 1"/>
          <p:cNvGraphicFramePr/>
          <p:nvPr>
            <p:extLst>
              <p:ext uri="{D42A27DB-BD31-4B8C-83A1-F6EECF244321}">
                <p14:modId xmlns:p14="http://schemas.microsoft.com/office/powerpoint/2010/main" val="3358236587"/>
              </p:ext>
            </p:extLst>
          </p:nvPr>
        </p:nvGraphicFramePr>
        <p:xfrm>
          <a:off x="1479240" y="1206497"/>
          <a:ext cx="9557060" cy="4757688"/>
        </p:xfrm>
        <a:graphic>
          <a:graphicData uri="http://schemas.openxmlformats.org/drawingml/2006/table">
            <a:tbl>
              <a:tblPr/>
              <a:tblGrid>
                <a:gridCol w="1794502">
                  <a:extLst>
                    <a:ext uri="{9D8B030D-6E8A-4147-A177-3AD203B41FA5}">
                      <a16:colId xmlns:a16="http://schemas.microsoft.com/office/drawing/2014/main" val="20000"/>
                    </a:ext>
                  </a:extLst>
                </a:gridCol>
                <a:gridCol w="2287729">
                  <a:extLst>
                    <a:ext uri="{9D8B030D-6E8A-4147-A177-3AD203B41FA5}">
                      <a16:colId xmlns:a16="http://schemas.microsoft.com/office/drawing/2014/main" val="20001"/>
                    </a:ext>
                  </a:extLst>
                </a:gridCol>
                <a:gridCol w="3037205">
                  <a:extLst>
                    <a:ext uri="{9D8B030D-6E8A-4147-A177-3AD203B41FA5}">
                      <a16:colId xmlns:a16="http://schemas.microsoft.com/office/drawing/2014/main" val="20002"/>
                    </a:ext>
                  </a:extLst>
                </a:gridCol>
                <a:gridCol w="2437624">
                  <a:extLst>
                    <a:ext uri="{9D8B030D-6E8A-4147-A177-3AD203B41FA5}">
                      <a16:colId xmlns:a16="http://schemas.microsoft.com/office/drawing/2014/main" val="20003"/>
                    </a:ext>
                  </a:extLst>
                </a:gridCol>
              </a:tblGrid>
              <a:tr h="528632">
                <a:tc>
                  <a:txBody>
                    <a:bodyPr/>
                    <a:lstStyle/>
                    <a:p>
                      <a:pPr algn="ctr">
                        <a:lnSpc>
                          <a:spcPct val="115000"/>
                        </a:lnSpc>
                      </a:pPr>
                      <a:r>
                        <a:rPr lang="ru-RU" sz="2400" b="0" strike="noStrike" spc="-1">
                          <a:solidFill>
                            <a:srgbClr val="000000"/>
                          </a:solidFill>
                          <a:latin typeface="Times New Roman"/>
                          <a:ea typeface="Times New Roman"/>
                        </a:rPr>
                        <a:t>1</a:t>
                      </a:r>
                      <a:r>
                        <a:rPr lang="en-US" sz="2400" b="0" strike="noStrike" spc="-1">
                          <a:solidFill>
                            <a:srgbClr val="000000"/>
                          </a:solidFill>
                          <a:latin typeface="Times New Roman"/>
                          <a:ea typeface="Times New Roman"/>
                        </a:rPr>
                        <a:t>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a:t>
                      </a:r>
                      <a:r>
                        <a:rPr lang="en-US" sz="2400" b="0" strike="noStrike" spc="-1">
                          <a:solidFill>
                            <a:srgbClr val="000000"/>
                          </a:solidFill>
                          <a:latin typeface="Times New Roman"/>
                          <a:ea typeface="Times New Roman"/>
                        </a:rPr>
                        <a:t> Z</a:t>
                      </a:r>
                      <a:r>
                        <a:rPr lang="ru-RU" sz="2400" b="0" strike="noStrike" spc="-1">
                          <a:solidFill>
                            <a:srgbClr val="000000"/>
                          </a:solidFill>
                          <a:latin typeface="Times New Roman"/>
                          <a:ea typeface="Times New Roman"/>
                        </a:rPr>
                        <a:t>8,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19</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0"/>
                  </a:ext>
                </a:extLst>
              </a:tr>
              <a:tr h="528632">
                <a:tc>
                  <a:txBody>
                    <a:bodyPr/>
                    <a:lstStyle/>
                    <a:p>
                      <a:pPr algn="ctr">
                        <a:lnSpc>
                          <a:spcPct val="115000"/>
                        </a:lnSpc>
                      </a:pPr>
                      <a:r>
                        <a:rPr lang="en-US" sz="2400" b="0" strike="noStrike" spc="-1">
                          <a:solidFill>
                            <a:srgbClr val="000000"/>
                          </a:solidFill>
                          <a:latin typeface="Times New Roman"/>
                          <a:ea typeface="Times New Roman"/>
                        </a:rPr>
                        <a:t>20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6,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7,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8,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21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1"/>
                  </a:ext>
                </a:extLst>
              </a:tr>
              <a:tr h="528632">
                <a:tc>
                  <a:txBody>
                    <a:bodyPr/>
                    <a:lstStyle/>
                    <a:p>
                      <a:pPr algn="ctr">
                        <a:lnSpc>
                          <a:spcPct val="115000"/>
                        </a:lnSpc>
                      </a:pPr>
                      <a:r>
                        <a:rPr lang="ru-RU" sz="2400" b="0" strike="noStrike" spc="-1">
                          <a:solidFill>
                            <a:srgbClr val="000000"/>
                          </a:solidFill>
                          <a:latin typeface="Times New Roman"/>
                          <a:ea typeface="Times New Roman"/>
                        </a:rPr>
                        <a:t>22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23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2"/>
                  </a:ext>
                </a:extLst>
              </a:tr>
              <a:tr h="528632">
                <a:tc>
                  <a:txBody>
                    <a:bodyPr/>
                    <a:lstStyle/>
                    <a:p>
                      <a:pPr algn="ctr">
                        <a:lnSpc>
                          <a:spcPct val="115000"/>
                        </a:lnSpc>
                      </a:pPr>
                      <a:r>
                        <a:rPr lang="ru-RU" sz="2400" b="0" strike="noStrike" spc="-1">
                          <a:solidFill>
                            <a:srgbClr val="000000"/>
                          </a:solidFill>
                          <a:latin typeface="Times New Roman"/>
                          <a:ea typeface="Times New Roman"/>
                        </a:rPr>
                        <a:t>2</a:t>
                      </a:r>
                      <a:r>
                        <a:rPr lang="en-US" sz="2400" b="0" strike="noStrike" spc="-1">
                          <a:solidFill>
                            <a:srgbClr val="000000"/>
                          </a:solidFill>
                          <a:latin typeface="Times New Roman"/>
                          <a:ea typeface="Times New Roman"/>
                        </a:rPr>
                        <a:t>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9,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10,</a:t>
                      </a:r>
                      <a:r>
                        <a:rPr lang="en-US" sz="2400" b="0" strike="noStrike" spc="-1">
                          <a:solidFill>
                            <a:srgbClr val="000000"/>
                          </a:solidFill>
                          <a:latin typeface="Times New Roman"/>
                          <a:ea typeface="Times New Roman"/>
                        </a:rPr>
                        <a:t> Z</a:t>
                      </a:r>
                      <a:r>
                        <a:rPr lang="ru-RU" sz="2400" b="0" strike="noStrike" spc="-1">
                          <a:solidFill>
                            <a:srgbClr val="000000"/>
                          </a:solidFill>
                          <a:latin typeface="Times New Roman"/>
                          <a:ea typeface="Times New Roman"/>
                        </a:rPr>
                        <a:t>11</a:t>
                      </a:r>
                      <a:r>
                        <a:rPr lang="en-US" sz="2400" b="0" strike="noStrike" spc="-1">
                          <a:solidFill>
                            <a:srgbClr val="000000"/>
                          </a:solidFill>
                          <a:latin typeface="Times New Roman"/>
                          <a:ea typeface="Times New Roman"/>
                        </a:rPr>
                        <a:t>, Z</a:t>
                      </a:r>
                      <a:r>
                        <a:rPr lang="ru-RU" sz="2400" b="0" strike="noStrike" spc="-1">
                          <a:solidFill>
                            <a:srgbClr val="000000"/>
                          </a:solidFill>
                          <a:latin typeface="Times New Roman"/>
                          <a:ea typeface="Times New Roman"/>
                        </a:rPr>
                        <a:t>12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25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3"/>
                  </a:ext>
                </a:extLst>
              </a:tr>
              <a:tr h="528632">
                <a:tc>
                  <a:txBody>
                    <a:bodyPr/>
                    <a:lstStyle/>
                    <a:p>
                      <a:pPr algn="ctr">
                        <a:lnSpc>
                          <a:spcPct val="115000"/>
                        </a:lnSpc>
                      </a:pPr>
                      <a:r>
                        <a:rPr lang="ru-RU" sz="2400" b="0" strike="noStrike" spc="-1">
                          <a:solidFill>
                            <a:srgbClr val="000000"/>
                          </a:solidFill>
                          <a:latin typeface="Times New Roman"/>
                          <a:ea typeface="Times New Roman"/>
                        </a:rPr>
                        <a:t>2</a:t>
                      </a:r>
                      <a:r>
                        <a:rPr lang="en-US" sz="2400" b="0" strike="noStrike" spc="-1">
                          <a:solidFill>
                            <a:srgbClr val="000000"/>
                          </a:solidFill>
                          <a:latin typeface="Times New Roman"/>
                          <a:ea typeface="Times New Roman"/>
                        </a:rPr>
                        <a:t>6</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27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4"/>
                  </a:ext>
                </a:extLst>
              </a:tr>
              <a:tr h="528632">
                <a:tc>
                  <a:txBody>
                    <a:bodyPr/>
                    <a:lstStyle/>
                    <a:p>
                      <a:pPr algn="ctr">
                        <a:lnSpc>
                          <a:spcPct val="115000"/>
                        </a:lnSpc>
                      </a:pPr>
                      <a:r>
                        <a:rPr lang="en-US" sz="2400" b="0" strike="noStrike" spc="-1">
                          <a:solidFill>
                            <a:srgbClr val="000000"/>
                          </a:solidFill>
                          <a:latin typeface="Times New Roman"/>
                          <a:ea typeface="Times New Roman"/>
                        </a:rPr>
                        <a:t>28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15</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dirty="0">
                          <a:solidFill>
                            <a:srgbClr val="000000"/>
                          </a:solidFill>
                          <a:latin typeface="Times New Roman"/>
                          <a:ea typeface="Times New Roman"/>
                        </a:rPr>
                        <a:t> </a:t>
                      </a:r>
                      <a:r>
                        <a:rPr lang="en-US" sz="2400" b="0" strike="noStrike" spc="-1" dirty="0">
                          <a:solidFill>
                            <a:srgbClr val="000000"/>
                          </a:solidFill>
                          <a:latin typeface="Times New Roman"/>
                          <a:ea typeface="Times New Roman"/>
                        </a:rPr>
                        <a:t>Z</a:t>
                      </a:r>
                      <a:r>
                        <a:rPr lang="ru-RU" sz="2400" b="0" strike="noStrike" spc="-1" dirty="0">
                          <a:solidFill>
                            <a:srgbClr val="000000"/>
                          </a:solidFill>
                          <a:latin typeface="Times New Roman"/>
                          <a:ea typeface="Times New Roman"/>
                        </a:rPr>
                        <a:t>1</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29</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5"/>
                  </a:ext>
                </a:extLst>
              </a:tr>
              <a:tr h="528632">
                <a:tc>
                  <a:txBody>
                    <a:bodyPr/>
                    <a:lstStyle/>
                    <a:p>
                      <a:pPr algn="ctr">
                        <a:lnSpc>
                          <a:spcPct val="115000"/>
                        </a:lnSpc>
                      </a:pPr>
                      <a:r>
                        <a:rPr lang="en-US" sz="2400" b="0" strike="noStrike" spc="-1">
                          <a:solidFill>
                            <a:srgbClr val="000000"/>
                          </a:solidFill>
                          <a:latin typeface="Times New Roman"/>
                          <a:ea typeface="Times New Roman"/>
                        </a:rPr>
                        <a:t>30</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16</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31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6"/>
                  </a:ext>
                </a:extLst>
              </a:tr>
              <a:tr h="528632">
                <a:tc>
                  <a:txBody>
                    <a:bodyPr/>
                    <a:lstStyle/>
                    <a:p>
                      <a:pPr algn="ctr">
                        <a:lnSpc>
                          <a:spcPct val="115000"/>
                        </a:lnSpc>
                      </a:pPr>
                      <a:r>
                        <a:rPr lang="en-US" sz="2400" b="0" strike="noStrike" spc="-1">
                          <a:solidFill>
                            <a:srgbClr val="000000"/>
                          </a:solidFill>
                          <a:latin typeface="Times New Roman"/>
                          <a:ea typeface="Times New Roman"/>
                        </a:rPr>
                        <a:t>32</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17</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33</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7"/>
                  </a:ext>
                </a:extLst>
              </a:tr>
              <a:tr h="528632">
                <a:tc>
                  <a:txBody>
                    <a:bodyPr/>
                    <a:lstStyle/>
                    <a:p>
                      <a:pPr algn="ctr">
                        <a:lnSpc>
                          <a:spcPct val="115000"/>
                        </a:lnSpc>
                      </a:pPr>
                      <a:r>
                        <a:rPr lang="en-US" sz="2400" b="0" strike="noStrike" spc="-1">
                          <a:solidFill>
                            <a:srgbClr val="000000"/>
                          </a:solidFill>
                          <a:latin typeface="Times New Roman"/>
                          <a:ea typeface="Times New Roman"/>
                        </a:rPr>
                        <a:t>34</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18</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just">
                        <a:lnSpc>
                          <a:spcPct val="115000"/>
                        </a:lnSpc>
                      </a:pPr>
                      <a:r>
                        <a:rPr lang="ru-RU" sz="2400" b="0" strike="noStrike" spc="-1">
                          <a:solidFill>
                            <a:srgbClr val="000000"/>
                          </a:solidFill>
                          <a:latin typeface="Times New Roman"/>
                          <a:ea typeface="Times New Roman"/>
                        </a:rPr>
                        <a:t> </a:t>
                      </a:r>
                      <a:r>
                        <a:rPr lang="en-US" sz="2400" b="0" strike="noStrike" spc="-1">
                          <a:solidFill>
                            <a:srgbClr val="000000"/>
                          </a:solidFill>
                          <a:latin typeface="Times New Roman"/>
                          <a:ea typeface="Times New Roman"/>
                        </a:rPr>
                        <a:t>Z</a:t>
                      </a:r>
                      <a:r>
                        <a:rPr lang="ru-RU" sz="2400" b="0" strike="noStrike" spc="-1">
                          <a:solidFill>
                            <a:srgbClr val="000000"/>
                          </a:solidFill>
                          <a:latin typeface="Times New Roman"/>
                          <a:ea typeface="Times New Roman"/>
                        </a:rPr>
                        <a:t>1</a:t>
                      </a:r>
                      <a:endParaRPr lang="ru-RU" sz="2400" b="0" strike="noStrike" spc="-1">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tc>
                  <a:txBody>
                    <a:bodyPr/>
                    <a:lstStyle/>
                    <a:p>
                      <a:pPr algn="ctr">
                        <a:lnSpc>
                          <a:spcPct val="115000"/>
                        </a:lnSpc>
                      </a:pPr>
                      <a:r>
                        <a:rPr lang="en-US" sz="2400" b="0" strike="noStrike" spc="-1" dirty="0">
                          <a:solidFill>
                            <a:srgbClr val="000000"/>
                          </a:solidFill>
                          <a:latin typeface="Times New Roman"/>
                          <a:ea typeface="Times New Roman"/>
                        </a:rPr>
                        <a:t>35</a:t>
                      </a:r>
                      <a:endParaRPr lang="ru-RU" sz="2400" b="0" strike="noStrike" spc="-1" dirty="0">
                        <a:latin typeface="Arial"/>
                      </a:endParaRPr>
                    </a:p>
                  </a:txBody>
                  <a:tcPr>
                    <a:lnL w="12240">
                      <a:solidFill>
                        <a:srgbClr val="000000"/>
                      </a:solidFill>
                    </a:lnL>
                    <a:lnR w="12240">
                      <a:solidFill>
                        <a:srgbClr val="000000"/>
                      </a:solidFill>
                    </a:lnR>
                    <a:lnT w="12240">
                      <a:solidFill>
                        <a:srgbClr val="000000"/>
                      </a:solidFill>
                    </a:lnT>
                    <a:lnB w="12240">
                      <a:solidFill>
                        <a:srgbClr val="000000"/>
                      </a:solidFill>
                    </a:lnB>
                    <a:noFill/>
                  </a:tcPr>
                </a:tc>
                <a:extLst>
                  <a:ext uri="{0D108BD9-81ED-4DB2-BD59-A6C34878D82A}">
                    <a16:rowId xmlns:a16="http://schemas.microsoft.com/office/drawing/2014/main" val="10008"/>
                  </a:ext>
                </a:extLst>
              </a:tr>
            </a:tbl>
          </a:graphicData>
        </a:graphic>
      </p:graphicFrame>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2482240" y="281740"/>
            <a:ext cx="7598596"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be-BY" sz="3600" b="1" spc="-1" dirty="0">
                <a:solidFill>
                  <a:srgbClr val="00B0F0"/>
                </a:solidFill>
              </a:rPr>
              <a:t>ПОСТРОЕНИЕ СЕТЕВОГО ГРАФИКА</a:t>
            </a:r>
            <a:endParaRPr lang="ru-RU" sz="3600" b="1" spc="-1" dirty="0">
              <a:solidFill>
                <a:srgbClr val="00B0F0"/>
              </a:solidFill>
            </a:endParaRPr>
          </a:p>
        </p:txBody>
      </p:sp>
      <p:pic>
        <p:nvPicPr>
          <p:cNvPr id="2" name="Рисунок 1">
            <a:extLst>
              <a:ext uri="{FF2B5EF4-FFF2-40B4-BE49-F238E27FC236}">
                <a16:creationId xmlns:a16="http://schemas.microsoft.com/office/drawing/2014/main" id="{1E109EEB-BDF0-4CF0-832E-2C3C5BEA3099}"/>
              </a:ext>
            </a:extLst>
          </p:cNvPr>
          <p:cNvPicPr>
            <a:picLocks noChangeAspect="1"/>
          </p:cNvPicPr>
          <p:nvPr/>
        </p:nvPicPr>
        <p:blipFill>
          <a:blip r:embed="rId2"/>
          <a:stretch>
            <a:fillRect/>
          </a:stretch>
        </p:blipFill>
        <p:spPr>
          <a:xfrm>
            <a:off x="1169045" y="1126889"/>
            <a:ext cx="9853909" cy="5301903"/>
          </a:xfrm>
          <a:prstGeom prst="rect">
            <a:avLst/>
          </a:prstGeom>
        </p:spPr>
      </p:pic>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1AB8D687-6E20-42F6-9478-9CA7F169F7C2}"/>
              </a:ext>
            </a:extLst>
          </p:cNvPr>
          <p:cNvPicPr>
            <a:picLocks noChangeAspect="1"/>
          </p:cNvPicPr>
          <p:nvPr/>
        </p:nvPicPr>
        <p:blipFill>
          <a:blip r:embed="rId2"/>
          <a:stretch>
            <a:fillRect/>
          </a:stretch>
        </p:blipFill>
        <p:spPr>
          <a:xfrm>
            <a:off x="1055963" y="363553"/>
            <a:ext cx="10080073" cy="6130894"/>
          </a:xfrm>
          <a:prstGeom prst="rect">
            <a:avLst/>
          </a:prstGeom>
        </p:spPr>
      </p:pic>
      <p:sp>
        <p:nvSpPr>
          <p:cNvPr id="5" name="Прямоугольник 4">
            <a:extLst>
              <a:ext uri="{FF2B5EF4-FFF2-40B4-BE49-F238E27FC236}">
                <a16:creationId xmlns:a16="http://schemas.microsoft.com/office/drawing/2014/main" id="{5083A995-987A-412B-96FE-2F56C2437D6E}"/>
              </a:ext>
            </a:extLst>
          </p:cNvPr>
          <p:cNvSpPr/>
          <p:nvPr/>
        </p:nvSpPr>
        <p:spPr>
          <a:xfrm>
            <a:off x="8985380" y="5766318"/>
            <a:ext cx="251926" cy="3172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
        <p:nvSpPr>
          <p:cNvPr id="6" name="TextBox 5">
            <a:extLst>
              <a:ext uri="{FF2B5EF4-FFF2-40B4-BE49-F238E27FC236}">
                <a16:creationId xmlns:a16="http://schemas.microsoft.com/office/drawing/2014/main" id="{909F7D6C-5B9C-4BAF-8D37-4C6B03F0851F}"/>
              </a:ext>
            </a:extLst>
          </p:cNvPr>
          <p:cNvSpPr txBox="1"/>
          <p:nvPr/>
        </p:nvSpPr>
        <p:spPr>
          <a:xfrm>
            <a:off x="8901403" y="5625656"/>
            <a:ext cx="251926" cy="523220"/>
          </a:xfrm>
          <a:prstGeom prst="rect">
            <a:avLst/>
          </a:prstGeom>
          <a:noFill/>
        </p:spPr>
        <p:txBody>
          <a:bodyPr wrap="square" rtlCol="0">
            <a:spAutoFit/>
          </a:bodyPr>
          <a:lstStyle/>
          <a:p>
            <a:r>
              <a:rPr lang="ru-RU" sz="2800" dirty="0">
                <a:latin typeface="Times New Roman" panose="02020603050405020304" pitchFamily="18" charset="0"/>
                <a:cs typeface="Times New Roman" panose="02020603050405020304" pitchFamily="18" charset="0"/>
              </a:rPr>
              <a:t>а</a:t>
            </a:r>
          </a:p>
        </p:txBody>
      </p:sp>
    </p:spTree>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 name="Picture 2"/>
          <p:cNvPicPr/>
          <p:nvPr/>
        </p:nvPicPr>
        <p:blipFill>
          <a:blip r:embed="rId2"/>
          <a:stretch/>
        </p:blipFill>
        <p:spPr>
          <a:xfrm>
            <a:off x="990600" y="1003300"/>
            <a:ext cx="10337800" cy="4762500"/>
          </a:xfrm>
          <a:prstGeom prst="rect">
            <a:avLst/>
          </a:prstGeom>
          <a:ln>
            <a:noFill/>
          </a:ln>
        </p:spPr>
      </p:pic>
    </p:spTree>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CustomShape 1"/>
          <p:cNvSpPr/>
          <p:nvPr/>
        </p:nvSpPr>
        <p:spPr>
          <a:xfrm>
            <a:off x="1524000" y="0"/>
            <a:ext cx="9143640" cy="360"/>
          </a:xfrm>
          <a:prstGeom prst="rect">
            <a:avLst/>
          </a:prstGeom>
          <a:noFill/>
          <a:ln>
            <a:noFill/>
          </a:ln>
        </p:spPr>
        <p:style>
          <a:lnRef idx="0">
            <a:scrgbClr r="0" g="0" b="0"/>
          </a:lnRef>
          <a:fillRef idx="0">
            <a:scrgbClr r="0" g="0" b="0"/>
          </a:fillRef>
          <a:effectRef idx="0">
            <a:scrgbClr r="0" g="0" b="0"/>
          </a:effectRef>
          <a:fontRef idx="minor"/>
        </p:style>
      </p:sp>
      <p:sp>
        <p:nvSpPr>
          <p:cNvPr id="168" name="CustomShape 2"/>
          <p:cNvSpPr/>
          <p:nvPr/>
        </p:nvSpPr>
        <p:spPr>
          <a:xfrm>
            <a:off x="1524000" y="0"/>
            <a:ext cx="9143640" cy="360"/>
          </a:xfrm>
          <a:prstGeom prst="rect">
            <a:avLst/>
          </a:prstGeom>
          <a:noFill/>
          <a:ln>
            <a:noFill/>
          </a:ln>
        </p:spPr>
        <p:style>
          <a:lnRef idx="0">
            <a:scrgbClr r="0" g="0" b="0"/>
          </a:lnRef>
          <a:fillRef idx="0">
            <a:scrgbClr r="0" g="0" b="0"/>
          </a:fillRef>
          <a:effectRef idx="0">
            <a:scrgbClr r="0" g="0" b="0"/>
          </a:effectRef>
          <a:fontRef idx="minor"/>
        </p:style>
      </p:sp>
      <p:pic>
        <p:nvPicPr>
          <p:cNvPr id="169" name="Рисунок 168"/>
          <p:cNvPicPr/>
          <p:nvPr/>
        </p:nvPicPr>
        <p:blipFill>
          <a:blip r:embed="rId2"/>
          <a:stretch/>
        </p:blipFill>
        <p:spPr>
          <a:xfrm>
            <a:off x="2623217" y="3580373"/>
            <a:ext cx="6945565" cy="2864746"/>
          </a:xfrm>
          <a:prstGeom prst="rect">
            <a:avLst/>
          </a:prstGeom>
          <a:ln>
            <a:noFill/>
          </a:ln>
        </p:spPr>
      </p:pic>
      <p:sp>
        <p:nvSpPr>
          <p:cNvPr id="5" name="CustomShape 2">
            <a:extLst>
              <a:ext uri="{FF2B5EF4-FFF2-40B4-BE49-F238E27FC236}">
                <a16:creationId xmlns:a16="http://schemas.microsoft.com/office/drawing/2014/main" id="{5AE884ED-064C-431A-89A1-82034691BDE4}"/>
              </a:ext>
            </a:extLst>
          </p:cNvPr>
          <p:cNvSpPr/>
          <p:nvPr/>
        </p:nvSpPr>
        <p:spPr>
          <a:xfrm>
            <a:off x="582904" y="412881"/>
            <a:ext cx="10845800" cy="3507199"/>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en-US" sz="2700" spc="-1" dirty="0">
                <a:solidFill>
                  <a:srgbClr val="000000"/>
                </a:solidFill>
                <a:latin typeface="Times New Roman"/>
                <a:ea typeface="Times New Roman"/>
              </a:rPr>
              <a:t>	</a:t>
            </a:r>
            <a:r>
              <a:rPr lang="ru-RU" sz="2400" dirty="0">
                <a:latin typeface="Times New Roman" panose="02020603050405020304" pitchFamily="18" charset="0"/>
                <a:ea typeface="Times New Roman" panose="02020603050405020304" pitchFamily="18" charset="0"/>
              </a:rPr>
              <a:t>Попытка построить сетевой график для комплекса операций, представленного в таблице приводит к некоторым сложностям. </a:t>
            </a:r>
            <a:r>
              <a:rPr lang="ru-RU" sz="2000" dirty="0">
                <a:latin typeface="Times New Roman" panose="02020603050405020304" pitchFamily="18" charset="0"/>
                <a:ea typeface="Times New Roman" panose="02020603050405020304" pitchFamily="18" charset="0"/>
              </a:rPr>
              <a:t>	</a:t>
            </a:r>
            <a:r>
              <a:rPr lang="ru-RU" sz="2400" dirty="0">
                <a:latin typeface="Times New Roman" panose="02020603050405020304" pitchFamily="18" charset="0"/>
                <a:ea typeface="Times New Roman" panose="02020603050405020304" pitchFamily="18" charset="0"/>
              </a:rPr>
              <a:t>Рассмотрим сначала отдельно операцию Z4, имеющую начальное событие 6 и конечное 7. Она непосредственно предшествует операциям Z6, Z7 и Z8. Первоначальное построение приводит к графу, изображенному на рисунке. Вершины графа (события) здесь изображены овалами, а дуги (операции) сплошными линиями со стрелками. Дуги соединяют вершины, соответствующие начальному и конечному событиям соответствующей операции. </a:t>
            </a:r>
            <a:endParaRPr lang="ru-RU" sz="2000" dirty="0">
              <a:latin typeface="Times New Roman" panose="02020603050405020304" pitchFamily="18" charset="0"/>
              <a:ea typeface="Times New Roman" panose="02020603050405020304" pitchFamily="18" charset="0"/>
            </a:endParaRPr>
          </a:p>
          <a:p>
            <a:pPr algn="just">
              <a:lnSpc>
                <a:spcPct val="100000"/>
              </a:lnSpc>
            </a:pPr>
            <a:endParaRPr lang="ru-RU" sz="2700" spc="-1" dirty="0">
              <a:solidFill>
                <a:srgbClr val="000000"/>
              </a:solidFill>
              <a:latin typeface="Times New Roman"/>
              <a:ea typeface="Times New Roman"/>
            </a:endParaRPr>
          </a:p>
        </p:txBody>
      </p:sp>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 name="Рисунок 169"/>
          <p:cNvPicPr/>
          <p:nvPr/>
        </p:nvPicPr>
        <p:blipFill>
          <a:blip r:embed="rId2"/>
          <a:stretch/>
        </p:blipFill>
        <p:spPr>
          <a:xfrm>
            <a:off x="2521857" y="3619785"/>
            <a:ext cx="7148286" cy="2895056"/>
          </a:xfrm>
          <a:prstGeom prst="rect">
            <a:avLst/>
          </a:prstGeom>
          <a:ln>
            <a:noFill/>
          </a:ln>
        </p:spPr>
      </p:pic>
      <p:sp>
        <p:nvSpPr>
          <p:cNvPr id="3" name="CustomShape 2">
            <a:extLst>
              <a:ext uri="{FF2B5EF4-FFF2-40B4-BE49-F238E27FC236}">
                <a16:creationId xmlns:a16="http://schemas.microsoft.com/office/drawing/2014/main" id="{4798B45A-6D5C-443B-9A14-A009254DD118}"/>
              </a:ext>
            </a:extLst>
          </p:cNvPr>
          <p:cNvSpPr/>
          <p:nvPr/>
        </p:nvSpPr>
        <p:spPr>
          <a:xfrm>
            <a:off x="601565" y="343159"/>
            <a:ext cx="11052370" cy="3814975"/>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en-US" sz="2700" spc="-1" dirty="0">
                <a:solidFill>
                  <a:srgbClr val="000000"/>
                </a:solidFill>
                <a:latin typeface="Times New Roman"/>
                <a:ea typeface="Times New Roman"/>
              </a:rPr>
              <a:t>	</a:t>
            </a:r>
            <a:r>
              <a:rPr lang="ru-RU" sz="2400" dirty="0">
                <a:latin typeface="Times New Roman" panose="02020603050405020304" pitchFamily="18" charset="0"/>
                <a:ea typeface="Times New Roman" panose="02020603050405020304" pitchFamily="18" charset="0"/>
              </a:rPr>
              <a:t>Интуитивно ясно, что событие 7 должно предшествовать событиям 10, 12 и 14. Но в перечне нет операций, связывающих эти события. В таких случаях необходимо расширить комплекс операций, добавив </a:t>
            </a:r>
            <a:r>
              <a:rPr lang="ru-RU" sz="2400" b="1" i="1" dirty="0">
                <a:latin typeface="Times New Roman" panose="02020603050405020304" pitchFamily="18" charset="0"/>
                <a:ea typeface="Times New Roman" panose="02020603050405020304" pitchFamily="18" charset="0"/>
              </a:rPr>
              <a:t>фиктивные</a:t>
            </a:r>
            <a:r>
              <a:rPr lang="ru-RU" sz="2400" dirty="0">
                <a:latin typeface="Times New Roman" panose="02020603050405020304" pitchFamily="18" charset="0"/>
                <a:ea typeface="Times New Roman" panose="02020603050405020304" pitchFamily="18" charset="0"/>
              </a:rPr>
              <a:t> операции, позволяющие отразить недостающие логические связи между событиями. На рисунке изображен предыдущий граф, в который добавлены три дуги, соответствующие фиктивным операциям F1, F2 и F3. Как правило, фиктивные операции изображаются на рисунках штриховой линией. Дальше всегда будем придерживаться такого обозначения. </a:t>
            </a:r>
            <a:endParaRPr lang="ru-RU" sz="2000" dirty="0">
              <a:latin typeface="Times New Roman" panose="02020603050405020304" pitchFamily="18" charset="0"/>
              <a:ea typeface="Times New Roman" panose="02020603050405020304" pitchFamily="18" charset="0"/>
            </a:endParaRPr>
          </a:p>
          <a:p>
            <a:pPr indent="323850" algn="just">
              <a:spcAft>
                <a:spcPts val="0"/>
              </a:spcAft>
            </a:pPr>
            <a:endParaRPr lang="ru-RU" sz="2000" dirty="0">
              <a:latin typeface="Times New Roman" panose="02020603050405020304" pitchFamily="18" charset="0"/>
              <a:ea typeface="Times New Roman" panose="02020603050405020304" pitchFamily="18" charset="0"/>
            </a:endParaRPr>
          </a:p>
          <a:p>
            <a:pPr algn="just">
              <a:lnSpc>
                <a:spcPct val="100000"/>
              </a:lnSpc>
            </a:pPr>
            <a:endParaRPr lang="ru-RU" sz="2700" spc="-1" dirty="0">
              <a:solidFill>
                <a:srgbClr val="000000"/>
              </a:solidFill>
              <a:latin typeface="Times New Roman"/>
              <a:ea typeface="Times New Roman"/>
            </a:endParaRPr>
          </a:p>
        </p:txBody>
      </p:sp>
    </p:spTree>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2"/>
          <p:cNvSpPr/>
          <p:nvPr/>
        </p:nvSpPr>
        <p:spPr>
          <a:xfrm>
            <a:off x="673100" y="358861"/>
            <a:ext cx="10845800" cy="439975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just">
              <a:lnSpc>
                <a:spcPct val="100000"/>
              </a:lnSpc>
            </a:pPr>
            <a:r>
              <a:rPr lang="en-US" sz="2700"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Фиктивные операции отражают технологическую или ресурсную зависимость в выполнении некоторых операций. В данном примере фиктивные операции F1, F2 и F2 отражают тот факт, что </a:t>
            </a:r>
            <a:r>
              <a:rPr lang="ru-RU" sz="2800" i="1" dirty="0">
                <a:latin typeface="Times New Roman" panose="02020603050405020304" pitchFamily="18" charset="0"/>
                <a:ea typeface="Times New Roman" panose="02020603050405020304" pitchFamily="18" charset="0"/>
              </a:rPr>
              <a:t>кодирование интерфейсов пользователей</a:t>
            </a:r>
            <a:r>
              <a:rPr lang="ru-RU" sz="2800" dirty="0">
                <a:latin typeface="Times New Roman" panose="02020603050405020304" pitchFamily="18" charset="0"/>
                <a:ea typeface="Times New Roman" panose="02020603050405020304" pitchFamily="18" charset="0"/>
              </a:rPr>
              <a:t> (операция Z6), </a:t>
            </a:r>
            <a:r>
              <a:rPr lang="ru-RU" sz="2800" i="1" dirty="0">
                <a:latin typeface="Times New Roman" panose="02020603050405020304" pitchFamily="18" charset="0"/>
                <a:ea typeface="Times New Roman" panose="02020603050405020304" pitchFamily="18" charset="0"/>
              </a:rPr>
              <a:t>кодирование процедур СУБД</a:t>
            </a:r>
            <a:r>
              <a:rPr lang="ru-RU" sz="2800" dirty="0">
                <a:latin typeface="Times New Roman" panose="02020603050405020304" pitchFamily="18" charset="0"/>
                <a:ea typeface="Times New Roman" panose="02020603050405020304" pitchFamily="18" charset="0"/>
              </a:rPr>
              <a:t> (Z7) и </a:t>
            </a:r>
            <a:r>
              <a:rPr lang="ru-RU" sz="2800" i="1" dirty="0">
                <a:latin typeface="Times New Roman" panose="02020603050405020304" pitchFamily="18" charset="0"/>
                <a:ea typeface="Times New Roman" panose="02020603050405020304" pitchFamily="18" charset="0"/>
              </a:rPr>
              <a:t>кодирование классов</a:t>
            </a:r>
            <a:r>
              <a:rPr lang="ru-RU" sz="2800" dirty="0">
                <a:latin typeface="Times New Roman" panose="02020603050405020304" pitchFamily="18" charset="0"/>
                <a:ea typeface="Times New Roman" panose="02020603050405020304" pitchFamily="18" charset="0"/>
              </a:rPr>
              <a:t> (Z8) в проекте WSP не могут быть начаты раньше, чем закончится </a:t>
            </a:r>
            <a:r>
              <a:rPr lang="ru-RU" sz="2800" i="1" dirty="0">
                <a:latin typeface="Times New Roman" panose="02020603050405020304" pitchFamily="18" charset="0"/>
                <a:ea typeface="Times New Roman" panose="02020603050405020304" pitchFamily="18" charset="0"/>
              </a:rPr>
              <a:t>проектирование классов</a:t>
            </a:r>
            <a:r>
              <a:rPr lang="ru-RU" sz="2800" dirty="0">
                <a:latin typeface="Times New Roman" panose="02020603050405020304" pitchFamily="18" charset="0"/>
                <a:ea typeface="Times New Roman" panose="02020603050405020304" pitchFamily="18" charset="0"/>
              </a:rPr>
              <a:t> (Z4). Для того, чтобы подчеркнуть, что операция является не фиктивной, будем использовать термин </a:t>
            </a:r>
            <a:r>
              <a:rPr lang="ru-RU" sz="2800" b="1" i="1" dirty="0">
                <a:latin typeface="Times New Roman" panose="02020603050405020304" pitchFamily="18" charset="0"/>
                <a:ea typeface="Times New Roman" panose="02020603050405020304" pitchFamily="18" charset="0"/>
              </a:rPr>
              <a:t>действительная операция</a:t>
            </a:r>
            <a:r>
              <a:rPr lang="ru-RU" sz="2800" dirty="0">
                <a:latin typeface="Times New Roman" panose="02020603050405020304" pitchFamily="18" charset="0"/>
                <a:ea typeface="Times New Roman" panose="02020603050405020304" pitchFamily="18" charset="0"/>
              </a:rPr>
              <a:t>. Таким образом, все операции, приведенные в таблицах, являются действительными операциями. </a:t>
            </a:r>
            <a:endParaRPr lang="ru-RU" sz="2700" spc="-1" dirty="0">
              <a:solidFill>
                <a:srgbClr val="000000"/>
              </a:solidFill>
              <a:latin typeface="Times New Roman"/>
              <a:ea typeface="Times New Roman"/>
            </a:endParaRPr>
          </a:p>
        </p:txBody>
      </p:sp>
      <p:pic>
        <p:nvPicPr>
          <p:cNvPr id="4" name="Рисунок 3">
            <a:extLst>
              <a:ext uri="{FF2B5EF4-FFF2-40B4-BE49-F238E27FC236}">
                <a16:creationId xmlns:a16="http://schemas.microsoft.com/office/drawing/2014/main" id="{99CBA09D-C6A0-4557-AD25-D0F80023DF8D}"/>
              </a:ext>
            </a:extLst>
          </p:cNvPr>
          <p:cNvPicPr>
            <a:picLocks noChangeAspect="1"/>
          </p:cNvPicPr>
          <p:nvPr/>
        </p:nvPicPr>
        <p:blipFill rotWithShape="1">
          <a:blip r:embed="rId2"/>
          <a:srcRect t="8023" b="20917"/>
          <a:stretch/>
        </p:blipFill>
        <p:spPr>
          <a:xfrm>
            <a:off x="0" y="4973216"/>
            <a:ext cx="12214710" cy="2313992"/>
          </a:xfrm>
          <a:prstGeom prst="rect">
            <a:avLst/>
          </a:prstGeom>
        </p:spPr>
      </p:pic>
    </p:spTree>
    <p:extLst>
      <p:ext uri="{BB962C8B-B14F-4D97-AF65-F5344CB8AC3E}">
        <p14:creationId xmlns:p14="http://schemas.microsoft.com/office/powerpoint/2010/main" val="3754827903"/>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1" name="Рисунок 3" descr="ПервыйСГ_new"/>
          <p:cNvPicPr/>
          <p:nvPr/>
        </p:nvPicPr>
        <p:blipFill>
          <a:blip r:embed="rId2"/>
          <a:stretch/>
        </p:blipFill>
        <p:spPr>
          <a:xfrm>
            <a:off x="1524000" y="0"/>
            <a:ext cx="9143640" cy="6857640"/>
          </a:xfrm>
          <a:prstGeom prst="rect">
            <a:avLst/>
          </a:prstGeom>
          <a:ln>
            <a:noFill/>
          </a:ln>
        </p:spPr>
      </p:pic>
    </p:spTree>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2"/>
          <p:cNvSpPr/>
          <p:nvPr/>
        </p:nvSpPr>
        <p:spPr>
          <a:xfrm>
            <a:off x="673100" y="358861"/>
            <a:ext cx="10845800" cy="4384362"/>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en-US" sz="2700"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На рисунке изображен сетевой график всего комплекса операций проекта WSP. Как и раньше, действительные операции отображены сплошными помеченными дугами, а фиктивные операции пунктирной линией. Обозначения для фиктивных операций вводить не обязательно – для этого будем использовать упорядоченные пары инцидентных вершин. Например, фиктивные операции &lt;3,4 &gt;, &lt;29,4&gt; и &lt;33,4 &gt; указывают на то, что действительная операция Z3 не может быть начата до тех пор, пока не закончатся действительные операции Z2, Z15 и Z17. </a:t>
            </a:r>
            <a:endParaRPr lang="ru-RU" sz="2400" dirty="0">
              <a:latin typeface="Times New Roman" panose="02020603050405020304" pitchFamily="18" charset="0"/>
              <a:ea typeface="Times New Roman" panose="02020603050405020304" pitchFamily="18" charset="0"/>
            </a:endParaRPr>
          </a:p>
          <a:p>
            <a:pPr algn="just">
              <a:lnSpc>
                <a:spcPct val="100000"/>
              </a:lnSpc>
            </a:pPr>
            <a:endParaRPr lang="ru-RU" sz="2700" spc="-1" dirty="0">
              <a:solidFill>
                <a:srgbClr val="000000"/>
              </a:solidFill>
              <a:latin typeface="Times New Roman"/>
              <a:ea typeface="Times New Roman"/>
            </a:endParaRPr>
          </a:p>
        </p:txBody>
      </p:sp>
      <p:pic>
        <p:nvPicPr>
          <p:cNvPr id="4" name="Рисунок 3">
            <a:extLst>
              <a:ext uri="{FF2B5EF4-FFF2-40B4-BE49-F238E27FC236}">
                <a16:creationId xmlns:a16="http://schemas.microsoft.com/office/drawing/2014/main" id="{99CBA09D-C6A0-4557-AD25-D0F80023DF8D}"/>
              </a:ext>
            </a:extLst>
          </p:cNvPr>
          <p:cNvPicPr>
            <a:picLocks noChangeAspect="1"/>
          </p:cNvPicPr>
          <p:nvPr/>
        </p:nvPicPr>
        <p:blipFill rotWithShape="1">
          <a:blip r:embed="rId2"/>
          <a:srcRect t="8023" b="20917"/>
          <a:stretch/>
        </p:blipFill>
        <p:spPr>
          <a:xfrm>
            <a:off x="-22710" y="4544008"/>
            <a:ext cx="12214710" cy="2313992"/>
          </a:xfrm>
          <a:prstGeom prst="rect">
            <a:avLst/>
          </a:prstGeom>
        </p:spPr>
      </p:pic>
    </p:spTree>
    <p:extLst>
      <p:ext uri="{BB962C8B-B14F-4D97-AF65-F5344CB8AC3E}">
        <p14:creationId xmlns:p14="http://schemas.microsoft.com/office/powerpoint/2010/main" val="1820426772"/>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CustomShape 2"/>
          <p:cNvSpPr/>
          <p:nvPr/>
        </p:nvSpPr>
        <p:spPr>
          <a:xfrm>
            <a:off x="673100" y="358861"/>
            <a:ext cx="10845800" cy="4384362"/>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indent="323850" algn="just">
              <a:spcAft>
                <a:spcPts val="0"/>
              </a:spcAft>
            </a:pPr>
            <a:r>
              <a:rPr lang="en-US" sz="2700" spc="-1" dirty="0">
                <a:solidFill>
                  <a:srgbClr val="000000"/>
                </a:solidFill>
                <a:latin typeface="Times New Roman"/>
                <a:ea typeface="Times New Roman"/>
              </a:rPr>
              <a:t>	</a:t>
            </a:r>
            <a:r>
              <a:rPr lang="ru-RU" sz="2800" dirty="0">
                <a:latin typeface="Times New Roman" panose="02020603050405020304" pitchFamily="18" charset="0"/>
                <a:ea typeface="Times New Roman" panose="02020603050405020304" pitchFamily="18" charset="0"/>
              </a:rPr>
              <a:t>График на рисунке выше построен в терминах «дуги – операции». Следует отметить, что предлагаемый способ построения сетевого графика не является единственным. Альтернативный метод построения – «дуги – связи». В этом случае каждой операции соответствует вершина сетевого графика, а дуги отображают связи между этими операциями. Каждый из способов построения сетевых графиков имеет свои преимущества и недостатки.</a:t>
            </a:r>
          </a:p>
          <a:p>
            <a:pPr indent="323850" algn="just">
              <a:spcAft>
                <a:spcPts val="0"/>
              </a:spcAft>
            </a:pPr>
            <a:r>
              <a:rPr lang="ru-RU" sz="2800" dirty="0">
                <a:latin typeface="Times New Roman" panose="02020603050405020304" pitchFamily="18" charset="0"/>
                <a:ea typeface="Times New Roman" panose="02020603050405020304" pitchFamily="18" charset="0"/>
              </a:rPr>
              <a:t>	В дальнейшем будем ориентироваться на сетевые графики типа «дуги – операции». </a:t>
            </a:r>
            <a:endParaRPr lang="ru-RU" sz="2400" dirty="0">
              <a:latin typeface="Times New Roman" panose="02020603050405020304" pitchFamily="18" charset="0"/>
              <a:ea typeface="Times New Roman" panose="02020603050405020304" pitchFamily="18" charset="0"/>
            </a:endParaRPr>
          </a:p>
          <a:p>
            <a:pPr algn="just">
              <a:lnSpc>
                <a:spcPct val="100000"/>
              </a:lnSpc>
            </a:pPr>
            <a:endParaRPr lang="ru-RU" sz="2700" spc="-1" dirty="0">
              <a:solidFill>
                <a:srgbClr val="000000"/>
              </a:solidFill>
              <a:latin typeface="Times New Roman"/>
              <a:ea typeface="Times New Roman"/>
            </a:endParaRPr>
          </a:p>
        </p:txBody>
      </p:sp>
      <p:pic>
        <p:nvPicPr>
          <p:cNvPr id="4" name="Рисунок 3">
            <a:extLst>
              <a:ext uri="{FF2B5EF4-FFF2-40B4-BE49-F238E27FC236}">
                <a16:creationId xmlns:a16="http://schemas.microsoft.com/office/drawing/2014/main" id="{99CBA09D-C6A0-4557-AD25-D0F80023DF8D}"/>
              </a:ext>
            </a:extLst>
          </p:cNvPr>
          <p:cNvPicPr>
            <a:picLocks noChangeAspect="1"/>
          </p:cNvPicPr>
          <p:nvPr/>
        </p:nvPicPr>
        <p:blipFill rotWithShape="1">
          <a:blip r:embed="rId2"/>
          <a:srcRect t="8023" b="20917"/>
          <a:stretch/>
        </p:blipFill>
        <p:spPr>
          <a:xfrm>
            <a:off x="-22710" y="4544008"/>
            <a:ext cx="12214710" cy="2313992"/>
          </a:xfrm>
          <a:prstGeom prst="rect">
            <a:avLst/>
          </a:prstGeom>
        </p:spPr>
      </p:pic>
    </p:spTree>
    <p:extLst>
      <p:ext uri="{BB962C8B-B14F-4D97-AF65-F5344CB8AC3E}">
        <p14:creationId xmlns:p14="http://schemas.microsoft.com/office/powerpoint/2010/main" val="2176704176"/>
      </p:ext>
    </p:extLst>
  </p:cSld>
  <p:clrMapOvr>
    <a:masterClrMapping/>
  </p:clrMapOvr>
  <p:transition spd="slow">
    <p:push dir="u"/>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МП">
      <a:majorFont>
        <a:latin typeface="Bahnschrift"/>
        <a:ea typeface=""/>
        <a:cs typeface=""/>
      </a:majorFont>
      <a:minorFont>
        <a:latin typeface="Bahnschrift"/>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1164</TotalTime>
  <Words>1039</Words>
  <Application>Microsoft Office PowerPoint</Application>
  <PresentationFormat>Широкоэкранный</PresentationFormat>
  <Paragraphs>308</Paragraphs>
  <Slides>42</Slides>
  <Notes>0</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42</vt:i4>
      </vt:variant>
    </vt:vector>
  </HeadingPairs>
  <TitlesOfParts>
    <vt:vector size="51" baseType="lpstr">
      <vt:lpstr>Microsoft YaHei</vt:lpstr>
      <vt:lpstr>Arial</vt:lpstr>
      <vt:lpstr>Bahnschrift</vt:lpstr>
      <vt:lpstr>Calibri</vt:lpstr>
      <vt:lpstr>StarSymbol</vt:lpstr>
      <vt:lpstr>Symbol</vt:lpstr>
      <vt:lpstr>Times New Roman</vt:lpstr>
      <vt:lpstr>Trebuchet MS</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МАТЕМАТИЧЕСКОЕ ПРОГРАММИРОВАНИЕ</dc:title>
  <dc:subject/>
  <dc:creator>Brakovich</dc:creator>
  <dc:description/>
  <cp:lastModifiedBy>User</cp:lastModifiedBy>
  <cp:revision>107</cp:revision>
  <dcterms:created xsi:type="dcterms:W3CDTF">2010-12-02T13:55:43Z</dcterms:created>
  <dcterms:modified xsi:type="dcterms:W3CDTF">2026-04-29T14:59:50Z</dcterms:modified>
  <dc:language>ru-RU</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Экран (4:3)</vt:lpwstr>
  </property>
  <property fmtid="{D5CDD505-2E9C-101B-9397-08002B2CF9AE}" pid="9" name="ScaleCrop">
    <vt:bool>false</vt:bool>
  </property>
  <property fmtid="{D5CDD505-2E9C-101B-9397-08002B2CF9AE}" pid="10" name="ShareDoc">
    <vt:bool>false</vt:bool>
  </property>
  <property fmtid="{D5CDD505-2E9C-101B-9397-08002B2CF9AE}" pid="11" name="Slides">
    <vt:i4>25</vt:i4>
  </property>
</Properties>
</file>